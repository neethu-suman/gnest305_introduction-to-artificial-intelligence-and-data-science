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99" r:id="rId2"/>
    <p:sldId id="301" r:id="rId3"/>
    <p:sldId id="302" r:id="rId4"/>
    <p:sldId id="347" r:id="rId5"/>
    <p:sldId id="348" r:id="rId6"/>
    <p:sldId id="349" r:id="rId7"/>
    <p:sldId id="304" r:id="rId8"/>
    <p:sldId id="350" r:id="rId9"/>
    <p:sldId id="306" r:id="rId10"/>
    <p:sldId id="307" r:id="rId11"/>
    <p:sldId id="351" r:id="rId12"/>
    <p:sldId id="352" r:id="rId13"/>
    <p:sldId id="310" r:id="rId14"/>
    <p:sldId id="353" r:id="rId15"/>
    <p:sldId id="311" r:id="rId16"/>
    <p:sldId id="360" r:id="rId17"/>
    <p:sldId id="362" r:id="rId18"/>
    <p:sldId id="363" r:id="rId19"/>
    <p:sldId id="364" r:id="rId20"/>
    <p:sldId id="365" r:id="rId21"/>
    <p:sldId id="36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FC8F8-12B5-4259-AA24-2BB0A26D2E19}" type="datetimeFigureOut">
              <a:rPr lang="en-IN" smtClean="0"/>
              <a:t>16-09-2026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9F3067-62B2-4DF1-B4B5-5A7825EC1DFB}" type="slidenum">
              <a:rPr lang="en-IN" smtClean="0"/>
              <a:t>‹#›</a:t>
            </a:fld>
            <a:endParaRPr lang="en-IN"/>
          </a:p>
        </p:txBody>
      </p:sp>
    </p:spTree>
    <p:extLst>
      <p:ext uri="{BB962C8B-B14F-4D97-AF65-F5344CB8AC3E}">
        <p14:creationId xmlns:p14="http://schemas.microsoft.com/office/powerpoint/2010/main" val="2789431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a:extLst>
            <a:ext uri="{FF2B5EF4-FFF2-40B4-BE49-F238E27FC236}">
              <a16:creationId xmlns:a16="http://schemas.microsoft.com/office/drawing/2014/main" id="{2CE18CE3-C4D0-4A1C-91D3-3DCE59F2199A}"/>
            </a:ext>
          </a:extLst>
        </p:cNvPr>
        <p:cNvGrpSpPr/>
        <p:nvPr/>
      </p:nvGrpSpPr>
      <p:grpSpPr>
        <a:xfrm>
          <a:off x="0" y="0"/>
          <a:ext cx="0" cy="0"/>
          <a:chOff x="0" y="0"/>
          <a:chExt cx="0" cy="0"/>
        </a:xfrm>
      </p:grpSpPr>
      <p:sp>
        <p:nvSpPr>
          <p:cNvPr id="412" name="Google Shape;412;p47:notes">
            <a:extLst>
              <a:ext uri="{FF2B5EF4-FFF2-40B4-BE49-F238E27FC236}">
                <a16:creationId xmlns:a16="http://schemas.microsoft.com/office/drawing/2014/main" id="{5671DAF3-2639-CF74-400B-272E558FCE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47:notes">
            <a:extLst>
              <a:ext uri="{FF2B5EF4-FFF2-40B4-BE49-F238E27FC236}">
                <a16:creationId xmlns:a16="http://schemas.microsoft.com/office/drawing/2014/main" id="{C447E392-641A-DB8B-341A-F619EDB2D7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3251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0" name="Google Shape;44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a:extLst>
            <a:ext uri="{FF2B5EF4-FFF2-40B4-BE49-F238E27FC236}">
              <a16:creationId xmlns:a16="http://schemas.microsoft.com/office/drawing/2014/main" id="{4C29B152-FF4C-1BB2-6E59-F2A4EE95973A}"/>
            </a:ext>
          </a:extLst>
        </p:cNvPr>
        <p:cNvGrpSpPr/>
        <p:nvPr/>
      </p:nvGrpSpPr>
      <p:grpSpPr>
        <a:xfrm>
          <a:off x="0" y="0"/>
          <a:ext cx="0" cy="0"/>
          <a:chOff x="0" y="0"/>
          <a:chExt cx="0" cy="0"/>
        </a:xfrm>
      </p:grpSpPr>
      <p:sp>
        <p:nvSpPr>
          <p:cNvPr id="448" name="Google Shape;448;p52:notes">
            <a:extLst>
              <a:ext uri="{FF2B5EF4-FFF2-40B4-BE49-F238E27FC236}">
                <a16:creationId xmlns:a16="http://schemas.microsoft.com/office/drawing/2014/main" id="{35D06C43-BB17-EFD5-E32C-3FC7126388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p52:notes">
            <a:extLst>
              <a:ext uri="{FF2B5EF4-FFF2-40B4-BE49-F238E27FC236}">
                <a16:creationId xmlns:a16="http://schemas.microsoft.com/office/drawing/2014/main" id="{7126A64C-40D2-06F2-AF79-F1BCB85A7F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7356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1" name="Google Shape;481;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D913-B628-278E-4FA3-4B8759FB6F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9B2F992-C4E3-D3CE-0432-05192E45BB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4786E1-E139-E339-0CFA-A9DAE057B01B}"/>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5" name="Footer Placeholder 4">
            <a:extLst>
              <a:ext uri="{FF2B5EF4-FFF2-40B4-BE49-F238E27FC236}">
                <a16:creationId xmlns:a16="http://schemas.microsoft.com/office/drawing/2014/main" id="{75F5DAAF-B2A1-2D5C-C965-54A15B0990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CA437-3E89-23DB-6E31-A7D86542C0ED}"/>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3667386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95037-3BF2-3E2B-681A-2D76A78EF9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9EF0CA-0B9E-1DFD-9E12-19B78C3B1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3F2C4D-946C-6B57-112A-9DF140549A87}"/>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5" name="Footer Placeholder 4">
            <a:extLst>
              <a:ext uri="{FF2B5EF4-FFF2-40B4-BE49-F238E27FC236}">
                <a16:creationId xmlns:a16="http://schemas.microsoft.com/office/drawing/2014/main" id="{E86077CC-E6F1-38A2-2D39-2C93C21001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B14EFC-947D-B4C0-24BC-396ACB480107}"/>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1785349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F9C1D-2028-CF3F-68F8-9B97C0E5C8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BFC90D-3E30-551B-8420-DE49AD8018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DEBBD6-6ED4-164A-01AB-8A1C0232A57B}"/>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5" name="Footer Placeholder 4">
            <a:extLst>
              <a:ext uri="{FF2B5EF4-FFF2-40B4-BE49-F238E27FC236}">
                <a16:creationId xmlns:a16="http://schemas.microsoft.com/office/drawing/2014/main" id="{690D0CCB-5B6B-49F3-D8AB-9F1946A28A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964054-C96B-4D9E-AFC9-DDA344072D48}"/>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2287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9DA7-29D3-FCF1-AA3A-C48F486BCF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B18894-57EB-51F6-3F72-00611E64AD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1A4AAF-8F82-8F71-DA20-B1275CAE9D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921266-C65B-9873-8F0D-F41FD2A22658}"/>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6" name="Footer Placeholder 5">
            <a:extLst>
              <a:ext uri="{FF2B5EF4-FFF2-40B4-BE49-F238E27FC236}">
                <a16:creationId xmlns:a16="http://schemas.microsoft.com/office/drawing/2014/main" id="{D8FAA1F9-5277-DB67-63B6-65C735BD22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A47617-70F0-B946-96A2-1ED9DE9EA1C1}"/>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4216388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C029-11D3-2216-6305-C4B8F3FFC6D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B84A81-30CF-5FC3-6811-7526BCEDBA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DAB3C4-1E17-9927-D7C1-8B7A00B065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12008A-8C13-EF00-A055-30E484F89A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017DF2-E74D-818B-7080-5531967852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78E6C3-C1DA-98A5-3F8F-BA7BFE4BCBA7}"/>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8" name="Footer Placeholder 7">
            <a:extLst>
              <a:ext uri="{FF2B5EF4-FFF2-40B4-BE49-F238E27FC236}">
                <a16:creationId xmlns:a16="http://schemas.microsoft.com/office/drawing/2014/main" id="{F8D1B480-4103-BBA0-4544-8A278AD564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70BDE8-9777-C3A2-6927-3651EC393A59}"/>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3594369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0B29E-49BF-FD96-5646-53A5A860A4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5A0135-3294-B93A-E816-E1C5C5BDA145}"/>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4" name="Footer Placeholder 3">
            <a:extLst>
              <a:ext uri="{FF2B5EF4-FFF2-40B4-BE49-F238E27FC236}">
                <a16:creationId xmlns:a16="http://schemas.microsoft.com/office/drawing/2014/main" id="{7F308E1A-38E0-DBF4-66FF-1F687E7D5B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1342FB-6A46-0FC3-9196-6479C7BD2797}"/>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339068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239224-A34A-1B04-7004-4E10C7F4C4FA}"/>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3" name="Footer Placeholder 2">
            <a:extLst>
              <a:ext uri="{FF2B5EF4-FFF2-40B4-BE49-F238E27FC236}">
                <a16:creationId xmlns:a16="http://schemas.microsoft.com/office/drawing/2014/main" id="{BE776F57-A82E-094C-5CA5-E8A752ECB4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A3CF58-8791-120F-EE97-19AF9438EF34}"/>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1148813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06961-5277-D87A-DAF4-7DCAA4975F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6983C0-0E03-58A1-19E1-B223718313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B58412-5519-0D52-19C0-9B2F2D8299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44E75B-6085-611C-F023-4BA8097125E3}"/>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6" name="Footer Placeholder 5">
            <a:extLst>
              <a:ext uri="{FF2B5EF4-FFF2-40B4-BE49-F238E27FC236}">
                <a16:creationId xmlns:a16="http://schemas.microsoft.com/office/drawing/2014/main" id="{7BEDA640-CC74-C76F-A095-BCFF6842EB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5DD875-0AB0-2C09-A3B9-7C16B8314F02}"/>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365208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F75BE-FBB6-91EB-815A-DAA9EDE48A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A48A2F-8396-BEEF-A16E-8AC7EDCE6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AD28F6-AE0E-8A1D-D59B-15373BC17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FF2A6-8456-8DC9-4C7D-8EF2957973D2}"/>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6" name="Footer Placeholder 5">
            <a:extLst>
              <a:ext uri="{FF2B5EF4-FFF2-40B4-BE49-F238E27FC236}">
                <a16:creationId xmlns:a16="http://schemas.microsoft.com/office/drawing/2014/main" id="{B1ED3FB5-8BB6-60CD-1E85-999D94E81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35037E-AAA2-7E1B-B7C4-4AA5224DF988}"/>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3015255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04B4-59ED-2A4B-670F-0898BE6F66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15F384-0488-DF41-F8F6-963039D9C4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68BAC3-BF77-8650-A98D-7DE4D1F06A47}"/>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5" name="Footer Placeholder 4">
            <a:extLst>
              <a:ext uri="{FF2B5EF4-FFF2-40B4-BE49-F238E27FC236}">
                <a16:creationId xmlns:a16="http://schemas.microsoft.com/office/drawing/2014/main" id="{0DF0E25C-A9D2-EFA8-EC12-AF26492C43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1350D1-FA77-0E06-25D2-6C89E4442128}"/>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2242504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7B36D4-C676-5EEB-2ABA-E6462271E1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3BCE03-23C2-28F2-7A46-DFD1F87A27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0373A9-73A2-6291-C8CE-7A88542C2676}"/>
              </a:ext>
            </a:extLst>
          </p:cNvPr>
          <p:cNvSpPr>
            <a:spLocks noGrp="1"/>
          </p:cNvSpPr>
          <p:nvPr>
            <p:ph type="dt" sz="half" idx="10"/>
          </p:nvPr>
        </p:nvSpPr>
        <p:spPr/>
        <p:txBody>
          <a:bodyPr/>
          <a:lstStyle/>
          <a:p>
            <a:fld id="{AA4A870F-D813-4668-85A3-02187A58C108}" type="datetimeFigureOut">
              <a:rPr lang="en-IN" smtClean="0"/>
              <a:t>16-09-2026</a:t>
            </a:fld>
            <a:endParaRPr lang="en-IN"/>
          </a:p>
        </p:txBody>
      </p:sp>
      <p:sp>
        <p:nvSpPr>
          <p:cNvPr id="5" name="Footer Placeholder 4">
            <a:extLst>
              <a:ext uri="{FF2B5EF4-FFF2-40B4-BE49-F238E27FC236}">
                <a16:creationId xmlns:a16="http://schemas.microsoft.com/office/drawing/2014/main" id="{73074275-E4E1-6F21-732A-9947D46C29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A7A18C-3580-8AFD-0E5C-26E3BF8F257B}"/>
              </a:ext>
            </a:extLst>
          </p:cNvPr>
          <p:cNvSpPr>
            <a:spLocks noGrp="1"/>
          </p:cNvSpPr>
          <p:nvPr>
            <p:ph type="sldNum" sz="quarter" idx="12"/>
          </p:nvPr>
        </p:nvSpPr>
        <p:spPr/>
        <p:txBody>
          <a:bodyPr/>
          <a:lstStyle/>
          <a:p>
            <a:fld id="{A565CCCC-1B4F-40F8-B7BF-08DC1C89AD8F}" type="slidenum">
              <a:rPr lang="en-IN" smtClean="0"/>
              <a:t>‹#›</a:t>
            </a:fld>
            <a:endParaRPr lang="en-IN"/>
          </a:p>
        </p:txBody>
      </p:sp>
    </p:spTree>
    <p:extLst>
      <p:ext uri="{BB962C8B-B14F-4D97-AF65-F5344CB8AC3E}">
        <p14:creationId xmlns:p14="http://schemas.microsoft.com/office/powerpoint/2010/main" val="221197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9E7E5D-203A-6F69-990B-FBD2285556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60B61C-6CB8-FA8E-76D0-9D31E16773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0CD9B7-EA7C-B941-4454-A407A67F62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4A870F-D813-4668-85A3-02187A58C108}" type="datetimeFigureOut">
              <a:rPr lang="en-IN" smtClean="0"/>
              <a:t>16-09-2026</a:t>
            </a:fld>
            <a:endParaRPr lang="en-IN"/>
          </a:p>
        </p:txBody>
      </p:sp>
      <p:sp>
        <p:nvSpPr>
          <p:cNvPr id="5" name="Footer Placeholder 4">
            <a:extLst>
              <a:ext uri="{FF2B5EF4-FFF2-40B4-BE49-F238E27FC236}">
                <a16:creationId xmlns:a16="http://schemas.microsoft.com/office/drawing/2014/main" id="{00D0895A-30BD-F5F6-51FF-A07D9F61FE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D74156-E099-7076-F702-72F7CB1DF0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5CCCC-1B4F-40F8-B7BF-08DC1C89AD8F}" type="slidenum">
              <a:rPr lang="en-IN" smtClean="0"/>
              <a:t>‹#›</a:t>
            </a:fld>
            <a:endParaRPr lang="en-IN"/>
          </a:p>
        </p:txBody>
      </p:sp>
    </p:spTree>
    <p:extLst>
      <p:ext uri="{BB962C8B-B14F-4D97-AF65-F5344CB8AC3E}">
        <p14:creationId xmlns:p14="http://schemas.microsoft.com/office/powerpoint/2010/main" val="2278047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Common Estimation Methods</a:t>
            </a:r>
            <a:br>
              <a:rPr lang="en-US"/>
            </a:br>
            <a:endParaRPr/>
          </a:p>
        </p:txBody>
      </p:sp>
      <p:sp>
        <p:nvSpPr>
          <p:cNvPr id="398" name="Google Shape;398;p44"/>
          <p:cNvSpPr txBox="1">
            <a:spLocks noGrp="1"/>
          </p:cNvSpPr>
          <p:nvPr>
            <p:ph type="body" idx="1"/>
          </p:nvPr>
        </p:nvSpPr>
        <p:spPr>
          <a:xfrm>
            <a:off x="838200" y="1431235"/>
            <a:ext cx="10515600" cy="506164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ct val="100000"/>
              <a:buChar char="•"/>
            </a:pPr>
            <a:r>
              <a:rPr lang="en-US" sz="2400" b="1" dirty="0"/>
              <a:t>Method of Moments: </a:t>
            </a:r>
            <a:r>
              <a:rPr lang="en-US" sz="2400" dirty="0"/>
              <a:t>This technique equates moments (like the mean or variance) calculated from the sample to the corresponding moments of the population, solving the resulting equations to estimate parameters. </a:t>
            </a:r>
            <a:endParaRPr sz="2400" dirty="0"/>
          </a:p>
          <a:p>
            <a:pPr marL="228600" lvl="0" indent="-228600" algn="just" rtl="0">
              <a:lnSpc>
                <a:spcPct val="90000"/>
              </a:lnSpc>
              <a:spcBef>
                <a:spcPts val="1000"/>
              </a:spcBef>
              <a:spcAft>
                <a:spcPts val="0"/>
              </a:spcAft>
              <a:buClr>
                <a:schemeClr val="dk1"/>
              </a:buClr>
              <a:buSzPct val="100000"/>
              <a:buChar char="•"/>
            </a:pPr>
            <a:r>
              <a:rPr lang="en-US" sz="2400" b="1" dirty="0"/>
              <a:t>Maximum Likelihood Estimation </a:t>
            </a:r>
            <a:r>
              <a:rPr lang="en-US" sz="2400" dirty="0"/>
              <a:t>(MLE): MLE finds the parameter values that maximize the probability of observing the given sample data. </a:t>
            </a:r>
            <a:endParaRPr sz="2400" dirty="0"/>
          </a:p>
          <a:p>
            <a:pPr marL="228600" lvl="0" indent="-228600" algn="just" rtl="0">
              <a:lnSpc>
                <a:spcPct val="90000"/>
              </a:lnSpc>
              <a:spcBef>
                <a:spcPts val="1000"/>
              </a:spcBef>
              <a:spcAft>
                <a:spcPts val="0"/>
              </a:spcAft>
              <a:buClr>
                <a:schemeClr val="dk1"/>
              </a:buClr>
              <a:buSzPct val="100000"/>
              <a:buChar char="•"/>
            </a:pPr>
            <a:r>
              <a:rPr lang="en-US" sz="2400" b="1" dirty="0"/>
              <a:t>Least Squares Estimation: </a:t>
            </a:r>
            <a:r>
              <a:rPr lang="en-US" sz="2400" dirty="0"/>
              <a:t>This method finds the parameters that minimize the sum of the squared differences between observed values and those predicted by the model. </a:t>
            </a:r>
            <a:endParaRPr sz="2400" dirty="0"/>
          </a:p>
          <a:p>
            <a:pPr marL="228600" lvl="0" indent="-228600" algn="just" rtl="0">
              <a:lnSpc>
                <a:spcPct val="90000"/>
              </a:lnSpc>
              <a:spcBef>
                <a:spcPts val="1000"/>
              </a:spcBef>
              <a:spcAft>
                <a:spcPts val="0"/>
              </a:spcAft>
              <a:buClr>
                <a:schemeClr val="dk1"/>
              </a:buClr>
              <a:buSzPct val="100000"/>
              <a:buChar char="•"/>
            </a:pPr>
            <a:r>
              <a:rPr lang="en-US" sz="2400" b="1" dirty="0"/>
              <a:t>Bayesian Estimation: </a:t>
            </a:r>
            <a:r>
              <a:rPr lang="en-US" sz="2400" dirty="0"/>
              <a:t>This approach uses a Bayesian perspective to update prior beliefs about parameters in light of observed data, providing an estimate that incorporates both prior information and the likelihood of the data. </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6"/>
          <p:cNvSpPr txBox="1">
            <a:spLocks noGrp="1"/>
          </p:cNvSpPr>
          <p:nvPr>
            <p:ph type="title"/>
          </p:nvPr>
        </p:nvSpPr>
        <p:spPr>
          <a:xfrm>
            <a:off x="838200" y="365126"/>
            <a:ext cx="10515600" cy="7459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Least Squares Estimation</a:t>
            </a:r>
            <a:endParaRPr dirty="0"/>
          </a:p>
        </p:txBody>
      </p:sp>
      <p:sp>
        <p:nvSpPr>
          <p:cNvPr id="410" name="Google Shape;410;p46"/>
          <p:cNvSpPr txBox="1">
            <a:spLocks noGrp="1"/>
          </p:cNvSpPr>
          <p:nvPr>
            <p:ph type="body" idx="1"/>
          </p:nvPr>
        </p:nvSpPr>
        <p:spPr>
          <a:xfrm>
            <a:off x="838200" y="1356852"/>
            <a:ext cx="10515600" cy="4820111"/>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b="1"/>
              <a:t>Least Squares Estimation: </a:t>
            </a:r>
            <a:r>
              <a:rPr lang="en-US"/>
              <a:t>This method finds the parameters that minimize the sum of the squared differences between observed values and those predicted by the model. </a:t>
            </a:r>
            <a:endParaRPr/>
          </a:p>
          <a:p>
            <a:pPr marL="228600" lvl="0" indent="-228600" algn="just" rtl="0">
              <a:lnSpc>
                <a:spcPct val="90000"/>
              </a:lnSpc>
              <a:spcBef>
                <a:spcPts val="1000"/>
              </a:spcBef>
              <a:spcAft>
                <a:spcPts val="0"/>
              </a:spcAft>
              <a:buClr>
                <a:schemeClr val="dk1"/>
              </a:buClr>
              <a:buSzPts val="2800"/>
              <a:buChar char="•"/>
            </a:pPr>
            <a:r>
              <a:rPr lang="en-US"/>
              <a:t>Least squares estimation is a fundamental method in linear regression for finding the "line of best fit" by minimizing the sum of the squared differences (residuals) between the observed data and the model's predictions. </a:t>
            </a:r>
            <a:endParaRPr/>
          </a:p>
          <a:p>
            <a:pPr marL="228600" lvl="0" indent="-228600" algn="just" rtl="0">
              <a:lnSpc>
                <a:spcPct val="90000"/>
              </a:lnSpc>
              <a:spcBef>
                <a:spcPts val="1000"/>
              </a:spcBef>
              <a:spcAft>
                <a:spcPts val="0"/>
              </a:spcAft>
              <a:buClr>
                <a:schemeClr val="dk1"/>
              </a:buClr>
              <a:buSzPts val="2800"/>
              <a:buChar char="•"/>
            </a:pPr>
            <a:r>
              <a:rPr lang="en-US"/>
              <a:t>It is an optimization technique that provides the coefficients for a linear equation that best describe the relationship between variables in a dataset.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7"/>
          <p:cNvSpPr txBox="1">
            <a:spLocks noGrp="1"/>
          </p:cNvSpPr>
          <p:nvPr>
            <p:ph type="title"/>
          </p:nvPr>
        </p:nvSpPr>
        <p:spPr>
          <a:xfrm>
            <a:off x="838200" y="149087"/>
            <a:ext cx="10515600" cy="1133061"/>
          </a:xfrm>
          <a:prstGeom prst="rect">
            <a:avLst/>
          </a:prstGeom>
          <a:noFill/>
          <a:ln>
            <a:noFill/>
          </a:ln>
        </p:spPr>
        <p:txBody>
          <a:bodyPr spcFirstLastPara="1" wrap="square" lIns="91425" tIns="45700" rIns="91425" bIns="45700" anchor="ctr" anchorCtr="0">
            <a:normAutofit/>
          </a:bodyPr>
          <a:lstStyle/>
          <a:p>
            <a:pPr lvl="0">
              <a:buSzPct val="100000"/>
            </a:pPr>
            <a:r>
              <a:rPr lang="en-US" dirty="0"/>
              <a:t>How Least Squares Estimation Works</a:t>
            </a:r>
            <a:endParaRPr dirty="0"/>
          </a:p>
        </p:txBody>
      </p:sp>
      <p:sp>
        <p:nvSpPr>
          <p:cNvPr id="416" name="Google Shape;416;p47"/>
          <p:cNvSpPr txBox="1">
            <a:spLocks noGrp="1"/>
          </p:cNvSpPr>
          <p:nvPr>
            <p:ph type="body" idx="1"/>
          </p:nvPr>
        </p:nvSpPr>
        <p:spPr>
          <a:xfrm>
            <a:off x="838200" y="1411357"/>
            <a:ext cx="10515600" cy="5297556"/>
          </a:xfrm>
          <a:prstGeom prst="rect">
            <a:avLst/>
          </a:prstGeom>
          <a:noFill/>
          <a:ln>
            <a:noFill/>
          </a:ln>
        </p:spPr>
        <p:txBody>
          <a:bodyPr spcFirstLastPara="1" wrap="square" lIns="91425" tIns="45700" rIns="91425" bIns="45700" anchor="t" anchorCtr="0">
            <a:normAutofit lnSpcReduction="10000"/>
          </a:bodyPr>
          <a:lstStyle/>
          <a:p>
            <a:pPr marL="514350" lvl="0" indent="-514350" algn="just" rtl="0">
              <a:lnSpc>
                <a:spcPct val="90000"/>
              </a:lnSpc>
              <a:spcBef>
                <a:spcPts val="0"/>
              </a:spcBef>
              <a:spcAft>
                <a:spcPts val="0"/>
              </a:spcAft>
              <a:buClr>
                <a:schemeClr val="dk1"/>
              </a:buClr>
              <a:buSzPct val="100000"/>
              <a:buFont typeface="+mj-lt"/>
              <a:buAutoNum type="arabicPeriod"/>
            </a:pPr>
            <a:r>
              <a:rPr lang="en-US" b="1" dirty="0"/>
              <a:t>Model Definition</a:t>
            </a:r>
            <a:r>
              <a:rPr lang="en-US" dirty="0"/>
              <a:t>: </a:t>
            </a:r>
            <a:endParaRPr dirty="0"/>
          </a:p>
          <a:p>
            <a:pPr marL="228600" lvl="0" indent="-228600" algn="just" rtl="0">
              <a:lnSpc>
                <a:spcPct val="90000"/>
              </a:lnSpc>
              <a:spcBef>
                <a:spcPts val="1000"/>
              </a:spcBef>
              <a:spcAft>
                <a:spcPts val="0"/>
              </a:spcAft>
              <a:buClr>
                <a:schemeClr val="dk1"/>
              </a:buClr>
              <a:buSzPct val="100000"/>
              <a:buChar char="•"/>
            </a:pPr>
            <a:r>
              <a:rPr lang="en-US" dirty="0"/>
              <a:t>A linear regression model assumes a linear relationship between a dependent variable (y) and one or more independent variables (x), represented by a line with a certain slope and y-intercept. </a:t>
            </a:r>
            <a:endParaRPr dirty="0"/>
          </a:p>
          <a:p>
            <a:pPr marL="0" lvl="0" indent="0" algn="just" rtl="0">
              <a:lnSpc>
                <a:spcPct val="90000"/>
              </a:lnSpc>
              <a:spcBef>
                <a:spcPts val="1000"/>
              </a:spcBef>
              <a:spcAft>
                <a:spcPts val="0"/>
              </a:spcAft>
              <a:buClr>
                <a:schemeClr val="dk1"/>
              </a:buClr>
              <a:buSzPct val="100000"/>
              <a:buNone/>
            </a:pPr>
            <a:r>
              <a:rPr lang="en-US" b="1" dirty="0"/>
              <a:t>2.    Calculate Residuals</a:t>
            </a:r>
            <a:r>
              <a:rPr lang="en-US" dirty="0"/>
              <a:t>: </a:t>
            </a:r>
            <a:endParaRPr dirty="0"/>
          </a:p>
          <a:p>
            <a:pPr marL="228600" lvl="0" indent="-228600" algn="just" rtl="0">
              <a:lnSpc>
                <a:spcPct val="90000"/>
              </a:lnSpc>
              <a:spcBef>
                <a:spcPts val="1000"/>
              </a:spcBef>
              <a:spcAft>
                <a:spcPts val="0"/>
              </a:spcAft>
              <a:buClr>
                <a:schemeClr val="dk1"/>
              </a:buClr>
              <a:buSzPct val="100000"/>
              <a:buChar char="•"/>
            </a:pPr>
            <a:r>
              <a:rPr lang="en-US" dirty="0"/>
              <a:t>For each data point, the vertical distance (the "residual" or "error") between the actual observed value and the value predicted by the current line is calculated. </a:t>
            </a:r>
            <a:endParaRPr dirty="0"/>
          </a:p>
          <a:p>
            <a:pPr marL="0" lvl="0" indent="0" algn="just" rtl="0">
              <a:lnSpc>
                <a:spcPct val="90000"/>
              </a:lnSpc>
              <a:spcBef>
                <a:spcPts val="1000"/>
              </a:spcBef>
              <a:spcAft>
                <a:spcPts val="0"/>
              </a:spcAft>
              <a:buClr>
                <a:schemeClr val="dk1"/>
              </a:buClr>
              <a:buSzPct val="100000"/>
              <a:buNone/>
            </a:pPr>
            <a:r>
              <a:rPr lang="en-US" b="1" dirty="0"/>
              <a:t>3.   Square the Residuals</a:t>
            </a:r>
            <a:r>
              <a:rPr lang="en-US" dirty="0"/>
              <a:t>: </a:t>
            </a:r>
            <a:endParaRPr dirty="0"/>
          </a:p>
          <a:p>
            <a:pPr marL="228600" lvl="0" indent="-228600" algn="just" rtl="0">
              <a:lnSpc>
                <a:spcPct val="90000"/>
              </a:lnSpc>
              <a:spcBef>
                <a:spcPts val="1000"/>
              </a:spcBef>
              <a:spcAft>
                <a:spcPts val="0"/>
              </a:spcAft>
              <a:buClr>
                <a:schemeClr val="dk1"/>
              </a:buClr>
              <a:buSzPct val="100000"/>
              <a:buChar char="•"/>
            </a:pPr>
            <a:r>
              <a:rPr lang="en-US" dirty="0"/>
              <a:t>These differences are then squared to prevent negative and positive errors from canceling each other out and to penalize larger errors more heavily.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4">
          <a:extLst>
            <a:ext uri="{FF2B5EF4-FFF2-40B4-BE49-F238E27FC236}">
              <a16:creationId xmlns:a16="http://schemas.microsoft.com/office/drawing/2014/main" id="{5BF612AB-D867-3333-6D0B-9CC012040743}"/>
            </a:ext>
          </a:extLst>
        </p:cNvPr>
        <p:cNvGrpSpPr/>
        <p:nvPr/>
      </p:nvGrpSpPr>
      <p:grpSpPr>
        <a:xfrm>
          <a:off x="0" y="0"/>
          <a:ext cx="0" cy="0"/>
          <a:chOff x="0" y="0"/>
          <a:chExt cx="0" cy="0"/>
        </a:xfrm>
      </p:grpSpPr>
      <p:sp>
        <p:nvSpPr>
          <p:cNvPr id="415" name="Google Shape;415;p47">
            <a:extLst>
              <a:ext uri="{FF2B5EF4-FFF2-40B4-BE49-F238E27FC236}">
                <a16:creationId xmlns:a16="http://schemas.microsoft.com/office/drawing/2014/main" id="{D54381C4-EF78-E239-8E2A-CEDBB53674EB}"/>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US" dirty="0"/>
              <a:t>How Least Squares Estimation Works</a:t>
            </a:r>
            <a:endParaRPr dirty="0"/>
          </a:p>
        </p:txBody>
      </p:sp>
      <p:sp>
        <p:nvSpPr>
          <p:cNvPr id="416" name="Google Shape;416;p47">
            <a:extLst>
              <a:ext uri="{FF2B5EF4-FFF2-40B4-BE49-F238E27FC236}">
                <a16:creationId xmlns:a16="http://schemas.microsoft.com/office/drawing/2014/main" id="{07DB04A5-7043-70CD-809D-14132A2AE86D}"/>
              </a:ext>
            </a:extLst>
          </p:cNvPr>
          <p:cNvSpPr txBox="1">
            <a:spLocks noGrp="1"/>
          </p:cNvSpPr>
          <p:nvPr>
            <p:ph type="body" idx="1"/>
          </p:nvPr>
        </p:nvSpPr>
        <p:spPr>
          <a:xfrm>
            <a:off x="838200" y="1690688"/>
            <a:ext cx="10515600" cy="4486275"/>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1000"/>
              </a:spcBef>
              <a:spcAft>
                <a:spcPts val="0"/>
              </a:spcAft>
              <a:buClr>
                <a:schemeClr val="dk1"/>
              </a:buClr>
              <a:buSzPct val="100000"/>
              <a:buNone/>
            </a:pPr>
            <a:r>
              <a:rPr lang="en-US" b="1" dirty="0"/>
              <a:t>4.   Minimize the Sum</a:t>
            </a:r>
            <a:r>
              <a:rPr lang="en-US" dirty="0"/>
              <a:t>: </a:t>
            </a:r>
            <a:endParaRPr dirty="0"/>
          </a:p>
          <a:p>
            <a:pPr marL="228600" lvl="0" indent="-228600" algn="just" rtl="0">
              <a:lnSpc>
                <a:spcPct val="90000"/>
              </a:lnSpc>
              <a:spcBef>
                <a:spcPts val="1000"/>
              </a:spcBef>
              <a:spcAft>
                <a:spcPts val="0"/>
              </a:spcAft>
              <a:buClr>
                <a:schemeClr val="dk1"/>
              </a:buClr>
              <a:buSzPct val="100000"/>
              <a:buChar char="•"/>
            </a:pPr>
            <a:r>
              <a:rPr lang="en-US" dirty="0"/>
              <a:t>The goal of the least squares method is to find the specific values for the model's coefficients (like the slope and intercept) that result in the smallest possible sum of these squared residuals. </a:t>
            </a:r>
            <a:endParaRPr dirty="0"/>
          </a:p>
          <a:p>
            <a:pPr marL="0" lvl="0" indent="0" algn="just" rtl="0">
              <a:lnSpc>
                <a:spcPct val="90000"/>
              </a:lnSpc>
              <a:spcBef>
                <a:spcPts val="1000"/>
              </a:spcBef>
              <a:spcAft>
                <a:spcPts val="0"/>
              </a:spcAft>
              <a:buClr>
                <a:schemeClr val="dk1"/>
              </a:buClr>
              <a:buSzPct val="100000"/>
              <a:buNone/>
            </a:pPr>
            <a:r>
              <a:rPr lang="en-US" b="1" dirty="0"/>
              <a:t>5.   Calculus for Solution</a:t>
            </a:r>
            <a:r>
              <a:rPr lang="en-US" dirty="0"/>
              <a:t>: </a:t>
            </a:r>
            <a:endParaRPr dirty="0"/>
          </a:p>
          <a:p>
            <a:pPr marL="228600" lvl="0" indent="-228600" algn="just" rtl="0">
              <a:lnSpc>
                <a:spcPct val="90000"/>
              </a:lnSpc>
              <a:spcBef>
                <a:spcPts val="1000"/>
              </a:spcBef>
              <a:spcAft>
                <a:spcPts val="0"/>
              </a:spcAft>
              <a:buClr>
                <a:schemeClr val="dk1"/>
              </a:buClr>
              <a:buSzPct val="100000"/>
              <a:buChar char="•"/>
            </a:pPr>
            <a:r>
              <a:rPr lang="en-US" dirty="0"/>
              <a:t>This minimization is often achieved by using calculus to find the partial derivatives of the sum of squared errors with respect to the coefficients, which leads to a set of equations (normal equations) that can be solved to find the estimated coefficients. </a:t>
            </a:r>
            <a:endParaRPr dirty="0"/>
          </a:p>
          <a:p>
            <a:pPr marL="228600" lvl="0" indent="-90804" algn="l" rtl="0">
              <a:lnSpc>
                <a:spcPct val="90000"/>
              </a:lnSpc>
              <a:spcBef>
                <a:spcPts val="1000"/>
              </a:spcBef>
              <a:spcAft>
                <a:spcPts val="0"/>
              </a:spcAft>
              <a:buClr>
                <a:schemeClr val="dk1"/>
              </a:buClr>
              <a:buSzPct val="100000"/>
              <a:buNone/>
            </a:pPr>
            <a:endParaRPr dirty="0"/>
          </a:p>
        </p:txBody>
      </p:sp>
    </p:spTree>
    <p:extLst>
      <p:ext uri="{BB962C8B-B14F-4D97-AF65-F5344CB8AC3E}">
        <p14:creationId xmlns:p14="http://schemas.microsoft.com/office/powerpoint/2010/main" val="3948873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4C787-DDA4-920E-E206-B5A5AA69B4E2}"/>
              </a:ext>
            </a:extLst>
          </p:cNvPr>
          <p:cNvSpPr>
            <a:spLocks noGrp="1"/>
          </p:cNvSpPr>
          <p:nvPr>
            <p:ph type="title"/>
          </p:nvPr>
        </p:nvSpPr>
        <p:spPr/>
        <p:txBody>
          <a:bodyPr/>
          <a:lstStyle/>
          <a:p>
            <a:pPr algn="ctr"/>
            <a:r>
              <a:rPr lang="en-IN" dirty="0"/>
              <a:t>Regression</a:t>
            </a:r>
          </a:p>
        </p:txBody>
      </p:sp>
      <p:sp>
        <p:nvSpPr>
          <p:cNvPr id="3" name="Text Placeholder 2">
            <a:extLst>
              <a:ext uri="{FF2B5EF4-FFF2-40B4-BE49-F238E27FC236}">
                <a16:creationId xmlns:a16="http://schemas.microsoft.com/office/drawing/2014/main" id="{6C30336D-7A9B-20B2-0452-429753AA13A2}"/>
              </a:ext>
            </a:extLst>
          </p:cNvPr>
          <p:cNvSpPr>
            <a:spLocks noGrp="1"/>
          </p:cNvSpPr>
          <p:nvPr>
            <p:ph type="body" idx="1"/>
          </p:nvPr>
        </p:nvSpPr>
        <p:spPr>
          <a:xfrm>
            <a:off x="838200" y="1690688"/>
            <a:ext cx="10909852" cy="4938712"/>
          </a:xfrm>
        </p:spPr>
        <p:txBody>
          <a:bodyPr>
            <a:normAutofit/>
          </a:bodyPr>
          <a:lstStyle/>
          <a:p>
            <a:r>
              <a:rPr lang="en-US" sz="2600" dirty="0"/>
              <a:t>Regression in supervised machine learning is a statistical method to model the relationship between a dependent (target/output) and one or more independent (predictor/input) variables </a:t>
            </a:r>
          </a:p>
          <a:p>
            <a:r>
              <a:rPr lang="en-US" sz="2600" dirty="0"/>
              <a:t>More specifically, regression helps us to understand how the value of the dependent variable is changing corresponding to an independent variable. </a:t>
            </a:r>
          </a:p>
          <a:p>
            <a:r>
              <a:rPr lang="en-US" sz="2600" dirty="0"/>
              <a:t>It predicts the continuous/real values (such as temperature, age, salary, price, etc.) of output variables.</a:t>
            </a:r>
          </a:p>
          <a:p>
            <a:r>
              <a:rPr lang="en-US" sz="2600" dirty="0"/>
              <a:t>Regression can be classified into different types based on the number of predictor variables and the nature of the relationship between variables – simple linear regression, multiple linear regression, polynomial regression, etc.</a:t>
            </a:r>
            <a:endParaRPr lang="en-IN" sz="2600" dirty="0"/>
          </a:p>
        </p:txBody>
      </p:sp>
    </p:spTree>
    <p:extLst>
      <p:ext uri="{BB962C8B-B14F-4D97-AF65-F5344CB8AC3E}">
        <p14:creationId xmlns:p14="http://schemas.microsoft.com/office/powerpoint/2010/main" val="143382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99F2-3C2A-6FB9-1887-33A1E42E2B78}"/>
              </a:ext>
            </a:extLst>
          </p:cNvPr>
          <p:cNvSpPr>
            <a:spLocks noGrp="1"/>
          </p:cNvSpPr>
          <p:nvPr>
            <p:ph type="title"/>
          </p:nvPr>
        </p:nvSpPr>
        <p:spPr>
          <a:xfrm>
            <a:off x="838200" y="365125"/>
            <a:ext cx="10515600" cy="867327"/>
          </a:xfrm>
        </p:spPr>
        <p:txBody>
          <a:bodyPr/>
          <a:lstStyle/>
          <a:p>
            <a:r>
              <a:rPr lang="en-IN" dirty="0"/>
              <a:t>Simple linear regression </a:t>
            </a:r>
          </a:p>
        </p:txBody>
      </p:sp>
      <p:sp>
        <p:nvSpPr>
          <p:cNvPr id="3" name="Text Placeholder 2">
            <a:extLst>
              <a:ext uri="{FF2B5EF4-FFF2-40B4-BE49-F238E27FC236}">
                <a16:creationId xmlns:a16="http://schemas.microsoft.com/office/drawing/2014/main" id="{3036C50A-EDDB-F4DC-9DD5-06687CCC136F}"/>
              </a:ext>
            </a:extLst>
          </p:cNvPr>
          <p:cNvSpPr>
            <a:spLocks noGrp="1"/>
          </p:cNvSpPr>
          <p:nvPr>
            <p:ph type="body" idx="1"/>
          </p:nvPr>
        </p:nvSpPr>
        <p:spPr>
          <a:xfrm>
            <a:off x="838199" y="1232452"/>
            <a:ext cx="11217965" cy="4944511"/>
          </a:xfrm>
        </p:spPr>
        <p:txBody>
          <a:bodyPr>
            <a:normAutofit/>
          </a:bodyPr>
          <a:lstStyle/>
          <a:p>
            <a:r>
              <a:rPr lang="en-US" sz="2400" dirty="0"/>
              <a:t>It is one of the simplest and most widely used statistical models. </a:t>
            </a:r>
          </a:p>
          <a:p>
            <a:r>
              <a:rPr lang="en-US" sz="2400" dirty="0"/>
              <a:t>Only one independent variable and it is assumed that there is a linear relationship between the independent and dependent variables. </a:t>
            </a:r>
          </a:p>
          <a:p>
            <a:r>
              <a:rPr lang="en-US" sz="2400" dirty="0"/>
              <a:t>Change in the dependent variable is proportional to the change in the independent variables. </a:t>
            </a:r>
          </a:p>
          <a:p>
            <a:r>
              <a:rPr lang="en-US" sz="2400" dirty="0"/>
              <a:t>Example: Suppose there is a marketing company A, who does various advertisement every year and get sales on that. The below list shows the advertisement made by the company in the last 5 years and the corresponding sales:</a:t>
            </a:r>
          </a:p>
        </p:txBody>
      </p:sp>
      <p:pic>
        <p:nvPicPr>
          <p:cNvPr id="428" name="Google Shape;428;p49"/>
          <p:cNvPicPr preferRelativeResize="0"/>
          <p:nvPr/>
        </p:nvPicPr>
        <p:blipFill rotWithShape="1">
          <a:blip r:embed="rId2">
            <a:alphaModFix/>
          </a:blip>
          <a:srcRect b="27819"/>
          <a:stretch/>
        </p:blipFill>
        <p:spPr>
          <a:xfrm>
            <a:off x="6534754" y="4552420"/>
            <a:ext cx="3058385" cy="2146255"/>
          </a:xfrm>
          <a:prstGeom prst="rect">
            <a:avLst/>
          </a:prstGeom>
          <a:noFill/>
          <a:ln>
            <a:noFill/>
          </a:ln>
        </p:spPr>
      </p:pic>
    </p:spTree>
    <p:extLst>
      <p:ext uri="{BB962C8B-B14F-4D97-AF65-F5344CB8AC3E}">
        <p14:creationId xmlns:p14="http://schemas.microsoft.com/office/powerpoint/2010/main" val="4042409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2" name="Title 1">
            <a:extLst>
              <a:ext uri="{FF2B5EF4-FFF2-40B4-BE49-F238E27FC236}">
                <a16:creationId xmlns:a16="http://schemas.microsoft.com/office/drawing/2014/main" id="{B1559E6A-3FE3-F61E-1A32-BB93247D4C9A}"/>
              </a:ext>
            </a:extLst>
          </p:cNvPr>
          <p:cNvSpPr>
            <a:spLocks noGrp="1"/>
          </p:cNvSpPr>
          <p:nvPr>
            <p:ph type="title"/>
          </p:nvPr>
        </p:nvSpPr>
        <p:spPr>
          <a:xfrm>
            <a:off x="838200" y="365126"/>
            <a:ext cx="10515600" cy="718240"/>
          </a:xfrm>
        </p:spPr>
        <p:txBody>
          <a:bodyPr/>
          <a:lstStyle/>
          <a:p>
            <a:r>
              <a:rPr lang="en-IN" dirty="0"/>
              <a:t>Simple linear regression </a:t>
            </a:r>
          </a:p>
        </p:txBody>
      </p:sp>
      <p:sp>
        <p:nvSpPr>
          <p:cNvPr id="3" name="Text Placeholder 2">
            <a:extLst>
              <a:ext uri="{FF2B5EF4-FFF2-40B4-BE49-F238E27FC236}">
                <a16:creationId xmlns:a16="http://schemas.microsoft.com/office/drawing/2014/main" id="{077E0285-06BB-8205-FFE9-7CDC5D80F71C}"/>
              </a:ext>
            </a:extLst>
          </p:cNvPr>
          <p:cNvSpPr>
            <a:spLocks noGrp="1"/>
          </p:cNvSpPr>
          <p:nvPr>
            <p:ph type="body" idx="1"/>
          </p:nvPr>
        </p:nvSpPr>
        <p:spPr>
          <a:xfrm>
            <a:off x="838200" y="1083366"/>
            <a:ext cx="10515600" cy="5093597"/>
          </a:xfrm>
        </p:spPr>
        <p:txBody>
          <a:bodyPr>
            <a:normAutofit/>
          </a:bodyPr>
          <a:lstStyle/>
          <a:p>
            <a:r>
              <a:rPr lang="en-US" sz="2400" dirty="0"/>
              <a:t>Simple linear regression in Machine Learning is a technique used to understand the relationship between one input (predictor) and output (target) variable. This way it can predict the sales for a particular advertisement cost.</a:t>
            </a:r>
          </a:p>
          <a:p>
            <a:r>
              <a:rPr lang="en-US" sz="2400" dirty="0"/>
              <a:t>In linear regression analysis, we plot a graph where we try to draw a line that best fits the data points. This line is called the regression line. The idea is to make sure the vertical distances (also called errors or residuals) between each data point and the line are as small as possible.</a:t>
            </a:r>
          </a:p>
          <a:p>
            <a:endParaRPr lang="en-IN" sz="2400" dirty="0"/>
          </a:p>
        </p:txBody>
      </p:sp>
      <p:sp>
        <p:nvSpPr>
          <p:cNvPr id="435" name="Google Shape;435;p50"/>
          <p:cNvSpPr/>
          <p:nvPr/>
        </p:nvSpPr>
        <p:spPr>
          <a:xfrm>
            <a:off x="1038300" y="3791046"/>
            <a:ext cx="6260869" cy="2246769"/>
          </a:xfrm>
          <a:prstGeom prst="rect">
            <a:avLst/>
          </a:prstGeom>
          <a:noFill/>
          <a:ln w="2857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dirty="0">
                <a:solidFill>
                  <a:schemeClr val="dk1"/>
                </a:solidFill>
                <a:latin typeface="Calibri"/>
                <a:ea typeface="Calibri"/>
                <a:cs typeface="Calibri"/>
                <a:sym typeface="Calibri"/>
              </a:rPr>
              <a:t>There are infinitely many lines that you could draw through a scatter plot of data points. But regression chooses one special line — the best-fit line - the one that </a:t>
            </a:r>
            <a:r>
              <a:rPr lang="en-US" sz="2000" b="1" dirty="0">
                <a:solidFill>
                  <a:srgbClr val="548135"/>
                </a:solidFill>
                <a:latin typeface="Calibri"/>
                <a:ea typeface="Calibri"/>
                <a:cs typeface="Calibri"/>
                <a:sym typeface="Calibri"/>
              </a:rPr>
              <a:t>minimizes the total squared error</a:t>
            </a:r>
            <a:r>
              <a:rPr lang="en-US" sz="2000" dirty="0">
                <a:solidFill>
                  <a:schemeClr val="dk1"/>
                </a:solidFill>
                <a:latin typeface="Calibri"/>
                <a:ea typeface="Calibri"/>
                <a:cs typeface="Calibri"/>
                <a:sym typeface="Calibri"/>
              </a:rPr>
              <a:t>, where the error is the vertical distance between each data point and the line.</a:t>
            </a:r>
            <a:endParaRPr lang="en-US" sz="2000" dirty="0"/>
          </a:p>
          <a:p>
            <a:pPr marL="0" marR="0" lvl="0" indent="0" algn="just" rtl="0">
              <a:spcBef>
                <a:spcPts val="0"/>
              </a:spcBef>
              <a:spcAft>
                <a:spcPts val="0"/>
              </a:spcAft>
              <a:buNone/>
            </a:pPr>
            <a:endParaRPr lang="en-US" sz="20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2000" dirty="0">
                <a:solidFill>
                  <a:schemeClr val="dk1"/>
                </a:solidFill>
                <a:latin typeface="Calibri"/>
                <a:ea typeface="Calibri"/>
                <a:cs typeface="Calibri"/>
                <a:sym typeface="Calibri"/>
              </a:rPr>
              <a:t>This is usually done using a method called </a:t>
            </a:r>
            <a:r>
              <a:rPr lang="en-US" sz="2000" b="1" dirty="0">
                <a:solidFill>
                  <a:srgbClr val="548135"/>
                </a:solidFill>
                <a:latin typeface="Calibri"/>
                <a:ea typeface="Calibri"/>
                <a:cs typeface="Calibri"/>
                <a:sym typeface="Calibri"/>
              </a:rPr>
              <a:t>Least Squares</a:t>
            </a:r>
            <a:r>
              <a:rPr lang="en-US" sz="2000" dirty="0">
                <a:solidFill>
                  <a:srgbClr val="548135"/>
                </a:solidFill>
                <a:latin typeface="Calibri"/>
                <a:ea typeface="Calibri"/>
                <a:cs typeface="Calibri"/>
                <a:sym typeface="Calibri"/>
              </a:rPr>
              <a:t>.</a:t>
            </a:r>
          </a:p>
        </p:txBody>
      </p:sp>
      <p:pic>
        <p:nvPicPr>
          <p:cNvPr id="436" name="Google Shape;436;p50"/>
          <p:cNvPicPr preferRelativeResize="0"/>
          <p:nvPr/>
        </p:nvPicPr>
        <p:blipFill rotWithShape="1">
          <a:blip r:embed="rId3">
            <a:alphaModFix/>
          </a:blip>
          <a:srcRect/>
          <a:stretch/>
        </p:blipFill>
        <p:spPr>
          <a:xfrm>
            <a:off x="7499268" y="3627134"/>
            <a:ext cx="4313504" cy="32308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A54FF-8CAF-F2BB-174E-3DBB97D6BF78}"/>
              </a:ext>
            </a:extLst>
          </p:cNvPr>
          <p:cNvSpPr>
            <a:spLocks noGrp="1"/>
          </p:cNvSpPr>
          <p:nvPr>
            <p:ph type="title"/>
          </p:nvPr>
        </p:nvSpPr>
        <p:spPr/>
        <p:txBody>
          <a:bodyPr/>
          <a:lstStyle/>
          <a:p>
            <a:r>
              <a:rPr lang="en-IN" dirty="0"/>
              <a:t>Simple linear regression </a:t>
            </a:r>
          </a:p>
        </p:txBody>
      </p:sp>
      <p:sp>
        <p:nvSpPr>
          <p:cNvPr id="3" name="Text Placeholder 2">
            <a:extLst>
              <a:ext uri="{FF2B5EF4-FFF2-40B4-BE49-F238E27FC236}">
                <a16:creationId xmlns:a16="http://schemas.microsoft.com/office/drawing/2014/main" id="{0086B61F-D63C-FD5B-B3B8-D32351182949}"/>
              </a:ext>
            </a:extLst>
          </p:cNvPr>
          <p:cNvSpPr>
            <a:spLocks noGrp="1"/>
          </p:cNvSpPr>
          <p:nvPr>
            <p:ph type="body" idx="1"/>
          </p:nvPr>
        </p:nvSpPr>
        <p:spPr>
          <a:xfrm>
            <a:off x="838200" y="1825625"/>
            <a:ext cx="10959548" cy="4351338"/>
          </a:xfrm>
        </p:spPr>
        <p:txBody>
          <a:bodyPr>
            <a:normAutofit/>
          </a:bodyPr>
          <a:lstStyle/>
          <a:p>
            <a:r>
              <a:rPr lang="en-US" sz="2400" dirty="0"/>
              <a:t>The least-squares method is a statistical method used to find the line of best fit of the form of an equation such as y = mx + b to the given data.</a:t>
            </a:r>
          </a:p>
          <a:p>
            <a:r>
              <a:rPr lang="en-US" sz="2400" dirty="0"/>
              <a:t>Our main objective in this method is to reduce the sum of the squares of errors as much as possible. This is the reason this method is called the least-squares method.</a:t>
            </a:r>
          </a:p>
          <a:p>
            <a:r>
              <a:rPr lang="en-US" sz="2400" dirty="0"/>
              <a:t>For just one observation, </a:t>
            </a:r>
          </a:p>
          <a:p>
            <a:endParaRPr lang="en-US" sz="2400" dirty="0"/>
          </a:p>
          <a:p>
            <a:r>
              <a:rPr lang="en-US" sz="2400" dirty="0"/>
              <a:t>But this is the error of a single data point; our dataset will have multiple instances, and there will be a separate error term for each instance. Therefore, we can add up all the losses and find the loss of the whole model.</a:t>
            </a:r>
          </a:p>
          <a:p>
            <a:endParaRPr lang="en-US" sz="2400" dirty="0"/>
          </a:p>
          <a:p>
            <a:endParaRPr lang="en-IN" sz="2400" dirty="0"/>
          </a:p>
        </p:txBody>
      </p:sp>
      <p:pic>
        <p:nvPicPr>
          <p:cNvPr id="443" name="Google Shape;443;p51" descr="https://miro.medium.com/v2/resize:fit:313/0*Zzpom5YQ9JsOZIDs.png"/>
          <p:cNvPicPr preferRelativeResize="0"/>
          <p:nvPr/>
        </p:nvPicPr>
        <p:blipFill rotWithShape="1">
          <a:blip r:embed="rId2">
            <a:alphaModFix/>
          </a:blip>
          <a:srcRect/>
          <a:stretch/>
        </p:blipFill>
        <p:spPr>
          <a:xfrm>
            <a:off x="5580582" y="3857757"/>
            <a:ext cx="2469680" cy="485643"/>
          </a:xfrm>
          <a:prstGeom prst="rect">
            <a:avLst/>
          </a:prstGeom>
          <a:noFill/>
          <a:ln>
            <a:noFill/>
          </a:ln>
        </p:spPr>
      </p:pic>
      <p:pic>
        <p:nvPicPr>
          <p:cNvPr id="445" name="Google Shape;445;p51" descr="https://miro.medium.com/v2/resize:fit:397/0*IrMqxKZi92rparwQ.png"/>
          <p:cNvPicPr preferRelativeResize="0"/>
          <p:nvPr/>
        </p:nvPicPr>
        <p:blipFill rotWithShape="1">
          <a:blip r:embed="rId3">
            <a:alphaModFix/>
          </a:blip>
          <a:srcRect/>
          <a:stretch/>
        </p:blipFill>
        <p:spPr>
          <a:xfrm>
            <a:off x="5371429" y="6057480"/>
            <a:ext cx="2887987" cy="565246"/>
          </a:xfrm>
          <a:prstGeom prst="rect">
            <a:avLst/>
          </a:prstGeom>
          <a:noFill/>
          <a:ln>
            <a:noFill/>
          </a:ln>
        </p:spPr>
      </p:pic>
    </p:spTree>
    <p:extLst>
      <p:ext uri="{BB962C8B-B14F-4D97-AF65-F5344CB8AC3E}">
        <p14:creationId xmlns:p14="http://schemas.microsoft.com/office/powerpoint/2010/main" val="30211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2" name="Title 1">
            <a:extLst>
              <a:ext uri="{FF2B5EF4-FFF2-40B4-BE49-F238E27FC236}">
                <a16:creationId xmlns:a16="http://schemas.microsoft.com/office/drawing/2014/main" id="{6D3EFEC3-E5D7-C412-A1FA-DC882782A2A9}"/>
              </a:ext>
            </a:extLst>
          </p:cNvPr>
          <p:cNvSpPr>
            <a:spLocks noGrp="1"/>
          </p:cNvSpPr>
          <p:nvPr>
            <p:ph type="title"/>
          </p:nvPr>
        </p:nvSpPr>
        <p:spPr/>
        <p:txBody>
          <a:bodyPr/>
          <a:lstStyle/>
          <a:p>
            <a:r>
              <a:rPr lang="en-IN" dirty="0"/>
              <a:t>Simple linear regression </a:t>
            </a:r>
            <a:br>
              <a:rPr lang="en-IN" dirty="0"/>
            </a:br>
            <a:endParaRPr lang="en-IN" dirty="0"/>
          </a:p>
        </p:txBody>
      </p:sp>
      <p:sp>
        <p:nvSpPr>
          <p:cNvPr id="3" name="Text Placeholder 2">
            <a:extLst>
              <a:ext uri="{FF2B5EF4-FFF2-40B4-BE49-F238E27FC236}">
                <a16:creationId xmlns:a16="http://schemas.microsoft.com/office/drawing/2014/main" id="{25AE032B-BC0B-3508-F85E-4B0B270B6038}"/>
              </a:ext>
            </a:extLst>
          </p:cNvPr>
          <p:cNvSpPr>
            <a:spLocks noGrp="1"/>
          </p:cNvSpPr>
          <p:nvPr>
            <p:ph type="body" idx="1"/>
          </p:nvPr>
        </p:nvSpPr>
        <p:spPr>
          <a:xfrm>
            <a:off x="838199" y="1441174"/>
            <a:ext cx="10691191" cy="5051701"/>
          </a:xfrm>
        </p:spPr>
        <p:txBody>
          <a:bodyPr>
            <a:normAutofit lnSpcReduction="10000"/>
          </a:bodyPr>
          <a:lstStyle/>
          <a:p>
            <a:r>
              <a:rPr lang="en-US" dirty="0"/>
              <a:t>The final error term is square of the error over all data points or observations </a:t>
            </a:r>
          </a:p>
          <a:p>
            <a:endParaRPr lang="en-US" dirty="0"/>
          </a:p>
          <a:p>
            <a:endParaRPr lang="en-US" dirty="0"/>
          </a:p>
          <a:p>
            <a:endParaRPr lang="en-US" dirty="0"/>
          </a:p>
          <a:p>
            <a:endParaRPr lang="en-US" dirty="0"/>
          </a:p>
          <a:p>
            <a:endParaRPr lang="en-US" dirty="0"/>
          </a:p>
          <a:p>
            <a:r>
              <a:rPr lang="en-US" dirty="0"/>
              <a:t>Now we need to differentiate the Error term with respect to the slope (m) as well as with respect to the intercept (c). And then, by equating the resulting equation to zero, we can find an expression for both slope and intercept.</a:t>
            </a:r>
          </a:p>
          <a:p>
            <a:endParaRPr lang="en-IN" dirty="0"/>
          </a:p>
        </p:txBody>
      </p:sp>
      <p:pic>
        <p:nvPicPr>
          <p:cNvPr id="451" name="Google Shape;451;p52"/>
          <p:cNvPicPr preferRelativeResize="0"/>
          <p:nvPr/>
        </p:nvPicPr>
        <p:blipFill rotWithShape="1">
          <a:blip r:embed="rId3">
            <a:alphaModFix/>
          </a:blip>
          <a:srcRect/>
          <a:stretch/>
        </p:blipFill>
        <p:spPr>
          <a:xfrm>
            <a:off x="4562028" y="2378494"/>
            <a:ext cx="3041407" cy="573427"/>
          </a:xfrm>
          <a:prstGeom prst="rect">
            <a:avLst/>
          </a:prstGeom>
          <a:noFill/>
          <a:ln>
            <a:noFill/>
          </a:ln>
        </p:spPr>
      </p:pic>
      <p:pic>
        <p:nvPicPr>
          <p:cNvPr id="453" name="Google Shape;453;p52"/>
          <p:cNvPicPr preferRelativeResize="0"/>
          <p:nvPr/>
        </p:nvPicPr>
        <p:blipFill rotWithShape="1">
          <a:blip r:embed="rId4">
            <a:alphaModFix/>
          </a:blip>
          <a:srcRect/>
          <a:stretch/>
        </p:blipFill>
        <p:spPr>
          <a:xfrm>
            <a:off x="4446490" y="3317812"/>
            <a:ext cx="4210493" cy="7969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pic>
        <p:nvPicPr>
          <p:cNvPr id="456" name="Google Shape;456;p52"/>
          <p:cNvPicPr preferRelativeResize="0"/>
          <p:nvPr/>
        </p:nvPicPr>
        <p:blipFill rotWithShape="1">
          <a:blip r:embed="rId3">
            <a:alphaModFix/>
          </a:blip>
          <a:srcRect/>
          <a:stretch/>
        </p:blipFill>
        <p:spPr>
          <a:xfrm>
            <a:off x="1769165" y="2606522"/>
            <a:ext cx="9939131" cy="4142148"/>
          </a:xfrm>
          <a:prstGeom prst="rect">
            <a:avLst/>
          </a:prstGeom>
          <a:noFill/>
          <a:ln>
            <a:noFill/>
          </a:ln>
        </p:spPr>
      </p:pic>
      <p:sp>
        <p:nvSpPr>
          <p:cNvPr id="2" name="Title 1">
            <a:extLst>
              <a:ext uri="{FF2B5EF4-FFF2-40B4-BE49-F238E27FC236}">
                <a16:creationId xmlns:a16="http://schemas.microsoft.com/office/drawing/2014/main" id="{1A807CFA-B6A2-1F62-598B-3C600EFBEEE3}"/>
              </a:ext>
            </a:extLst>
          </p:cNvPr>
          <p:cNvSpPr>
            <a:spLocks noGrp="1"/>
          </p:cNvSpPr>
          <p:nvPr>
            <p:ph type="title"/>
          </p:nvPr>
        </p:nvSpPr>
        <p:spPr/>
        <p:txBody>
          <a:bodyPr/>
          <a:lstStyle/>
          <a:p>
            <a:r>
              <a:rPr lang="en-IN" dirty="0"/>
              <a:t>Simple linear regression </a:t>
            </a:r>
            <a:br>
              <a:rPr lang="en-IN" dirty="0"/>
            </a:br>
            <a:endParaRPr lang="en-IN" dirty="0"/>
          </a:p>
        </p:txBody>
      </p:sp>
      <p:sp>
        <p:nvSpPr>
          <p:cNvPr id="3" name="Text Placeholder 2">
            <a:extLst>
              <a:ext uri="{FF2B5EF4-FFF2-40B4-BE49-F238E27FC236}">
                <a16:creationId xmlns:a16="http://schemas.microsoft.com/office/drawing/2014/main" id="{723A90B8-E696-A19F-0BEE-E54E2178FA5C}"/>
              </a:ext>
            </a:extLst>
          </p:cNvPr>
          <p:cNvSpPr>
            <a:spLocks noGrp="1"/>
          </p:cNvSpPr>
          <p:nvPr>
            <p:ph type="body" idx="1"/>
          </p:nvPr>
        </p:nvSpPr>
        <p:spPr>
          <a:xfrm>
            <a:off x="838200" y="1825625"/>
            <a:ext cx="10515600" cy="1325563"/>
          </a:xfrm>
        </p:spPr>
        <p:txBody>
          <a:bodyPr/>
          <a:lstStyle/>
          <a:p>
            <a:r>
              <a:rPr lang="en-US" dirty="0"/>
              <a:t>The Final output comes out as this: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4387D57E-C8CA-3C90-CC62-1BE5FBE3625A}"/>
            </a:ext>
          </a:extLst>
        </p:cNvPr>
        <p:cNvGrpSpPr/>
        <p:nvPr/>
      </p:nvGrpSpPr>
      <p:grpSpPr>
        <a:xfrm>
          <a:off x="0" y="0"/>
          <a:ext cx="0" cy="0"/>
          <a:chOff x="0" y="0"/>
          <a:chExt cx="0" cy="0"/>
        </a:xfrm>
      </p:grpSpPr>
      <p:pic>
        <p:nvPicPr>
          <p:cNvPr id="455" name="Google Shape;455;p52">
            <a:extLst>
              <a:ext uri="{FF2B5EF4-FFF2-40B4-BE49-F238E27FC236}">
                <a16:creationId xmlns:a16="http://schemas.microsoft.com/office/drawing/2014/main" id="{3AD9946A-82B7-BB94-9A01-1C00D6F34B3F}"/>
              </a:ext>
            </a:extLst>
          </p:cNvPr>
          <p:cNvPicPr preferRelativeResize="0"/>
          <p:nvPr/>
        </p:nvPicPr>
        <p:blipFill rotWithShape="1">
          <a:blip r:embed="rId3">
            <a:alphaModFix/>
          </a:blip>
          <a:srcRect/>
          <a:stretch/>
        </p:blipFill>
        <p:spPr>
          <a:xfrm>
            <a:off x="2777507" y="1352723"/>
            <a:ext cx="6823693" cy="2543382"/>
          </a:xfrm>
          <a:prstGeom prst="rect">
            <a:avLst/>
          </a:prstGeom>
          <a:noFill/>
          <a:ln>
            <a:noFill/>
          </a:ln>
        </p:spPr>
      </p:pic>
      <p:sp>
        <p:nvSpPr>
          <p:cNvPr id="2" name="Title 1">
            <a:extLst>
              <a:ext uri="{FF2B5EF4-FFF2-40B4-BE49-F238E27FC236}">
                <a16:creationId xmlns:a16="http://schemas.microsoft.com/office/drawing/2014/main" id="{0546E2C7-BB33-2B29-2EFF-6A088EDF8C99}"/>
              </a:ext>
            </a:extLst>
          </p:cNvPr>
          <p:cNvSpPr>
            <a:spLocks noGrp="1"/>
          </p:cNvSpPr>
          <p:nvPr>
            <p:ph type="title"/>
          </p:nvPr>
        </p:nvSpPr>
        <p:spPr/>
        <p:txBody>
          <a:bodyPr/>
          <a:lstStyle/>
          <a:p>
            <a:r>
              <a:rPr lang="en-IN" dirty="0"/>
              <a:t>Simple linear regression </a:t>
            </a:r>
            <a:br>
              <a:rPr lang="en-IN" dirty="0"/>
            </a:br>
            <a:endParaRPr lang="en-IN" dirty="0"/>
          </a:p>
        </p:txBody>
      </p:sp>
      <p:sp>
        <p:nvSpPr>
          <p:cNvPr id="3" name="Text Placeholder 2">
            <a:extLst>
              <a:ext uri="{FF2B5EF4-FFF2-40B4-BE49-F238E27FC236}">
                <a16:creationId xmlns:a16="http://schemas.microsoft.com/office/drawing/2014/main" id="{6CAF458A-B500-6391-9415-2F86F457DA4E}"/>
              </a:ext>
            </a:extLst>
          </p:cNvPr>
          <p:cNvSpPr>
            <a:spLocks noGrp="1"/>
          </p:cNvSpPr>
          <p:nvPr>
            <p:ph type="body" idx="1"/>
          </p:nvPr>
        </p:nvSpPr>
        <p:spPr>
          <a:xfrm>
            <a:off x="838200" y="4094921"/>
            <a:ext cx="10515600" cy="2397953"/>
          </a:xfrm>
        </p:spPr>
        <p:txBody>
          <a:bodyPr>
            <a:normAutofit lnSpcReduction="10000"/>
          </a:bodyPr>
          <a:lstStyle/>
          <a:p>
            <a:r>
              <a:rPr lang="en-US" dirty="0"/>
              <a:t>The value “m” is the Slope, and “c” is the Intercept of the regression line. By establishing these two values, we have completed our regression model.</a:t>
            </a:r>
          </a:p>
          <a:p>
            <a:r>
              <a:rPr lang="en-US" dirty="0"/>
              <a:t>The above is called simple linear regression because the output or dependent variable depends on only one input or independent variable</a:t>
            </a:r>
          </a:p>
        </p:txBody>
      </p:sp>
    </p:spTree>
    <p:extLst>
      <p:ext uri="{BB962C8B-B14F-4D97-AF65-F5344CB8AC3E}">
        <p14:creationId xmlns:p14="http://schemas.microsoft.com/office/powerpoint/2010/main" val="917417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AE811-6B06-A9F4-E2A0-8C1A73656B64}"/>
              </a:ext>
            </a:extLst>
          </p:cNvPr>
          <p:cNvSpPr>
            <a:spLocks noGrp="1"/>
          </p:cNvSpPr>
          <p:nvPr>
            <p:ph type="title"/>
          </p:nvPr>
        </p:nvSpPr>
        <p:spPr/>
        <p:txBody>
          <a:bodyPr/>
          <a:lstStyle/>
          <a:p>
            <a:r>
              <a:rPr lang="en-IN" dirty="0"/>
              <a:t>Simple linear regression </a:t>
            </a:r>
            <a:br>
              <a:rPr lang="en-IN" dirty="0"/>
            </a:br>
            <a:endParaRPr lang="en-IN" dirty="0"/>
          </a:p>
        </p:txBody>
      </p:sp>
      <p:sp>
        <p:nvSpPr>
          <p:cNvPr id="3" name="Text Placeholder 2">
            <a:extLst>
              <a:ext uri="{FF2B5EF4-FFF2-40B4-BE49-F238E27FC236}">
                <a16:creationId xmlns:a16="http://schemas.microsoft.com/office/drawing/2014/main" id="{D8D40CF4-E4E2-3E86-D5CA-529BFB81840B}"/>
              </a:ext>
            </a:extLst>
          </p:cNvPr>
          <p:cNvSpPr>
            <a:spLocks noGrp="1"/>
          </p:cNvSpPr>
          <p:nvPr>
            <p:ph type="body" idx="1"/>
          </p:nvPr>
        </p:nvSpPr>
        <p:spPr>
          <a:xfrm>
            <a:off x="838200" y="1461052"/>
            <a:ext cx="10515600" cy="4715911"/>
          </a:xfrm>
        </p:spPr>
        <p:txBody>
          <a:bodyPr/>
          <a:lstStyle/>
          <a:p>
            <a:pPr marL="0" lvl="0" indent="0" algn="just">
              <a:spcBef>
                <a:spcPts val="0"/>
              </a:spcBef>
              <a:buSzPts val="2000"/>
              <a:buNone/>
            </a:pPr>
            <a:r>
              <a:rPr lang="en-US" b="1" dirty="0"/>
              <a:t>Real-Life Example: Predicting Salary Based on Years of Experience</a:t>
            </a:r>
            <a:endParaRPr lang="en-US" dirty="0"/>
          </a:p>
          <a:p>
            <a:pPr indent="-457200" algn="just">
              <a:spcBef>
                <a:spcPts val="0"/>
              </a:spcBef>
              <a:buSzPts val="2000"/>
            </a:pPr>
            <a:r>
              <a:rPr lang="en-US" sz="2400" dirty="0"/>
              <a:t>Suppose you work in HR and want to predict an employee’s salary based on their years of experience.</a:t>
            </a:r>
          </a:p>
          <a:p>
            <a:endParaRPr lang="en-IN" dirty="0"/>
          </a:p>
        </p:txBody>
      </p:sp>
      <p:graphicFrame>
        <p:nvGraphicFramePr>
          <p:cNvPr id="470" name="Google Shape;470;p54"/>
          <p:cNvGraphicFramePr/>
          <p:nvPr/>
        </p:nvGraphicFramePr>
        <p:xfrm>
          <a:off x="4086446" y="2790787"/>
          <a:ext cx="5653902" cy="2743260"/>
        </p:xfrm>
        <a:graphic>
          <a:graphicData uri="http://schemas.openxmlformats.org/drawingml/2006/table">
            <a:tbl>
              <a:tblPr>
                <a:noFill/>
              </a:tblPr>
              <a:tblGrid>
                <a:gridCol w="2826951">
                  <a:extLst>
                    <a:ext uri="{9D8B030D-6E8A-4147-A177-3AD203B41FA5}">
                      <a16:colId xmlns:a16="http://schemas.microsoft.com/office/drawing/2014/main" val="20000"/>
                    </a:ext>
                  </a:extLst>
                </a:gridCol>
                <a:gridCol w="2826951">
                  <a:extLst>
                    <a:ext uri="{9D8B030D-6E8A-4147-A177-3AD203B41FA5}">
                      <a16:colId xmlns:a16="http://schemas.microsoft.com/office/drawing/2014/main" val="20001"/>
                    </a:ext>
                  </a:extLst>
                </a:gridCol>
              </a:tblGrid>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dirty="0"/>
                        <a:t>Years of Experience (X)</a:t>
                      </a:r>
                      <a:endParaRPr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2E5"/>
                    </a:solidFill>
                  </a:tcPr>
                </a:tc>
                <a:tc>
                  <a:txBody>
                    <a:bodyPr/>
                    <a:lstStyle/>
                    <a:p>
                      <a:pPr marL="0" marR="0" lvl="0" indent="0" algn="ctr" rtl="0">
                        <a:spcBef>
                          <a:spcPts val="0"/>
                        </a:spcBef>
                        <a:spcAft>
                          <a:spcPts val="0"/>
                        </a:spcAft>
                        <a:buClr>
                          <a:schemeClr val="dk1"/>
                        </a:buClr>
                        <a:buSzPts val="1800"/>
                        <a:buFont typeface="Calibri"/>
                        <a:buNone/>
                      </a:pPr>
                      <a:endParaRPr sz="1800" u="none" strike="noStrike" cap="none"/>
                    </a:p>
                    <a:p>
                      <a:pPr marL="0" marR="0" lvl="0" indent="0" algn="ctr" rtl="0">
                        <a:spcBef>
                          <a:spcPts val="0"/>
                        </a:spcBef>
                        <a:spcAft>
                          <a:spcPts val="0"/>
                        </a:spcAft>
                        <a:buClr>
                          <a:schemeClr val="dk1"/>
                        </a:buClr>
                        <a:buSzPts val="1800"/>
                        <a:buFont typeface="Calibri"/>
                        <a:buNone/>
                      </a:pPr>
                      <a:r>
                        <a:rPr lang="en-US" sz="1800" u="none" strike="noStrike" cap="none"/>
                        <a:t>Salary (in ₹ lakhs) (Y)</a:t>
                      </a:r>
                      <a:endParaRPr/>
                    </a:p>
                    <a:p>
                      <a:pPr marL="0" marR="0" lvl="0" indent="0" algn="ctr" rtl="0">
                        <a:spcBef>
                          <a:spcPts val="0"/>
                        </a:spcBef>
                        <a:spcAft>
                          <a:spcPts val="0"/>
                        </a:spcAft>
                        <a:buClr>
                          <a:schemeClr val="dk1"/>
                        </a:buClr>
                        <a:buSzPts val="1800"/>
                        <a:buFont typeface="Calibri"/>
                        <a:buNone/>
                      </a:pPr>
                      <a:endParaRPr sz="1800" u="none" strike="noStrike" cap="none"/>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2E5"/>
                    </a:solidFill>
                  </a:tcP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1</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2.5</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2</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3.0</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3</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4.0</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extLst>
                  <a:ext uri="{0D108BD9-81ED-4DB2-BD59-A6C34878D82A}">
                    <a16:rowId xmlns:a16="http://schemas.microsoft.com/office/drawing/2014/main" val="10003"/>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4</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4.5</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extLst>
                  <a:ext uri="{0D108BD9-81ED-4DB2-BD59-A6C34878D82A}">
                    <a16:rowId xmlns:a16="http://schemas.microsoft.com/office/drawing/2014/main" val="10004"/>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5</a:t>
                      </a:r>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dirty="0"/>
                        <a:t>5.0</a:t>
                      </a:r>
                      <a:endParaRPr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AF6"/>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98410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graphicFrame>
        <p:nvGraphicFramePr>
          <p:cNvPr id="476" name="Google Shape;476;p55"/>
          <p:cNvGraphicFramePr/>
          <p:nvPr/>
        </p:nvGraphicFramePr>
        <p:xfrm>
          <a:off x="838200" y="1163915"/>
          <a:ext cx="7602300" cy="3200470"/>
        </p:xfrm>
        <a:graphic>
          <a:graphicData uri="http://schemas.openxmlformats.org/drawingml/2006/table">
            <a:tbl>
              <a:tblPr>
                <a:noFill/>
              </a:tblPr>
              <a:tblGrid>
                <a:gridCol w="1900575">
                  <a:extLst>
                    <a:ext uri="{9D8B030D-6E8A-4147-A177-3AD203B41FA5}">
                      <a16:colId xmlns:a16="http://schemas.microsoft.com/office/drawing/2014/main" val="20000"/>
                    </a:ext>
                  </a:extLst>
                </a:gridCol>
                <a:gridCol w="1900575">
                  <a:extLst>
                    <a:ext uri="{9D8B030D-6E8A-4147-A177-3AD203B41FA5}">
                      <a16:colId xmlns:a16="http://schemas.microsoft.com/office/drawing/2014/main" val="20001"/>
                    </a:ext>
                  </a:extLst>
                </a:gridCol>
                <a:gridCol w="1900575">
                  <a:extLst>
                    <a:ext uri="{9D8B030D-6E8A-4147-A177-3AD203B41FA5}">
                      <a16:colId xmlns:a16="http://schemas.microsoft.com/office/drawing/2014/main" val="20002"/>
                    </a:ext>
                  </a:extLst>
                </a:gridCol>
                <a:gridCol w="1900575">
                  <a:extLst>
                    <a:ext uri="{9D8B030D-6E8A-4147-A177-3AD203B41FA5}">
                      <a16:colId xmlns:a16="http://schemas.microsoft.com/office/drawing/2014/main" val="20003"/>
                    </a:ext>
                  </a:extLst>
                </a:gridCol>
              </a:tblGrid>
              <a:tr h="228600">
                <a:tc>
                  <a:txBody>
                    <a:bodyPr/>
                    <a:lstStyle/>
                    <a:p>
                      <a:pPr marL="0" marR="0" lvl="0" indent="0" algn="ctr" rtl="0">
                        <a:spcBef>
                          <a:spcPts val="0"/>
                        </a:spcBef>
                        <a:spcAft>
                          <a:spcPts val="0"/>
                        </a:spcAft>
                        <a:buClr>
                          <a:schemeClr val="dk1"/>
                        </a:buClr>
                        <a:buSzPts val="1800"/>
                        <a:buFont typeface="Calibri"/>
                        <a:buNone/>
                      </a:pPr>
                      <a:r>
                        <a:rPr lang="en-US" sz="2400" b="1" u="none" strike="noStrike" cap="none"/>
                        <a:t>X</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2E5"/>
                    </a:solidFill>
                  </a:tcPr>
                </a:tc>
                <a:tc>
                  <a:txBody>
                    <a:bodyPr/>
                    <a:lstStyle/>
                    <a:p>
                      <a:pPr marL="0" marR="0" lvl="0" indent="0" algn="ctr" rtl="0">
                        <a:spcBef>
                          <a:spcPts val="0"/>
                        </a:spcBef>
                        <a:spcAft>
                          <a:spcPts val="0"/>
                        </a:spcAft>
                        <a:buClr>
                          <a:schemeClr val="dk1"/>
                        </a:buClr>
                        <a:buSzPts val="1800"/>
                        <a:buFont typeface="Calibri"/>
                        <a:buNone/>
                      </a:pPr>
                      <a:r>
                        <a:rPr lang="en-US" sz="2400" b="1" u="none" strike="noStrike" cap="none" dirty="0"/>
                        <a:t>Y</a:t>
                      </a:r>
                      <a:endParaRPr sz="2400"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2E5"/>
                    </a:solidFill>
                  </a:tcPr>
                </a:tc>
                <a:tc>
                  <a:txBody>
                    <a:bodyPr/>
                    <a:lstStyle/>
                    <a:p>
                      <a:pPr marL="0" marR="0" lvl="0" indent="0" algn="ctr" rtl="0">
                        <a:spcBef>
                          <a:spcPts val="0"/>
                        </a:spcBef>
                        <a:spcAft>
                          <a:spcPts val="0"/>
                        </a:spcAft>
                        <a:buClr>
                          <a:schemeClr val="dk1"/>
                        </a:buClr>
                        <a:buSzPts val="1800"/>
                        <a:buFont typeface="Calibri"/>
                        <a:buNone/>
                      </a:pPr>
                      <a:r>
                        <a:rPr lang="en-US" sz="2400" b="1" u="none" strike="noStrike" cap="none" dirty="0"/>
                        <a:t>XY</a:t>
                      </a:r>
                      <a:endParaRPr sz="2400"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2E5"/>
                    </a:solidFill>
                  </a:tcPr>
                </a:tc>
                <a:tc>
                  <a:txBody>
                    <a:bodyPr/>
                    <a:lstStyle/>
                    <a:p>
                      <a:pPr marL="0" marR="0" lvl="0" indent="0" algn="ctr" rtl="0">
                        <a:spcBef>
                          <a:spcPts val="0"/>
                        </a:spcBef>
                        <a:spcAft>
                          <a:spcPts val="0"/>
                        </a:spcAft>
                        <a:buClr>
                          <a:schemeClr val="dk1"/>
                        </a:buClr>
                        <a:buSzPts val="1800"/>
                        <a:buFont typeface="Calibri"/>
                        <a:buNone/>
                      </a:pPr>
                      <a:r>
                        <a:rPr lang="en-US" sz="2400" b="1" u="none" strike="noStrike" cap="none"/>
                        <a:t>X²</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2E5"/>
                    </a:solidFill>
                  </a:tcP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Clr>
                          <a:schemeClr val="dk1"/>
                        </a:buClr>
                        <a:buSzPts val="1800"/>
                        <a:buFont typeface="Calibri"/>
                        <a:buNone/>
                      </a:pPr>
                      <a:r>
                        <a:rPr lang="en-US" sz="2400" u="none" strike="noStrike" cap="none"/>
                        <a:t>1</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2.5</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2.5</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1</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Clr>
                          <a:schemeClr val="dk1"/>
                        </a:buClr>
                        <a:buSzPts val="1800"/>
                        <a:buFont typeface="Calibri"/>
                        <a:buNone/>
                      </a:pPr>
                      <a:r>
                        <a:rPr lang="en-US" sz="2400" u="none" strike="noStrike" cap="none" dirty="0"/>
                        <a:t>2</a:t>
                      </a:r>
                      <a:endParaRPr sz="2400"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3.0</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dirty="0"/>
                        <a:t>6.0</a:t>
                      </a:r>
                      <a:endParaRPr sz="2400"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4</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Clr>
                          <a:schemeClr val="dk1"/>
                        </a:buClr>
                        <a:buSzPts val="1800"/>
                        <a:buFont typeface="Calibri"/>
                        <a:buNone/>
                      </a:pPr>
                      <a:r>
                        <a:rPr lang="en-US" sz="2400" u="none" strike="noStrike" cap="none"/>
                        <a:t>3</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dirty="0"/>
                        <a:t>4.0</a:t>
                      </a:r>
                      <a:endParaRPr sz="2400"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12.0</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9</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extLst>
                  <a:ext uri="{0D108BD9-81ED-4DB2-BD59-A6C34878D82A}">
                    <a16:rowId xmlns:a16="http://schemas.microsoft.com/office/drawing/2014/main" val="10003"/>
                  </a:ext>
                </a:extLst>
              </a:tr>
              <a:tr h="228600">
                <a:tc>
                  <a:txBody>
                    <a:bodyPr/>
                    <a:lstStyle/>
                    <a:p>
                      <a:pPr marL="0" marR="0" lvl="0" indent="0" algn="ctr" rtl="0">
                        <a:spcBef>
                          <a:spcPts val="0"/>
                        </a:spcBef>
                        <a:spcAft>
                          <a:spcPts val="0"/>
                        </a:spcAft>
                        <a:buClr>
                          <a:schemeClr val="dk1"/>
                        </a:buClr>
                        <a:buSzPts val="1800"/>
                        <a:buFont typeface="Calibri"/>
                        <a:buNone/>
                      </a:pPr>
                      <a:r>
                        <a:rPr lang="en-US" sz="2400" u="none" strike="noStrike" cap="none"/>
                        <a:t>4</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4.5</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18.0</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16</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extLst>
                  <a:ext uri="{0D108BD9-81ED-4DB2-BD59-A6C34878D82A}">
                    <a16:rowId xmlns:a16="http://schemas.microsoft.com/office/drawing/2014/main" val="10004"/>
                  </a:ext>
                </a:extLst>
              </a:tr>
              <a:tr h="228600">
                <a:tc>
                  <a:txBody>
                    <a:bodyPr/>
                    <a:lstStyle/>
                    <a:p>
                      <a:pPr marL="0" marR="0" lvl="0" indent="0" algn="ctr" rtl="0">
                        <a:spcBef>
                          <a:spcPts val="0"/>
                        </a:spcBef>
                        <a:spcAft>
                          <a:spcPts val="0"/>
                        </a:spcAft>
                        <a:buClr>
                          <a:schemeClr val="dk1"/>
                        </a:buClr>
                        <a:buSzPts val="1800"/>
                        <a:buFont typeface="Calibri"/>
                        <a:buNone/>
                      </a:pPr>
                      <a:r>
                        <a:rPr lang="en-US" sz="2400" u="none" strike="noStrike" cap="none"/>
                        <a:t>5</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5.0</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25.0</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25</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extLst>
                  <a:ext uri="{0D108BD9-81ED-4DB2-BD59-A6C34878D82A}">
                    <a16:rowId xmlns:a16="http://schemas.microsoft.com/office/drawing/2014/main" val="10005"/>
                  </a:ext>
                </a:extLst>
              </a:tr>
              <a:tr h="228600">
                <a:tc>
                  <a:txBody>
                    <a:bodyPr/>
                    <a:lstStyle/>
                    <a:p>
                      <a:pPr marL="0" marR="0" lvl="0" indent="0" algn="ctr" rtl="0">
                        <a:spcBef>
                          <a:spcPts val="0"/>
                        </a:spcBef>
                        <a:spcAft>
                          <a:spcPts val="0"/>
                        </a:spcAft>
                        <a:buClr>
                          <a:schemeClr val="dk1"/>
                        </a:buClr>
                        <a:buSzPts val="1800"/>
                        <a:buFont typeface="Calibri"/>
                        <a:buNone/>
                      </a:pPr>
                      <a:r>
                        <a:rPr lang="en-US" sz="2400" u="none" strike="noStrike" cap="none" dirty="0"/>
                        <a:t>ΣX = 15</a:t>
                      </a:r>
                      <a:endParaRPr sz="2400"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ΣY = 19</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a:t>ΣXY = 63.5</a:t>
                      </a:r>
                      <a:endParaRPr sz="240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2400" u="none" strike="noStrike" cap="none" dirty="0"/>
                        <a:t>ΣX² = 55</a:t>
                      </a:r>
                      <a:endParaRPr sz="2400"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24320C4E-47A7-AD4A-2C97-E2365342EE5B}"/>
              </a:ext>
            </a:extLst>
          </p:cNvPr>
          <p:cNvSpPr>
            <a:spLocks noGrp="1"/>
          </p:cNvSpPr>
          <p:nvPr>
            <p:ph type="title"/>
          </p:nvPr>
        </p:nvSpPr>
        <p:spPr/>
        <p:txBody>
          <a:bodyPr/>
          <a:lstStyle/>
          <a:p>
            <a:r>
              <a:rPr lang="en-IN" dirty="0"/>
              <a:t>Simple linear regression </a:t>
            </a:r>
            <a:br>
              <a:rPr lang="en-IN" dirty="0"/>
            </a:br>
            <a:endParaRPr lang="en-IN" dirty="0"/>
          </a:p>
        </p:txBody>
      </p:sp>
      <p:pic>
        <p:nvPicPr>
          <p:cNvPr id="3" name="Google Shape;455;p52">
            <a:extLst>
              <a:ext uri="{FF2B5EF4-FFF2-40B4-BE49-F238E27FC236}">
                <a16:creationId xmlns:a16="http://schemas.microsoft.com/office/drawing/2014/main" id="{B015632E-6A19-1CD0-9820-B98565B1F6CF}"/>
              </a:ext>
            </a:extLst>
          </p:cNvPr>
          <p:cNvPicPr preferRelativeResize="0"/>
          <p:nvPr/>
        </p:nvPicPr>
        <p:blipFill rotWithShape="1">
          <a:blip r:embed="rId3">
            <a:alphaModFix/>
          </a:blip>
          <a:srcRect/>
          <a:stretch/>
        </p:blipFill>
        <p:spPr>
          <a:xfrm>
            <a:off x="5368307" y="4364384"/>
            <a:ext cx="6823693" cy="249361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217DE-24B0-6E2E-203D-0A0DD1518111}"/>
              </a:ext>
            </a:extLst>
          </p:cNvPr>
          <p:cNvSpPr>
            <a:spLocks noGrp="1"/>
          </p:cNvSpPr>
          <p:nvPr>
            <p:ph type="title"/>
          </p:nvPr>
        </p:nvSpPr>
        <p:spPr/>
        <p:txBody>
          <a:bodyPr/>
          <a:lstStyle/>
          <a:p>
            <a:r>
              <a:rPr lang="en-IN" dirty="0"/>
              <a:t>Simple linear regression </a:t>
            </a:r>
            <a:br>
              <a:rPr lang="en-IN" dirty="0"/>
            </a:br>
            <a:endParaRPr lang="en-IN" dirty="0"/>
          </a:p>
        </p:txBody>
      </p:sp>
      <p:pic>
        <p:nvPicPr>
          <p:cNvPr id="477" name="Google Shape;477;p55"/>
          <p:cNvPicPr preferRelativeResize="0"/>
          <p:nvPr/>
        </p:nvPicPr>
        <p:blipFill rotWithShape="1">
          <a:blip r:embed="rId2">
            <a:alphaModFix/>
          </a:blip>
          <a:srcRect/>
          <a:stretch/>
        </p:blipFill>
        <p:spPr>
          <a:xfrm>
            <a:off x="838200" y="1690688"/>
            <a:ext cx="10515600" cy="3541693"/>
          </a:xfrm>
          <a:prstGeom prst="rect">
            <a:avLst/>
          </a:prstGeom>
          <a:noFill/>
          <a:ln>
            <a:noFill/>
          </a:ln>
        </p:spPr>
      </p:pic>
    </p:spTree>
    <p:extLst>
      <p:ext uri="{BB962C8B-B14F-4D97-AF65-F5344CB8AC3E}">
        <p14:creationId xmlns:p14="http://schemas.microsoft.com/office/powerpoint/2010/main" val="3714544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483" name="Google Shape;483;p56"/>
          <p:cNvPicPr preferRelativeResize="0"/>
          <p:nvPr/>
        </p:nvPicPr>
        <p:blipFill rotWithShape="1">
          <a:blip r:embed="rId3">
            <a:alphaModFix/>
          </a:blip>
          <a:srcRect/>
          <a:stretch/>
        </p:blipFill>
        <p:spPr>
          <a:xfrm>
            <a:off x="927653" y="3184718"/>
            <a:ext cx="8494643" cy="2401073"/>
          </a:xfrm>
          <a:prstGeom prst="rect">
            <a:avLst/>
          </a:prstGeom>
          <a:noFill/>
          <a:ln>
            <a:noFill/>
          </a:ln>
        </p:spPr>
      </p:pic>
      <p:pic>
        <p:nvPicPr>
          <p:cNvPr id="484" name="Google Shape;484;p56"/>
          <p:cNvPicPr preferRelativeResize="0"/>
          <p:nvPr/>
        </p:nvPicPr>
        <p:blipFill rotWithShape="1">
          <a:blip r:embed="rId4">
            <a:alphaModFix/>
          </a:blip>
          <a:srcRect/>
          <a:stretch/>
        </p:blipFill>
        <p:spPr>
          <a:xfrm>
            <a:off x="927653" y="1496893"/>
            <a:ext cx="7391400" cy="1384848"/>
          </a:xfrm>
          <a:prstGeom prst="rect">
            <a:avLst/>
          </a:prstGeom>
          <a:noFill/>
          <a:ln>
            <a:noFill/>
          </a:ln>
        </p:spPr>
      </p:pic>
      <p:sp>
        <p:nvSpPr>
          <p:cNvPr id="486" name="Google Shape;486;p56"/>
          <p:cNvSpPr txBox="1"/>
          <p:nvPr/>
        </p:nvSpPr>
        <p:spPr>
          <a:xfrm>
            <a:off x="1348738" y="3062395"/>
            <a:ext cx="6305700" cy="61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3" name="Title 2">
            <a:extLst>
              <a:ext uri="{FF2B5EF4-FFF2-40B4-BE49-F238E27FC236}">
                <a16:creationId xmlns:a16="http://schemas.microsoft.com/office/drawing/2014/main" id="{E28A70D0-C21B-0F66-144D-EFBF08645819}"/>
              </a:ext>
            </a:extLst>
          </p:cNvPr>
          <p:cNvSpPr>
            <a:spLocks noGrp="1"/>
          </p:cNvSpPr>
          <p:nvPr>
            <p:ph type="title"/>
          </p:nvPr>
        </p:nvSpPr>
        <p:spPr/>
        <p:txBody>
          <a:bodyPr/>
          <a:lstStyle/>
          <a:p>
            <a:r>
              <a:rPr lang="en-IN" dirty="0"/>
              <a:t>Simple linear regression </a:t>
            </a:r>
            <a:br>
              <a:rPr lang="en-IN" dirty="0"/>
            </a:b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70AE0C-8A0B-3B83-C9FF-E8D85F264DB2}"/>
              </a:ext>
            </a:extLst>
          </p:cNvPr>
          <p:cNvSpPr>
            <a:spLocks noGrp="1"/>
          </p:cNvSpPr>
          <p:nvPr>
            <p:ph type="body" idx="1"/>
          </p:nvPr>
        </p:nvSpPr>
        <p:spPr>
          <a:xfrm>
            <a:off x="838200" y="427383"/>
            <a:ext cx="10515600" cy="5749580"/>
          </a:xfrm>
        </p:spPr>
        <p:txBody>
          <a:bodyPr>
            <a:normAutofit/>
          </a:bodyPr>
          <a:lstStyle/>
          <a:p>
            <a:pPr marL="628650" indent="-514350">
              <a:buSzPct val="100000"/>
              <a:buFont typeface="+mj-lt"/>
              <a:buAutoNum type="arabicPeriod"/>
            </a:pPr>
            <a:r>
              <a:rPr lang="en-IN" b="1" dirty="0"/>
              <a:t>Given the following dataset, perform linear regression to predict salary based on experience:</a:t>
            </a:r>
            <a:endParaRPr lang="en-IN" dirty="0"/>
          </a:p>
          <a:p>
            <a:pPr marL="571500" lvl="1" indent="0">
              <a:buNone/>
            </a:pPr>
            <a:r>
              <a:rPr lang="en-IN" sz="2800" dirty="0"/>
              <a:t>Experience (years): [1, 2, 3, 4, 5]</a:t>
            </a:r>
          </a:p>
          <a:p>
            <a:pPr marL="571500" lvl="1" indent="0">
              <a:buNone/>
            </a:pPr>
            <a:r>
              <a:rPr lang="en-IN" sz="2800" dirty="0"/>
              <a:t>Salary (thousands): [25, 30, 35, 40, 45]</a:t>
            </a:r>
          </a:p>
          <a:p>
            <a:pPr marL="571500" lvl="1" indent="0">
              <a:buNone/>
            </a:pPr>
            <a:r>
              <a:rPr lang="en-IN" sz="2800" b="1" dirty="0"/>
              <a:t>Find the regression equation and predict salary for 6 years of experience.</a:t>
            </a:r>
            <a:r>
              <a:rPr lang="en-IN" sz="2800" dirty="0"/>
              <a:t> Answer Hints: Calculate slope and intercept using least squares formulas, prediction, goodness of fit</a:t>
            </a:r>
          </a:p>
        </p:txBody>
      </p:sp>
      <p:pic>
        <p:nvPicPr>
          <p:cNvPr id="7" name="Picture 6">
            <a:extLst>
              <a:ext uri="{FF2B5EF4-FFF2-40B4-BE49-F238E27FC236}">
                <a16:creationId xmlns:a16="http://schemas.microsoft.com/office/drawing/2014/main" id="{5231A93D-3211-B63B-1A2D-98F6F575A148}"/>
              </a:ext>
            </a:extLst>
          </p:cNvPr>
          <p:cNvPicPr>
            <a:picLocks noChangeAspect="1"/>
          </p:cNvPicPr>
          <p:nvPr/>
        </p:nvPicPr>
        <p:blipFill>
          <a:blip r:embed="rId2"/>
          <a:stretch>
            <a:fillRect/>
          </a:stretch>
        </p:blipFill>
        <p:spPr>
          <a:xfrm>
            <a:off x="1599810" y="3886262"/>
            <a:ext cx="9253720" cy="2653686"/>
          </a:xfrm>
          <a:prstGeom prst="rect">
            <a:avLst/>
          </a:prstGeom>
        </p:spPr>
      </p:pic>
    </p:spTree>
    <p:extLst>
      <p:ext uri="{BB962C8B-B14F-4D97-AF65-F5344CB8AC3E}">
        <p14:creationId xmlns:p14="http://schemas.microsoft.com/office/powerpoint/2010/main" val="238867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0DD691-79A0-8096-C72B-6A13BE682ABC}"/>
              </a:ext>
            </a:extLst>
          </p:cNvPr>
          <p:cNvPicPr>
            <a:picLocks noChangeAspect="1"/>
          </p:cNvPicPr>
          <p:nvPr/>
        </p:nvPicPr>
        <p:blipFill>
          <a:blip r:embed="rId2"/>
          <a:stretch>
            <a:fillRect/>
          </a:stretch>
        </p:blipFill>
        <p:spPr>
          <a:xfrm>
            <a:off x="406347" y="416277"/>
            <a:ext cx="11301949" cy="6213123"/>
          </a:xfrm>
          <a:prstGeom prst="rect">
            <a:avLst/>
          </a:prstGeom>
        </p:spPr>
      </p:pic>
      <p:pic>
        <p:nvPicPr>
          <p:cNvPr id="9" name="Picture 8">
            <a:extLst>
              <a:ext uri="{FF2B5EF4-FFF2-40B4-BE49-F238E27FC236}">
                <a16:creationId xmlns:a16="http://schemas.microsoft.com/office/drawing/2014/main" id="{5AD70C69-CD69-F76A-C033-47F46B9A30B3}"/>
              </a:ext>
            </a:extLst>
          </p:cNvPr>
          <p:cNvPicPr>
            <a:picLocks noChangeAspect="1"/>
          </p:cNvPicPr>
          <p:nvPr/>
        </p:nvPicPr>
        <p:blipFill>
          <a:blip r:embed="rId3"/>
          <a:stretch>
            <a:fillRect/>
          </a:stretch>
        </p:blipFill>
        <p:spPr>
          <a:xfrm>
            <a:off x="483704" y="416278"/>
            <a:ext cx="11224592" cy="1084532"/>
          </a:xfrm>
          <a:prstGeom prst="rect">
            <a:avLst/>
          </a:prstGeom>
        </p:spPr>
      </p:pic>
    </p:spTree>
    <p:extLst>
      <p:ext uri="{BB962C8B-B14F-4D97-AF65-F5344CB8AC3E}">
        <p14:creationId xmlns:p14="http://schemas.microsoft.com/office/powerpoint/2010/main" val="190557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751C26-C50C-B653-B8DD-05DEF64B3D67}"/>
              </a:ext>
            </a:extLst>
          </p:cNvPr>
          <p:cNvPicPr>
            <a:picLocks noChangeAspect="1"/>
          </p:cNvPicPr>
          <p:nvPr/>
        </p:nvPicPr>
        <p:blipFill>
          <a:blip r:embed="rId2"/>
          <a:stretch>
            <a:fillRect/>
          </a:stretch>
        </p:blipFill>
        <p:spPr>
          <a:xfrm>
            <a:off x="513136" y="285695"/>
            <a:ext cx="9724167" cy="2405529"/>
          </a:xfrm>
          <a:prstGeom prst="rect">
            <a:avLst/>
          </a:prstGeom>
        </p:spPr>
      </p:pic>
      <p:pic>
        <p:nvPicPr>
          <p:cNvPr id="7" name="Picture 6">
            <a:extLst>
              <a:ext uri="{FF2B5EF4-FFF2-40B4-BE49-F238E27FC236}">
                <a16:creationId xmlns:a16="http://schemas.microsoft.com/office/drawing/2014/main" id="{AA15DEFA-782D-8516-0C12-7E004DB262FA}"/>
              </a:ext>
            </a:extLst>
          </p:cNvPr>
          <p:cNvPicPr>
            <a:picLocks noChangeAspect="1"/>
          </p:cNvPicPr>
          <p:nvPr/>
        </p:nvPicPr>
        <p:blipFill>
          <a:blip r:embed="rId3"/>
          <a:stretch>
            <a:fillRect/>
          </a:stretch>
        </p:blipFill>
        <p:spPr>
          <a:xfrm>
            <a:off x="513135" y="2777354"/>
            <a:ext cx="10857229" cy="3901742"/>
          </a:xfrm>
          <a:prstGeom prst="rect">
            <a:avLst/>
          </a:prstGeom>
        </p:spPr>
      </p:pic>
    </p:spTree>
    <p:extLst>
      <p:ext uri="{BB962C8B-B14F-4D97-AF65-F5344CB8AC3E}">
        <p14:creationId xmlns:p14="http://schemas.microsoft.com/office/powerpoint/2010/main" val="393230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07F69F-D688-4CF1-BEE8-BCDFF26339E6}"/>
              </a:ext>
            </a:extLst>
          </p:cNvPr>
          <p:cNvPicPr>
            <a:picLocks noChangeAspect="1"/>
          </p:cNvPicPr>
          <p:nvPr/>
        </p:nvPicPr>
        <p:blipFill>
          <a:blip r:embed="rId2"/>
          <a:stretch>
            <a:fillRect/>
          </a:stretch>
        </p:blipFill>
        <p:spPr>
          <a:xfrm>
            <a:off x="656456" y="283235"/>
            <a:ext cx="8537239" cy="1343271"/>
          </a:xfrm>
          <a:prstGeom prst="rect">
            <a:avLst/>
          </a:prstGeom>
        </p:spPr>
      </p:pic>
      <p:pic>
        <p:nvPicPr>
          <p:cNvPr id="5" name="Picture 4">
            <a:extLst>
              <a:ext uri="{FF2B5EF4-FFF2-40B4-BE49-F238E27FC236}">
                <a16:creationId xmlns:a16="http://schemas.microsoft.com/office/drawing/2014/main" id="{D57069BA-8884-6ED5-050F-B832A1AFBEA5}"/>
              </a:ext>
            </a:extLst>
          </p:cNvPr>
          <p:cNvPicPr>
            <a:picLocks noChangeAspect="1"/>
          </p:cNvPicPr>
          <p:nvPr/>
        </p:nvPicPr>
        <p:blipFill>
          <a:blip r:embed="rId3"/>
          <a:stretch>
            <a:fillRect/>
          </a:stretch>
        </p:blipFill>
        <p:spPr>
          <a:xfrm>
            <a:off x="656456" y="1782937"/>
            <a:ext cx="8686327" cy="4791828"/>
          </a:xfrm>
          <a:prstGeom prst="rect">
            <a:avLst/>
          </a:prstGeom>
        </p:spPr>
      </p:pic>
    </p:spTree>
    <p:extLst>
      <p:ext uri="{BB962C8B-B14F-4D97-AF65-F5344CB8AC3E}">
        <p14:creationId xmlns:p14="http://schemas.microsoft.com/office/powerpoint/2010/main" val="59285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0E90EA-BC7A-E377-6915-405569B78A82}"/>
              </a:ext>
            </a:extLst>
          </p:cNvPr>
          <p:cNvPicPr>
            <a:picLocks noChangeAspect="1"/>
          </p:cNvPicPr>
          <p:nvPr/>
        </p:nvPicPr>
        <p:blipFill>
          <a:blip r:embed="rId2"/>
          <a:stretch>
            <a:fillRect/>
          </a:stretch>
        </p:blipFill>
        <p:spPr>
          <a:xfrm>
            <a:off x="634582" y="260677"/>
            <a:ext cx="7962766" cy="2431582"/>
          </a:xfrm>
          <a:prstGeom prst="rect">
            <a:avLst/>
          </a:prstGeom>
        </p:spPr>
      </p:pic>
      <p:pic>
        <p:nvPicPr>
          <p:cNvPr id="4" name="Picture 3">
            <a:extLst>
              <a:ext uri="{FF2B5EF4-FFF2-40B4-BE49-F238E27FC236}">
                <a16:creationId xmlns:a16="http://schemas.microsoft.com/office/drawing/2014/main" id="{4873DF1C-C705-1359-ACE9-6AB87C734044}"/>
              </a:ext>
            </a:extLst>
          </p:cNvPr>
          <p:cNvPicPr>
            <a:picLocks noChangeAspect="1"/>
          </p:cNvPicPr>
          <p:nvPr/>
        </p:nvPicPr>
        <p:blipFill>
          <a:blip r:embed="rId3"/>
          <a:stretch>
            <a:fillRect/>
          </a:stretch>
        </p:blipFill>
        <p:spPr>
          <a:xfrm>
            <a:off x="634582" y="2861323"/>
            <a:ext cx="8231122" cy="3857529"/>
          </a:xfrm>
          <a:prstGeom prst="rect">
            <a:avLst/>
          </a:prstGeom>
        </p:spPr>
      </p:pic>
    </p:spTree>
    <p:extLst>
      <p:ext uri="{BB962C8B-B14F-4D97-AF65-F5344CB8AC3E}">
        <p14:creationId xmlns:p14="http://schemas.microsoft.com/office/powerpoint/2010/main" val="402486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1634B7-A446-CBBF-E147-75A1668170B9}"/>
              </a:ext>
            </a:extLst>
          </p:cNvPr>
          <p:cNvPicPr>
            <a:picLocks noChangeAspect="1"/>
          </p:cNvPicPr>
          <p:nvPr/>
        </p:nvPicPr>
        <p:blipFill>
          <a:blip r:embed="rId2"/>
          <a:stretch>
            <a:fillRect/>
          </a:stretch>
        </p:blipFill>
        <p:spPr>
          <a:xfrm>
            <a:off x="474386" y="186990"/>
            <a:ext cx="10886040" cy="6511983"/>
          </a:xfrm>
          <a:prstGeom prst="rect">
            <a:avLst/>
          </a:prstGeom>
        </p:spPr>
      </p:pic>
    </p:spTree>
    <p:extLst>
      <p:ext uri="{BB962C8B-B14F-4D97-AF65-F5344CB8AC3E}">
        <p14:creationId xmlns:p14="http://schemas.microsoft.com/office/powerpoint/2010/main" val="469425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1245</Words>
  <Application>Microsoft Office PowerPoint</Application>
  <PresentationFormat>Widescreen</PresentationFormat>
  <Paragraphs>107</Paragraphs>
  <Slides>21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Common Estimation Methods </vt:lpstr>
      <vt:lpstr>Least Squares Estimation</vt:lpstr>
      <vt:lpstr>How Least Squares Estimation Works</vt:lpstr>
      <vt:lpstr>How Least Squares Estimation Works</vt:lpstr>
      <vt:lpstr>Regression</vt:lpstr>
      <vt:lpstr>Simple linear regression </vt:lpstr>
      <vt:lpstr>Simple linear regression </vt:lpstr>
      <vt:lpstr>Simple linear regression </vt:lpstr>
      <vt:lpstr>Simple linear regression  </vt:lpstr>
      <vt:lpstr>Simple linear regression  </vt:lpstr>
      <vt:lpstr>Simple linear regression  </vt:lpstr>
      <vt:lpstr>Simple linear regression  </vt:lpstr>
      <vt:lpstr>Simple linear regression  </vt:lpstr>
      <vt:lpstr>Simple linear regression  </vt:lpstr>
      <vt:lpstr>Simple linear regression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2</cp:revision>
  <dcterms:created xsi:type="dcterms:W3CDTF">2026-09-16T09:21:20Z</dcterms:created>
  <dcterms:modified xsi:type="dcterms:W3CDTF">2026-09-16T09:22:16Z</dcterms:modified>
</cp:coreProperties>
</file>