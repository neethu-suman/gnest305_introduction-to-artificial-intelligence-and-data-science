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0"/>
  </p:notesMasterIdLst>
  <p:sldIdLst>
    <p:sldId id="256" r:id="rId2"/>
    <p:sldId id="257" r:id="rId3"/>
    <p:sldId id="258" r:id="rId4"/>
    <p:sldId id="325" r:id="rId5"/>
    <p:sldId id="326" r:id="rId6"/>
    <p:sldId id="327" r:id="rId7"/>
    <p:sldId id="328" r:id="rId8"/>
    <p:sldId id="329" r:id="rId9"/>
    <p:sldId id="330" r:id="rId10"/>
    <p:sldId id="331" r:id="rId11"/>
    <p:sldId id="333" r:id="rId12"/>
    <p:sldId id="273" r:id="rId13"/>
    <p:sldId id="274" r:id="rId14"/>
    <p:sldId id="275" r:id="rId15"/>
    <p:sldId id="276" r:id="rId16"/>
    <p:sldId id="259" r:id="rId17"/>
    <p:sldId id="321" r:id="rId18"/>
    <p:sldId id="260" r:id="rId19"/>
    <p:sldId id="323" r:id="rId20"/>
    <p:sldId id="262" r:id="rId21"/>
    <p:sldId id="324" r:id="rId22"/>
    <p:sldId id="263" r:id="rId23"/>
    <p:sldId id="264" r:id="rId24"/>
    <p:sldId id="265" r:id="rId25"/>
    <p:sldId id="266" r:id="rId26"/>
    <p:sldId id="267" r:id="rId27"/>
    <p:sldId id="334" r:id="rId28"/>
    <p:sldId id="335" r:id="rId29"/>
    <p:sldId id="336" r:id="rId30"/>
    <p:sldId id="337" r:id="rId31"/>
    <p:sldId id="338" r:id="rId32"/>
    <p:sldId id="332" r:id="rId33"/>
    <p:sldId id="339" r:id="rId34"/>
    <p:sldId id="340" r:id="rId35"/>
    <p:sldId id="277" r:id="rId36"/>
    <p:sldId id="278" r:id="rId37"/>
    <p:sldId id="279" r:id="rId38"/>
    <p:sldId id="341" r:id="rId39"/>
    <p:sldId id="343" r:id="rId40"/>
    <p:sldId id="344"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309" r:id="rId68"/>
    <p:sldId id="310" r:id="rId69"/>
    <p:sldId id="311" r:id="rId70"/>
    <p:sldId id="312" r:id="rId71"/>
    <p:sldId id="313" r:id="rId72"/>
    <p:sldId id="314" r:id="rId73"/>
    <p:sldId id="315" r:id="rId74"/>
    <p:sldId id="316" r:id="rId75"/>
    <p:sldId id="317" r:id="rId76"/>
    <p:sldId id="318" r:id="rId77"/>
    <p:sldId id="319" r:id="rId78"/>
    <p:sldId id="320" r:id="rId7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1" roundtripDataSignature="AMtx7mjfR8CrKAMgRANQaPKEh3AmiipH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37B77B-4F06-4096-9CB8-DE4C9E06CF24}">
  <a:tblStyle styleId="{5137B77B-4F06-4096-9CB8-DE4C9E06CF2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0127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785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4420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4075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6DE2690-1A2A-C8A2-A9F6-689DF2D96C89}"/>
            </a:ext>
          </a:extLst>
        </p:cNvPr>
        <p:cNvGrpSpPr/>
        <p:nvPr/>
      </p:nvGrpSpPr>
      <p:grpSpPr>
        <a:xfrm>
          <a:off x="0" y="0"/>
          <a:ext cx="0" cy="0"/>
          <a:chOff x="0" y="0"/>
          <a:chExt cx="0" cy="0"/>
        </a:xfrm>
      </p:grpSpPr>
      <p:sp>
        <p:nvSpPr>
          <p:cNvPr id="105" name="Google Shape;105;p5:notes">
            <a:extLst>
              <a:ext uri="{FF2B5EF4-FFF2-40B4-BE49-F238E27FC236}">
                <a16:creationId xmlns:a16="http://schemas.microsoft.com/office/drawing/2014/main" id="{A54802E0-7456-FB3F-0CB0-D0E5D625D4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a:extLst>
              <a:ext uri="{FF2B5EF4-FFF2-40B4-BE49-F238E27FC236}">
                <a16:creationId xmlns:a16="http://schemas.microsoft.com/office/drawing/2014/main" id="{F291DCA7-1347-35D5-9808-99F1449108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1544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1E5AA7DE-824A-A7B9-170E-EFB4510B928A}"/>
            </a:ext>
          </a:extLst>
        </p:cNvPr>
        <p:cNvGrpSpPr/>
        <p:nvPr/>
      </p:nvGrpSpPr>
      <p:grpSpPr>
        <a:xfrm>
          <a:off x="0" y="0"/>
          <a:ext cx="0" cy="0"/>
          <a:chOff x="0" y="0"/>
          <a:chExt cx="0" cy="0"/>
        </a:xfrm>
      </p:grpSpPr>
      <p:sp>
        <p:nvSpPr>
          <p:cNvPr id="123" name="Google Shape;123;p7:notes">
            <a:extLst>
              <a:ext uri="{FF2B5EF4-FFF2-40B4-BE49-F238E27FC236}">
                <a16:creationId xmlns:a16="http://schemas.microsoft.com/office/drawing/2014/main" id="{43EA9C15-A888-0CFE-38A8-8A98067E02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7:notes">
            <a:extLst>
              <a:ext uri="{FF2B5EF4-FFF2-40B4-BE49-F238E27FC236}">
                <a16:creationId xmlns:a16="http://schemas.microsoft.com/office/drawing/2014/main" id="{FC9E7FF7-6091-B36E-6126-C67194852E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0971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9" name="Google Shape;419;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2" name="Google Shape;432;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0" name="Google Shape;440;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1" name="Google Shape;461;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1" name="Google Shape;481;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9" name="Google Shape;489;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2" name="Google Shape;502;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9" name="Google Shape;509;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6" name="Google Shape;516;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3" name="Google Shape;523;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0" name="Google Shape;530;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8" name="Google Shape;538;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6" name="Google Shape;546;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6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7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7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7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7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75"/>
          <p:cNvSpPr>
            <a:spLocks noGrp="1"/>
          </p:cNvSpPr>
          <p:nvPr>
            <p:ph type="pic" idx="2"/>
          </p:nvPr>
        </p:nvSpPr>
        <p:spPr>
          <a:xfrm>
            <a:off x="5183188" y="987425"/>
            <a:ext cx="6172200" cy="4873625"/>
          </a:xfrm>
          <a:prstGeom prst="rect">
            <a:avLst/>
          </a:prstGeom>
          <a:noFill/>
          <a:ln>
            <a:noFill/>
          </a:ln>
        </p:spPr>
      </p:sp>
      <p:sp>
        <p:nvSpPr>
          <p:cNvPr id="64" name="Google Shape;64;p7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7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7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google.com/search?sca_esv=637c0e90f834ed3d&amp;sxsrf=AE3TifNnb1XChY3dTPYiRqCFrQieGOwTzQ%3A1758606822018&amp;q=Estimator&amp;sa=X&amp;ved=2ahUKEwiu4LP3mO6PAxUDRmwGHf3OAiYQxccNegUI4gEQAQ&amp;mstk=AUtExfCPc4v5zlWihGPH2-fCV1y8UgjkIk0XsRms0maTbTp1CIVQ2C1O9Bf_ZuiyaJAA4qfbogi442D6Ovczs9TTEts9VuFQ5YEDAFJIFjLo643Yp9BuDsoG3CKDQWjq6tHalWJdPWfTwOrAChjDc9RebbvjzVNYjOSG1PLB2c5mM517C_s&amp;csui=3"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6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7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2"/>
            <a:ext cx="9144000" cy="369811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ct val="100000"/>
              <a:buFont typeface="Calibri"/>
              <a:buNone/>
            </a:pPr>
            <a:r>
              <a:rPr lang="en-US" dirty="0"/>
              <a:t>Statistical Estimation - Maximum Likelihood Estimator (MLE)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PROBABILITY DISTRIBUTION</a:t>
            </a:r>
            <a:endParaRPr/>
          </a:p>
        </p:txBody>
      </p:sp>
      <p:sp>
        <p:nvSpPr>
          <p:cNvPr id="91" name="Google Shape;91;p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t>A probability distribution is a mathematical function or rule that describes how the probabilities of different outcomes are assigned to the possible values of a random variable. </a:t>
            </a:r>
            <a:endParaRPr dirty="0"/>
          </a:p>
          <a:p>
            <a:pPr marL="228600" lvl="0" indent="-228600" algn="just" rtl="0">
              <a:lnSpc>
                <a:spcPct val="90000"/>
              </a:lnSpc>
              <a:spcBef>
                <a:spcPts val="1000"/>
              </a:spcBef>
              <a:spcAft>
                <a:spcPts val="0"/>
              </a:spcAft>
              <a:buClr>
                <a:schemeClr val="dk1"/>
              </a:buClr>
              <a:buSzPts val="2800"/>
              <a:buChar char="•"/>
            </a:pPr>
            <a:r>
              <a:rPr lang="en-US" dirty="0"/>
              <a:t>It provides a way of modeling the likelihood of each outcome in a random experiment.</a:t>
            </a:r>
            <a:endParaRPr dirty="0"/>
          </a:p>
          <a:p>
            <a:pPr marL="228600" lvl="0" indent="-228600" algn="just" rtl="0">
              <a:lnSpc>
                <a:spcPct val="90000"/>
              </a:lnSpc>
              <a:spcBef>
                <a:spcPts val="1000"/>
              </a:spcBef>
              <a:spcAft>
                <a:spcPts val="0"/>
              </a:spcAft>
              <a:buClr>
                <a:schemeClr val="dk1"/>
              </a:buClr>
              <a:buSzPts val="2800"/>
              <a:buChar char="•"/>
            </a:pPr>
            <a:r>
              <a:rPr lang="en-US" dirty="0"/>
              <a:t>Described by PMF  and PDF.</a:t>
            </a:r>
            <a:endParaRPr dirty="0"/>
          </a:p>
          <a:p>
            <a:pPr marL="0" lvl="0" indent="0" algn="just" rtl="0">
              <a:lnSpc>
                <a:spcPct val="90000"/>
              </a:lnSpc>
              <a:spcBef>
                <a:spcPts val="1000"/>
              </a:spcBef>
              <a:spcAft>
                <a:spcPts val="0"/>
              </a:spcAft>
              <a:buClr>
                <a:schemeClr val="dk1"/>
              </a:buClr>
              <a:buSzPts val="2800"/>
              <a:buNone/>
            </a:pPr>
            <a:endParaRPr lang="en-US" dirty="0"/>
          </a:p>
          <a:p>
            <a:pPr marL="0" lvl="0" indent="0" algn="just" rtl="0">
              <a:lnSpc>
                <a:spcPct val="90000"/>
              </a:lnSpc>
              <a:spcBef>
                <a:spcPts val="1000"/>
              </a:spcBef>
              <a:spcAft>
                <a:spcPts val="0"/>
              </a:spcAft>
              <a:buClr>
                <a:schemeClr val="dk1"/>
              </a:buClr>
              <a:buSzPts val="2800"/>
              <a:buNone/>
            </a:pPr>
            <a:r>
              <a:rPr lang="en-US" dirty="0"/>
              <a:t>Types:</a:t>
            </a:r>
            <a:r>
              <a:rPr lang="en-US" b="1" dirty="0"/>
              <a:t> Discrete Probability Distributions</a:t>
            </a:r>
            <a:endParaRPr dirty="0"/>
          </a:p>
          <a:p>
            <a:pPr marL="0" lvl="0" indent="0" algn="just" rtl="0">
              <a:lnSpc>
                <a:spcPct val="90000"/>
              </a:lnSpc>
              <a:spcBef>
                <a:spcPts val="1000"/>
              </a:spcBef>
              <a:spcAft>
                <a:spcPts val="0"/>
              </a:spcAft>
              <a:buClr>
                <a:schemeClr val="dk1"/>
              </a:buClr>
              <a:buSzPts val="2800"/>
              <a:buNone/>
            </a:pPr>
            <a:r>
              <a:rPr lang="en-US" b="1" dirty="0"/>
              <a:t>           Continuous Probability Distributions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Discrete Probability Distributions</a:t>
            </a:r>
            <a:endParaRPr/>
          </a:p>
        </p:txBody>
      </p:sp>
      <p:sp>
        <p:nvSpPr>
          <p:cNvPr id="97" name="Google Shape;97;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Font typeface="Calibri"/>
              <a:buAutoNum type="arabicPeriod"/>
            </a:pPr>
            <a:r>
              <a:rPr lang="en-US" dirty="0"/>
              <a:t>Bernoulli distribution</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Binomial Distribution</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Poisson distribution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C05B9-013A-C30C-C28B-4AAD9160DE24}"/>
              </a:ext>
            </a:extLst>
          </p:cNvPr>
          <p:cNvSpPr>
            <a:spLocks noGrp="1"/>
          </p:cNvSpPr>
          <p:nvPr>
            <p:ph type="title"/>
          </p:nvPr>
        </p:nvSpPr>
        <p:spPr/>
        <p:txBody>
          <a:bodyPr/>
          <a:lstStyle/>
          <a:p>
            <a:r>
              <a:rPr lang="en-US" dirty="0"/>
              <a:t>Bernoulli Trial</a:t>
            </a:r>
            <a:endParaRPr lang="en-IN" dirty="0"/>
          </a:p>
        </p:txBody>
      </p:sp>
      <p:sp>
        <p:nvSpPr>
          <p:cNvPr id="3" name="Text Placeholder 2">
            <a:extLst>
              <a:ext uri="{FF2B5EF4-FFF2-40B4-BE49-F238E27FC236}">
                <a16:creationId xmlns:a16="http://schemas.microsoft.com/office/drawing/2014/main" id="{9E80FAD6-D6D9-1E69-CAFE-67F25B7F718D}"/>
              </a:ext>
            </a:extLst>
          </p:cNvPr>
          <p:cNvSpPr>
            <a:spLocks noGrp="1"/>
          </p:cNvSpPr>
          <p:nvPr>
            <p:ph type="body" idx="1"/>
          </p:nvPr>
        </p:nvSpPr>
        <p:spPr>
          <a:xfrm>
            <a:off x="838199" y="1825625"/>
            <a:ext cx="10899913" cy="4351338"/>
          </a:xfrm>
        </p:spPr>
        <p:txBody>
          <a:bodyPr>
            <a:normAutofit/>
          </a:bodyPr>
          <a:lstStyle/>
          <a:p>
            <a:r>
              <a:rPr lang="en-US" dirty="0"/>
              <a:t>An experiment or process that has exactly two possible outcomes, usually labelled</a:t>
            </a:r>
          </a:p>
          <a:p>
            <a:pPr lvl="1"/>
            <a:r>
              <a:rPr lang="en-US" dirty="0"/>
              <a:t>Success (1 ) — happens with probability p</a:t>
            </a:r>
          </a:p>
          <a:p>
            <a:pPr lvl="1"/>
            <a:r>
              <a:rPr lang="en-US" dirty="0"/>
              <a:t>Failure (0) - happens with probability 1- p</a:t>
            </a:r>
          </a:p>
          <a:p>
            <a:r>
              <a:rPr lang="en-US" dirty="0"/>
              <a:t>Key Features of a Bernoulli Trial:</a:t>
            </a:r>
          </a:p>
          <a:p>
            <a:pPr marL="1028700" lvl="1" indent="-457200">
              <a:buSzPct val="100000"/>
              <a:buFont typeface="+mj-lt"/>
              <a:buAutoNum type="arabicPeriod"/>
            </a:pPr>
            <a:r>
              <a:rPr lang="en-US" b="1" dirty="0"/>
              <a:t>Two outcomes only :</a:t>
            </a:r>
            <a:r>
              <a:rPr lang="en-US" dirty="0"/>
              <a:t> success/failure, yes/no, head/tail, defective/good, etc.</a:t>
            </a:r>
          </a:p>
          <a:p>
            <a:pPr marL="1028700" lvl="1" indent="-457200">
              <a:buSzPct val="100000"/>
              <a:buFont typeface="+mj-lt"/>
              <a:buAutoNum type="arabicPeriod"/>
            </a:pPr>
            <a:r>
              <a:rPr lang="en-US" b="1" dirty="0"/>
              <a:t>Fixed probability of success (p):</a:t>
            </a:r>
            <a:r>
              <a:rPr lang="en-US" dirty="0">
                <a:sym typeface="Wingdings" panose="05000000000000000000" pitchFamily="2" charset="2"/>
              </a:rPr>
              <a:t> </a:t>
            </a:r>
            <a:r>
              <a:rPr lang="en-US" dirty="0"/>
              <a:t>does not change from trial to trial.</a:t>
            </a:r>
          </a:p>
          <a:p>
            <a:pPr marL="1028700" lvl="1" indent="-457200">
              <a:buSzPct val="100000"/>
              <a:buFont typeface="+mj-lt"/>
              <a:buAutoNum type="arabicPeriod"/>
            </a:pPr>
            <a:r>
              <a:rPr lang="en-US" b="1" dirty="0"/>
              <a:t>Independence:</a:t>
            </a:r>
            <a:r>
              <a:rPr lang="en-US" dirty="0"/>
              <a:t> Outcome of one trial does not affect the outcome of another.</a:t>
            </a:r>
            <a:endParaRPr lang="en-IN" dirty="0"/>
          </a:p>
        </p:txBody>
      </p:sp>
    </p:spTree>
    <p:extLst>
      <p:ext uri="{BB962C8B-B14F-4D97-AF65-F5344CB8AC3E}">
        <p14:creationId xmlns:p14="http://schemas.microsoft.com/office/powerpoint/2010/main" val="30048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091AE-0508-B7F1-19F3-05BB93BFF04C}"/>
              </a:ext>
            </a:extLst>
          </p:cNvPr>
          <p:cNvSpPr>
            <a:spLocks noGrp="1"/>
          </p:cNvSpPr>
          <p:nvPr>
            <p:ph type="title"/>
          </p:nvPr>
        </p:nvSpPr>
        <p:spPr/>
        <p:txBody>
          <a:bodyPr/>
          <a:lstStyle/>
          <a:p>
            <a:r>
              <a:rPr lang="en-US" dirty="0"/>
              <a:t>Bernoulli Trial</a:t>
            </a:r>
            <a:endParaRPr lang="en-IN" dirty="0"/>
          </a:p>
        </p:txBody>
      </p:sp>
      <p:pic>
        <p:nvPicPr>
          <p:cNvPr id="7" name="Picture 6">
            <a:extLst>
              <a:ext uri="{FF2B5EF4-FFF2-40B4-BE49-F238E27FC236}">
                <a16:creationId xmlns:a16="http://schemas.microsoft.com/office/drawing/2014/main" id="{A4A41C75-15D7-57D0-DC4B-0FE127D7CEB7}"/>
              </a:ext>
            </a:extLst>
          </p:cNvPr>
          <p:cNvPicPr>
            <a:picLocks noChangeAspect="1"/>
          </p:cNvPicPr>
          <p:nvPr/>
        </p:nvPicPr>
        <p:blipFill>
          <a:blip r:embed="rId2"/>
          <a:stretch>
            <a:fillRect/>
          </a:stretch>
        </p:blipFill>
        <p:spPr>
          <a:xfrm>
            <a:off x="957470" y="1577541"/>
            <a:ext cx="10511567" cy="4763624"/>
          </a:xfrm>
          <a:prstGeom prst="rect">
            <a:avLst/>
          </a:prstGeom>
        </p:spPr>
      </p:pic>
    </p:spTree>
    <p:extLst>
      <p:ext uri="{BB962C8B-B14F-4D97-AF65-F5344CB8AC3E}">
        <p14:creationId xmlns:p14="http://schemas.microsoft.com/office/powerpoint/2010/main" val="403364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EBA784-2F77-2F41-52AF-52D22A30F9DB}"/>
              </a:ext>
            </a:extLst>
          </p:cNvPr>
          <p:cNvSpPr>
            <a:spLocks noGrp="1"/>
          </p:cNvSpPr>
          <p:nvPr>
            <p:ph type="title"/>
          </p:nvPr>
        </p:nvSpPr>
        <p:spPr/>
        <p:txBody>
          <a:bodyPr/>
          <a:lstStyle/>
          <a:p>
            <a:r>
              <a:rPr lang="en-US" dirty="0"/>
              <a:t>Bernoulli distribution</a:t>
            </a:r>
            <a:endParaRPr lang="en-IN" dirty="0"/>
          </a:p>
        </p:txBody>
      </p:sp>
      <p:pic>
        <p:nvPicPr>
          <p:cNvPr id="6" name="Picture 5">
            <a:extLst>
              <a:ext uri="{FF2B5EF4-FFF2-40B4-BE49-F238E27FC236}">
                <a16:creationId xmlns:a16="http://schemas.microsoft.com/office/drawing/2014/main" id="{270FE247-7056-A175-1EB9-C242BFE8718D}"/>
              </a:ext>
            </a:extLst>
          </p:cNvPr>
          <p:cNvPicPr>
            <a:picLocks noChangeAspect="1"/>
          </p:cNvPicPr>
          <p:nvPr/>
        </p:nvPicPr>
        <p:blipFill>
          <a:blip r:embed="rId2"/>
          <a:stretch>
            <a:fillRect/>
          </a:stretch>
        </p:blipFill>
        <p:spPr>
          <a:xfrm>
            <a:off x="927651" y="1690688"/>
            <a:ext cx="9409043" cy="2469722"/>
          </a:xfrm>
          <a:prstGeom prst="rect">
            <a:avLst/>
          </a:prstGeom>
        </p:spPr>
      </p:pic>
    </p:spTree>
    <p:extLst>
      <p:ext uri="{BB962C8B-B14F-4D97-AF65-F5344CB8AC3E}">
        <p14:creationId xmlns:p14="http://schemas.microsoft.com/office/powerpoint/2010/main" val="1807274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644FB-1B4B-8C59-16CC-A5D2B5BBCC66}"/>
              </a:ext>
            </a:extLst>
          </p:cNvPr>
          <p:cNvSpPr>
            <a:spLocks noGrp="1"/>
          </p:cNvSpPr>
          <p:nvPr>
            <p:ph type="title"/>
          </p:nvPr>
        </p:nvSpPr>
        <p:spPr/>
        <p:txBody>
          <a:bodyPr/>
          <a:lstStyle/>
          <a:p>
            <a:r>
              <a:rPr lang="en-US" dirty="0"/>
              <a:t>Binomial Distribution</a:t>
            </a:r>
            <a:endParaRPr lang="en-IN" dirty="0"/>
          </a:p>
        </p:txBody>
      </p:sp>
      <p:pic>
        <p:nvPicPr>
          <p:cNvPr id="4" name="Picture 3">
            <a:extLst>
              <a:ext uri="{FF2B5EF4-FFF2-40B4-BE49-F238E27FC236}">
                <a16:creationId xmlns:a16="http://schemas.microsoft.com/office/drawing/2014/main" id="{268C36F3-6059-E2E3-8397-8852041304D5}"/>
              </a:ext>
            </a:extLst>
          </p:cNvPr>
          <p:cNvPicPr>
            <a:picLocks noChangeAspect="1"/>
          </p:cNvPicPr>
          <p:nvPr/>
        </p:nvPicPr>
        <p:blipFill>
          <a:blip r:embed="rId2"/>
          <a:stretch>
            <a:fillRect/>
          </a:stretch>
        </p:blipFill>
        <p:spPr>
          <a:xfrm>
            <a:off x="838200" y="1690688"/>
            <a:ext cx="11072977" cy="3676442"/>
          </a:xfrm>
          <a:prstGeom prst="rect">
            <a:avLst/>
          </a:prstGeom>
        </p:spPr>
      </p:pic>
    </p:spTree>
    <p:extLst>
      <p:ext uri="{BB962C8B-B14F-4D97-AF65-F5344CB8AC3E}">
        <p14:creationId xmlns:p14="http://schemas.microsoft.com/office/powerpoint/2010/main" val="2180290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86427-4189-C03B-7AF9-00EB82E22ABD}"/>
              </a:ext>
            </a:extLst>
          </p:cNvPr>
          <p:cNvSpPr>
            <a:spLocks noGrp="1"/>
          </p:cNvSpPr>
          <p:nvPr>
            <p:ph type="title"/>
          </p:nvPr>
        </p:nvSpPr>
        <p:spPr/>
        <p:txBody>
          <a:bodyPr/>
          <a:lstStyle/>
          <a:p>
            <a:r>
              <a:rPr lang="en-US" dirty="0"/>
              <a:t>Binomial Distribution</a:t>
            </a:r>
            <a:endParaRPr lang="en-IN" dirty="0"/>
          </a:p>
        </p:txBody>
      </p:sp>
      <p:pic>
        <p:nvPicPr>
          <p:cNvPr id="199" name="Google Shape;199;p16"/>
          <p:cNvPicPr preferRelativeResize="0">
            <a:picLocks/>
          </p:cNvPicPr>
          <p:nvPr/>
        </p:nvPicPr>
        <p:blipFill rotWithShape="1">
          <a:blip r:embed="rId2">
            <a:alphaModFix/>
          </a:blip>
          <a:srcRect/>
          <a:stretch/>
        </p:blipFill>
        <p:spPr>
          <a:xfrm>
            <a:off x="945798" y="1667355"/>
            <a:ext cx="9559863" cy="4445210"/>
          </a:xfrm>
          <a:prstGeom prst="rect">
            <a:avLst/>
          </a:prstGeom>
          <a:noFill/>
          <a:ln>
            <a:noFill/>
          </a:ln>
        </p:spPr>
      </p:pic>
    </p:spTree>
    <p:extLst>
      <p:ext uri="{BB962C8B-B14F-4D97-AF65-F5344CB8AC3E}">
        <p14:creationId xmlns:p14="http://schemas.microsoft.com/office/powerpoint/2010/main" val="318964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D0E6B-C698-DE54-ED3E-D20EDAB4896A}"/>
              </a:ext>
            </a:extLst>
          </p:cNvPr>
          <p:cNvSpPr>
            <a:spLocks noGrp="1"/>
          </p:cNvSpPr>
          <p:nvPr>
            <p:ph type="title"/>
          </p:nvPr>
        </p:nvSpPr>
        <p:spPr/>
        <p:txBody>
          <a:bodyPr/>
          <a:lstStyle/>
          <a:p>
            <a:r>
              <a:rPr lang="en-IN" dirty="0"/>
              <a:t>Example</a:t>
            </a:r>
          </a:p>
        </p:txBody>
      </p:sp>
      <p:pic>
        <p:nvPicPr>
          <p:cNvPr id="4" name="Picture 3">
            <a:extLst>
              <a:ext uri="{FF2B5EF4-FFF2-40B4-BE49-F238E27FC236}">
                <a16:creationId xmlns:a16="http://schemas.microsoft.com/office/drawing/2014/main" id="{5F9A35C4-83BE-08B3-FAA7-FDCFA265A9EC}"/>
              </a:ext>
            </a:extLst>
          </p:cNvPr>
          <p:cNvPicPr>
            <a:picLocks noChangeAspect="1"/>
          </p:cNvPicPr>
          <p:nvPr/>
        </p:nvPicPr>
        <p:blipFill>
          <a:blip r:embed="rId2"/>
          <a:stretch>
            <a:fillRect/>
          </a:stretch>
        </p:blipFill>
        <p:spPr>
          <a:xfrm>
            <a:off x="838200" y="1690688"/>
            <a:ext cx="10926634" cy="3427964"/>
          </a:xfrm>
          <a:prstGeom prst="rect">
            <a:avLst/>
          </a:prstGeom>
        </p:spPr>
      </p:pic>
    </p:spTree>
    <p:extLst>
      <p:ext uri="{BB962C8B-B14F-4D97-AF65-F5344CB8AC3E}">
        <p14:creationId xmlns:p14="http://schemas.microsoft.com/office/powerpoint/2010/main" val="2248758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1126F-726A-478F-8258-39FA1A24E176}"/>
              </a:ext>
            </a:extLst>
          </p:cNvPr>
          <p:cNvSpPr>
            <a:spLocks noGrp="1"/>
          </p:cNvSpPr>
          <p:nvPr>
            <p:ph type="title"/>
          </p:nvPr>
        </p:nvSpPr>
        <p:spPr/>
        <p:txBody>
          <a:bodyPr/>
          <a:lstStyle/>
          <a:p>
            <a:r>
              <a:rPr lang="en-IN" dirty="0"/>
              <a:t>Example</a:t>
            </a:r>
          </a:p>
        </p:txBody>
      </p:sp>
      <p:pic>
        <p:nvPicPr>
          <p:cNvPr id="206" name="Google Shape;206;p17"/>
          <p:cNvPicPr preferRelativeResize="0">
            <a:picLocks/>
          </p:cNvPicPr>
          <p:nvPr/>
        </p:nvPicPr>
        <p:blipFill rotWithShape="1">
          <a:blip r:embed="rId2">
            <a:alphaModFix/>
          </a:blip>
          <a:srcRect/>
          <a:stretch/>
        </p:blipFill>
        <p:spPr>
          <a:xfrm>
            <a:off x="4328562" y="914695"/>
            <a:ext cx="4557021" cy="705384"/>
          </a:xfrm>
          <a:prstGeom prst="rect">
            <a:avLst/>
          </a:prstGeom>
          <a:noFill/>
          <a:ln>
            <a:noFill/>
          </a:ln>
        </p:spPr>
      </p:pic>
      <p:pic>
        <p:nvPicPr>
          <p:cNvPr id="208" name="Google Shape;208;p17"/>
          <p:cNvPicPr preferRelativeResize="0"/>
          <p:nvPr/>
        </p:nvPicPr>
        <p:blipFill rotWithShape="1">
          <a:blip r:embed="rId3">
            <a:alphaModFix/>
          </a:blip>
          <a:srcRect/>
          <a:stretch/>
        </p:blipFill>
        <p:spPr>
          <a:xfrm>
            <a:off x="1472430" y="1690688"/>
            <a:ext cx="8506457" cy="1742791"/>
          </a:xfrm>
          <a:prstGeom prst="rect">
            <a:avLst/>
          </a:prstGeom>
          <a:noFill/>
          <a:ln>
            <a:noFill/>
          </a:ln>
        </p:spPr>
      </p:pic>
      <p:pic>
        <p:nvPicPr>
          <p:cNvPr id="209" name="Google Shape;209;p17"/>
          <p:cNvPicPr preferRelativeResize="0"/>
          <p:nvPr/>
        </p:nvPicPr>
        <p:blipFill rotWithShape="1">
          <a:blip r:embed="rId4">
            <a:alphaModFix/>
          </a:blip>
          <a:srcRect/>
          <a:stretch/>
        </p:blipFill>
        <p:spPr>
          <a:xfrm>
            <a:off x="1836906" y="3783231"/>
            <a:ext cx="7777504" cy="2945560"/>
          </a:xfrm>
          <a:prstGeom prst="rect">
            <a:avLst/>
          </a:prstGeom>
          <a:noFill/>
          <a:ln>
            <a:noFill/>
          </a:ln>
        </p:spPr>
      </p:pic>
    </p:spTree>
    <p:extLst>
      <p:ext uri="{BB962C8B-B14F-4D97-AF65-F5344CB8AC3E}">
        <p14:creationId xmlns:p14="http://schemas.microsoft.com/office/powerpoint/2010/main" val="1336508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A3B0BD-7782-1429-B946-495064364173}"/>
              </a:ext>
            </a:extLst>
          </p:cNvPr>
          <p:cNvPicPr>
            <a:picLocks noChangeAspect="1"/>
          </p:cNvPicPr>
          <p:nvPr/>
        </p:nvPicPr>
        <p:blipFill>
          <a:blip r:embed="rId2"/>
          <a:stretch>
            <a:fillRect/>
          </a:stretch>
        </p:blipFill>
        <p:spPr>
          <a:xfrm>
            <a:off x="219176" y="271505"/>
            <a:ext cx="11161127" cy="5905358"/>
          </a:xfrm>
          <a:prstGeom prst="rect">
            <a:avLst/>
          </a:prstGeom>
        </p:spPr>
      </p:pic>
    </p:spTree>
    <p:extLst>
      <p:ext uri="{BB962C8B-B14F-4D97-AF65-F5344CB8AC3E}">
        <p14:creationId xmlns:p14="http://schemas.microsoft.com/office/powerpoint/2010/main" val="3941725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6" name="Google Shape;216;p18"/>
          <p:cNvPicPr preferRelativeResize="0"/>
          <p:nvPr/>
        </p:nvPicPr>
        <p:blipFill rotWithShape="1">
          <a:blip r:embed="rId3">
            <a:alphaModFix/>
          </a:blip>
          <a:srcRect/>
          <a:stretch/>
        </p:blipFill>
        <p:spPr>
          <a:xfrm>
            <a:off x="166935" y="213898"/>
            <a:ext cx="11779900" cy="6485075"/>
          </a:xfrm>
          <a:prstGeom prst="rect">
            <a:avLst/>
          </a:prstGeom>
          <a:noFill/>
          <a:ln>
            <a:noFill/>
          </a:ln>
        </p:spPr>
      </p:pic>
    </p:spTree>
    <p:extLst>
      <p:ext uri="{BB962C8B-B14F-4D97-AF65-F5344CB8AC3E}">
        <p14:creationId xmlns:p14="http://schemas.microsoft.com/office/powerpoint/2010/main" val="1540810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9"/>
          <p:cNvSpPr txBox="1">
            <a:spLocks noGrp="1"/>
          </p:cNvSpPr>
          <p:nvPr>
            <p:ph type="title"/>
          </p:nvPr>
        </p:nvSpPr>
        <p:spPr>
          <a:xfrm>
            <a:off x="629478" y="275674"/>
            <a:ext cx="10515600" cy="78781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POISSON DISTRIBUTION</a:t>
            </a:r>
            <a:endParaRPr dirty="0"/>
          </a:p>
        </p:txBody>
      </p:sp>
      <p:pic>
        <p:nvPicPr>
          <p:cNvPr id="223" name="Google Shape;223;p19"/>
          <p:cNvPicPr preferRelativeResize="0"/>
          <p:nvPr/>
        </p:nvPicPr>
        <p:blipFill rotWithShape="1">
          <a:blip r:embed="rId3">
            <a:alphaModFix/>
          </a:blip>
          <a:srcRect/>
          <a:stretch/>
        </p:blipFill>
        <p:spPr>
          <a:xfrm>
            <a:off x="768626" y="1063488"/>
            <a:ext cx="10711069" cy="2365512"/>
          </a:xfrm>
          <a:prstGeom prst="rect">
            <a:avLst/>
          </a:prstGeom>
          <a:noFill/>
          <a:ln>
            <a:noFill/>
          </a:ln>
        </p:spPr>
      </p:pic>
      <p:pic>
        <p:nvPicPr>
          <p:cNvPr id="3" name="Picture 2">
            <a:extLst>
              <a:ext uri="{FF2B5EF4-FFF2-40B4-BE49-F238E27FC236}">
                <a16:creationId xmlns:a16="http://schemas.microsoft.com/office/drawing/2014/main" id="{A7B35AA1-C708-15D4-8738-2F49DE8F08BC}"/>
              </a:ext>
            </a:extLst>
          </p:cNvPr>
          <p:cNvPicPr>
            <a:picLocks noChangeAspect="1"/>
          </p:cNvPicPr>
          <p:nvPr/>
        </p:nvPicPr>
        <p:blipFill>
          <a:blip r:embed="rId4"/>
          <a:stretch>
            <a:fillRect/>
          </a:stretch>
        </p:blipFill>
        <p:spPr>
          <a:xfrm>
            <a:off x="897255" y="3319668"/>
            <a:ext cx="9796766" cy="2325757"/>
          </a:xfrm>
          <a:prstGeom prst="rect">
            <a:avLst/>
          </a:prstGeom>
        </p:spPr>
      </p:pic>
    </p:spTree>
    <p:extLst>
      <p:ext uri="{BB962C8B-B14F-4D97-AF65-F5344CB8AC3E}">
        <p14:creationId xmlns:p14="http://schemas.microsoft.com/office/powerpoint/2010/main" val="881028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30" name="Google Shape;230;p20"/>
          <p:cNvPicPr preferRelativeResize="0"/>
          <p:nvPr/>
        </p:nvPicPr>
        <p:blipFill rotWithShape="1">
          <a:blip r:embed="rId3">
            <a:alphaModFix/>
          </a:blip>
          <a:srcRect/>
          <a:stretch/>
        </p:blipFill>
        <p:spPr>
          <a:xfrm>
            <a:off x="186278" y="164202"/>
            <a:ext cx="11859948" cy="6395623"/>
          </a:xfrm>
          <a:prstGeom prst="rect">
            <a:avLst/>
          </a:prstGeom>
          <a:noFill/>
          <a:ln>
            <a:noFill/>
          </a:ln>
        </p:spPr>
      </p:pic>
    </p:spTree>
    <p:extLst>
      <p:ext uri="{BB962C8B-B14F-4D97-AF65-F5344CB8AC3E}">
        <p14:creationId xmlns:p14="http://schemas.microsoft.com/office/powerpoint/2010/main" val="4271231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BERNOULLI DISTRIBUTION</a:t>
            </a:r>
            <a:endParaRPr/>
          </a:p>
        </p:txBody>
      </p:sp>
      <p:pic>
        <p:nvPicPr>
          <p:cNvPr id="237" name="Google Shape;237;p21"/>
          <p:cNvPicPr preferRelativeResize="0"/>
          <p:nvPr/>
        </p:nvPicPr>
        <p:blipFill rotWithShape="1">
          <a:blip r:embed="rId3">
            <a:alphaModFix/>
          </a:blip>
          <a:srcRect/>
          <a:stretch/>
        </p:blipFill>
        <p:spPr>
          <a:xfrm>
            <a:off x="943898" y="2133600"/>
            <a:ext cx="9556844" cy="2959510"/>
          </a:xfrm>
          <a:prstGeom prst="rect">
            <a:avLst/>
          </a:prstGeom>
          <a:noFill/>
          <a:ln>
            <a:noFill/>
          </a:ln>
        </p:spPr>
      </p:pic>
    </p:spTree>
    <p:extLst>
      <p:ext uri="{BB962C8B-B14F-4D97-AF65-F5344CB8AC3E}">
        <p14:creationId xmlns:p14="http://schemas.microsoft.com/office/powerpoint/2010/main" val="944592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Continuous Probability Distributions</a:t>
            </a:r>
            <a:endParaRPr/>
          </a:p>
        </p:txBody>
      </p:sp>
      <p:sp>
        <p:nvSpPr>
          <p:cNvPr id="103" name="Google Shape;10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Uniform distribution</a:t>
            </a:r>
            <a:endParaRPr dirty="0"/>
          </a:p>
          <a:p>
            <a:pPr marL="228600" lvl="0" indent="-228600" algn="l" rtl="0">
              <a:lnSpc>
                <a:spcPct val="90000"/>
              </a:lnSpc>
              <a:spcBef>
                <a:spcPts val="1000"/>
              </a:spcBef>
              <a:spcAft>
                <a:spcPts val="0"/>
              </a:spcAft>
              <a:buClr>
                <a:schemeClr val="dk1"/>
              </a:buClr>
              <a:buSzPts val="2800"/>
              <a:buChar char="•"/>
            </a:pPr>
            <a:r>
              <a:rPr lang="en-US" dirty="0"/>
              <a:t>Normal  distribution </a:t>
            </a:r>
            <a:endParaRPr dirty="0"/>
          </a:p>
          <a:p>
            <a:pPr marL="228600" lvl="0" indent="-228600" algn="l" rtl="0">
              <a:lnSpc>
                <a:spcPct val="90000"/>
              </a:lnSpc>
              <a:spcBef>
                <a:spcPts val="1000"/>
              </a:spcBef>
              <a:spcAft>
                <a:spcPts val="0"/>
              </a:spcAft>
              <a:buClr>
                <a:schemeClr val="dk1"/>
              </a:buClr>
              <a:buSzPts val="2800"/>
              <a:buChar char="•"/>
            </a:pPr>
            <a:r>
              <a:rPr lang="en-US" dirty="0"/>
              <a:t>Exponential distribution</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116A65E-FC9D-071B-4167-32EDF94E7D93}"/>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22D7ED76-340B-8C05-76C0-01D6FA8A8FB1}"/>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dirty="0"/>
              <a:t>Uniform distribution</a:t>
            </a:r>
            <a:endParaRPr dirty="0"/>
          </a:p>
        </p:txBody>
      </p:sp>
      <p:sp>
        <p:nvSpPr>
          <p:cNvPr id="109" name="Google Shape;109;p5">
            <a:extLst>
              <a:ext uri="{FF2B5EF4-FFF2-40B4-BE49-F238E27FC236}">
                <a16:creationId xmlns:a16="http://schemas.microsoft.com/office/drawing/2014/main" id="{C991499C-8B0B-A37F-F245-42B0AEA7B44C}"/>
              </a:ext>
            </a:extLst>
          </p:cNvPr>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200"/>
              <a:buChar char="•"/>
            </a:pPr>
            <a:r>
              <a:rPr lang="en-US" sz="2400" dirty="0"/>
              <a:t>Uniform Distribution models equally likely outcomes over a closed interval [</a:t>
            </a:r>
            <a:r>
              <a:rPr lang="en-US" sz="2400" dirty="0" err="1"/>
              <a:t>a,b</a:t>
            </a:r>
            <a:r>
              <a:rPr lang="en-US" sz="2400" dirty="0"/>
              <a:t>], where the probability is uniform.</a:t>
            </a:r>
            <a:endParaRPr sz="2400" dirty="0"/>
          </a:p>
          <a:p>
            <a:pPr marL="0" lvl="0" indent="0" algn="just" rtl="0">
              <a:lnSpc>
                <a:spcPct val="90000"/>
              </a:lnSpc>
              <a:spcBef>
                <a:spcPts val="1000"/>
              </a:spcBef>
              <a:spcAft>
                <a:spcPts val="0"/>
              </a:spcAft>
              <a:buClr>
                <a:schemeClr val="dk1"/>
              </a:buClr>
              <a:buSzPts val="2200"/>
              <a:buNone/>
            </a:pPr>
            <a:endParaRPr sz="2400" dirty="0"/>
          </a:p>
        </p:txBody>
      </p:sp>
      <p:pic>
        <p:nvPicPr>
          <p:cNvPr id="111" name="Google Shape;111;p5">
            <a:extLst>
              <a:ext uri="{FF2B5EF4-FFF2-40B4-BE49-F238E27FC236}">
                <a16:creationId xmlns:a16="http://schemas.microsoft.com/office/drawing/2014/main" id="{BEE35DCE-A1CB-2632-225F-0F575AAEA839}"/>
              </a:ext>
            </a:extLst>
          </p:cNvPr>
          <p:cNvPicPr preferRelativeResize="0"/>
          <p:nvPr/>
        </p:nvPicPr>
        <p:blipFill rotWithShape="1">
          <a:blip r:embed="rId3">
            <a:alphaModFix/>
          </a:blip>
          <a:srcRect/>
          <a:stretch/>
        </p:blipFill>
        <p:spPr>
          <a:xfrm>
            <a:off x="1388165" y="3368675"/>
            <a:ext cx="3233531" cy="2107786"/>
          </a:xfrm>
          <a:prstGeom prst="rect">
            <a:avLst/>
          </a:prstGeom>
          <a:noFill/>
          <a:ln>
            <a:noFill/>
          </a:ln>
        </p:spPr>
      </p:pic>
      <p:sp>
        <p:nvSpPr>
          <p:cNvPr id="112" name="Google Shape;112;p5">
            <a:extLst>
              <a:ext uri="{FF2B5EF4-FFF2-40B4-BE49-F238E27FC236}">
                <a16:creationId xmlns:a16="http://schemas.microsoft.com/office/drawing/2014/main" id="{94786464-9673-79E6-DFCC-622A99FC2F83}"/>
              </a:ext>
            </a:extLst>
          </p:cNvPr>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5">
            <a:extLst>
              <a:ext uri="{FF2B5EF4-FFF2-40B4-BE49-F238E27FC236}">
                <a16:creationId xmlns:a16="http://schemas.microsoft.com/office/drawing/2014/main" id="{478D97D8-3F2C-8716-6C6D-35C36EBA8A82}"/>
              </a:ext>
            </a:extLst>
          </p:cNvPr>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4" name="Google Shape;114;p5">
            <a:extLst>
              <a:ext uri="{FF2B5EF4-FFF2-40B4-BE49-F238E27FC236}">
                <a16:creationId xmlns:a16="http://schemas.microsoft.com/office/drawing/2014/main" id="{902E9747-11D6-3928-1C82-7BC874259AE9}"/>
              </a:ext>
            </a:extLst>
          </p:cNvPr>
          <p:cNvPicPr preferRelativeResize="0"/>
          <p:nvPr/>
        </p:nvPicPr>
        <p:blipFill rotWithShape="1">
          <a:blip r:embed="rId4">
            <a:alphaModFix/>
          </a:blip>
          <a:srcRect/>
          <a:stretch/>
        </p:blipFill>
        <p:spPr>
          <a:xfrm>
            <a:off x="5277678" y="2860468"/>
            <a:ext cx="5526157" cy="3124200"/>
          </a:xfrm>
          <a:prstGeom prst="rect">
            <a:avLst/>
          </a:prstGeom>
          <a:noFill/>
          <a:ln>
            <a:noFill/>
          </a:ln>
        </p:spPr>
      </p:pic>
    </p:spTree>
    <p:extLst>
      <p:ext uri="{BB962C8B-B14F-4D97-AF65-F5344CB8AC3E}">
        <p14:creationId xmlns:p14="http://schemas.microsoft.com/office/powerpoint/2010/main" val="731037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dirty="0"/>
              <a:t>Uniform distribution</a:t>
            </a:r>
            <a:endParaRPr dirty="0"/>
          </a:p>
        </p:txBody>
      </p:sp>
      <p:pic>
        <p:nvPicPr>
          <p:cNvPr id="110" name="Google Shape;110;p5"/>
          <p:cNvPicPr preferRelativeResize="0"/>
          <p:nvPr/>
        </p:nvPicPr>
        <p:blipFill rotWithShape="1">
          <a:blip r:embed="rId3">
            <a:alphaModFix/>
          </a:blip>
          <a:srcRect/>
          <a:stretch/>
        </p:blipFill>
        <p:spPr>
          <a:xfrm>
            <a:off x="549915" y="1560681"/>
            <a:ext cx="11078867" cy="5058779"/>
          </a:xfrm>
          <a:prstGeom prst="rect">
            <a:avLst/>
          </a:prstGeom>
          <a:noFill/>
          <a:ln>
            <a:noFill/>
          </a:ln>
        </p:spPr>
      </p:pic>
      <p:sp>
        <p:nvSpPr>
          <p:cNvPr id="112" name="Google Shape;112;p5"/>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5"/>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79914-4F79-EAB5-04E9-F9259B47BD60}"/>
              </a:ext>
            </a:extLst>
          </p:cNvPr>
          <p:cNvSpPr>
            <a:spLocks noGrp="1"/>
          </p:cNvSpPr>
          <p:nvPr>
            <p:ph type="title"/>
          </p:nvPr>
        </p:nvSpPr>
        <p:spPr/>
        <p:txBody>
          <a:bodyPr/>
          <a:lstStyle/>
          <a:p>
            <a:r>
              <a:rPr lang="en-US" dirty="0"/>
              <a:t>Uniform distribution: Example</a:t>
            </a:r>
            <a:endParaRPr lang="en-IN" dirty="0"/>
          </a:p>
        </p:txBody>
      </p:sp>
      <p:sp>
        <p:nvSpPr>
          <p:cNvPr id="3" name="Text Placeholder 2">
            <a:extLst>
              <a:ext uri="{FF2B5EF4-FFF2-40B4-BE49-F238E27FC236}">
                <a16:creationId xmlns:a16="http://schemas.microsoft.com/office/drawing/2014/main" id="{946518EE-B24B-2F55-2FD6-780FA2FBFE05}"/>
              </a:ext>
            </a:extLst>
          </p:cNvPr>
          <p:cNvSpPr>
            <a:spLocks noGrp="1"/>
          </p:cNvSpPr>
          <p:nvPr>
            <p:ph type="body" idx="1"/>
          </p:nvPr>
        </p:nvSpPr>
        <p:spPr>
          <a:xfrm>
            <a:off x="838199" y="1570383"/>
            <a:ext cx="10969487" cy="4922492"/>
          </a:xfrm>
        </p:spPr>
        <p:txBody>
          <a:bodyPr>
            <a:normAutofit/>
          </a:bodyPr>
          <a:lstStyle/>
          <a:p>
            <a:pPr marL="342900" algn="just">
              <a:spcBef>
                <a:spcPts val="0"/>
              </a:spcBef>
            </a:pPr>
            <a:r>
              <a:rPr lang="en-US" sz="2400" dirty="0">
                <a:solidFill>
                  <a:schemeClr val="tx1"/>
                </a:solidFill>
              </a:rPr>
              <a:t>Consider the time it takes for a traffic signal to turn green after it has been red. Assume that the time the signal takes to turn green is uniformly distributed between 20 seconds and 40 seconds.</a:t>
            </a:r>
          </a:p>
          <a:p>
            <a:pPr marL="0" lvl="0" indent="0">
              <a:spcBef>
                <a:spcPts val="0"/>
              </a:spcBef>
              <a:buNone/>
            </a:pPr>
            <a:endParaRPr lang="en-US" sz="2400" dirty="0">
              <a:solidFill>
                <a:schemeClr val="tx1"/>
              </a:solidFill>
            </a:endParaRPr>
          </a:p>
          <a:p>
            <a:pPr marL="342900" algn="just">
              <a:spcBef>
                <a:spcPts val="0"/>
              </a:spcBef>
            </a:pPr>
            <a:r>
              <a:rPr lang="en-US" sz="2400" dirty="0">
                <a:solidFill>
                  <a:schemeClr val="tx1"/>
                </a:solidFill>
              </a:rPr>
              <a:t>The minimum value (a) = 20 seconds.  The maximum value (b) = 40 seconds.</a:t>
            </a:r>
          </a:p>
          <a:p>
            <a:pPr marL="342900" algn="just">
              <a:spcBef>
                <a:spcPts val="0"/>
              </a:spcBef>
            </a:pPr>
            <a:r>
              <a:rPr lang="en-US" sz="2400" dirty="0">
                <a:solidFill>
                  <a:schemeClr val="tx1"/>
                </a:solidFill>
              </a:rPr>
              <a:t>The continuous uniform distribution function:</a:t>
            </a:r>
          </a:p>
          <a:p>
            <a:pPr marL="0" indent="0" algn="just">
              <a:spcBef>
                <a:spcPts val="0"/>
              </a:spcBef>
              <a:buNone/>
            </a:pPr>
            <a:endParaRPr lang="en-US" sz="2400" dirty="0">
              <a:solidFill>
                <a:schemeClr val="tx1"/>
              </a:solidFill>
            </a:endParaRPr>
          </a:p>
          <a:p>
            <a:pPr marL="0" lvl="0" indent="0">
              <a:spcBef>
                <a:spcPts val="0"/>
              </a:spcBef>
              <a:buNone/>
            </a:pPr>
            <a:r>
              <a:rPr lang="en-US" sz="2400" dirty="0">
                <a:solidFill>
                  <a:schemeClr val="tx1"/>
                </a:solidFill>
              </a:rPr>
              <a:t>		</a:t>
            </a:r>
            <a:r>
              <a:rPr lang="en-US" sz="2400" b="1" dirty="0">
                <a:solidFill>
                  <a:schemeClr val="tx1"/>
                </a:solidFill>
              </a:rPr>
              <a:t>f(x) = 1 / (40–20) = 1 / 20		for 20 ≤ x ≤ 40 </a:t>
            </a:r>
          </a:p>
          <a:p>
            <a:pPr marL="0" lvl="0" indent="0">
              <a:spcBef>
                <a:spcPts val="0"/>
              </a:spcBef>
              <a:buNone/>
            </a:pPr>
            <a:r>
              <a:rPr lang="en-US" sz="2400" b="1" dirty="0">
                <a:solidFill>
                  <a:schemeClr val="tx1"/>
                </a:solidFill>
              </a:rPr>
              <a:t>		f(x) = 0					 otherwise</a:t>
            </a:r>
          </a:p>
          <a:p>
            <a:pPr marL="0" lvl="0" indent="0">
              <a:spcBef>
                <a:spcPts val="0"/>
              </a:spcBef>
              <a:buNone/>
            </a:pPr>
            <a:endParaRPr lang="en-US" sz="2400" b="1" dirty="0">
              <a:solidFill>
                <a:schemeClr val="tx1"/>
              </a:solidFill>
            </a:endParaRPr>
          </a:p>
          <a:p>
            <a:pPr marL="342900" lvl="0" algn="just">
              <a:spcBef>
                <a:spcPts val="0"/>
              </a:spcBef>
              <a:buClr>
                <a:schemeClr val="tx1"/>
              </a:buClr>
              <a:buSzPts val="2200"/>
            </a:pPr>
            <a:r>
              <a:rPr lang="en-US" sz="2400" dirty="0">
                <a:solidFill>
                  <a:schemeClr val="tx1"/>
                </a:solidFill>
              </a:rPr>
              <a:t>At any time between 20 seconds and 40 seconds, the probability of the signal turning green has an equal probability of 1/20.</a:t>
            </a:r>
          </a:p>
          <a:p>
            <a:pPr marL="342900" lvl="0" algn="just">
              <a:spcBef>
                <a:spcPts val="0"/>
              </a:spcBef>
              <a:buClr>
                <a:schemeClr val="tx1"/>
              </a:buClr>
              <a:buSzPts val="2200"/>
            </a:pPr>
            <a:r>
              <a:rPr lang="en-US" sz="2400" dirty="0">
                <a:solidFill>
                  <a:schemeClr val="tx1"/>
                </a:solidFill>
              </a:rPr>
              <a:t>The probability of the signal turning green in exactly 25 seconds = 1/20.</a:t>
            </a:r>
          </a:p>
          <a:p>
            <a:pPr marL="342900" lvl="0" algn="just">
              <a:spcBef>
                <a:spcPts val="0"/>
              </a:spcBef>
              <a:buClr>
                <a:schemeClr val="tx1"/>
              </a:buClr>
              <a:buSzPts val="2200"/>
            </a:pPr>
            <a:r>
              <a:rPr lang="en-US" sz="2400" dirty="0">
                <a:solidFill>
                  <a:schemeClr val="tx1"/>
                </a:solidFill>
              </a:rPr>
              <a:t>Similarly, the probability of the signal turning green in exactly 30 seconds = 1/20.</a:t>
            </a:r>
          </a:p>
        </p:txBody>
      </p:sp>
    </p:spTree>
    <p:extLst>
      <p:ext uri="{BB962C8B-B14F-4D97-AF65-F5344CB8AC3E}">
        <p14:creationId xmlns:p14="http://schemas.microsoft.com/office/powerpoint/2010/main" val="3589688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Normal distribution or Gaussian distribution</a:t>
            </a:r>
            <a:endParaRPr dirty="0"/>
          </a:p>
        </p:txBody>
      </p:sp>
      <p:sp>
        <p:nvSpPr>
          <p:cNvPr id="127" name="Google Shape;127;p7"/>
          <p:cNvSpPr txBox="1">
            <a:spLocks noGrp="1"/>
          </p:cNvSpPr>
          <p:nvPr>
            <p:ph type="body" idx="1"/>
          </p:nvPr>
        </p:nvSpPr>
        <p:spPr>
          <a:xfrm>
            <a:off x="838200" y="1480930"/>
            <a:ext cx="10711070" cy="5011945"/>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lvl="0" indent="-228600" algn="just" rtl="0">
              <a:lnSpc>
                <a:spcPct val="90000"/>
              </a:lnSpc>
              <a:spcBef>
                <a:spcPts val="0"/>
              </a:spcBef>
              <a:spcAft>
                <a:spcPts val="0"/>
              </a:spcAft>
              <a:buClr>
                <a:schemeClr val="dk1"/>
              </a:buClr>
              <a:buSzPts val="2200"/>
              <a:buChar char="•"/>
            </a:pPr>
            <a:endParaRPr lang="en-US" sz="2400" dirty="0"/>
          </a:p>
          <a:p>
            <a:pPr marL="228600" indent="-228600" algn="just">
              <a:spcBef>
                <a:spcPts val="0"/>
              </a:spcBef>
              <a:buSzPts val="2200"/>
            </a:pPr>
            <a:r>
              <a:rPr lang="en-US" sz="2400" dirty="0"/>
              <a:t>The parameter ⁠μ is the mean or expectation of the distribution, while the parameter σ</a:t>
            </a:r>
            <a:r>
              <a:rPr lang="en-US" sz="2400" baseline="30000" dirty="0"/>
              <a:t>2</a:t>
            </a:r>
            <a:r>
              <a:rPr lang="en-US" sz="2400" dirty="0"/>
              <a:t> is the variance. The standard deviation of the distribution is ⁠σ(sigma). </a:t>
            </a:r>
            <a:endParaRPr sz="2400" dirty="0"/>
          </a:p>
        </p:txBody>
      </p:sp>
      <p:sp>
        <p:nvSpPr>
          <p:cNvPr id="129" name="Google Shape;129;p7" descr="{\textstyle \sigma ^{2}}"/>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9C94C511-88C7-AB17-7F64-8DFF3661DC07}"/>
              </a:ext>
            </a:extLst>
          </p:cNvPr>
          <p:cNvPicPr>
            <a:picLocks noChangeAspect="1"/>
          </p:cNvPicPr>
          <p:nvPr/>
        </p:nvPicPr>
        <p:blipFill>
          <a:blip r:embed="rId3"/>
          <a:stretch>
            <a:fillRect/>
          </a:stretch>
        </p:blipFill>
        <p:spPr>
          <a:xfrm>
            <a:off x="929552" y="1656456"/>
            <a:ext cx="8333718" cy="324028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E4700521-F201-72B1-D88E-9796F13BA2C5}"/>
            </a:ext>
          </a:extLst>
        </p:cNvPr>
        <p:cNvGrpSpPr/>
        <p:nvPr/>
      </p:nvGrpSpPr>
      <p:grpSpPr>
        <a:xfrm>
          <a:off x="0" y="0"/>
          <a:ext cx="0" cy="0"/>
          <a:chOff x="0" y="0"/>
          <a:chExt cx="0" cy="0"/>
        </a:xfrm>
      </p:grpSpPr>
      <p:sp>
        <p:nvSpPr>
          <p:cNvPr id="126" name="Google Shape;126;p7">
            <a:extLst>
              <a:ext uri="{FF2B5EF4-FFF2-40B4-BE49-F238E27FC236}">
                <a16:creationId xmlns:a16="http://schemas.microsoft.com/office/drawing/2014/main" id="{AF95D09E-38FC-D578-75BA-AE034C1E2A24}"/>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Normal distribution or Gaussian distribution</a:t>
            </a:r>
            <a:endParaRPr dirty="0"/>
          </a:p>
        </p:txBody>
      </p:sp>
      <p:sp>
        <p:nvSpPr>
          <p:cNvPr id="127" name="Google Shape;127;p7">
            <a:extLst>
              <a:ext uri="{FF2B5EF4-FFF2-40B4-BE49-F238E27FC236}">
                <a16:creationId xmlns:a16="http://schemas.microsoft.com/office/drawing/2014/main" id="{7A6A941D-6899-DC2C-314D-4A8C379FC1D7}"/>
              </a:ext>
            </a:extLst>
          </p:cNvPr>
          <p:cNvSpPr txBox="1">
            <a:spLocks noGrp="1"/>
          </p:cNvSpPr>
          <p:nvPr>
            <p:ph type="body" idx="1"/>
          </p:nvPr>
        </p:nvSpPr>
        <p:spPr>
          <a:xfrm>
            <a:off x="838200" y="1825625"/>
            <a:ext cx="10515600" cy="4793836"/>
          </a:xfrm>
          <a:prstGeom prst="rect">
            <a:avLst/>
          </a:prstGeom>
          <a:noFill/>
          <a:ln>
            <a:noFill/>
          </a:ln>
        </p:spPr>
        <p:txBody>
          <a:bodyPr spcFirstLastPara="1" wrap="square" lIns="91425" tIns="45700" rIns="91425" bIns="45700" anchor="t" anchorCtr="0">
            <a:normAutofit/>
          </a:bodyPr>
          <a:lstStyle/>
          <a:p>
            <a:pPr marL="228600" lvl="0" indent="-88900" algn="just" rtl="0">
              <a:lnSpc>
                <a:spcPct val="90000"/>
              </a:lnSpc>
              <a:spcBef>
                <a:spcPts val="1000"/>
              </a:spcBef>
              <a:spcAft>
                <a:spcPts val="0"/>
              </a:spcAft>
              <a:buClr>
                <a:schemeClr val="dk1"/>
              </a:buClr>
              <a:buSzPts val="2200"/>
              <a:buNone/>
            </a:pPr>
            <a:endParaRPr sz="2200" dirty="0"/>
          </a:p>
          <a:p>
            <a:pPr marL="228600" lvl="0" indent="-88900" algn="just" rtl="0">
              <a:lnSpc>
                <a:spcPct val="90000"/>
              </a:lnSpc>
              <a:spcBef>
                <a:spcPts val="1000"/>
              </a:spcBef>
              <a:spcAft>
                <a:spcPts val="0"/>
              </a:spcAft>
              <a:buClr>
                <a:schemeClr val="dk1"/>
              </a:buClr>
              <a:buSzPts val="2200"/>
              <a:buNone/>
            </a:pPr>
            <a:endParaRPr sz="2200" dirty="0"/>
          </a:p>
          <a:p>
            <a:pPr marL="228600" lvl="0" indent="-88900" algn="just" rtl="0">
              <a:lnSpc>
                <a:spcPct val="90000"/>
              </a:lnSpc>
              <a:spcBef>
                <a:spcPts val="1000"/>
              </a:spcBef>
              <a:spcAft>
                <a:spcPts val="0"/>
              </a:spcAft>
              <a:buClr>
                <a:schemeClr val="dk1"/>
              </a:buClr>
              <a:buSzPts val="2200"/>
              <a:buNone/>
            </a:pPr>
            <a:endParaRPr sz="2200" dirty="0"/>
          </a:p>
          <a:p>
            <a:pPr marL="228600" lvl="0" indent="-88900" algn="just" rtl="0">
              <a:lnSpc>
                <a:spcPct val="90000"/>
              </a:lnSpc>
              <a:spcBef>
                <a:spcPts val="1000"/>
              </a:spcBef>
              <a:spcAft>
                <a:spcPts val="0"/>
              </a:spcAft>
              <a:buClr>
                <a:schemeClr val="dk1"/>
              </a:buClr>
              <a:buSzPts val="2200"/>
              <a:buNone/>
            </a:pPr>
            <a:endParaRPr sz="2200" dirty="0"/>
          </a:p>
          <a:p>
            <a:pPr marL="228600" lvl="0" indent="-88900" algn="just" rtl="0">
              <a:lnSpc>
                <a:spcPct val="90000"/>
              </a:lnSpc>
              <a:spcBef>
                <a:spcPts val="1000"/>
              </a:spcBef>
              <a:spcAft>
                <a:spcPts val="0"/>
              </a:spcAft>
              <a:buClr>
                <a:schemeClr val="dk1"/>
              </a:buClr>
              <a:buSzPts val="2200"/>
              <a:buNone/>
            </a:pPr>
            <a:endParaRPr sz="2200" dirty="0"/>
          </a:p>
          <a:p>
            <a:pPr marL="228600" lvl="0" indent="-88900" algn="just" rtl="0">
              <a:lnSpc>
                <a:spcPct val="90000"/>
              </a:lnSpc>
              <a:spcBef>
                <a:spcPts val="1000"/>
              </a:spcBef>
              <a:spcAft>
                <a:spcPts val="0"/>
              </a:spcAft>
              <a:buClr>
                <a:schemeClr val="dk1"/>
              </a:buClr>
              <a:buSzPts val="2200"/>
              <a:buNone/>
            </a:pPr>
            <a:endParaRPr lang="en-IN" sz="2200" dirty="0"/>
          </a:p>
          <a:p>
            <a:pPr marL="228600" lvl="0" indent="-88900" algn="just" rtl="0">
              <a:lnSpc>
                <a:spcPct val="90000"/>
              </a:lnSpc>
              <a:spcBef>
                <a:spcPts val="1000"/>
              </a:spcBef>
              <a:spcAft>
                <a:spcPts val="0"/>
              </a:spcAft>
              <a:buClr>
                <a:schemeClr val="dk1"/>
              </a:buClr>
              <a:buSzPts val="2200"/>
              <a:buNone/>
            </a:pPr>
            <a:endParaRPr lang="en-IN" sz="2200" dirty="0"/>
          </a:p>
          <a:p>
            <a:pPr marL="228600" lvl="0" indent="-88900" algn="just" rtl="0">
              <a:lnSpc>
                <a:spcPct val="90000"/>
              </a:lnSpc>
              <a:spcBef>
                <a:spcPts val="1000"/>
              </a:spcBef>
              <a:spcAft>
                <a:spcPts val="0"/>
              </a:spcAft>
              <a:buClr>
                <a:schemeClr val="dk1"/>
              </a:buClr>
              <a:buSzPts val="2200"/>
              <a:buNone/>
            </a:pPr>
            <a:endParaRPr sz="2200" dirty="0"/>
          </a:p>
          <a:p>
            <a:pPr marL="228600" lvl="0" indent="-228600" algn="just" rtl="0">
              <a:lnSpc>
                <a:spcPct val="90000"/>
              </a:lnSpc>
              <a:spcBef>
                <a:spcPts val="1000"/>
              </a:spcBef>
              <a:spcAft>
                <a:spcPts val="0"/>
              </a:spcAft>
              <a:buClr>
                <a:schemeClr val="dk1"/>
              </a:buClr>
              <a:buSzPts val="2200"/>
              <a:buChar char="•"/>
            </a:pPr>
            <a:r>
              <a:rPr lang="en-US" sz="2200" dirty="0"/>
              <a:t>A random variable with a Gaussian distribution is said to be normally distributed, and is called a normal deviate.</a:t>
            </a:r>
            <a:endParaRPr sz="2200" dirty="0"/>
          </a:p>
        </p:txBody>
      </p:sp>
      <p:sp>
        <p:nvSpPr>
          <p:cNvPr id="129" name="Google Shape;129;p7" descr="{\textstyle \sigma ^{2}}">
            <a:extLst>
              <a:ext uri="{FF2B5EF4-FFF2-40B4-BE49-F238E27FC236}">
                <a16:creationId xmlns:a16="http://schemas.microsoft.com/office/drawing/2014/main" id="{6267F904-9946-EA93-4248-939E3F09A2CD}"/>
              </a:ext>
            </a:extLst>
          </p:cNvPr>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0" name="Google Shape;130;p7">
            <a:extLst>
              <a:ext uri="{FF2B5EF4-FFF2-40B4-BE49-F238E27FC236}">
                <a16:creationId xmlns:a16="http://schemas.microsoft.com/office/drawing/2014/main" id="{67A6E59D-C9C7-E90A-D209-F5004B4DAB72}"/>
              </a:ext>
            </a:extLst>
          </p:cNvPr>
          <p:cNvPicPr preferRelativeResize="0"/>
          <p:nvPr/>
        </p:nvPicPr>
        <p:blipFill rotWithShape="1">
          <a:blip r:embed="rId3">
            <a:alphaModFix/>
          </a:blip>
          <a:srcRect/>
          <a:stretch/>
        </p:blipFill>
        <p:spPr>
          <a:xfrm>
            <a:off x="1558413" y="1690687"/>
            <a:ext cx="8887613" cy="3626747"/>
          </a:xfrm>
          <a:prstGeom prst="rect">
            <a:avLst/>
          </a:prstGeom>
          <a:noFill/>
          <a:ln>
            <a:noFill/>
          </a:ln>
        </p:spPr>
      </p:pic>
    </p:spTree>
    <p:extLst>
      <p:ext uri="{BB962C8B-B14F-4D97-AF65-F5344CB8AC3E}">
        <p14:creationId xmlns:p14="http://schemas.microsoft.com/office/powerpoint/2010/main" val="4173272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Normal Distribution Examples</a:t>
            </a:r>
            <a:endParaRPr dirty="0"/>
          </a:p>
        </p:txBody>
      </p:sp>
      <p:sp>
        <p:nvSpPr>
          <p:cNvPr id="136" name="Google Shape;136;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We can draw a Normal Distribution for various types of data that include,</a:t>
            </a:r>
            <a:endParaRPr/>
          </a:p>
          <a:p>
            <a:pPr marL="228600" lvl="0" indent="-228600" algn="l" rtl="0">
              <a:lnSpc>
                <a:spcPct val="90000"/>
              </a:lnSpc>
              <a:spcBef>
                <a:spcPts val="1000"/>
              </a:spcBef>
              <a:spcAft>
                <a:spcPts val="0"/>
              </a:spcAft>
              <a:buClr>
                <a:schemeClr val="dk1"/>
              </a:buClr>
              <a:buSzPts val="2800"/>
              <a:buChar char="•"/>
            </a:pPr>
            <a:r>
              <a:rPr lang="en-US"/>
              <a:t>Distribution of Height of People.</a:t>
            </a:r>
            <a:endParaRPr/>
          </a:p>
          <a:p>
            <a:pPr marL="228600" lvl="0" indent="-228600" algn="l" rtl="0">
              <a:lnSpc>
                <a:spcPct val="90000"/>
              </a:lnSpc>
              <a:spcBef>
                <a:spcPts val="1000"/>
              </a:spcBef>
              <a:spcAft>
                <a:spcPts val="0"/>
              </a:spcAft>
              <a:buClr>
                <a:schemeClr val="dk1"/>
              </a:buClr>
              <a:buSzPts val="2800"/>
              <a:buChar char="•"/>
            </a:pPr>
            <a:r>
              <a:rPr lang="en-US"/>
              <a:t>Distribution of Errors in any Measurement.</a:t>
            </a:r>
            <a:endParaRPr/>
          </a:p>
          <a:p>
            <a:pPr marL="228600" lvl="0" indent="-228600" algn="l" rtl="0">
              <a:lnSpc>
                <a:spcPct val="90000"/>
              </a:lnSpc>
              <a:spcBef>
                <a:spcPts val="1000"/>
              </a:spcBef>
              <a:spcAft>
                <a:spcPts val="0"/>
              </a:spcAft>
              <a:buClr>
                <a:schemeClr val="dk1"/>
              </a:buClr>
              <a:buSzPts val="2800"/>
              <a:buChar char="•"/>
            </a:pPr>
            <a:r>
              <a:rPr lang="en-US"/>
              <a:t>Distribution of Blood Pressure of any Patient, etc.</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Standard normal distribution</a:t>
            </a:r>
            <a:endParaRPr/>
          </a:p>
        </p:txBody>
      </p:sp>
      <p:sp>
        <p:nvSpPr>
          <p:cNvPr id="3" name="Text Placeholder 2">
            <a:extLst>
              <a:ext uri="{FF2B5EF4-FFF2-40B4-BE49-F238E27FC236}">
                <a16:creationId xmlns:a16="http://schemas.microsoft.com/office/drawing/2014/main" id="{AC96278E-A543-F72F-DFF3-CB87E8995703}"/>
              </a:ext>
            </a:extLst>
          </p:cNvPr>
          <p:cNvSpPr>
            <a:spLocks noGrp="1"/>
          </p:cNvSpPr>
          <p:nvPr>
            <p:ph type="body" idx="1"/>
          </p:nvPr>
        </p:nvSpPr>
        <p:spPr>
          <a:xfrm>
            <a:off x="838200" y="4810538"/>
            <a:ext cx="10515600" cy="1769165"/>
          </a:xfrm>
        </p:spPr>
        <p:txBody>
          <a:bodyPr>
            <a:normAutofit/>
          </a:bodyPr>
          <a:lstStyle/>
          <a:p>
            <a:r>
              <a:rPr lang="en-US" dirty="0"/>
              <a:t>Normal distributions with a mean ⁠μ  and standard deviation can be transformed into the standard normal distribution with mean of zero and standard deviation of one.</a:t>
            </a:r>
            <a:endParaRPr lang="en-IN" dirty="0"/>
          </a:p>
        </p:txBody>
      </p:sp>
      <p:pic>
        <p:nvPicPr>
          <p:cNvPr id="4" name="Picture 3">
            <a:extLst>
              <a:ext uri="{FF2B5EF4-FFF2-40B4-BE49-F238E27FC236}">
                <a16:creationId xmlns:a16="http://schemas.microsoft.com/office/drawing/2014/main" id="{FC663FCA-3EA0-E87A-AC54-6248689546A4}"/>
              </a:ext>
            </a:extLst>
          </p:cNvPr>
          <p:cNvPicPr>
            <a:picLocks noChangeAspect="1"/>
          </p:cNvPicPr>
          <p:nvPr/>
        </p:nvPicPr>
        <p:blipFill>
          <a:blip r:embed="rId3"/>
          <a:stretch>
            <a:fillRect/>
          </a:stretch>
        </p:blipFill>
        <p:spPr>
          <a:xfrm>
            <a:off x="3077491" y="2131711"/>
            <a:ext cx="5827970" cy="171129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710380"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Standard normal distribution</a:t>
            </a:r>
            <a:endParaRPr/>
          </a:p>
        </p:txBody>
      </p:sp>
      <p:pic>
        <p:nvPicPr>
          <p:cNvPr id="153" name="Google Shape;153;p10"/>
          <p:cNvPicPr preferRelativeResize="0"/>
          <p:nvPr/>
        </p:nvPicPr>
        <p:blipFill rotWithShape="1">
          <a:blip r:embed="rId3">
            <a:alphaModFix/>
          </a:blip>
          <a:srcRect/>
          <a:stretch/>
        </p:blipFill>
        <p:spPr>
          <a:xfrm>
            <a:off x="1605352" y="1651931"/>
            <a:ext cx="8725656" cy="2522439"/>
          </a:xfrm>
          <a:prstGeom prst="rect">
            <a:avLst/>
          </a:prstGeom>
          <a:noFill/>
          <a:ln>
            <a:noFill/>
          </a:ln>
        </p:spPr>
      </p:pic>
      <p:sp>
        <p:nvSpPr>
          <p:cNvPr id="3" name="TextBox 2">
            <a:extLst>
              <a:ext uri="{FF2B5EF4-FFF2-40B4-BE49-F238E27FC236}">
                <a16:creationId xmlns:a16="http://schemas.microsoft.com/office/drawing/2014/main" id="{75FAF666-4D7C-010A-85F1-24D2DD5E645A}"/>
              </a:ext>
            </a:extLst>
          </p:cNvPr>
          <p:cNvSpPr txBox="1"/>
          <p:nvPr/>
        </p:nvSpPr>
        <p:spPr>
          <a:xfrm>
            <a:off x="710380" y="5037128"/>
            <a:ext cx="10699742" cy="1569660"/>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Regions within the original normal distribution correspond to regions in the standard normal distribution.</a:t>
            </a:r>
          </a:p>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Areas in the standard normal distribution are known and tabulated in tables (or stored in statistics programs).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 1</a:t>
            </a:r>
            <a:endParaRPr/>
          </a:p>
        </p:txBody>
      </p:sp>
      <p:pic>
        <p:nvPicPr>
          <p:cNvPr id="162" name="Google Shape;162;p11"/>
          <p:cNvPicPr preferRelativeResize="0"/>
          <p:nvPr/>
        </p:nvPicPr>
        <p:blipFill rotWithShape="1">
          <a:blip r:embed="rId3">
            <a:alphaModFix/>
          </a:blip>
          <a:srcRect/>
          <a:stretch/>
        </p:blipFill>
        <p:spPr>
          <a:xfrm>
            <a:off x="3262821" y="3175954"/>
            <a:ext cx="6502719" cy="2727120"/>
          </a:xfrm>
          <a:prstGeom prst="rect">
            <a:avLst/>
          </a:prstGeom>
          <a:noFill/>
          <a:ln>
            <a:noFill/>
          </a:ln>
        </p:spPr>
      </p:pic>
      <p:sp>
        <p:nvSpPr>
          <p:cNvPr id="5" name="TextBox 4">
            <a:extLst>
              <a:ext uri="{FF2B5EF4-FFF2-40B4-BE49-F238E27FC236}">
                <a16:creationId xmlns:a16="http://schemas.microsoft.com/office/drawing/2014/main" id="{286D706F-F1E7-4EB7-5105-6F2D224D8A05}"/>
              </a:ext>
            </a:extLst>
          </p:cNvPr>
          <p:cNvSpPr txBox="1"/>
          <p:nvPr/>
        </p:nvSpPr>
        <p:spPr>
          <a:xfrm>
            <a:off x="838200" y="1487490"/>
            <a:ext cx="10515600" cy="830997"/>
          </a:xfrm>
          <a:prstGeom prst="rect">
            <a:avLst/>
          </a:prstGeom>
          <a:noFill/>
        </p:spPr>
        <p:txBody>
          <a:bodyPr wrap="square">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Consider a population of 80 guinea pigs in which the mean mass is 1.1 kg and the standard deviation is 200g (0.2 kg).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                                                   Example 1-answ</a:t>
            </a:r>
            <a:endParaRPr/>
          </a:p>
        </p:txBody>
      </p:sp>
      <p:sp>
        <p:nvSpPr>
          <p:cNvPr id="168" name="Google Shape;168;p12"/>
          <p:cNvSpPr txBox="1">
            <a:spLocks noGrp="1"/>
          </p:cNvSpPr>
          <p:nvPr>
            <p:ph type="body" idx="1"/>
          </p:nvPr>
        </p:nvSpPr>
        <p:spPr>
          <a:xfrm>
            <a:off x="838200" y="1805961"/>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169" name="Google Shape;169;p12"/>
          <p:cNvPicPr preferRelativeResize="0"/>
          <p:nvPr/>
        </p:nvPicPr>
        <p:blipFill rotWithShape="1">
          <a:blip r:embed="rId3">
            <a:alphaModFix/>
          </a:blip>
          <a:srcRect/>
          <a:stretch/>
        </p:blipFill>
        <p:spPr>
          <a:xfrm>
            <a:off x="429931" y="270639"/>
            <a:ext cx="6944694" cy="5906324"/>
          </a:xfrm>
          <a:prstGeom prst="rect">
            <a:avLst/>
          </a:prstGeom>
          <a:noFill/>
          <a:ln>
            <a:noFill/>
          </a:ln>
        </p:spPr>
      </p:pic>
      <p:pic>
        <p:nvPicPr>
          <p:cNvPr id="170" name="Google Shape;170;p12"/>
          <p:cNvPicPr preferRelativeResize="0"/>
          <p:nvPr/>
        </p:nvPicPr>
        <p:blipFill rotWithShape="1">
          <a:blip r:embed="rId4">
            <a:alphaModFix/>
          </a:blip>
          <a:srcRect/>
          <a:stretch/>
        </p:blipFill>
        <p:spPr>
          <a:xfrm>
            <a:off x="7374625" y="4861282"/>
            <a:ext cx="2263336" cy="922100"/>
          </a:xfrm>
          <a:prstGeom prst="rect">
            <a:avLst/>
          </a:prstGeom>
          <a:noFill/>
          <a:ln>
            <a:noFill/>
          </a:ln>
        </p:spPr>
      </p:pic>
      <p:pic>
        <p:nvPicPr>
          <p:cNvPr id="171" name="Google Shape;171;p12"/>
          <p:cNvPicPr preferRelativeResize="0"/>
          <p:nvPr/>
        </p:nvPicPr>
        <p:blipFill rotWithShape="1">
          <a:blip r:embed="rId5">
            <a:alphaModFix/>
          </a:blip>
          <a:srcRect/>
          <a:stretch/>
        </p:blipFill>
        <p:spPr>
          <a:xfrm>
            <a:off x="7528660" y="3160558"/>
            <a:ext cx="3368332" cy="365792"/>
          </a:xfrm>
          <a:prstGeom prst="rect">
            <a:avLst/>
          </a:prstGeom>
          <a:noFill/>
          <a:ln>
            <a:noFill/>
          </a:ln>
        </p:spPr>
      </p:pic>
      <p:pic>
        <p:nvPicPr>
          <p:cNvPr id="172" name="Google Shape;172;p12"/>
          <p:cNvPicPr preferRelativeResize="0"/>
          <p:nvPr/>
        </p:nvPicPr>
        <p:blipFill rotWithShape="1">
          <a:blip r:embed="rId6">
            <a:alphaModFix/>
          </a:blip>
          <a:srcRect/>
          <a:stretch/>
        </p:blipFill>
        <p:spPr>
          <a:xfrm>
            <a:off x="6826046" y="1939018"/>
            <a:ext cx="4431889" cy="41913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D4E1FA-FB20-15F6-BB57-A949371F36B8}"/>
              </a:ext>
            </a:extLst>
          </p:cNvPr>
          <p:cNvPicPr>
            <a:picLocks noChangeAspect="1"/>
          </p:cNvPicPr>
          <p:nvPr/>
        </p:nvPicPr>
        <p:blipFill>
          <a:blip r:embed="rId2"/>
          <a:stretch>
            <a:fillRect/>
          </a:stretch>
        </p:blipFill>
        <p:spPr>
          <a:xfrm>
            <a:off x="367760" y="333800"/>
            <a:ext cx="11702296" cy="5669435"/>
          </a:xfrm>
          <a:prstGeom prst="rect">
            <a:avLst/>
          </a:prstGeom>
        </p:spPr>
      </p:pic>
    </p:spTree>
    <p:extLst>
      <p:ext uri="{BB962C8B-B14F-4D97-AF65-F5344CB8AC3E}">
        <p14:creationId xmlns:p14="http://schemas.microsoft.com/office/powerpoint/2010/main" val="1916328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738D9D-39BD-B3C9-5D4E-9A1AC56A0542}"/>
              </a:ext>
            </a:extLst>
          </p:cNvPr>
          <p:cNvPicPr>
            <a:picLocks noChangeAspect="1"/>
          </p:cNvPicPr>
          <p:nvPr/>
        </p:nvPicPr>
        <p:blipFill>
          <a:blip r:embed="rId2"/>
          <a:stretch>
            <a:fillRect/>
          </a:stretch>
        </p:blipFill>
        <p:spPr>
          <a:xfrm>
            <a:off x="412193" y="296321"/>
            <a:ext cx="9218824" cy="6398949"/>
          </a:xfrm>
          <a:prstGeom prst="rect">
            <a:avLst/>
          </a:prstGeom>
        </p:spPr>
      </p:pic>
    </p:spTree>
    <p:extLst>
      <p:ext uri="{BB962C8B-B14F-4D97-AF65-F5344CB8AC3E}">
        <p14:creationId xmlns:p14="http://schemas.microsoft.com/office/powerpoint/2010/main" val="1620019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C9A6FF-170D-E928-7B27-9A456DF4FD7B}"/>
              </a:ext>
            </a:extLst>
          </p:cNvPr>
          <p:cNvPicPr>
            <a:picLocks noChangeAspect="1"/>
          </p:cNvPicPr>
          <p:nvPr/>
        </p:nvPicPr>
        <p:blipFill>
          <a:blip r:embed="rId2"/>
          <a:stretch>
            <a:fillRect/>
          </a:stretch>
        </p:blipFill>
        <p:spPr>
          <a:xfrm>
            <a:off x="219377" y="333760"/>
            <a:ext cx="10375735" cy="6248197"/>
          </a:xfrm>
          <a:prstGeom prst="rect">
            <a:avLst/>
          </a:prstGeom>
        </p:spPr>
      </p:pic>
    </p:spTree>
    <p:extLst>
      <p:ext uri="{BB962C8B-B14F-4D97-AF65-F5344CB8AC3E}">
        <p14:creationId xmlns:p14="http://schemas.microsoft.com/office/powerpoint/2010/main" val="4086988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19C306-5A88-1744-20CE-5B65D5419233}"/>
              </a:ext>
            </a:extLst>
          </p:cNvPr>
          <p:cNvPicPr>
            <a:picLocks noChangeAspect="1"/>
          </p:cNvPicPr>
          <p:nvPr/>
        </p:nvPicPr>
        <p:blipFill>
          <a:blip r:embed="rId2"/>
          <a:stretch>
            <a:fillRect/>
          </a:stretch>
        </p:blipFill>
        <p:spPr>
          <a:xfrm>
            <a:off x="323747" y="407144"/>
            <a:ext cx="10390636" cy="5967324"/>
          </a:xfrm>
          <a:prstGeom prst="rect">
            <a:avLst/>
          </a:prstGeom>
        </p:spPr>
      </p:pic>
    </p:spTree>
    <p:extLst>
      <p:ext uri="{BB962C8B-B14F-4D97-AF65-F5344CB8AC3E}">
        <p14:creationId xmlns:p14="http://schemas.microsoft.com/office/powerpoint/2010/main" val="2403330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8BA568-0366-AB17-6ECF-5E1BD1A7FB9F}"/>
              </a:ext>
            </a:extLst>
          </p:cNvPr>
          <p:cNvPicPr>
            <a:picLocks noChangeAspect="1"/>
          </p:cNvPicPr>
          <p:nvPr/>
        </p:nvPicPr>
        <p:blipFill>
          <a:blip r:embed="rId2"/>
          <a:stretch>
            <a:fillRect/>
          </a:stretch>
        </p:blipFill>
        <p:spPr>
          <a:xfrm>
            <a:off x="251473" y="520506"/>
            <a:ext cx="11605425" cy="5065285"/>
          </a:xfrm>
          <a:prstGeom prst="rect">
            <a:avLst/>
          </a:prstGeom>
        </p:spPr>
      </p:pic>
    </p:spTree>
    <p:extLst>
      <p:ext uri="{BB962C8B-B14F-4D97-AF65-F5344CB8AC3E}">
        <p14:creationId xmlns:p14="http://schemas.microsoft.com/office/powerpoint/2010/main" val="501987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FEA0-CAA4-0932-60AF-1DD463D6C9E1}"/>
              </a:ext>
            </a:extLst>
          </p:cNvPr>
          <p:cNvSpPr>
            <a:spLocks noGrp="1"/>
          </p:cNvSpPr>
          <p:nvPr>
            <p:ph type="title"/>
          </p:nvPr>
        </p:nvSpPr>
        <p:spPr/>
        <p:txBody>
          <a:bodyPr/>
          <a:lstStyle/>
          <a:p>
            <a:r>
              <a:rPr lang="en-US" dirty="0"/>
              <a:t>Exponential distribution</a:t>
            </a:r>
            <a:endParaRPr lang="en-IN" dirty="0"/>
          </a:p>
        </p:txBody>
      </p:sp>
      <p:sp>
        <p:nvSpPr>
          <p:cNvPr id="3" name="Text Placeholder 2">
            <a:extLst>
              <a:ext uri="{FF2B5EF4-FFF2-40B4-BE49-F238E27FC236}">
                <a16:creationId xmlns:a16="http://schemas.microsoft.com/office/drawing/2014/main" id="{C82E0F4A-BBF1-40F1-6ED5-312FB1DC0F3E}"/>
              </a:ext>
            </a:extLst>
          </p:cNvPr>
          <p:cNvSpPr>
            <a:spLocks noGrp="1"/>
          </p:cNvSpPr>
          <p:nvPr>
            <p:ph type="body" idx="1"/>
          </p:nvPr>
        </p:nvSpPr>
        <p:spPr/>
        <p:txBody>
          <a:bodyPr>
            <a:normAutofit/>
          </a:bodyPr>
          <a:lstStyle/>
          <a:p>
            <a:pPr fontAlgn="base"/>
            <a:r>
              <a:rPr lang="en-US" sz="2400" dirty="0"/>
              <a:t>The Exponential Distribution is one of the most commonly used probability distributions in statistics and data science. </a:t>
            </a:r>
          </a:p>
          <a:p>
            <a:pPr fontAlgn="base"/>
            <a:r>
              <a:rPr lang="en-US" sz="2400" dirty="0"/>
              <a:t>It is widely used to model the time or space between events in a Poisson process. </a:t>
            </a:r>
          </a:p>
          <a:p>
            <a:pPr fontAlgn="base"/>
            <a:r>
              <a:rPr lang="en-US" sz="2400" dirty="0"/>
              <a:t>In simple terms, it describes how long you have to wait before something happens, like a bus arriving or a customer calling a help center.</a:t>
            </a:r>
          </a:p>
          <a:p>
            <a:pPr fontAlgn="base"/>
            <a:r>
              <a:rPr lang="en-US" sz="2400" dirty="0"/>
              <a:t>For example, if buses arrive at a bus stop every 15 minutes on average, the time you wait for the next bus can be modelled using an exponential distribution.</a:t>
            </a:r>
          </a:p>
          <a:p>
            <a:endParaRPr lang="en-IN" sz="2400" dirty="0"/>
          </a:p>
        </p:txBody>
      </p:sp>
    </p:spTree>
    <p:extLst>
      <p:ext uri="{BB962C8B-B14F-4D97-AF65-F5344CB8AC3E}">
        <p14:creationId xmlns:p14="http://schemas.microsoft.com/office/powerpoint/2010/main" val="2827251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CE51D-B780-6000-CA42-4649463DC002}"/>
              </a:ext>
            </a:extLst>
          </p:cNvPr>
          <p:cNvSpPr>
            <a:spLocks noGrp="1"/>
          </p:cNvSpPr>
          <p:nvPr>
            <p:ph type="title"/>
          </p:nvPr>
        </p:nvSpPr>
        <p:spPr/>
        <p:txBody>
          <a:bodyPr/>
          <a:lstStyle/>
          <a:p>
            <a:r>
              <a:rPr lang="en-US" dirty="0"/>
              <a:t>Exponential distribution</a:t>
            </a:r>
            <a:endParaRPr lang="en-IN" dirty="0"/>
          </a:p>
        </p:txBody>
      </p:sp>
      <p:pic>
        <p:nvPicPr>
          <p:cNvPr id="5" name="Picture 4">
            <a:extLst>
              <a:ext uri="{FF2B5EF4-FFF2-40B4-BE49-F238E27FC236}">
                <a16:creationId xmlns:a16="http://schemas.microsoft.com/office/drawing/2014/main" id="{E5175FD4-AEAD-1CB2-9704-19510CB81A49}"/>
              </a:ext>
            </a:extLst>
          </p:cNvPr>
          <p:cNvPicPr>
            <a:picLocks noChangeAspect="1"/>
          </p:cNvPicPr>
          <p:nvPr/>
        </p:nvPicPr>
        <p:blipFill>
          <a:blip r:embed="rId2"/>
          <a:stretch>
            <a:fillRect/>
          </a:stretch>
        </p:blipFill>
        <p:spPr>
          <a:xfrm>
            <a:off x="891089" y="1680749"/>
            <a:ext cx="9256763" cy="4648712"/>
          </a:xfrm>
          <a:prstGeom prst="rect">
            <a:avLst/>
          </a:prstGeom>
        </p:spPr>
      </p:pic>
    </p:spTree>
    <p:extLst>
      <p:ext uri="{BB962C8B-B14F-4D97-AF65-F5344CB8AC3E}">
        <p14:creationId xmlns:p14="http://schemas.microsoft.com/office/powerpoint/2010/main" val="1742975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AAC0C-43C8-F1D8-D0D9-DCFCA3F5E91D}"/>
              </a:ext>
            </a:extLst>
          </p:cNvPr>
          <p:cNvSpPr>
            <a:spLocks noGrp="1"/>
          </p:cNvSpPr>
          <p:nvPr>
            <p:ph type="title"/>
          </p:nvPr>
        </p:nvSpPr>
        <p:spPr/>
        <p:txBody>
          <a:bodyPr/>
          <a:lstStyle/>
          <a:p>
            <a:r>
              <a:rPr lang="en-US" dirty="0"/>
              <a:t>Exponential distribution</a:t>
            </a:r>
            <a:endParaRPr lang="en-IN" dirty="0"/>
          </a:p>
        </p:txBody>
      </p:sp>
      <p:pic>
        <p:nvPicPr>
          <p:cNvPr id="4" name="Picture 3">
            <a:extLst>
              <a:ext uri="{FF2B5EF4-FFF2-40B4-BE49-F238E27FC236}">
                <a16:creationId xmlns:a16="http://schemas.microsoft.com/office/drawing/2014/main" id="{188FE5B9-5509-58E4-BE74-661E01D19D39}"/>
              </a:ext>
            </a:extLst>
          </p:cNvPr>
          <p:cNvPicPr>
            <a:picLocks noChangeAspect="1"/>
          </p:cNvPicPr>
          <p:nvPr/>
        </p:nvPicPr>
        <p:blipFill>
          <a:blip r:embed="rId2"/>
          <a:stretch>
            <a:fillRect/>
          </a:stretch>
        </p:blipFill>
        <p:spPr>
          <a:xfrm>
            <a:off x="910441" y="1534478"/>
            <a:ext cx="11026882" cy="4727174"/>
          </a:xfrm>
          <a:prstGeom prst="rect">
            <a:avLst/>
          </a:prstGeom>
        </p:spPr>
      </p:pic>
    </p:spTree>
    <p:extLst>
      <p:ext uri="{BB962C8B-B14F-4D97-AF65-F5344CB8AC3E}">
        <p14:creationId xmlns:p14="http://schemas.microsoft.com/office/powerpoint/2010/main" val="3022669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4" name="Google Shape;244;p22"/>
          <p:cNvPicPr preferRelativeResize="0"/>
          <p:nvPr/>
        </p:nvPicPr>
        <p:blipFill rotWithShape="1">
          <a:blip r:embed="rId3">
            <a:alphaModFix/>
          </a:blip>
          <a:srcRect/>
          <a:stretch/>
        </p:blipFill>
        <p:spPr>
          <a:xfrm>
            <a:off x="3162046" y="2684206"/>
            <a:ext cx="6444070" cy="100008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n-US"/>
              <a:t>Statistical estimation</a:t>
            </a:r>
            <a:endParaRPr/>
          </a:p>
        </p:txBody>
      </p:sp>
      <p:sp>
        <p:nvSpPr>
          <p:cNvPr id="250" name="Google Shape;250;p23"/>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indent="-457200" algn="just">
              <a:spcBef>
                <a:spcPts val="0"/>
              </a:spcBef>
              <a:buSzPts val="2800"/>
            </a:pPr>
            <a:r>
              <a:rPr lang="en-US" dirty="0"/>
              <a:t>Statistical estimation is the process of using a sample of data to make an "educated guess" about a characteristic (a parameter) of a much larger group, known as a population.</a:t>
            </a:r>
            <a:endParaRPr dirty="0"/>
          </a:p>
          <a:p>
            <a:pPr indent="-457200" algn="just">
              <a:buSzPts val="2800"/>
            </a:pPr>
            <a:r>
              <a:rPr lang="en-US" dirty="0"/>
              <a:t>It involves applying statistical rules called </a:t>
            </a:r>
            <a:r>
              <a:rPr lang="en-US" b="1" dirty="0">
                <a:solidFill>
                  <a:schemeClr val="tx1"/>
                </a:solidFill>
              </a:rPr>
              <a:t>estimators</a:t>
            </a:r>
            <a:r>
              <a:rPr lang="en-US" dirty="0"/>
              <a:t> to observed data to calculate </a:t>
            </a:r>
          </a:p>
          <a:p>
            <a:pPr lvl="1" indent="-457200" algn="just">
              <a:buSzPts val="2800"/>
            </a:pPr>
            <a:r>
              <a:rPr lang="en-US" dirty="0"/>
              <a:t>Point estimates (a single value, like the sample mean for the population mean) or </a:t>
            </a:r>
          </a:p>
          <a:p>
            <a:pPr lvl="1" indent="-457200" algn="just">
              <a:buSzPts val="2800"/>
            </a:pPr>
            <a:r>
              <a:rPr lang="en-US" dirty="0"/>
              <a:t>Interval estimates (a range of values, like a </a:t>
            </a:r>
            <a:r>
              <a:rPr lang="en-US" b="1" dirty="0">
                <a:solidFill>
                  <a:schemeClr val="tx1"/>
                </a:solidFill>
              </a:rPr>
              <a:t>confidence interval </a:t>
            </a:r>
            <a:r>
              <a:rPr lang="en-US" dirty="0"/>
              <a:t>for the population mean).</a:t>
            </a:r>
            <a:endParaRPr dirty="0"/>
          </a:p>
          <a:p>
            <a:pPr marL="635000" indent="-457200">
              <a:buSzPts val="2800"/>
            </a:pPr>
            <a:endParaRPr dirty="0"/>
          </a:p>
        </p:txBody>
      </p:sp>
      <p:sp>
        <p:nvSpPr>
          <p:cNvPr id="251" name="Google Shape;251;p23"/>
          <p:cNvSpPr/>
          <p:nvPr/>
        </p:nvSpPr>
        <p:spPr>
          <a:xfrm>
            <a:off x="0" y="-373149"/>
            <a:ext cx="65" cy="746298"/>
          </a:xfrm>
          <a:prstGeom prst="rect">
            <a:avLst/>
          </a:prstGeom>
          <a:solidFill>
            <a:srgbClr val="FFFFFF"/>
          </a:solidFill>
          <a:ln>
            <a:noFill/>
          </a:ln>
        </p:spPr>
        <p:txBody>
          <a:bodyPr spcFirstLastPara="1" wrap="square" lIns="0" tIns="63475" rIns="0" bIns="12695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Key terms</a:t>
            </a:r>
            <a:endParaRPr dirty="0"/>
          </a:p>
        </p:txBody>
      </p:sp>
      <p:sp>
        <p:nvSpPr>
          <p:cNvPr id="257" name="Google Shape;257;p24"/>
          <p:cNvSpPr txBox="1">
            <a:spLocks noGrp="1"/>
          </p:cNvSpPr>
          <p:nvPr>
            <p:ph type="body" idx="1"/>
          </p:nvPr>
        </p:nvSpPr>
        <p:spPr>
          <a:xfrm>
            <a:off x="838200" y="1690688"/>
            <a:ext cx="10515600" cy="4802187"/>
          </a:xfrm>
          <a:prstGeom prst="rect">
            <a:avLst/>
          </a:prstGeom>
          <a:noFill/>
          <a:ln>
            <a:noFill/>
          </a:ln>
        </p:spPr>
        <p:txBody>
          <a:bodyPr spcFirstLastPara="1" wrap="square" lIns="91425" tIns="45700" rIns="91425" bIns="45700" anchor="t" anchorCtr="0">
            <a:normAutofit/>
          </a:bodyPr>
          <a:lstStyle/>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Population:</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The entire group of interest (e.g., all students in a school, all steel produced).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Parameter:</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A numerical characteristic of a population (e.g., the true mean height of all people).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Sample:</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A subset of the population from which data is collected.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Statistic:</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A numerical characteristic of a sample (e.g., the mean height of a sample of students).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u="sng"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hlinkClick r:id="rId3">
                  <a:extLst>
                    <a:ext uri="{A12FA001-AC4F-418D-AE19-62706E023703}">
                      <ahyp:hlinkClr xmlns:ahyp="http://schemas.microsoft.com/office/drawing/2018/hyperlinkcolor" val="tx"/>
                    </a:ext>
                  </a:extLst>
                </a:hlinkClick>
              </a:rPr>
              <a:t>Estimator</a:t>
            </a: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A rule or formula used to calculate an estimate from sample data (e.g., the sample mean is an estimator for the population mean). </a:t>
            </a:r>
            <a:endParaRPr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00000"/>
              </a:lnSpc>
              <a:spcBef>
                <a:spcPts val="0"/>
              </a:spcBef>
              <a:buClr>
                <a:srgbClr val="001D35"/>
              </a:buClr>
              <a:buSzPts val="2800"/>
            </a:pPr>
            <a:r>
              <a:rPr lang="en-US" b="1"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Estimate:</a:t>
            </a:r>
            <a:r>
              <a:rPr lang="en-US" dirty="0">
                <a:solidFill>
                  <a:srgbClr val="001D35"/>
                </a:solidFill>
                <a:latin typeface="Calibri" panose="020F0502020204030204" pitchFamily="34" charset="0"/>
                <a:ea typeface="Calibri" panose="020F0502020204030204" pitchFamily="34" charset="0"/>
                <a:cs typeface="Calibri" panose="020F0502020204030204" pitchFamily="34" charset="0"/>
                <a:sym typeface="Arial"/>
              </a:rPr>
              <a:t> The single computed value produced by an estimator. </a:t>
            </a:r>
            <a:endParaRPr dirty="0">
              <a:latin typeface="Calibri" panose="020F0502020204030204" pitchFamily="34" charset="0"/>
              <a:ea typeface="Calibri" panose="020F0502020204030204" pitchFamily="34" charset="0"/>
              <a:cs typeface="Calibri" panose="020F0502020204030204" pitchFamily="34" charset="0"/>
            </a:endParaRPr>
          </a:p>
          <a:p>
            <a:pPr marL="635000" indent="-457200">
              <a:buSzPts val="2800"/>
            </a:pP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A3A3-89EA-21E1-83AA-0DFA03B10FEB}"/>
              </a:ext>
            </a:extLst>
          </p:cNvPr>
          <p:cNvSpPr>
            <a:spLocks noGrp="1"/>
          </p:cNvSpPr>
          <p:nvPr>
            <p:ph type="title"/>
          </p:nvPr>
        </p:nvSpPr>
        <p:spPr/>
        <p:txBody>
          <a:bodyPr>
            <a:normAutofit/>
          </a:bodyPr>
          <a:lstStyle/>
          <a:p>
            <a:r>
              <a:rPr lang="en-US" dirty="0"/>
              <a:t>Example: Estimating a Population Parameter</a:t>
            </a:r>
            <a:endParaRPr lang="en-IN" dirty="0"/>
          </a:p>
        </p:txBody>
      </p:sp>
      <p:sp>
        <p:nvSpPr>
          <p:cNvPr id="3" name="Text Placeholder 2">
            <a:extLst>
              <a:ext uri="{FF2B5EF4-FFF2-40B4-BE49-F238E27FC236}">
                <a16:creationId xmlns:a16="http://schemas.microsoft.com/office/drawing/2014/main" id="{5C090B59-ADAF-07C0-DA4A-171CFBE8004B}"/>
              </a:ext>
            </a:extLst>
          </p:cNvPr>
          <p:cNvSpPr>
            <a:spLocks noGrp="1"/>
          </p:cNvSpPr>
          <p:nvPr>
            <p:ph type="body" idx="1"/>
          </p:nvPr>
        </p:nvSpPr>
        <p:spPr/>
        <p:txBody>
          <a:bodyPr/>
          <a:lstStyle/>
          <a:p>
            <a:r>
              <a:rPr lang="en-US" dirty="0"/>
              <a:t>Goal: average height of all students in a college (unknown parameter).</a:t>
            </a:r>
          </a:p>
          <a:p>
            <a:r>
              <a:rPr lang="en-US" dirty="0"/>
              <a:t>Action: measure the height of all students in a class and compute the average (statistic).</a:t>
            </a:r>
          </a:p>
          <a:p>
            <a:r>
              <a:rPr lang="en-US" dirty="0"/>
              <a:t>Use the class average as an estimate of all student’s true average.</a:t>
            </a:r>
            <a:endParaRPr lang="en-IN" dirty="0"/>
          </a:p>
        </p:txBody>
      </p:sp>
    </p:spTree>
    <p:extLst>
      <p:ext uri="{BB962C8B-B14F-4D97-AF65-F5344CB8AC3E}">
        <p14:creationId xmlns:p14="http://schemas.microsoft.com/office/powerpoint/2010/main" val="3509650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314B-320A-59EE-EF3D-FFA6D32E4E0C}"/>
              </a:ext>
            </a:extLst>
          </p:cNvPr>
          <p:cNvSpPr>
            <a:spLocks noGrp="1"/>
          </p:cNvSpPr>
          <p:nvPr>
            <p:ph type="title"/>
          </p:nvPr>
        </p:nvSpPr>
        <p:spPr/>
        <p:txBody>
          <a:bodyPr/>
          <a:lstStyle/>
          <a:p>
            <a:r>
              <a:rPr lang="en-IN" dirty="0"/>
              <a:t>Parameter vs. Statistic &amp; Estimator vs. Estimate</a:t>
            </a:r>
          </a:p>
        </p:txBody>
      </p:sp>
      <p:pic>
        <p:nvPicPr>
          <p:cNvPr id="5" name="Picture 4">
            <a:extLst>
              <a:ext uri="{FF2B5EF4-FFF2-40B4-BE49-F238E27FC236}">
                <a16:creationId xmlns:a16="http://schemas.microsoft.com/office/drawing/2014/main" id="{1F6FFBAF-60C4-C0D9-548C-BF0F63EC1A51}"/>
              </a:ext>
            </a:extLst>
          </p:cNvPr>
          <p:cNvPicPr>
            <a:picLocks noChangeAspect="1"/>
          </p:cNvPicPr>
          <p:nvPr/>
        </p:nvPicPr>
        <p:blipFill>
          <a:blip r:embed="rId2"/>
          <a:stretch>
            <a:fillRect/>
          </a:stretch>
        </p:blipFill>
        <p:spPr>
          <a:xfrm>
            <a:off x="838200" y="2018679"/>
            <a:ext cx="10515600" cy="3944799"/>
          </a:xfrm>
          <a:prstGeom prst="rect">
            <a:avLst/>
          </a:prstGeom>
        </p:spPr>
      </p:pic>
    </p:spTree>
    <p:extLst>
      <p:ext uri="{BB962C8B-B14F-4D97-AF65-F5344CB8AC3E}">
        <p14:creationId xmlns:p14="http://schemas.microsoft.com/office/powerpoint/2010/main" val="5651143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4A5D52-7A20-A63F-F702-4D7023FF8B14}"/>
              </a:ext>
            </a:extLst>
          </p:cNvPr>
          <p:cNvSpPr>
            <a:spLocks noGrp="1"/>
          </p:cNvSpPr>
          <p:nvPr>
            <p:ph type="title"/>
          </p:nvPr>
        </p:nvSpPr>
        <p:spPr/>
        <p:txBody>
          <a:bodyPr>
            <a:normAutofit/>
          </a:bodyPr>
          <a:lstStyle/>
          <a:p>
            <a:r>
              <a:rPr lang="en-IN" dirty="0"/>
              <a:t>Why Estimation Matters in Al and Data Science</a:t>
            </a:r>
          </a:p>
        </p:txBody>
      </p:sp>
      <p:sp>
        <p:nvSpPr>
          <p:cNvPr id="4" name="Text Placeholder 3">
            <a:extLst>
              <a:ext uri="{FF2B5EF4-FFF2-40B4-BE49-F238E27FC236}">
                <a16:creationId xmlns:a16="http://schemas.microsoft.com/office/drawing/2014/main" id="{116CE098-4D40-7970-7C1A-3B53EAEBBBB8}"/>
              </a:ext>
            </a:extLst>
          </p:cNvPr>
          <p:cNvSpPr>
            <a:spLocks noGrp="1"/>
          </p:cNvSpPr>
          <p:nvPr>
            <p:ph type="body" idx="1"/>
          </p:nvPr>
        </p:nvSpPr>
        <p:spPr/>
        <p:txBody>
          <a:bodyPr/>
          <a:lstStyle/>
          <a:p>
            <a:r>
              <a:rPr lang="en-IN" dirty="0"/>
              <a:t>Models in ML Al have unknown parameters (e.g., mean/variance of a Gaussian).</a:t>
            </a:r>
          </a:p>
          <a:p>
            <a:r>
              <a:rPr lang="en-IN" dirty="0"/>
              <a:t>We need estimators to: train models, predict outcomes, and quantify uncertainty.</a:t>
            </a:r>
          </a:p>
          <a:p>
            <a:r>
              <a:rPr lang="en-IN" dirty="0"/>
              <a:t>This motivates systematic methods like Maximum Likelihood Estimation (MLE)</a:t>
            </a:r>
          </a:p>
        </p:txBody>
      </p:sp>
    </p:spTree>
    <p:extLst>
      <p:ext uri="{BB962C8B-B14F-4D97-AF65-F5344CB8AC3E}">
        <p14:creationId xmlns:p14="http://schemas.microsoft.com/office/powerpoint/2010/main" val="500192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LIKELIHOOD ESTIMATE</a:t>
            </a:r>
            <a:endParaRPr/>
          </a:p>
        </p:txBody>
      </p:sp>
      <p:sp>
        <p:nvSpPr>
          <p:cNvPr id="284" name="Google Shape;284;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t>Likelihood estimation is a statistical method to estimate the parameters of a statistical model by finding the parameters that maximize the likelihood function, which is the probability of observing the given data under the assumed model. </a:t>
            </a:r>
            <a:endParaRPr dirty="0"/>
          </a:p>
          <a:p>
            <a:pPr marL="228600" lvl="0" indent="-228600" algn="just" rtl="0">
              <a:lnSpc>
                <a:spcPct val="90000"/>
              </a:lnSpc>
              <a:spcBef>
                <a:spcPts val="1000"/>
              </a:spcBef>
              <a:spcAft>
                <a:spcPts val="0"/>
              </a:spcAft>
              <a:buClr>
                <a:schemeClr val="dk1"/>
              </a:buClr>
              <a:buSzPts val="2800"/>
              <a:buChar char="•"/>
            </a:pPr>
            <a:r>
              <a:rPr lang="en-US" dirty="0"/>
              <a:t>This technique, known as Maximum Likelihood Estimation (MLE), finds the parameter values (maximum likelihood estimates) that make the observed data most probable, providing the best "fit" for the data within the assumed model. </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90" name="Google Shape;290;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291" name="Google Shape;291;p29"/>
          <p:cNvPicPr preferRelativeResize="0"/>
          <p:nvPr/>
        </p:nvPicPr>
        <p:blipFill rotWithShape="1">
          <a:blip r:embed="rId3">
            <a:alphaModFix/>
          </a:blip>
          <a:srcRect/>
          <a:stretch/>
        </p:blipFill>
        <p:spPr>
          <a:xfrm>
            <a:off x="1140542" y="462116"/>
            <a:ext cx="10294374" cy="529499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97" name="Google Shape;297;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298" name="Google Shape;298;p30"/>
          <p:cNvPicPr preferRelativeResize="0"/>
          <p:nvPr/>
        </p:nvPicPr>
        <p:blipFill rotWithShape="1">
          <a:blip r:embed="rId3">
            <a:alphaModFix/>
          </a:blip>
          <a:srcRect/>
          <a:stretch/>
        </p:blipFill>
        <p:spPr>
          <a:xfrm>
            <a:off x="678426" y="681037"/>
            <a:ext cx="10068232" cy="536580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Log-likelihood function</a:t>
            </a:r>
            <a:endParaRPr/>
          </a:p>
        </p:txBody>
      </p:sp>
      <p:sp>
        <p:nvSpPr>
          <p:cNvPr id="304" name="Google Shape;304;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05" name="Google Shape;305;p31"/>
          <p:cNvPicPr preferRelativeResize="0"/>
          <p:nvPr/>
        </p:nvPicPr>
        <p:blipFill rotWithShape="1">
          <a:blip r:embed="rId3">
            <a:alphaModFix/>
          </a:blip>
          <a:srcRect/>
          <a:stretch/>
        </p:blipFill>
        <p:spPr>
          <a:xfrm>
            <a:off x="1229032" y="1782937"/>
            <a:ext cx="8536316" cy="418524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11" name="Google Shape;311;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12" name="Google Shape;312;p32"/>
          <p:cNvPicPr preferRelativeResize="0"/>
          <p:nvPr/>
        </p:nvPicPr>
        <p:blipFill rotWithShape="1">
          <a:blip r:embed="rId3">
            <a:alphaModFix/>
          </a:blip>
          <a:srcRect/>
          <a:stretch/>
        </p:blipFill>
        <p:spPr>
          <a:xfrm>
            <a:off x="1799304" y="681037"/>
            <a:ext cx="7219700" cy="804109"/>
          </a:xfrm>
          <a:prstGeom prst="rect">
            <a:avLst/>
          </a:prstGeom>
          <a:noFill/>
          <a:ln>
            <a:noFill/>
          </a:ln>
        </p:spPr>
      </p:pic>
      <p:pic>
        <p:nvPicPr>
          <p:cNvPr id="313" name="Google Shape;313;p32"/>
          <p:cNvPicPr preferRelativeResize="0"/>
          <p:nvPr/>
        </p:nvPicPr>
        <p:blipFill rotWithShape="1">
          <a:blip r:embed="rId4">
            <a:alphaModFix/>
          </a:blip>
          <a:srcRect/>
          <a:stretch/>
        </p:blipFill>
        <p:spPr>
          <a:xfrm>
            <a:off x="1415846" y="2160159"/>
            <a:ext cx="8482864" cy="322791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Steps for calculating Maximum Likelihood Estimate(MLE)</a:t>
            </a:r>
            <a:endParaRPr/>
          </a:p>
        </p:txBody>
      </p:sp>
      <p:sp>
        <p:nvSpPr>
          <p:cNvPr id="319" name="Google Shape;319;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20" name="Google Shape;320;p33"/>
          <p:cNvPicPr preferRelativeResize="0"/>
          <p:nvPr/>
        </p:nvPicPr>
        <p:blipFill rotWithShape="1">
          <a:blip r:embed="rId3">
            <a:alphaModFix/>
          </a:blip>
          <a:srcRect/>
          <a:stretch/>
        </p:blipFill>
        <p:spPr>
          <a:xfrm>
            <a:off x="1651819" y="2522141"/>
            <a:ext cx="8337755" cy="271845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26" name="Google Shape;326;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27" name="Google Shape;327;p34"/>
          <p:cNvPicPr preferRelativeResize="0"/>
          <p:nvPr/>
        </p:nvPicPr>
        <p:blipFill rotWithShape="1">
          <a:blip r:embed="rId3">
            <a:alphaModFix/>
          </a:blip>
          <a:srcRect/>
          <a:stretch/>
        </p:blipFill>
        <p:spPr>
          <a:xfrm>
            <a:off x="1091382" y="609601"/>
            <a:ext cx="10117392" cy="56928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33" name="Google Shape;333;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34" name="Google Shape;334;p35"/>
          <p:cNvPicPr preferRelativeResize="0"/>
          <p:nvPr/>
        </p:nvPicPr>
        <p:blipFill rotWithShape="1">
          <a:blip r:embed="rId3">
            <a:alphaModFix/>
          </a:blip>
          <a:srcRect/>
          <a:stretch/>
        </p:blipFill>
        <p:spPr>
          <a:xfrm>
            <a:off x="973394" y="943898"/>
            <a:ext cx="9382555" cy="418451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40" name="Google Shape;340;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41" name="Google Shape;341;p36"/>
          <p:cNvPicPr preferRelativeResize="0"/>
          <p:nvPr/>
        </p:nvPicPr>
        <p:blipFill rotWithShape="1">
          <a:blip r:embed="rId3">
            <a:alphaModFix/>
          </a:blip>
          <a:srcRect/>
          <a:stretch/>
        </p:blipFill>
        <p:spPr>
          <a:xfrm>
            <a:off x="1052052" y="712234"/>
            <a:ext cx="9281035" cy="543353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47" name="Google Shape;347;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48" name="Google Shape;348;p37"/>
          <p:cNvPicPr preferRelativeResize="0"/>
          <p:nvPr/>
        </p:nvPicPr>
        <p:blipFill rotWithShape="1">
          <a:blip r:embed="rId3">
            <a:alphaModFix/>
          </a:blip>
          <a:srcRect/>
          <a:stretch/>
        </p:blipFill>
        <p:spPr>
          <a:xfrm>
            <a:off x="1091381" y="365125"/>
            <a:ext cx="10262419" cy="565871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54" name="Google Shape;354;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55" name="Google Shape;355;p38"/>
          <p:cNvPicPr preferRelativeResize="0"/>
          <p:nvPr/>
        </p:nvPicPr>
        <p:blipFill rotWithShape="1">
          <a:blip r:embed="rId3">
            <a:alphaModFix/>
          </a:blip>
          <a:srcRect/>
          <a:stretch/>
        </p:blipFill>
        <p:spPr>
          <a:xfrm>
            <a:off x="1801758" y="738907"/>
            <a:ext cx="8588484" cy="538018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61" name="Google Shape;361;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62" name="Google Shape;362;p39"/>
          <p:cNvPicPr preferRelativeResize="0"/>
          <p:nvPr/>
        </p:nvPicPr>
        <p:blipFill rotWithShape="1">
          <a:blip r:embed="rId3">
            <a:alphaModFix/>
          </a:blip>
          <a:srcRect/>
          <a:stretch/>
        </p:blipFill>
        <p:spPr>
          <a:xfrm>
            <a:off x="1916068" y="811303"/>
            <a:ext cx="8359864" cy="523539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68" name="Google Shape;368;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69" name="Google Shape;369;p40"/>
          <p:cNvPicPr preferRelativeResize="0"/>
          <p:nvPr/>
        </p:nvPicPr>
        <p:blipFill rotWithShape="1">
          <a:blip r:embed="rId3">
            <a:alphaModFix/>
          </a:blip>
          <a:srcRect/>
          <a:stretch/>
        </p:blipFill>
        <p:spPr>
          <a:xfrm>
            <a:off x="1071958" y="153049"/>
            <a:ext cx="9084765" cy="2855622"/>
          </a:xfrm>
          <a:prstGeom prst="rect">
            <a:avLst/>
          </a:prstGeom>
          <a:noFill/>
          <a:ln>
            <a:noFill/>
          </a:ln>
        </p:spPr>
      </p:pic>
      <p:pic>
        <p:nvPicPr>
          <p:cNvPr id="370" name="Google Shape;370;p40"/>
          <p:cNvPicPr preferRelativeResize="0"/>
          <p:nvPr/>
        </p:nvPicPr>
        <p:blipFill rotWithShape="1">
          <a:blip r:embed="rId4">
            <a:alphaModFix/>
          </a:blip>
          <a:srcRect/>
          <a:stretch/>
        </p:blipFill>
        <p:spPr>
          <a:xfrm>
            <a:off x="1071958" y="3008671"/>
            <a:ext cx="9910674" cy="269066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MLE for Bernoulli distribution</a:t>
            </a:r>
            <a:endParaRPr/>
          </a:p>
        </p:txBody>
      </p:sp>
      <p:pic>
        <p:nvPicPr>
          <p:cNvPr id="376" name="Google Shape;376;p41"/>
          <p:cNvPicPr preferRelativeResize="0">
            <a:picLocks noGrp="1"/>
          </p:cNvPicPr>
          <p:nvPr>
            <p:ph type="body" idx="1"/>
          </p:nvPr>
        </p:nvPicPr>
        <p:blipFill rotWithShape="1">
          <a:blip r:embed="rId3">
            <a:alphaModFix/>
          </a:blip>
          <a:srcRect/>
          <a:stretch/>
        </p:blipFill>
        <p:spPr>
          <a:xfrm>
            <a:off x="934064" y="1396181"/>
            <a:ext cx="9370141" cy="528975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82" name="Google Shape;382;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83" name="Google Shape;383;p42"/>
          <p:cNvPicPr preferRelativeResize="0"/>
          <p:nvPr/>
        </p:nvPicPr>
        <p:blipFill rotWithShape="1">
          <a:blip r:embed="rId3">
            <a:alphaModFix/>
          </a:blip>
          <a:srcRect/>
          <a:stretch/>
        </p:blipFill>
        <p:spPr>
          <a:xfrm>
            <a:off x="1238865" y="275303"/>
            <a:ext cx="9714270" cy="590475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89" name="Google Shape;389;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90" name="Google Shape;390;p43"/>
          <p:cNvPicPr preferRelativeResize="0"/>
          <p:nvPr/>
        </p:nvPicPr>
        <p:blipFill rotWithShape="1">
          <a:blip r:embed="rId3">
            <a:alphaModFix/>
          </a:blip>
          <a:srcRect/>
          <a:stretch/>
        </p:blipFill>
        <p:spPr>
          <a:xfrm>
            <a:off x="1142997" y="143909"/>
            <a:ext cx="9731480" cy="1767993"/>
          </a:xfrm>
          <a:prstGeom prst="rect">
            <a:avLst/>
          </a:prstGeom>
          <a:noFill/>
          <a:ln>
            <a:noFill/>
          </a:ln>
        </p:spPr>
      </p:pic>
      <p:pic>
        <p:nvPicPr>
          <p:cNvPr id="391" name="Google Shape;391;p43"/>
          <p:cNvPicPr preferRelativeResize="0"/>
          <p:nvPr/>
        </p:nvPicPr>
        <p:blipFill rotWithShape="1">
          <a:blip r:embed="rId4">
            <a:alphaModFix/>
          </a:blip>
          <a:srcRect/>
          <a:stretch/>
        </p:blipFill>
        <p:spPr>
          <a:xfrm>
            <a:off x="1536553" y="1736917"/>
            <a:ext cx="8352244" cy="1828958"/>
          </a:xfrm>
          <a:prstGeom prst="rect">
            <a:avLst/>
          </a:prstGeom>
          <a:noFill/>
          <a:ln>
            <a:noFill/>
          </a:ln>
        </p:spPr>
      </p:pic>
      <p:pic>
        <p:nvPicPr>
          <p:cNvPr id="392" name="Google Shape;392;p43"/>
          <p:cNvPicPr preferRelativeResize="0"/>
          <p:nvPr/>
        </p:nvPicPr>
        <p:blipFill rotWithShape="1">
          <a:blip r:embed="rId5">
            <a:alphaModFix/>
          </a:blip>
          <a:srcRect/>
          <a:stretch/>
        </p:blipFill>
        <p:spPr>
          <a:xfrm>
            <a:off x="1142997" y="3421966"/>
            <a:ext cx="8131245" cy="32921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Common Estimation Methods</a:t>
            </a:r>
            <a:br>
              <a:rPr lang="en-US"/>
            </a:br>
            <a:endParaRPr/>
          </a:p>
        </p:txBody>
      </p:sp>
      <p:sp>
        <p:nvSpPr>
          <p:cNvPr id="398" name="Google Shape;398;p44"/>
          <p:cNvSpPr txBox="1">
            <a:spLocks noGrp="1"/>
          </p:cNvSpPr>
          <p:nvPr>
            <p:ph type="body" idx="1"/>
          </p:nvPr>
        </p:nvSpPr>
        <p:spPr>
          <a:xfrm>
            <a:off x="838200" y="1170039"/>
            <a:ext cx="10515600" cy="5006924"/>
          </a:xfrm>
          <a:prstGeom prst="rect">
            <a:avLst/>
          </a:prstGeom>
          <a:noFill/>
          <a:ln>
            <a:noFill/>
          </a:ln>
        </p:spPr>
        <p:txBody>
          <a:bodyPr spcFirstLastPara="1" wrap="square" lIns="91425" tIns="45700" rIns="91425" bIns="45700" anchor="t" anchorCtr="0">
            <a:normAutofit fontScale="92500"/>
          </a:bodyPr>
          <a:lstStyle/>
          <a:p>
            <a:pPr marL="228600" lvl="0" indent="-228600" algn="just" rtl="0">
              <a:lnSpc>
                <a:spcPct val="90000"/>
              </a:lnSpc>
              <a:spcBef>
                <a:spcPts val="0"/>
              </a:spcBef>
              <a:spcAft>
                <a:spcPts val="0"/>
              </a:spcAft>
              <a:buClr>
                <a:schemeClr val="dk1"/>
              </a:buClr>
              <a:buSzPct val="100000"/>
              <a:buChar char="•"/>
            </a:pPr>
            <a:r>
              <a:rPr lang="en-US" b="1"/>
              <a:t>Method of Moments: </a:t>
            </a:r>
            <a:r>
              <a:rPr lang="en-US"/>
              <a:t>This technique equates moments (like the mean or variance) calculated from the sample to the corresponding moments of the population, solving the resulting equations to estimate parameters. </a:t>
            </a:r>
            <a:endParaRPr/>
          </a:p>
          <a:p>
            <a:pPr marL="228600" lvl="0" indent="-228600" algn="just" rtl="0">
              <a:lnSpc>
                <a:spcPct val="90000"/>
              </a:lnSpc>
              <a:spcBef>
                <a:spcPts val="1000"/>
              </a:spcBef>
              <a:spcAft>
                <a:spcPts val="0"/>
              </a:spcAft>
              <a:buClr>
                <a:schemeClr val="dk1"/>
              </a:buClr>
              <a:buSzPct val="100000"/>
              <a:buChar char="•"/>
            </a:pPr>
            <a:r>
              <a:rPr lang="en-US" b="1"/>
              <a:t>Maximum Likelihood Estimation </a:t>
            </a:r>
            <a:r>
              <a:rPr lang="en-US"/>
              <a:t>(MLE): MLE finds the parameter values that maximize the probability of observing the given sample data. </a:t>
            </a:r>
            <a:endParaRPr/>
          </a:p>
          <a:p>
            <a:pPr marL="228600" lvl="0" indent="-228600" algn="just" rtl="0">
              <a:lnSpc>
                <a:spcPct val="90000"/>
              </a:lnSpc>
              <a:spcBef>
                <a:spcPts val="1000"/>
              </a:spcBef>
              <a:spcAft>
                <a:spcPts val="0"/>
              </a:spcAft>
              <a:buClr>
                <a:schemeClr val="dk1"/>
              </a:buClr>
              <a:buSzPct val="100000"/>
              <a:buChar char="•"/>
            </a:pPr>
            <a:r>
              <a:rPr lang="en-US" b="1"/>
              <a:t>Least Squares Estimation: </a:t>
            </a:r>
            <a:r>
              <a:rPr lang="en-US"/>
              <a:t>This method finds the parameters that minimize the sum of the squared differences between observed values and those predicted by the model. </a:t>
            </a:r>
            <a:endParaRPr/>
          </a:p>
          <a:p>
            <a:pPr marL="228600" lvl="0" indent="-228600" algn="just" rtl="0">
              <a:lnSpc>
                <a:spcPct val="90000"/>
              </a:lnSpc>
              <a:spcBef>
                <a:spcPts val="1000"/>
              </a:spcBef>
              <a:spcAft>
                <a:spcPts val="0"/>
              </a:spcAft>
              <a:buClr>
                <a:schemeClr val="dk1"/>
              </a:buClr>
              <a:buSzPct val="100000"/>
              <a:buChar char="•"/>
            </a:pPr>
            <a:r>
              <a:rPr lang="en-US" b="1"/>
              <a:t>Bayesian Estimation: </a:t>
            </a:r>
            <a:r>
              <a:rPr lang="en-US"/>
              <a:t>This approach uses a Bayesian perspective to update prior beliefs about parameters in light of observed data, providing an estimate that incorporates both prior information and the likelihood of the data. </a:t>
            </a:r>
            <a:endParaRPr/>
          </a:p>
          <a:p>
            <a:pPr marL="228600" lvl="0" indent="-64135"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Assignment 3 –issued on 30-09-25</a:t>
            </a:r>
            <a:endParaRPr/>
          </a:p>
        </p:txBody>
      </p:sp>
      <p:sp>
        <p:nvSpPr>
          <p:cNvPr id="404" name="Google Shape;404;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lvl="0" indent="-514350" algn="just" rtl="0">
              <a:lnSpc>
                <a:spcPct val="90000"/>
              </a:lnSpc>
              <a:spcBef>
                <a:spcPts val="0"/>
              </a:spcBef>
              <a:spcAft>
                <a:spcPts val="0"/>
              </a:spcAft>
              <a:buClr>
                <a:schemeClr val="dk1"/>
              </a:buClr>
              <a:buSzPts val="2800"/>
              <a:buFont typeface="Calibri"/>
              <a:buAutoNum type="arabicPeriod"/>
            </a:pPr>
            <a:r>
              <a:rPr lang="en-US">
                <a:latin typeface="Times New Roman"/>
                <a:ea typeface="Times New Roman"/>
                <a:cs typeface="Times New Roman"/>
                <a:sym typeface="Times New Roman"/>
              </a:rPr>
              <a:t>Suppose we have a set of data points that we believe are drawn from a normal distribution with unknown mean μ and variance sigma². Our goal is to estimate the parameters μ and sigma² using MLE. find the MLE estimates for the parameters of the normal distribution.</a:t>
            </a:r>
            <a:endParaRPr/>
          </a:p>
          <a:p>
            <a:pPr marL="0" lvl="0" indent="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Submission by 7/10/25.</a:t>
            </a:r>
            <a:endParaRPr/>
          </a:p>
          <a:p>
            <a:pPr marL="0" lvl="0" indent="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2.</a:t>
            </a:r>
            <a:r>
              <a:rPr lang="en-US" b="1"/>
              <a:t> </a:t>
            </a:r>
            <a:r>
              <a:rPr lang="en-US">
                <a:latin typeface="Times New Roman"/>
                <a:ea typeface="Times New Roman"/>
                <a:cs typeface="Times New Roman"/>
                <a:sym typeface="Times New Roman"/>
              </a:rPr>
              <a:t>Differentiate Point estimation vs. interval estimation with examples.</a:t>
            </a:r>
            <a:endParaRPr/>
          </a:p>
          <a:p>
            <a:pPr marL="0" lvl="0" indent="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514350" lvl="0" indent="-336550" algn="just" rtl="0">
              <a:lnSpc>
                <a:spcPct val="90000"/>
              </a:lnSpc>
              <a:spcBef>
                <a:spcPts val="1000"/>
              </a:spcBef>
              <a:spcAft>
                <a:spcPts val="0"/>
              </a:spcAft>
              <a:buClr>
                <a:schemeClr val="dk1"/>
              </a:buClr>
              <a:buSzPts val="2800"/>
              <a:buFont typeface="Calibri"/>
              <a:buNone/>
            </a:pPr>
            <a:endParaRPr>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6"/>
          <p:cNvSpPr txBox="1">
            <a:spLocks noGrp="1"/>
          </p:cNvSpPr>
          <p:nvPr>
            <p:ph type="title"/>
          </p:nvPr>
        </p:nvSpPr>
        <p:spPr>
          <a:xfrm>
            <a:off x="838200" y="365126"/>
            <a:ext cx="10515600" cy="7459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Least Squares Estimation</a:t>
            </a:r>
            <a:endParaRPr/>
          </a:p>
        </p:txBody>
      </p:sp>
      <p:sp>
        <p:nvSpPr>
          <p:cNvPr id="410" name="Google Shape;410;p46"/>
          <p:cNvSpPr txBox="1">
            <a:spLocks noGrp="1"/>
          </p:cNvSpPr>
          <p:nvPr>
            <p:ph type="body" idx="1"/>
          </p:nvPr>
        </p:nvSpPr>
        <p:spPr>
          <a:xfrm>
            <a:off x="838200" y="1356852"/>
            <a:ext cx="10515600" cy="4820111"/>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b="1"/>
              <a:t>Least Squares Estimation: </a:t>
            </a:r>
            <a:r>
              <a:rPr lang="en-US"/>
              <a:t>This method finds the parameters that minimize the sum of the squared differences between observed values and those predicted by the model. </a:t>
            </a:r>
            <a:endParaRPr/>
          </a:p>
          <a:p>
            <a:pPr marL="228600" lvl="0" indent="-228600" algn="just" rtl="0">
              <a:lnSpc>
                <a:spcPct val="90000"/>
              </a:lnSpc>
              <a:spcBef>
                <a:spcPts val="1000"/>
              </a:spcBef>
              <a:spcAft>
                <a:spcPts val="0"/>
              </a:spcAft>
              <a:buClr>
                <a:schemeClr val="dk1"/>
              </a:buClr>
              <a:buSzPts val="2800"/>
              <a:buChar char="•"/>
            </a:pPr>
            <a:r>
              <a:rPr lang="en-US"/>
              <a:t>Least squares estimation is a fundamental method in linear regression for finding the "line of best fit" by minimizing the sum of the squared differences (residuals) between the observed data and the model's predictions. </a:t>
            </a:r>
            <a:endParaRPr/>
          </a:p>
          <a:p>
            <a:pPr marL="228600" lvl="0" indent="-228600" algn="just" rtl="0">
              <a:lnSpc>
                <a:spcPct val="90000"/>
              </a:lnSpc>
              <a:spcBef>
                <a:spcPts val="1000"/>
              </a:spcBef>
              <a:spcAft>
                <a:spcPts val="0"/>
              </a:spcAft>
              <a:buClr>
                <a:schemeClr val="dk1"/>
              </a:buClr>
              <a:buSzPts val="2800"/>
              <a:buChar char="•"/>
            </a:pPr>
            <a:r>
              <a:rPr lang="en-US"/>
              <a:t>It is an optimization technique that provides the coefficients for a linear equation that best describe the relationship between variables in a dataset.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7"/>
          <p:cNvSpPr txBox="1">
            <a:spLocks noGrp="1"/>
          </p:cNvSpPr>
          <p:nvPr>
            <p:ph type="title"/>
          </p:nvPr>
        </p:nvSpPr>
        <p:spPr>
          <a:xfrm>
            <a:off x="838200" y="365125"/>
            <a:ext cx="10515600" cy="48044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How it Works</a:t>
            </a:r>
            <a:br>
              <a:rPr lang="en-US"/>
            </a:br>
            <a:endParaRPr/>
          </a:p>
        </p:txBody>
      </p:sp>
      <p:sp>
        <p:nvSpPr>
          <p:cNvPr id="416" name="Google Shape;416;p47"/>
          <p:cNvSpPr txBox="1">
            <a:spLocks noGrp="1"/>
          </p:cNvSpPr>
          <p:nvPr>
            <p:ph type="body" idx="1"/>
          </p:nvPr>
        </p:nvSpPr>
        <p:spPr>
          <a:xfrm>
            <a:off x="838200" y="845574"/>
            <a:ext cx="10515600" cy="6012426"/>
          </a:xfrm>
          <a:prstGeom prst="rect">
            <a:avLst/>
          </a:prstGeom>
          <a:noFill/>
          <a:ln>
            <a:noFill/>
          </a:ln>
        </p:spPr>
        <p:txBody>
          <a:bodyPr spcFirstLastPara="1" wrap="square" lIns="91425" tIns="45700" rIns="91425" bIns="45700" anchor="t" anchorCtr="0">
            <a:normAutofit fontScale="77500" lnSpcReduction="20000"/>
          </a:bodyPr>
          <a:lstStyle/>
          <a:p>
            <a:pPr marL="0" lvl="0" indent="0" algn="just" rtl="0">
              <a:lnSpc>
                <a:spcPct val="90000"/>
              </a:lnSpc>
              <a:spcBef>
                <a:spcPts val="0"/>
              </a:spcBef>
              <a:spcAft>
                <a:spcPts val="0"/>
              </a:spcAft>
              <a:buClr>
                <a:schemeClr val="dk1"/>
              </a:buClr>
              <a:buSzPct val="100000"/>
              <a:buNone/>
            </a:pPr>
            <a:r>
              <a:rPr lang="en-US" b="1"/>
              <a:t>Model Definition</a:t>
            </a:r>
            <a:r>
              <a:rPr lang="en-US"/>
              <a:t>: </a:t>
            </a:r>
            <a:endParaRPr/>
          </a:p>
          <a:p>
            <a:pPr marL="228600" lvl="0" indent="-228600" algn="just" rtl="0">
              <a:lnSpc>
                <a:spcPct val="90000"/>
              </a:lnSpc>
              <a:spcBef>
                <a:spcPts val="1000"/>
              </a:spcBef>
              <a:spcAft>
                <a:spcPts val="0"/>
              </a:spcAft>
              <a:buClr>
                <a:schemeClr val="dk1"/>
              </a:buClr>
              <a:buSzPct val="100000"/>
              <a:buChar char="•"/>
            </a:pPr>
            <a:r>
              <a:rPr lang="en-US"/>
              <a:t>A linear regression model assumes a linear relationship between a dependent variable (y) and one or more independent variables (x), represented by a line with a certain slope and y-intercept. </a:t>
            </a:r>
            <a:endParaRPr/>
          </a:p>
          <a:p>
            <a:pPr marL="0" lvl="0" indent="0" algn="just" rtl="0">
              <a:lnSpc>
                <a:spcPct val="90000"/>
              </a:lnSpc>
              <a:spcBef>
                <a:spcPts val="1000"/>
              </a:spcBef>
              <a:spcAft>
                <a:spcPts val="0"/>
              </a:spcAft>
              <a:buClr>
                <a:schemeClr val="dk1"/>
              </a:buClr>
              <a:buSzPct val="100000"/>
              <a:buNone/>
            </a:pPr>
            <a:r>
              <a:rPr lang="en-US" b="1"/>
              <a:t>Calculate Residuals</a:t>
            </a:r>
            <a:r>
              <a:rPr lang="en-US"/>
              <a:t>: </a:t>
            </a:r>
            <a:endParaRPr/>
          </a:p>
          <a:p>
            <a:pPr marL="228600" lvl="0" indent="-228600" algn="just" rtl="0">
              <a:lnSpc>
                <a:spcPct val="90000"/>
              </a:lnSpc>
              <a:spcBef>
                <a:spcPts val="1000"/>
              </a:spcBef>
              <a:spcAft>
                <a:spcPts val="0"/>
              </a:spcAft>
              <a:buClr>
                <a:schemeClr val="dk1"/>
              </a:buClr>
              <a:buSzPct val="100000"/>
              <a:buChar char="•"/>
            </a:pPr>
            <a:r>
              <a:rPr lang="en-US"/>
              <a:t>For each data point, the vertical distance (the "residual" or "error") between the actual observed value and the value predicted by the current line is calculated. </a:t>
            </a:r>
            <a:endParaRPr/>
          </a:p>
          <a:p>
            <a:pPr marL="0" lvl="0" indent="0" algn="just" rtl="0">
              <a:lnSpc>
                <a:spcPct val="90000"/>
              </a:lnSpc>
              <a:spcBef>
                <a:spcPts val="1000"/>
              </a:spcBef>
              <a:spcAft>
                <a:spcPts val="0"/>
              </a:spcAft>
              <a:buClr>
                <a:schemeClr val="dk1"/>
              </a:buClr>
              <a:buSzPct val="100000"/>
              <a:buNone/>
            </a:pPr>
            <a:r>
              <a:rPr lang="en-US" b="1"/>
              <a:t>Square the Residuals</a:t>
            </a:r>
            <a:r>
              <a:rPr lang="en-US"/>
              <a:t>: </a:t>
            </a:r>
            <a:endParaRPr/>
          </a:p>
          <a:p>
            <a:pPr marL="228600" lvl="0" indent="-228600" algn="just" rtl="0">
              <a:lnSpc>
                <a:spcPct val="90000"/>
              </a:lnSpc>
              <a:spcBef>
                <a:spcPts val="1000"/>
              </a:spcBef>
              <a:spcAft>
                <a:spcPts val="0"/>
              </a:spcAft>
              <a:buClr>
                <a:schemeClr val="dk1"/>
              </a:buClr>
              <a:buSzPct val="100000"/>
              <a:buChar char="•"/>
            </a:pPr>
            <a:r>
              <a:rPr lang="en-US"/>
              <a:t>These differences are then squared to prevent negative and positive errors from canceling each other out and to penalize larger errors more heavily. </a:t>
            </a:r>
            <a:endParaRPr/>
          </a:p>
          <a:p>
            <a:pPr marL="0" lvl="0" indent="0" algn="just" rtl="0">
              <a:lnSpc>
                <a:spcPct val="90000"/>
              </a:lnSpc>
              <a:spcBef>
                <a:spcPts val="1000"/>
              </a:spcBef>
              <a:spcAft>
                <a:spcPts val="0"/>
              </a:spcAft>
              <a:buClr>
                <a:schemeClr val="dk1"/>
              </a:buClr>
              <a:buSzPct val="100000"/>
              <a:buNone/>
            </a:pPr>
            <a:r>
              <a:rPr lang="en-US" b="1"/>
              <a:t>Minimize the Sum</a:t>
            </a:r>
            <a:r>
              <a:rPr lang="en-US"/>
              <a:t>: </a:t>
            </a:r>
            <a:endParaRPr/>
          </a:p>
          <a:p>
            <a:pPr marL="228600" lvl="0" indent="-228600" algn="just" rtl="0">
              <a:lnSpc>
                <a:spcPct val="90000"/>
              </a:lnSpc>
              <a:spcBef>
                <a:spcPts val="1000"/>
              </a:spcBef>
              <a:spcAft>
                <a:spcPts val="0"/>
              </a:spcAft>
              <a:buClr>
                <a:schemeClr val="dk1"/>
              </a:buClr>
              <a:buSzPct val="100000"/>
              <a:buChar char="•"/>
            </a:pPr>
            <a:r>
              <a:rPr lang="en-US"/>
              <a:t>The goal of the least squares method is to find the specific values for the model's coefficients (like the slope and intercept) that result in the smallest possible sum of these squared residuals. </a:t>
            </a:r>
            <a:endParaRPr/>
          </a:p>
          <a:p>
            <a:pPr marL="0" lvl="0" indent="0" algn="just" rtl="0">
              <a:lnSpc>
                <a:spcPct val="90000"/>
              </a:lnSpc>
              <a:spcBef>
                <a:spcPts val="1000"/>
              </a:spcBef>
              <a:spcAft>
                <a:spcPts val="0"/>
              </a:spcAft>
              <a:buClr>
                <a:schemeClr val="dk1"/>
              </a:buClr>
              <a:buSzPct val="100000"/>
              <a:buNone/>
            </a:pPr>
            <a:r>
              <a:rPr lang="en-US" b="1"/>
              <a:t>Calculus for Solution</a:t>
            </a:r>
            <a:r>
              <a:rPr lang="en-US"/>
              <a:t>: </a:t>
            </a:r>
            <a:endParaRPr/>
          </a:p>
          <a:p>
            <a:pPr marL="228600" lvl="0" indent="-228600" algn="just" rtl="0">
              <a:lnSpc>
                <a:spcPct val="90000"/>
              </a:lnSpc>
              <a:spcBef>
                <a:spcPts val="1000"/>
              </a:spcBef>
              <a:spcAft>
                <a:spcPts val="0"/>
              </a:spcAft>
              <a:buClr>
                <a:schemeClr val="dk1"/>
              </a:buClr>
              <a:buSzPct val="100000"/>
              <a:buChar char="•"/>
            </a:pPr>
            <a:r>
              <a:rPr lang="en-US"/>
              <a:t>this minimization is often achieved by using calculus to find the partial derivatives of the sum of squared errors with respect to the coefficients, which leads to a set of equations (normal equations) that can be solved to find the estimated coefficients. </a:t>
            </a:r>
            <a:endParaRPr/>
          </a:p>
          <a:p>
            <a:pPr marL="228600" lvl="0" indent="-90804"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8"/>
          <p:cNvSpPr/>
          <p:nvPr/>
        </p:nvSpPr>
        <p:spPr>
          <a:xfrm>
            <a:off x="957132" y="1561352"/>
            <a:ext cx="10228319" cy="4401205"/>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Regression in supervised machine learning is a statistical method to model the relationship between a dependent (target/output) and one or more independent (predictor/input) variables </a:t>
            </a:r>
            <a:endParaRPr/>
          </a:p>
          <a:p>
            <a:pPr marL="285750" marR="0" lvl="0" indent="-158750" algn="just" rtl="0">
              <a:spcBef>
                <a:spcPts val="0"/>
              </a:spcBef>
              <a:spcAft>
                <a:spcPts val="0"/>
              </a:spcAft>
              <a:buClr>
                <a:schemeClr val="dk1"/>
              </a:buClr>
              <a:buSzPts val="2000"/>
              <a:buFont typeface="Noto Sans Symbols"/>
              <a:buNone/>
            </a:pPr>
            <a:endParaRPr sz="20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More specifically, regression helps us to understand how the value of the dependent variable is changing corresponding to an independent variable. </a:t>
            </a:r>
            <a:endParaRPr/>
          </a:p>
          <a:p>
            <a:pPr marL="285750" marR="0" lvl="0" indent="-158750" algn="just" rtl="0">
              <a:spcBef>
                <a:spcPts val="0"/>
              </a:spcBef>
              <a:spcAft>
                <a:spcPts val="0"/>
              </a:spcAft>
              <a:buClr>
                <a:schemeClr val="dk1"/>
              </a:buClr>
              <a:buSzPts val="2000"/>
              <a:buFont typeface="Noto Sans Symbols"/>
              <a:buNone/>
            </a:pPr>
            <a:endParaRPr sz="20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It predicts the continuous/real values (such as temperature, age, salary, price, etc.) of output variables.</a:t>
            </a:r>
            <a:endParaRPr/>
          </a:p>
          <a:p>
            <a:pPr marL="285750" marR="0" lvl="0" indent="-158750" algn="just" rtl="0">
              <a:spcBef>
                <a:spcPts val="0"/>
              </a:spcBef>
              <a:spcAft>
                <a:spcPts val="0"/>
              </a:spcAft>
              <a:buClr>
                <a:schemeClr val="dk1"/>
              </a:buClr>
              <a:buSzPts val="2000"/>
              <a:buFont typeface="Noto Sans Symbols"/>
              <a:buNone/>
            </a:pPr>
            <a:endParaRPr sz="20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Regression can be classified into different types based on the number of predictor variables and the nature of the relationship between variables – simple linear regression, multiple linear regression, polynomial regression, etc.</a:t>
            </a:r>
            <a:endParaRPr/>
          </a:p>
          <a:p>
            <a:pPr marL="0" marR="0" lvl="0" indent="0" algn="just" rtl="0">
              <a:spcBef>
                <a:spcPts val="0"/>
              </a:spcBef>
              <a:spcAft>
                <a:spcPts val="0"/>
              </a:spcAft>
              <a:buNone/>
            </a:pPr>
            <a:endParaRPr sz="2000">
              <a:solidFill>
                <a:schemeClr val="dk1"/>
              </a:solidFill>
              <a:latin typeface="Calibri"/>
              <a:ea typeface="Calibri"/>
              <a:cs typeface="Calibri"/>
              <a:sym typeface="Calibri"/>
            </a:endParaRPr>
          </a:p>
        </p:txBody>
      </p:sp>
      <p:sp>
        <p:nvSpPr>
          <p:cNvPr id="422" name="Google Shape;422;p48"/>
          <p:cNvSpPr/>
          <p:nvPr/>
        </p:nvSpPr>
        <p:spPr>
          <a:xfrm>
            <a:off x="4727448" y="603055"/>
            <a:ext cx="202709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70C0"/>
                </a:solidFill>
                <a:latin typeface="Calibri"/>
                <a:ea typeface="Calibri"/>
                <a:cs typeface="Calibri"/>
                <a:sym typeface="Calibri"/>
              </a:rPr>
              <a:t>Regression</a:t>
            </a:r>
            <a:endParaRPr sz="3200" b="1">
              <a:solidFill>
                <a:srgbClr val="0070C0"/>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9"/>
          <p:cNvSpPr txBox="1"/>
          <p:nvPr/>
        </p:nvSpPr>
        <p:spPr>
          <a:xfrm>
            <a:off x="956928" y="1352308"/>
            <a:ext cx="10451805" cy="255454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273239"/>
              </a:buClr>
              <a:buSzPts val="2000"/>
              <a:buFont typeface="Noto Sans Symbols"/>
              <a:buChar char="❑"/>
            </a:pPr>
            <a:r>
              <a:rPr lang="en-US" sz="2000" i="0">
                <a:solidFill>
                  <a:srgbClr val="273239"/>
                </a:solidFill>
                <a:latin typeface="Calibri"/>
                <a:ea typeface="Calibri"/>
                <a:cs typeface="Calibri"/>
                <a:sym typeface="Calibri"/>
              </a:rPr>
              <a:t>It</a:t>
            </a:r>
            <a:r>
              <a:rPr lang="en-US" sz="2000" b="1" i="0">
                <a:solidFill>
                  <a:srgbClr val="273239"/>
                </a:solidFill>
                <a:latin typeface="Calibri"/>
                <a:ea typeface="Calibri"/>
                <a:cs typeface="Calibri"/>
                <a:sym typeface="Calibri"/>
              </a:rPr>
              <a:t> </a:t>
            </a:r>
            <a:r>
              <a:rPr lang="en-US" sz="2000" b="0" i="0">
                <a:solidFill>
                  <a:srgbClr val="273239"/>
                </a:solidFill>
                <a:latin typeface="Calibri"/>
                <a:ea typeface="Calibri"/>
                <a:cs typeface="Calibri"/>
                <a:sym typeface="Calibri"/>
              </a:rPr>
              <a:t>is one of the simplest and most widely used statistical models. Here there is only one independent variable and it is assumed that there is a linear relationship between the independent and dependent variables. This means that the change in the dependent variable is proportional to the change in the independent variables.</a:t>
            </a:r>
            <a:r>
              <a:rPr lang="en-US" sz="2000" b="1" i="0">
                <a:solidFill>
                  <a:srgbClr val="273239"/>
                </a:solidFill>
                <a:latin typeface="Calibri"/>
                <a:ea typeface="Calibri"/>
                <a:cs typeface="Calibri"/>
                <a:sym typeface="Calibri"/>
              </a:rPr>
              <a:t> </a:t>
            </a:r>
            <a:endParaRPr/>
          </a:p>
          <a:p>
            <a:pPr marL="342900" marR="0" lvl="0" indent="-215900" algn="just" rtl="0">
              <a:spcBef>
                <a:spcPts val="0"/>
              </a:spcBef>
              <a:spcAft>
                <a:spcPts val="0"/>
              </a:spcAft>
              <a:buClr>
                <a:schemeClr val="dk1"/>
              </a:buClr>
              <a:buSzPts val="2000"/>
              <a:buFont typeface="Noto Sans Symbols"/>
              <a:buNone/>
            </a:pPr>
            <a:endParaRPr sz="2000" b="1">
              <a:solidFill>
                <a:srgbClr val="273239"/>
              </a:solidFill>
              <a:latin typeface="Calibri"/>
              <a:ea typeface="Calibri"/>
              <a:cs typeface="Calibri"/>
              <a:sym typeface="Calibri"/>
            </a:endParaRPr>
          </a:p>
          <a:p>
            <a:pPr marL="342900" marR="0" lvl="0" indent="-342900" algn="just"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Example: Suppose there is a marketing company A, who does various advertisement every year and get sales on that. The below list shows the advertisement made by the company in the last 5 years and the corresponding sales:</a:t>
            </a:r>
            <a:endParaRPr sz="2000">
              <a:solidFill>
                <a:schemeClr val="dk1"/>
              </a:solidFill>
              <a:latin typeface="Calibri"/>
              <a:ea typeface="Calibri"/>
              <a:cs typeface="Calibri"/>
              <a:sym typeface="Calibri"/>
            </a:endParaRPr>
          </a:p>
        </p:txBody>
      </p:sp>
      <p:pic>
        <p:nvPicPr>
          <p:cNvPr id="428" name="Google Shape;428;p49"/>
          <p:cNvPicPr preferRelativeResize="0"/>
          <p:nvPr/>
        </p:nvPicPr>
        <p:blipFill rotWithShape="1">
          <a:blip r:embed="rId3">
            <a:alphaModFix/>
          </a:blip>
          <a:srcRect b="27819"/>
          <a:stretch/>
        </p:blipFill>
        <p:spPr>
          <a:xfrm>
            <a:off x="4566807" y="4228419"/>
            <a:ext cx="3058385" cy="2146255"/>
          </a:xfrm>
          <a:prstGeom prst="rect">
            <a:avLst/>
          </a:prstGeom>
          <a:noFill/>
          <a:ln>
            <a:noFill/>
          </a:ln>
        </p:spPr>
      </p:pic>
      <p:sp>
        <p:nvSpPr>
          <p:cNvPr id="429" name="Google Shape;429;p49"/>
          <p:cNvSpPr txBox="1"/>
          <p:nvPr/>
        </p:nvSpPr>
        <p:spPr>
          <a:xfrm>
            <a:off x="4284921" y="584364"/>
            <a:ext cx="3955311"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0070C0"/>
                </a:solidFill>
                <a:latin typeface="Calibri"/>
                <a:ea typeface="Calibri"/>
                <a:cs typeface="Calibri"/>
                <a:sym typeface="Calibri"/>
              </a:rPr>
              <a:t>Simple linear regression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0"/>
          <p:cNvSpPr/>
          <p:nvPr/>
        </p:nvSpPr>
        <p:spPr>
          <a:xfrm>
            <a:off x="565233" y="1182231"/>
            <a:ext cx="10912677" cy="2246769"/>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Simple linear regression in Machine Learning is a technique used to understand the relationship between one input (predictor) and output (target) variable. This way it can predict the sales for a particular advertisement cost.</a:t>
            </a:r>
            <a:endParaRPr/>
          </a:p>
          <a:p>
            <a:pPr marL="285750" marR="0" lvl="0" indent="-158750" algn="just" rtl="0">
              <a:spcBef>
                <a:spcPts val="0"/>
              </a:spcBef>
              <a:spcAft>
                <a:spcPts val="0"/>
              </a:spcAft>
              <a:buClr>
                <a:schemeClr val="dk1"/>
              </a:buClr>
              <a:buSzPts val="2000"/>
              <a:buFont typeface="Noto Sans Symbols"/>
              <a:buNone/>
            </a:pPr>
            <a:endParaRPr sz="20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In linear regression analysis, we plot a graph where we try to draw a line that best fits the data points. This line is called the regression line. The idea is to make sure the vertical distances (also called errors or residuals) between each data point and the line are as small as possible.</a:t>
            </a:r>
            <a:endParaRPr/>
          </a:p>
        </p:txBody>
      </p:sp>
      <p:sp>
        <p:nvSpPr>
          <p:cNvPr id="435" name="Google Shape;435;p50"/>
          <p:cNvSpPr/>
          <p:nvPr/>
        </p:nvSpPr>
        <p:spPr>
          <a:xfrm>
            <a:off x="981560" y="4003383"/>
            <a:ext cx="6260869" cy="2246769"/>
          </a:xfrm>
          <a:prstGeom prst="rect">
            <a:avLst/>
          </a:prstGeom>
          <a:noFill/>
          <a:ln w="2857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Calibri"/>
                <a:ea typeface="Calibri"/>
                <a:cs typeface="Calibri"/>
                <a:sym typeface="Calibri"/>
              </a:rPr>
              <a:t>There are infinitely many lines that you could draw through a scatter plot of data points. But regression chooses one special line — the best-fit line - the one that </a:t>
            </a:r>
            <a:r>
              <a:rPr lang="en-US" sz="2000" b="1">
                <a:solidFill>
                  <a:srgbClr val="548135"/>
                </a:solidFill>
                <a:latin typeface="Calibri"/>
                <a:ea typeface="Calibri"/>
                <a:cs typeface="Calibri"/>
                <a:sym typeface="Calibri"/>
              </a:rPr>
              <a:t>minimizes the total squared error</a:t>
            </a:r>
            <a:r>
              <a:rPr lang="en-US" sz="2000">
                <a:solidFill>
                  <a:schemeClr val="dk1"/>
                </a:solidFill>
                <a:latin typeface="Calibri"/>
                <a:ea typeface="Calibri"/>
                <a:cs typeface="Calibri"/>
                <a:sym typeface="Calibri"/>
              </a:rPr>
              <a:t>, where the error is the vertical distance between each data point and the line.</a:t>
            </a:r>
            <a:endParaRPr/>
          </a:p>
          <a:p>
            <a:pPr marL="0" marR="0" lvl="0" indent="0" algn="just" rtl="0">
              <a:spcBef>
                <a:spcPts val="0"/>
              </a:spcBef>
              <a:spcAft>
                <a:spcPts val="0"/>
              </a:spcAft>
              <a:buNone/>
            </a:pPr>
            <a:endParaRPr sz="2000">
              <a:solidFill>
                <a:schemeClr val="dk1"/>
              </a:solidFill>
              <a:latin typeface="Calibri"/>
              <a:ea typeface="Calibri"/>
              <a:cs typeface="Calibri"/>
              <a:sym typeface="Calibri"/>
            </a:endParaRPr>
          </a:p>
          <a:p>
            <a:pPr marL="0" marR="0" lvl="0" indent="0" algn="just" rtl="0">
              <a:spcBef>
                <a:spcPts val="0"/>
              </a:spcBef>
              <a:spcAft>
                <a:spcPts val="0"/>
              </a:spcAft>
              <a:buNone/>
            </a:pPr>
            <a:r>
              <a:rPr lang="en-US" sz="2000">
                <a:solidFill>
                  <a:schemeClr val="dk1"/>
                </a:solidFill>
                <a:latin typeface="Calibri"/>
                <a:ea typeface="Calibri"/>
                <a:cs typeface="Calibri"/>
                <a:sym typeface="Calibri"/>
              </a:rPr>
              <a:t>This is usually done using a method called </a:t>
            </a:r>
            <a:r>
              <a:rPr lang="en-US" sz="2000" b="1">
                <a:solidFill>
                  <a:srgbClr val="548135"/>
                </a:solidFill>
                <a:latin typeface="Calibri"/>
                <a:ea typeface="Calibri"/>
                <a:cs typeface="Calibri"/>
                <a:sym typeface="Calibri"/>
              </a:rPr>
              <a:t>Least Squares</a:t>
            </a:r>
            <a:r>
              <a:rPr lang="en-US" sz="2000">
                <a:solidFill>
                  <a:srgbClr val="548135"/>
                </a:solidFill>
                <a:latin typeface="Calibri"/>
                <a:ea typeface="Calibri"/>
                <a:cs typeface="Calibri"/>
                <a:sym typeface="Calibri"/>
              </a:rPr>
              <a:t>.</a:t>
            </a:r>
            <a:endParaRPr sz="2000">
              <a:solidFill>
                <a:srgbClr val="548135"/>
              </a:solidFill>
              <a:latin typeface="Calibri"/>
              <a:ea typeface="Calibri"/>
              <a:cs typeface="Calibri"/>
              <a:sym typeface="Calibri"/>
            </a:endParaRPr>
          </a:p>
        </p:txBody>
      </p:sp>
      <p:pic>
        <p:nvPicPr>
          <p:cNvPr id="436" name="Google Shape;436;p50"/>
          <p:cNvPicPr preferRelativeResize="0"/>
          <p:nvPr/>
        </p:nvPicPr>
        <p:blipFill rotWithShape="1">
          <a:blip r:embed="rId3">
            <a:alphaModFix/>
          </a:blip>
          <a:srcRect/>
          <a:stretch/>
        </p:blipFill>
        <p:spPr>
          <a:xfrm>
            <a:off x="7499268" y="3627134"/>
            <a:ext cx="4313504" cy="3230866"/>
          </a:xfrm>
          <a:prstGeom prst="rect">
            <a:avLst/>
          </a:prstGeom>
          <a:noFill/>
          <a:ln>
            <a:noFill/>
          </a:ln>
        </p:spPr>
      </p:pic>
      <p:sp>
        <p:nvSpPr>
          <p:cNvPr id="437" name="Google Shape;437;p50"/>
          <p:cNvSpPr txBox="1"/>
          <p:nvPr/>
        </p:nvSpPr>
        <p:spPr>
          <a:xfrm>
            <a:off x="4118344" y="371820"/>
            <a:ext cx="3955311"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0070C0"/>
                </a:solidFill>
                <a:latin typeface="Calibri"/>
                <a:ea typeface="Calibri"/>
                <a:cs typeface="Calibri"/>
                <a:sym typeface="Calibri"/>
              </a:rPr>
              <a:t>Simple linear regression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1"/>
          <p:cNvSpPr/>
          <p:nvPr/>
        </p:nvSpPr>
        <p:spPr>
          <a:xfrm>
            <a:off x="840378" y="1182231"/>
            <a:ext cx="10511246" cy="2246769"/>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rgbClr val="333333"/>
              </a:buClr>
              <a:buSzPts val="2000"/>
              <a:buFont typeface="Noto Sans Symbols"/>
              <a:buChar char="❑"/>
            </a:pPr>
            <a:r>
              <a:rPr lang="en-US" sz="2000">
                <a:solidFill>
                  <a:srgbClr val="333333"/>
                </a:solidFill>
                <a:latin typeface="Calibri"/>
                <a:ea typeface="Calibri"/>
                <a:cs typeface="Calibri"/>
                <a:sym typeface="Calibri"/>
              </a:rPr>
              <a:t>The least-squares method is a statistical method used to find the line of best fit of the form of an equation such as y = mx + b to the given data.</a:t>
            </a:r>
            <a:endParaRPr/>
          </a:p>
          <a:p>
            <a:pPr marL="285750" marR="0" lvl="0" indent="-158750" algn="just" rtl="0">
              <a:spcBef>
                <a:spcPts val="0"/>
              </a:spcBef>
              <a:spcAft>
                <a:spcPts val="0"/>
              </a:spcAft>
              <a:buClr>
                <a:schemeClr val="dk1"/>
              </a:buClr>
              <a:buSzPts val="2000"/>
              <a:buFont typeface="Noto Sans Symbols"/>
              <a:buNone/>
            </a:pPr>
            <a:endParaRPr sz="2000">
              <a:solidFill>
                <a:srgbClr val="333333"/>
              </a:solidFill>
              <a:latin typeface="Calibri"/>
              <a:ea typeface="Calibri"/>
              <a:cs typeface="Calibri"/>
              <a:sym typeface="Calibri"/>
            </a:endParaRPr>
          </a:p>
          <a:p>
            <a:pPr marL="285750" marR="0" lvl="0" indent="-285750" algn="just" rtl="0">
              <a:spcBef>
                <a:spcPts val="0"/>
              </a:spcBef>
              <a:spcAft>
                <a:spcPts val="0"/>
              </a:spcAft>
              <a:buClr>
                <a:srgbClr val="333333"/>
              </a:buClr>
              <a:buSzPts val="2000"/>
              <a:buFont typeface="Noto Sans Symbols"/>
              <a:buChar char="❑"/>
            </a:pPr>
            <a:r>
              <a:rPr lang="en-US" sz="2000">
                <a:solidFill>
                  <a:srgbClr val="333333"/>
                </a:solidFill>
                <a:latin typeface="Calibri"/>
                <a:ea typeface="Calibri"/>
                <a:cs typeface="Calibri"/>
                <a:sym typeface="Calibri"/>
              </a:rPr>
              <a:t> </a:t>
            </a:r>
            <a:r>
              <a:rPr lang="en-US" sz="2000">
                <a:solidFill>
                  <a:schemeClr val="dk1"/>
                </a:solidFill>
                <a:latin typeface="Calibri"/>
                <a:ea typeface="Calibri"/>
                <a:cs typeface="Calibri"/>
                <a:sym typeface="Calibri"/>
              </a:rPr>
              <a:t>Our main objective in this method is to reduce the sum of the squares of errors as much as possible. This is the reason this method is called the least-squares method.</a:t>
            </a:r>
            <a:endParaRPr/>
          </a:p>
          <a:p>
            <a:pPr marL="285750" marR="0" lvl="0" indent="-158750" algn="just" rtl="0">
              <a:spcBef>
                <a:spcPts val="0"/>
              </a:spcBef>
              <a:spcAft>
                <a:spcPts val="0"/>
              </a:spcAft>
              <a:buClr>
                <a:schemeClr val="dk1"/>
              </a:buClr>
              <a:buSzPts val="2000"/>
              <a:buFont typeface="Noto Sans Symbols"/>
              <a:buNone/>
            </a:pPr>
            <a:endParaRPr sz="20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For just one observation, </a:t>
            </a:r>
            <a:endParaRPr sz="2000">
              <a:solidFill>
                <a:schemeClr val="dk1"/>
              </a:solidFill>
              <a:latin typeface="Calibri"/>
              <a:ea typeface="Calibri"/>
              <a:cs typeface="Calibri"/>
              <a:sym typeface="Calibri"/>
            </a:endParaRPr>
          </a:p>
        </p:txBody>
      </p:sp>
      <p:pic>
        <p:nvPicPr>
          <p:cNvPr id="443" name="Google Shape;443;p51" descr="https://miro.medium.com/v2/resize:fit:313/0*Zzpom5YQ9JsOZIDs.png"/>
          <p:cNvPicPr preferRelativeResize="0"/>
          <p:nvPr/>
        </p:nvPicPr>
        <p:blipFill rotWithShape="1">
          <a:blip r:embed="rId3">
            <a:alphaModFix/>
          </a:blip>
          <a:srcRect/>
          <a:stretch/>
        </p:blipFill>
        <p:spPr>
          <a:xfrm>
            <a:off x="5173511" y="3799269"/>
            <a:ext cx="2152322" cy="302563"/>
          </a:xfrm>
          <a:prstGeom prst="rect">
            <a:avLst/>
          </a:prstGeom>
          <a:noFill/>
          <a:ln>
            <a:noFill/>
          </a:ln>
        </p:spPr>
      </p:pic>
      <p:sp>
        <p:nvSpPr>
          <p:cNvPr id="444" name="Google Shape;444;p51"/>
          <p:cNvSpPr/>
          <p:nvPr/>
        </p:nvSpPr>
        <p:spPr>
          <a:xfrm>
            <a:off x="840377" y="4364127"/>
            <a:ext cx="10511246" cy="1015663"/>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rgbClr val="242424"/>
              </a:buClr>
              <a:buSzPts val="2000"/>
              <a:buFont typeface="Noto Sans Symbols"/>
              <a:buChar char="❑"/>
            </a:pPr>
            <a:r>
              <a:rPr lang="en-US" sz="2000">
                <a:solidFill>
                  <a:srgbClr val="242424"/>
                </a:solidFill>
                <a:latin typeface="Calibri"/>
                <a:ea typeface="Calibri"/>
                <a:cs typeface="Calibri"/>
                <a:sym typeface="Calibri"/>
              </a:rPr>
              <a:t>But this is the error of a single data point; our dataset will have multiple instances, and there will be a separate error term for each instance. Therefore, we can add up all the losses and find the loss of the whole model.</a:t>
            </a:r>
            <a:endParaRPr sz="2000">
              <a:solidFill>
                <a:schemeClr val="dk1"/>
              </a:solidFill>
              <a:latin typeface="Calibri"/>
              <a:ea typeface="Calibri"/>
              <a:cs typeface="Calibri"/>
              <a:sym typeface="Calibri"/>
            </a:endParaRPr>
          </a:p>
        </p:txBody>
      </p:sp>
      <p:pic>
        <p:nvPicPr>
          <p:cNvPr id="445" name="Google Shape;445;p51" descr="https://miro.medium.com/v2/resize:fit:397/0*IrMqxKZi92rparwQ.png"/>
          <p:cNvPicPr preferRelativeResize="0"/>
          <p:nvPr/>
        </p:nvPicPr>
        <p:blipFill rotWithShape="1">
          <a:blip r:embed="rId4">
            <a:alphaModFix/>
          </a:blip>
          <a:srcRect/>
          <a:stretch/>
        </p:blipFill>
        <p:spPr>
          <a:xfrm>
            <a:off x="5080481" y="5615373"/>
            <a:ext cx="2570798" cy="310826"/>
          </a:xfrm>
          <a:prstGeom prst="rect">
            <a:avLst/>
          </a:prstGeom>
          <a:noFill/>
          <a:ln>
            <a:noFill/>
          </a:ln>
        </p:spPr>
      </p:pic>
      <p:sp>
        <p:nvSpPr>
          <p:cNvPr id="446" name="Google Shape;446;p51"/>
          <p:cNvSpPr txBox="1"/>
          <p:nvPr/>
        </p:nvSpPr>
        <p:spPr>
          <a:xfrm>
            <a:off x="3936353" y="473877"/>
            <a:ext cx="3827721"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0070C0"/>
                </a:solidFill>
                <a:latin typeface="Calibri"/>
                <a:ea typeface="Calibri"/>
                <a:cs typeface="Calibri"/>
                <a:sym typeface="Calibri"/>
              </a:rPr>
              <a:t>Simple linear regression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pic>
        <p:nvPicPr>
          <p:cNvPr id="451" name="Google Shape;451;p52"/>
          <p:cNvPicPr preferRelativeResize="0"/>
          <p:nvPr/>
        </p:nvPicPr>
        <p:blipFill rotWithShape="1">
          <a:blip r:embed="rId3">
            <a:alphaModFix/>
          </a:blip>
          <a:srcRect/>
          <a:stretch/>
        </p:blipFill>
        <p:spPr>
          <a:xfrm>
            <a:off x="3925924" y="1493912"/>
            <a:ext cx="2596411" cy="316034"/>
          </a:xfrm>
          <a:prstGeom prst="rect">
            <a:avLst/>
          </a:prstGeom>
          <a:noFill/>
          <a:ln>
            <a:noFill/>
          </a:ln>
        </p:spPr>
      </p:pic>
      <p:sp>
        <p:nvSpPr>
          <p:cNvPr id="452" name="Google Shape;452;p52"/>
          <p:cNvSpPr txBox="1"/>
          <p:nvPr/>
        </p:nvSpPr>
        <p:spPr>
          <a:xfrm>
            <a:off x="1031358" y="733646"/>
            <a:ext cx="8676168" cy="40011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The final error term is square of the error over all data points or observations </a:t>
            </a:r>
            <a:endParaRPr/>
          </a:p>
        </p:txBody>
      </p:sp>
      <p:pic>
        <p:nvPicPr>
          <p:cNvPr id="453" name="Google Shape;453;p52"/>
          <p:cNvPicPr preferRelativeResize="0"/>
          <p:nvPr/>
        </p:nvPicPr>
        <p:blipFill rotWithShape="1">
          <a:blip r:embed="rId4">
            <a:alphaModFix/>
          </a:blip>
          <a:srcRect/>
          <a:stretch/>
        </p:blipFill>
        <p:spPr>
          <a:xfrm>
            <a:off x="3561907" y="2231284"/>
            <a:ext cx="3763925" cy="321914"/>
          </a:xfrm>
          <a:prstGeom prst="rect">
            <a:avLst/>
          </a:prstGeom>
          <a:noFill/>
          <a:ln>
            <a:noFill/>
          </a:ln>
        </p:spPr>
      </p:pic>
      <p:sp>
        <p:nvSpPr>
          <p:cNvPr id="454" name="Google Shape;454;p52"/>
          <p:cNvSpPr txBox="1"/>
          <p:nvPr/>
        </p:nvSpPr>
        <p:spPr>
          <a:xfrm>
            <a:off x="1145657" y="2974536"/>
            <a:ext cx="10294975" cy="1938992"/>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rgbClr val="242424"/>
              </a:buClr>
              <a:buSzPts val="2000"/>
              <a:buFont typeface="Noto Sans Symbols"/>
              <a:buChar char="❑"/>
            </a:pPr>
            <a:r>
              <a:rPr lang="en-US" sz="2000" i="0" u="none" strike="noStrike" cap="none">
                <a:solidFill>
                  <a:srgbClr val="242424"/>
                </a:solidFill>
                <a:latin typeface="Calibri"/>
                <a:ea typeface="Calibri"/>
                <a:cs typeface="Calibri"/>
                <a:sym typeface="Calibri"/>
              </a:rPr>
              <a:t>Now we need to differentiate the Error term with respect to the slope (m) as well as with respect to the intercept (c). And then, by equating the resulting equation to zero, we can find an expression for both slope and intercept.</a:t>
            </a:r>
            <a:endParaRPr/>
          </a:p>
          <a:p>
            <a:pPr marL="0" marR="0" lvl="0" indent="0" algn="just" rtl="0">
              <a:lnSpc>
                <a:spcPct val="100000"/>
              </a:lnSpc>
              <a:spcBef>
                <a:spcPts val="0"/>
              </a:spcBef>
              <a:spcAft>
                <a:spcPts val="0"/>
              </a:spcAft>
              <a:buNone/>
            </a:pPr>
            <a:endParaRPr sz="2000" i="0" u="none" strike="noStrike" cap="none">
              <a:solidFill>
                <a:schemeClr val="dk1"/>
              </a:solidFill>
              <a:latin typeface="Calibri"/>
              <a:ea typeface="Calibri"/>
              <a:cs typeface="Calibri"/>
              <a:sym typeface="Calibri"/>
            </a:endParaRPr>
          </a:p>
          <a:p>
            <a:pPr marL="342900" marR="0" lvl="0" indent="-342900" algn="just" rtl="0">
              <a:lnSpc>
                <a:spcPct val="100000"/>
              </a:lnSpc>
              <a:spcBef>
                <a:spcPts val="0"/>
              </a:spcBef>
              <a:spcAft>
                <a:spcPts val="0"/>
              </a:spcAft>
              <a:buClr>
                <a:srgbClr val="242424"/>
              </a:buClr>
              <a:buSzPts val="2000"/>
              <a:buFont typeface="Noto Sans Symbols"/>
              <a:buChar char="❑"/>
            </a:pPr>
            <a:r>
              <a:rPr lang="en-US" sz="2000" i="0" u="none" strike="noStrike" cap="none">
                <a:solidFill>
                  <a:srgbClr val="242424"/>
                </a:solidFill>
                <a:latin typeface="Calibri"/>
                <a:ea typeface="Calibri"/>
                <a:cs typeface="Calibri"/>
                <a:sym typeface="Calibri"/>
              </a:rPr>
              <a:t>The Final output comes out as this:</a:t>
            </a:r>
            <a:endParaRPr sz="200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None/>
            </a:pPr>
            <a:r>
              <a:rPr lang="en-US" sz="2000" i="0" u="none" strike="noStrike" cap="none">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pic>
        <p:nvPicPr>
          <p:cNvPr id="455" name="Google Shape;455;p52"/>
          <p:cNvPicPr preferRelativeResize="0"/>
          <p:nvPr/>
        </p:nvPicPr>
        <p:blipFill rotWithShape="1">
          <a:blip r:embed="rId5">
            <a:alphaModFix/>
          </a:blip>
          <a:srcRect/>
          <a:stretch/>
        </p:blipFill>
        <p:spPr>
          <a:xfrm>
            <a:off x="7978986" y="5053007"/>
            <a:ext cx="3296110" cy="1371791"/>
          </a:xfrm>
          <a:prstGeom prst="rect">
            <a:avLst/>
          </a:prstGeom>
          <a:noFill/>
          <a:ln>
            <a:noFill/>
          </a:ln>
        </p:spPr>
      </p:pic>
      <p:pic>
        <p:nvPicPr>
          <p:cNvPr id="456" name="Google Shape;456;p52"/>
          <p:cNvPicPr preferRelativeResize="0"/>
          <p:nvPr/>
        </p:nvPicPr>
        <p:blipFill rotWithShape="1">
          <a:blip r:embed="rId6">
            <a:alphaModFix/>
          </a:blip>
          <a:srcRect/>
          <a:stretch/>
        </p:blipFill>
        <p:spPr>
          <a:xfrm>
            <a:off x="1712608" y="4553726"/>
            <a:ext cx="4896533" cy="2200582"/>
          </a:xfrm>
          <a:prstGeom prst="rect">
            <a:avLst/>
          </a:prstGeom>
          <a:noFill/>
          <a:ln>
            <a:noFill/>
          </a:ln>
        </p:spPr>
      </p:pic>
      <p:sp>
        <p:nvSpPr>
          <p:cNvPr id="457" name="Google Shape;457;p52"/>
          <p:cNvSpPr txBox="1"/>
          <p:nvPr/>
        </p:nvSpPr>
        <p:spPr>
          <a:xfrm>
            <a:off x="8436793" y="4369060"/>
            <a:ext cx="25414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Or u can simply write as: </a:t>
            </a:r>
            <a:endParaRPr/>
          </a:p>
        </p:txBody>
      </p:sp>
      <p:sp>
        <p:nvSpPr>
          <p:cNvPr id="458" name="Google Shape;458;p52"/>
          <p:cNvSpPr txBox="1"/>
          <p:nvPr/>
        </p:nvSpPr>
        <p:spPr>
          <a:xfrm>
            <a:off x="4203404" y="111880"/>
            <a:ext cx="3955311"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0070C0"/>
                </a:solidFill>
                <a:latin typeface="Calibri"/>
                <a:ea typeface="Calibri"/>
                <a:cs typeface="Calibri"/>
                <a:sym typeface="Calibri"/>
              </a:rPr>
              <a:t>Simple linear regression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3"/>
          <p:cNvSpPr txBox="1"/>
          <p:nvPr/>
        </p:nvSpPr>
        <p:spPr>
          <a:xfrm>
            <a:off x="1247996" y="1404349"/>
            <a:ext cx="10029160" cy="1631216"/>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242424"/>
              </a:buClr>
              <a:buSzPts val="2000"/>
              <a:buFont typeface="Noto Sans Symbols"/>
              <a:buChar char="❑"/>
            </a:pPr>
            <a:r>
              <a:rPr lang="en-US" sz="2000" i="0">
                <a:solidFill>
                  <a:srgbClr val="242424"/>
                </a:solidFill>
                <a:latin typeface="Arial"/>
                <a:ea typeface="Arial"/>
                <a:cs typeface="Arial"/>
                <a:sym typeface="Arial"/>
              </a:rPr>
              <a:t>The value “m” is the Slope, and “c” is the Intercept of the regression line. By establishing these two values, we have completed our regression model.</a:t>
            </a:r>
            <a:endParaRPr/>
          </a:p>
          <a:p>
            <a:pPr marL="342900" marR="0" lvl="0" indent="-215900" algn="just" rtl="0">
              <a:spcBef>
                <a:spcPts val="0"/>
              </a:spcBef>
              <a:spcAft>
                <a:spcPts val="0"/>
              </a:spcAft>
              <a:buClr>
                <a:schemeClr val="dk1"/>
              </a:buClr>
              <a:buSzPts val="2000"/>
              <a:buFont typeface="Noto Sans Symbols"/>
              <a:buNone/>
            </a:pPr>
            <a:endParaRPr sz="2000">
              <a:solidFill>
                <a:srgbClr val="242424"/>
              </a:solidFill>
              <a:latin typeface="Arial"/>
              <a:ea typeface="Arial"/>
              <a:cs typeface="Arial"/>
              <a:sym typeface="Arial"/>
            </a:endParaRPr>
          </a:p>
          <a:p>
            <a:pPr marL="342900" marR="0" lvl="0" indent="-342900" algn="just" rtl="0">
              <a:spcBef>
                <a:spcPts val="0"/>
              </a:spcBef>
              <a:spcAft>
                <a:spcPts val="0"/>
              </a:spcAft>
              <a:buClr>
                <a:srgbClr val="242424"/>
              </a:buClr>
              <a:buSzPts val="2000"/>
              <a:buFont typeface="Noto Sans Symbols"/>
              <a:buChar char="❑"/>
            </a:pPr>
            <a:r>
              <a:rPr lang="en-US" sz="2000">
                <a:solidFill>
                  <a:srgbClr val="242424"/>
                </a:solidFill>
                <a:latin typeface="Arial"/>
                <a:ea typeface="Arial"/>
                <a:cs typeface="Arial"/>
                <a:sym typeface="Arial"/>
              </a:rPr>
              <a:t>The above is called simple linear regression because the output or dependent variable depends on only one input or independent variable</a:t>
            </a:r>
            <a:endParaRPr sz="2000">
              <a:solidFill>
                <a:schemeClr val="dk1"/>
              </a:solidFill>
              <a:latin typeface="Calibri"/>
              <a:ea typeface="Calibri"/>
              <a:cs typeface="Calibri"/>
              <a:sym typeface="Calibri"/>
            </a:endParaRPr>
          </a:p>
        </p:txBody>
      </p:sp>
      <p:sp>
        <p:nvSpPr>
          <p:cNvPr id="464" name="Google Shape;464;p53"/>
          <p:cNvSpPr txBox="1"/>
          <p:nvPr/>
        </p:nvSpPr>
        <p:spPr>
          <a:xfrm>
            <a:off x="4284921" y="584364"/>
            <a:ext cx="3955311"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0070C0"/>
                </a:solidFill>
                <a:latin typeface="Calibri"/>
                <a:ea typeface="Calibri"/>
                <a:cs typeface="Calibri"/>
                <a:sym typeface="Calibri"/>
              </a:rPr>
              <a:t>Simple linear regression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4"/>
          <p:cNvSpPr txBox="1"/>
          <p:nvPr/>
        </p:nvSpPr>
        <p:spPr>
          <a:xfrm>
            <a:off x="943196" y="1159524"/>
            <a:ext cx="10305607" cy="132343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2000"/>
              <a:buFont typeface="Calibri"/>
              <a:buNone/>
            </a:pPr>
            <a:r>
              <a:rPr lang="en-US" sz="2000" b="1">
                <a:solidFill>
                  <a:schemeClr val="dk1"/>
                </a:solidFill>
                <a:latin typeface="Calibri"/>
                <a:ea typeface="Calibri"/>
                <a:cs typeface="Calibri"/>
                <a:sym typeface="Calibri"/>
              </a:rPr>
              <a:t>Real-Life Example: Predicting Salary Based on Years of Experience</a:t>
            </a:r>
            <a:endParaRPr/>
          </a:p>
          <a:p>
            <a:pPr marL="0" marR="0" lvl="0" indent="0" algn="just" rtl="0">
              <a:spcBef>
                <a:spcPts val="0"/>
              </a:spcBef>
              <a:spcAft>
                <a:spcPts val="0"/>
              </a:spcAft>
              <a:buClr>
                <a:schemeClr val="dk1"/>
              </a:buClr>
              <a:buSzPts val="2000"/>
              <a:buFont typeface="Calibri"/>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Suppose you work in HR and want to predict an employee’s salary based on their years of experience.</a:t>
            </a:r>
            <a:endParaRPr/>
          </a:p>
        </p:txBody>
      </p:sp>
      <p:graphicFrame>
        <p:nvGraphicFramePr>
          <p:cNvPr id="470" name="Google Shape;470;p54"/>
          <p:cNvGraphicFramePr/>
          <p:nvPr/>
        </p:nvGraphicFramePr>
        <p:xfrm>
          <a:off x="4086446" y="2790787"/>
          <a:ext cx="4019100" cy="3017580"/>
        </p:xfrm>
        <a:graphic>
          <a:graphicData uri="http://schemas.openxmlformats.org/drawingml/2006/table">
            <a:tbl>
              <a:tblPr>
                <a:noFill/>
                <a:tableStyleId>{5137B77B-4F06-4096-9CB8-DE4C9E06CF24}</a:tableStyleId>
              </a:tblPr>
              <a:tblGrid>
                <a:gridCol w="2009550">
                  <a:extLst>
                    <a:ext uri="{9D8B030D-6E8A-4147-A177-3AD203B41FA5}">
                      <a16:colId xmlns:a16="http://schemas.microsoft.com/office/drawing/2014/main" val="20000"/>
                    </a:ext>
                  </a:extLst>
                </a:gridCol>
                <a:gridCol w="2009550">
                  <a:extLst>
                    <a:ext uri="{9D8B030D-6E8A-4147-A177-3AD203B41FA5}">
                      <a16:colId xmlns:a16="http://schemas.microsoft.com/office/drawing/2014/main" val="20001"/>
                    </a:ext>
                  </a:extLst>
                </a:gridCol>
              </a:tblGrid>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Years of Experience (X)</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9CC2E5"/>
                    </a:solidFill>
                  </a:tcPr>
                </a:tc>
                <a:tc>
                  <a:txBody>
                    <a:bodyPr/>
                    <a:lstStyle/>
                    <a:p>
                      <a:pPr marL="0" marR="0" lvl="0" indent="0" algn="ctr" rtl="0">
                        <a:spcBef>
                          <a:spcPts val="0"/>
                        </a:spcBef>
                        <a:spcAft>
                          <a:spcPts val="0"/>
                        </a:spcAft>
                        <a:buClr>
                          <a:schemeClr val="dk1"/>
                        </a:buClr>
                        <a:buSzPts val="1800"/>
                        <a:buFont typeface="Calibri"/>
                        <a:buNone/>
                      </a:pPr>
                      <a:endParaRPr sz="1800" u="none" strike="noStrike" cap="none"/>
                    </a:p>
                    <a:p>
                      <a:pPr marL="0" marR="0" lvl="0" indent="0" algn="ctr" rtl="0">
                        <a:spcBef>
                          <a:spcPts val="0"/>
                        </a:spcBef>
                        <a:spcAft>
                          <a:spcPts val="0"/>
                        </a:spcAft>
                        <a:buClr>
                          <a:schemeClr val="dk1"/>
                        </a:buClr>
                        <a:buSzPts val="1800"/>
                        <a:buFont typeface="Calibri"/>
                        <a:buNone/>
                      </a:pPr>
                      <a:r>
                        <a:rPr lang="en-US" sz="1800" u="none" strike="noStrike" cap="none"/>
                        <a:t>Salary (in ₹ lakhs) (Y)</a:t>
                      </a:r>
                      <a:endParaRPr/>
                    </a:p>
                    <a:p>
                      <a:pPr marL="0" marR="0" lvl="0" indent="0" algn="ctr" rtl="0">
                        <a:spcBef>
                          <a:spcPts val="0"/>
                        </a:spcBef>
                        <a:spcAft>
                          <a:spcPts val="0"/>
                        </a:spcAft>
                        <a:buClr>
                          <a:schemeClr val="dk1"/>
                        </a:buClr>
                        <a:buSzPts val="1800"/>
                        <a:buFont typeface="Calibri"/>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9CC2E5"/>
                    </a:solidFill>
                  </a:tcP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2.5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3.0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4.0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extLst>
                  <a:ext uri="{0D108BD9-81ED-4DB2-BD59-A6C34878D82A}">
                    <a16:rowId xmlns:a16="http://schemas.microsoft.com/office/drawing/2014/main" val="10003"/>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4.5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extLst>
                  <a:ext uri="{0D108BD9-81ED-4DB2-BD59-A6C34878D82A}">
                    <a16:rowId xmlns:a16="http://schemas.microsoft.com/office/drawing/2014/main" val="10004"/>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5.0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DEAF6"/>
                    </a:solidFill>
                  </a:tcPr>
                </a:tc>
                <a:extLst>
                  <a:ext uri="{0D108BD9-81ED-4DB2-BD59-A6C34878D82A}">
                    <a16:rowId xmlns:a16="http://schemas.microsoft.com/office/drawing/2014/main" val="10005"/>
                  </a:ext>
                </a:extLst>
              </a:tr>
            </a:tbl>
          </a:graphicData>
        </a:graphic>
      </p:graphicFrame>
      <p:sp>
        <p:nvSpPr>
          <p:cNvPr id="471" name="Google Shape;471;p54"/>
          <p:cNvSpPr txBox="1"/>
          <p:nvPr/>
        </p:nvSpPr>
        <p:spPr>
          <a:xfrm>
            <a:off x="4231758" y="482392"/>
            <a:ext cx="3955311"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0070C0"/>
                </a:solidFill>
                <a:latin typeface="Calibri"/>
                <a:ea typeface="Calibri"/>
                <a:cs typeface="Calibri"/>
                <a:sym typeface="Calibri"/>
              </a:rPr>
              <a:t>Simple linear regression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graphicFrame>
        <p:nvGraphicFramePr>
          <p:cNvPr id="476" name="Google Shape;476;p55"/>
          <p:cNvGraphicFramePr/>
          <p:nvPr/>
        </p:nvGraphicFramePr>
        <p:xfrm>
          <a:off x="2294860" y="1289730"/>
          <a:ext cx="7602300" cy="2926160"/>
        </p:xfrm>
        <a:graphic>
          <a:graphicData uri="http://schemas.openxmlformats.org/drawingml/2006/table">
            <a:tbl>
              <a:tblPr>
                <a:noFill/>
                <a:tableStyleId>{5137B77B-4F06-4096-9CB8-DE4C9E06CF24}</a:tableStyleId>
              </a:tblPr>
              <a:tblGrid>
                <a:gridCol w="1900575">
                  <a:extLst>
                    <a:ext uri="{9D8B030D-6E8A-4147-A177-3AD203B41FA5}">
                      <a16:colId xmlns:a16="http://schemas.microsoft.com/office/drawing/2014/main" val="20000"/>
                    </a:ext>
                  </a:extLst>
                </a:gridCol>
                <a:gridCol w="1900575">
                  <a:extLst>
                    <a:ext uri="{9D8B030D-6E8A-4147-A177-3AD203B41FA5}">
                      <a16:colId xmlns:a16="http://schemas.microsoft.com/office/drawing/2014/main" val="20001"/>
                    </a:ext>
                  </a:extLst>
                </a:gridCol>
                <a:gridCol w="1900575">
                  <a:extLst>
                    <a:ext uri="{9D8B030D-6E8A-4147-A177-3AD203B41FA5}">
                      <a16:colId xmlns:a16="http://schemas.microsoft.com/office/drawing/2014/main" val="20002"/>
                    </a:ext>
                  </a:extLst>
                </a:gridCol>
                <a:gridCol w="1900575">
                  <a:extLst>
                    <a:ext uri="{9D8B030D-6E8A-4147-A177-3AD203B41FA5}">
                      <a16:colId xmlns:a16="http://schemas.microsoft.com/office/drawing/2014/main" val="20003"/>
                    </a:ext>
                  </a:extLst>
                </a:gridCol>
              </a:tblGrid>
              <a:tr h="228600">
                <a:tc>
                  <a:txBody>
                    <a:bodyPr/>
                    <a:lstStyle/>
                    <a:p>
                      <a:pPr marL="0" marR="0" lvl="0" indent="0" algn="ctr" rtl="0">
                        <a:spcBef>
                          <a:spcPts val="0"/>
                        </a:spcBef>
                        <a:spcAft>
                          <a:spcPts val="0"/>
                        </a:spcAft>
                        <a:buClr>
                          <a:schemeClr val="dk1"/>
                        </a:buClr>
                        <a:buSzPts val="1800"/>
                        <a:buFont typeface="Calibri"/>
                        <a:buNone/>
                      </a:pPr>
                      <a:r>
                        <a:rPr lang="en-US" sz="1800" b="1" u="none" strike="noStrike" cap="none"/>
                        <a:t>X</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9CC2E5"/>
                    </a:solidFill>
                  </a:tcPr>
                </a:tc>
                <a:tc>
                  <a:txBody>
                    <a:bodyPr/>
                    <a:lstStyle/>
                    <a:p>
                      <a:pPr marL="0" marR="0" lvl="0" indent="0" algn="ctr" rtl="0">
                        <a:spcBef>
                          <a:spcPts val="0"/>
                        </a:spcBef>
                        <a:spcAft>
                          <a:spcPts val="0"/>
                        </a:spcAft>
                        <a:buClr>
                          <a:schemeClr val="dk1"/>
                        </a:buClr>
                        <a:buSzPts val="1800"/>
                        <a:buFont typeface="Calibri"/>
                        <a:buNone/>
                      </a:pPr>
                      <a:r>
                        <a:rPr lang="en-US" sz="1800" b="1" u="none" strike="noStrike" cap="none"/>
                        <a:t>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9CC2E5"/>
                    </a:solidFill>
                  </a:tcPr>
                </a:tc>
                <a:tc>
                  <a:txBody>
                    <a:bodyPr/>
                    <a:lstStyle/>
                    <a:p>
                      <a:pPr marL="0" marR="0" lvl="0" indent="0" algn="ctr" rtl="0">
                        <a:spcBef>
                          <a:spcPts val="0"/>
                        </a:spcBef>
                        <a:spcAft>
                          <a:spcPts val="0"/>
                        </a:spcAft>
                        <a:buClr>
                          <a:schemeClr val="dk1"/>
                        </a:buClr>
                        <a:buSzPts val="1800"/>
                        <a:buFont typeface="Calibri"/>
                        <a:buNone/>
                      </a:pPr>
                      <a:r>
                        <a:rPr lang="en-US" sz="1800" b="1" u="none" strike="noStrike" cap="none"/>
                        <a:t>XY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9CC2E5"/>
                    </a:solidFill>
                  </a:tcPr>
                </a:tc>
                <a:tc>
                  <a:txBody>
                    <a:bodyPr/>
                    <a:lstStyle/>
                    <a:p>
                      <a:pPr marL="0" marR="0" lvl="0" indent="0" algn="ctr" rtl="0">
                        <a:spcBef>
                          <a:spcPts val="0"/>
                        </a:spcBef>
                        <a:spcAft>
                          <a:spcPts val="0"/>
                        </a:spcAft>
                        <a:buClr>
                          <a:schemeClr val="dk1"/>
                        </a:buClr>
                        <a:buSzPts val="1800"/>
                        <a:buFont typeface="Calibri"/>
                        <a:buNone/>
                      </a:pPr>
                      <a:r>
                        <a:rPr lang="en-US" sz="1800" b="1" u="none" strike="noStrike" cap="none"/>
                        <a:t>X²</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9CC2E5"/>
                    </a:solidFill>
                  </a:tcP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2.5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2.5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3.0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6.0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4.0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12.0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9</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extLst>
                  <a:ext uri="{0D108BD9-81ED-4DB2-BD59-A6C34878D82A}">
                    <a16:rowId xmlns:a16="http://schemas.microsoft.com/office/drawing/2014/main" val="10003"/>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4.5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18.0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16</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extLst>
                  <a:ext uri="{0D108BD9-81ED-4DB2-BD59-A6C34878D82A}">
                    <a16:rowId xmlns:a16="http://schemas.microsoft.com/office/drawing/2014/main" val="10004"/>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5.0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25.0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25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extLst>
                  <a:ext uri="{0D108BD9-81ED-4DB2-BD59-A6C34878D82A}">
                    <a16:rowId xmlns:a16="http://schemas.microsoft.com/office/drawing/2014/main" val="10005"/>
                  </a:ext>
                </a:extLst>
              </a:tr>
              <a:tr h="0">
                <a:tc>
                  <a:txBody>
                    <a:bodyPr/>
                    <a:lstStyle/>
                    <a:p>
                      <a:pPr marL="0" marR="0" lvl="0" indent="0" algn="ctr" rtl="0">
                        <a:spcBef>
                          <a:spcPts val="0"/>
                        </a:spcBef>
                        <a:spcAft>
                          <a:spcPts val="0"/>
                        </a:spcAft>
                        <a:buClr>
                          <a:schemeClr val="dk1"/>
                        </a:buClr>
                        <a:buSzPts val="1800"/>
                        <a:buFont typeface="Calibri"/>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extLst>
                  <a:ext uri="{0D108BD9-81ED-4DB2-BD59-A6C34878D82A}">
                    <a16:rowId xmlns:a16="http://schemas.microsoft.com/office/drawing/2014/main" val="10006"/>
                  </a:ext>
                </a:extLst>
              </a:tr>
              <a:tr h="228600">
                <a:tc>
                  <a:txBody>
                    <a:bodyPr/>
                    <a:lstStyle/>
                    <a:p>
                      <a:pPr marL="0" marR="0" lvl="0" indent="0" algn="ctr" rtl="0">
                        <a:spcBef>
                          <a:spcPts val="0"/>
                        </a:spcBef>
                        <a:spcAft>
                          <a:spcPts val="0"/>
                        </a:spcAft>
                        <a:buClr>
                          <a:schemeClr val="dk1"/>
                        </a:buClr>
                        <a:buSzPts val="1800"/>
                        <a:buFont typeface="Calibri"/>
                        <a:buNone/>
                      </a:pPr>
                      <a:r>
                        <a:rPr lang="en-US" sz="1800" u="none" strike="noStrike" cap="none"/>
                        <a:t>ΣX = 15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ΣY = 19</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ΣXY = 63.5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ΣX² = 55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DEDED"/>
                    </a:solidFill>
                  </a:tcPr>
                </a:tc>
                <a:extLst>
                  <a:ext uri="{0D108BD9-81ED-4DB2-BD59-A6C34878D82A}">
                    <a16:rowId xmlns:a16="http://schemas.microsoft.com/office/drawing/2014/main" val="10007"/>
                  </a:ext>
                </a:extLst>
              </a:tr>
            </a:tbl>
          </a:graphicData>
        </a:graphic>
      </p:graphicFrame>
      <p:pic>
        <p:nvPicPr>
          <p:cNvPr id="477" name="Google Shape;477;p55"/>
          <p:cNvPicPr preferRelativeResize="0"/>
          <p:nvPr/>
        </p:nvPicPr>
        <p:blipFill rotWithShape="1">
          <a:blip r:embed="rId3">
            <a:alphaModFix/>
          </a:blip>
          <a:srcRect/>
          <a:stretch/>
        </p:blipFill>
        <p:spPr>
          <a:xfrm>
            <a:off x="2052073" y="4668028"/>
            <a:ext cx="8087854" cy="1562318"/>
          </a:xfrm>
          <a:prstGeom prst="rect">
            <a:avLst/>
          </a:prstGeom>
          <a:noFill/>
          <a:ln>
            <a:noFill/>
          </a:ln>
        </p:spPr>
      </p:pic>
      <p:sp>
        <p:nvSpPr>
          <p:cNvPr id="478" name="Google Shape;478;p55"/>
          <p:cNvSpPr txBox="1"/>
          <p:nvPr/>
        </p:nvSpPr>
        <p:spPr>
          <a:xfrm>
            <a:off x="4171507" y="444708"/>
            <a:ext cx="3848986"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0070C0"/>
                </a:solidFill>
                <a:latin typeface="Calibri"/>
                <a:ea typeface="Calibri"/>
                <a:cs typeface="Calibri"/>
                <a:sym typeface="Calibri"/>
              </a:rPr>
              <a:t>Simple linear regression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483" name="Google Shape;483;p56"/>
          <p:cNvPicPr preferRelativeResize="0"/>
          <p:nvPr/>
        </p:nvPicPr>
        <p:blipFill rotWithShape="1">
          <a:blip r:embed="rId3">
            <a:alphaModFix/>
          </a:blip>
          <a:srcRect/>
          <a:stretch/>
        </p:blipFill>
        <p:spPr>
          <a:xfrm>
            <a:off x="1463296" y="2802228"/>
            <a:ext cx="5420481" cy="1657581"/>
          </a:xfrm>
          <a:prstGeom prst="rect">
            <a:avLst/>
          </a:prstGeom>
          <a:noFill/>
          <a:ln>
            <a:noFill/>
          </a:ln>
        </p:spPr>
      </p:pic>
      <p:pic>
        <p:nvPicPr>
          <p:cNvPr id="484" name="Google Shape;484;p56"/>
          <p:cNvPicPr preferRelativeResize="0"/>
          <p:nvPr/>
        </p:nvPicPr>
        <p:blipFill rotWithShape="1">
          <a:blip r:embed="rId4">
            <a:alphaModFix/>
          </a:blip>
          <a:srcRect/>
          <a:stretch/>
        </p:blipFill>
        <p:spPr>
          <a:xfrm>
            <a:off x="1590887" y="1492027"/>
            <a:ext cx="4906060" cy="1066949"/>
          </a:xfrm>
          <a:prstGeom prst="rect">
            <a:avLst/>
          </a:prstGeom>
          <a:noFill/>
          <a:ln>
            <a:noFill/>
          </a:ln>
        </p:spPr>
      </p:pic>
      <p:sp>
        <p:nvSpPr>
          <p:cNvPr id="485" name="Google Shape;485;p56"/>
          <p:cNvSpPr txBox="1"/>
          <p:nvPr/>
        </p:nvSpPr>
        <p:spPr>
          <a:xfrm>
            <a:off x="4284921" y="584364"/>
            <a:ext cx="3955311"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a:solidFill>
                  <a:srgbClr val="0070C0"/>
                </a:solidFill>
                <a:latin typeface="Calibri"/>
                <a:ea typeface="Calibri"/>
                <a:cs typeface="Calibri"/>
                <a:sym typeface="Calibri"/>
              </a:rPr>
              <a:t>Simple linear regression </a:t>
            </a:r>
            <a:endParaRPr/>
          </a:p>
        </p:txBody>
      </p:sp>
      <p:sp>
        <p:nvSpPr>
          <p:cNvPr id="486" name="Google Shape;486;p56"/>
          <p:cNvSpPr txBox="1"/>
          <p:nvPr/>
        </p:nvSpPr>
        <p:spPr>
          <a:xfrm>
            <a:off x="1348738" y="3062395"/>
            <a:ext cx="6305700" cy="61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CORRELATION ANALYSIS</a:t>
            </a:r>
            <a:endParaRPr/>
          </a:p>
        </p:txBody>
      </p:sp>
      <p:pic>
        <p:nvPicPr>
          <p:cNvPr id="492" name="Google Shape;492;p57"/>
          <p:cNvPicPr preferRelativeResize="0">
            <a:picLocks noGrp="1"/>
          </p:cNvPicPr>
          <p:nvPr>
            <p:ph type="body" idx="1"/>
          </p:nvPr>
        </p:nvPicPr>
        <p:blipFill rotWithShape="1">
          <a:blip r:embed="rId3">
            <a:alphaModFix/>
          </a:blip>
          <a:srcRect/>
          <a:stretch/>
        </p:blipFill>
        <p:spPr>
          <a:xfrm>
            <a:off x="1160207" y="1563329"/>
            <a:ext cx="9458632" cy="492954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498" name="Google Shape;498;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499" name="Google Shape;499;p58"/>
          <p:cNvPicPr preferRelativeResize="0"/>
          <p:nvPr/>
        </p:nvPicPr>
        <p:blipFill rotWithShape="1">
          <a:blip r:embed="rId3">
            <a:alphaModFix/>
          </a:blip>
          <a:srcRect/>
          <a:stretch/>
        </p:blipFill>
        <p:spPr>
          <a:xfrm>
            <a:off x="838200" y="731286"/>
            <a:ext cx="9456784" cy="5395428"/>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505" name="Google Shape;505;p5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06" name="Google Shape;506;p59"/>
          <p:cNvPicPr preferRelativeResize="0"/>
          <p:nvPr/>
        </p:nvPicPr>
        <p:blipFill rotWithShape="1">
          <a:blip r:embed="rId3">
            <a:alphaModFix/>
          </a:blip>
          <a:srcRect/>
          <a:stretch/>
        </p:blipFill>
        <p:spPr>
          <a:xfrm>
            <a:off x="1268361" y="548390"/>
            <a:ext cx="8965657" cy="5761219"/>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512" name="Google Shape;512;p6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13" name="Google Shape;513;p60"/>
          <p:cNvPicPr preferRelativeResize="0"/>
          <p:nvPr/>
        </p:nvPicPr>
        <p:blipFill rotWithShape="1">
          <a:blip r:embed="rId3">
            <a:alphaModFix/>
          </a:blip>
          <a:srcRect/>
          <a:stretch/>
        </p:blipFill>
        <p:spPr>
          <a:xfrm>
            <a:off x="1980843" y="773200"/>
            <a:ext cx="8230313" cy="53116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519" name="Google Shape;519;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20" name="Google Shape;520;p61"/>
          <p:cNvPicPr preferRelativeResize="0"/>
          <p:nvPr/>
        </p:nvPicPr>
        <p:blipFill rotWithShape="1">
          <a:blip r:embed="rId3">
            <a:alphaModFix/>
          </a:blip>
          <a:srcRect/>
          <a:stretch/>
        </p:blipFill>
        <p:spPr>
          <a:xfrm>
            <a:off x="2049429" y="837975"/>
            <a:ext cx="8093141" cy="5182049"/>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526" name="Google Shape;526;p6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27" name="Google Shape;527;p62"/>
          <p:cNvPicPr preferRelativeResize="0"/>
          <p:nvPr/>
        </p:nvPicPr>
        <p:blipFill rotWithShape="1">
          <a:blip r:embed="rId3">
            <a:alphaModFix/>
          </a:blip>
          <a:srcRect/>
          <a:stretch/>
        </p:blipFill>
        <p:spPr>
          <a:xfrm>
            <a:off x="1999895" y="754148"/>
            <a:ext cx="8192210" cy="534970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533" name="Google Shape;533;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34" name="Google Shape;534;p63"/>
          <p:cNvPicPr preferRelativeResize="0"/>
          <p:nvPr/>
        </p:nvPicPr>
        <p:blipFill rotWithShape="1">
          <a:blip r:embed="rId3">
            <a:alphaModFix/>
          </a:blip>
          <a:srcRect/>
          <a:stretch/>
        </p:blipFill>
        <p:spPr>
          <a:xfrm>
            <a:off x="601689" y="542182"/>
            <a:ext cx="6721422" cy="4397121"/>
          </a:xfrm>
          <a:prstGeom prst="rect">
            <a:avLst/>
          </a:prstGeom>
          <a:noFill/>
          <a:ln>
            <a:noFill/>
          </a:ln>
        </p:spPr>
      </p:pic>
      <p:pic>
        <p:nvPicPr>
          <p:cNvPr id="535" name="Google Shape;535;p63"/>
          <p:cNvPicPr preferRelativeResize="0"/>
          <p:nvPr/>
        </p:nvPicPr>
        <p:blipFill rotWithShape="1">
          <a:blip r:embed="rId4">
            <a:alphaModFix/>
          </a:blip>
          <a:srcRect/>
          <a:stretch/>
        </p:blipFill>
        <p:spPr>
          <a:xfrm>
            <a:off x="6960278" y="1027906"/>
            <a:ext cx="4630033" cy="397798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541" name="Google Shape;541;p6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42" name="Google Shape;542;p64"/>
          <p:cNvPicPr preferRelativeResize="0"/>
          <p:nvPr/>
        </p:nvPicPr>
        <p:blipFill rotWithShape="1">
          <a:blip r:embed="rId3">
            <a:alphaModFix/>
          </a:blip>
          <a:srcRect/>
          <a:stretch/>
        </p:blipFill>
        <p:spPr>
          <a:xfrm>
            <a:off x="1178541" y="592996"/>
            <a:ext cx="7986452" cy="5044877"/>
          </a:xfrm>
          <a:prstGeom prst="rect">
            <a:avLst/>
          </a:prstGeom>
          <a:noFill/>
          <a:ln>
            <a:noFill/>
          </a:ln>
        </p:spPr>
      </p:pic>
      <p:pic>
        <p:nvPicPr>
          <p:cNvPr id="543" name="Google Shape;543;p64"/>
          <p:cNvPicPr preferRelativeResize="0"/>
          <p:nvPr/>
        </p:nvPicPr>
        <p:blipFill rotWithShape="1">
          <a:blip r:embed="rId4">
            <a:alphaModFix/>
          </a:blip>
          <a:srcRect/>
          <a:stretch/>
        </p:blipFill>
        <p:spPr>
          <a:xfrm>
            <a:off x="1905755" y="5630346"/>
            <a:ext cx="8085521" cy="76206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549" name="Google Shape;549;p65"/>
          <p:cNvPicPr preferRelativeResize="0">
            <a:picLocks noGrp="1"/>
          </p:cNvPicPr>
          <p:nvPr>
            <p:ph type="body" idx="1"/>
          </p:nvPr>
        </p:nvPicPr>
        <p:blipFill rotWithShape="1">
          <a:blip r:embed="rId3">
            <a:alphaModFix/>
          </a:blip>
          <a:srcRect/>
          <a:stretch/>
        </p:blipFill>
        <p:spPr>
          <a:xfrm>
            <a:off x="8738614" y="3910446"/>
            <a:ext cx="2065199" cy="457240"/>
          </a:xfrm>
          <a:prstGeom prst="rect">
            <a:avLst/>
          </a:prstGeom>
          <a:noFill/>
          <a:ln>
            <a:noFill/>
          </a:ln>
        </p:spPr>
      </p:pic>
      <p:pic>
        <p:nvPicPr>
          <p:cNvPr id="550" name="Google Shape;550;p65"/>
          <p:cNvPicPr preferRelativeResize="0"/>
          <p:nvPr/>
        </p:nvPicPr>
        <p:blipFill rotWithShape="1">
          <a:blip r:embed="rId4">
            <a:alphaModFix/>
          </a:blip>
          <a:srcRect/>
          <a:stretch/>
        </p:blipFill>
        <p:spPr>
          <a:xfrm>
            <a:off x="231634" y="1027906"/>
            <a:ext cx="6576630" cy="1798476"/>
          </a:xfrm>
          <a:prstGeom prst="rect">
            <a:avLst/>
          </a:prstGeom>
          <a:noFill/>
          <a:ln>
            <a:noFill/>
          </a:ln>
        </p:spPr>
      </p:pic>
      <p:pic>
        <p:nvPicPr>
          <p:cNvPr id="551" name="Google Shape;551;p65"/>
          <p:cNvPicPr preferRelativeResize="0"/>
          <p:nvPr/>
        </p:nvPicPr>
        <p:blipFill rotWithShape="1">
          <a:blip r:embed="rId5">
            <a:alphaModFix/>
          </a:blip>
          <a:srcRect/>
          <a:stretch/>
        </p:blipFill>
        <p:spPr>
          <a:xfrm>
            <a:off x="838200" y="365125"/>
            <a:ext cx="2194750" cy="419136"/>
          </a:xfrm>
          <a:prstGeom prst="rect">
            <a:avLst/>
          </a:prstGeom>
          <a:noFill/>
          <a:ln>
            <a:noFill/>
          </a:ln>
        </p:spPr>
      </p:pic>
      <p:pic>
        <p:nvPicPr>
          <p:cNvPr id="552" name="Google Shape;552;p65"/>
          <p:cNvPicPr preferRelativeResize="0"/>
          <p:nvPr/>
        </p:nvPicPr>
        <p:blipFill rotWithShape="1">
          <a:blip r:embed="rId6">
            <a:alphaModFix/>
          </a:blip>
          <a:srcRect/>
          <a:stretch/>
        </p:blipFill>
        <p:spPr>
          <a:xfrm>
            <a:off x="1395808" y="3089079"/>
            <a:ext cx="2911092" cy="480102"/>
          </a:xfrm>
          <a:prstGeom prst="rect">
            <a:avLst/>
          </a:prstGeom>
          <a:noFill/>
          <a:ln>
            <a:noFill/>
          </a:ln>
        </p:spPr>
      </p:pic>
      <p:pic>
        <p:nvPicPr>
          <p:cNvPr id="553" name="Google Shape;553;p65"/>
          <p:cNvPicPr preferRelativeResize="0"/>
          <p:nvPr/>
        </p:nvPicPr>
        <p:blipFill rotWithShape="1">
          <a:blip r:embed="rId7">
            <a:alphaModFix/>
          </a:blip>
          <a:srcRect/>
          <a:stretch/>
        </p:blipFill>
        <p:spPr>
          <a:xfrm>
            <a:off x="548614" y="3696467"/>
            <a:ext cx="6401355" cy="2743438"/>
          </a:xfrm>
          <a:prstGeom prst="rect">
            <a:avLst/>
          </a:prstGeom>
          <a:noFill/>
          <a:ln>
            <a:noFill/>
          </a:ln>
        </p:spPr>
      </p:pic>
      <p:pic>
        <p:nvPicPr>
          <p:cNvPr id="554" name="Google Shape;554;p65"/>
          <p:cNvPicPr preferRelativeResize="0"/>
          <p:nvPr/>
        </p:nvPicPr>
        <p:blipFill rotWithShape="1">
          <a:blip r:embed="rId8">
            <a:alphaModFix/>
          </a:blip>
          <a:srcRect/>
          <a:stretch/>
        </p:blipFill>
        <p:spPr>
          <a:xfrm>
            <a:off x="7604435" y="2828763"/>
            <a:ext cx="3482642" cy="609653"/>
          </a:xfrm>
          <a:prstGeom prst="rect">
            <a:avLst/>
          </a:prstGeom>
          <a:noFill/>
          <a:ln>
            <a:noFill/>
          </a:ln>
        </p:spPr>
      </p:pic>
      <p:pic>
        <p:nvPicPr>
          <p:cNvPr id="555" name="Google Shape;555;p65"/>
          <p:cNvPicPr preferRelativeResize="0"/>
          <p:nvPr/>
        </p:nvPicPr>
        <p:blipFill rotWithShape="1">
          <a:blip r:embed="rId9">
            <a:alphaModFix/>
          </a:blip>
          <a:srcRect/>
          <a:stretch/>
        </p:blipFill>
        <p:spPr>
          <a:xfrm>
            <a:off x="7604435" y="384176"/>
            <a:ext cx="2530059" cy="381033"/>
          </a:xfrm>
          <a:prstGeom prst="rect">
            <a:avLst/>
          </a:prstGeom>
          <a:noFill/>
          <a:ln>
            <a:noFill/>
          </a:ln>
        </p:spPr>
      </p:pic>
      <p:pic>
        <p:nvPicPr>
          <p:cNvPr id="556" name="Google Shape;556;p65"/>
          <p:cNvPicPr preferRelativeResize="0"/>
          <p:nvPr/>
        </p:nvPicPr>
        <p:blipFill rotWithShape="1">
          <a:blip r:embed="rId10">
            <a:alphaModFix/>
          </a:blip>
          <a:srcRect/>
          <a:stretch/>
        </p:blipFill>
        <p:spPr>
          <a:xfrm>
            <a:off x="5569718" y="765209"/>
            <a:ext cx="6599492" cy="914479"/>
          </a:xfrm>
          <a:prstGeom prst="rect">
            <a:avLst/>
          </a:prstGeom>
          <a:noFill/>
          <a:ln>
            <a:noFill/>
          </a:ln>
        </p:spPr>
      </p:pic>
      <p:pic>
        <p:nvPicPr>
          <p:cNvPr id="557" name="Google Shape;557;p65"/>
          <p:cNvPicPr preferRelativeResize="0"/>
          <p:nvPr/>
        </p:nvPicPr>
        <p:blipFill rotWithShape="1">
          <a:blip r:embed="rId11">
            <a:alphaModFix/>
          </a:blip>
          <a:srcRect/>
          <a:stretch/>
        </p:blipFill>
        <p:spPr>
          <a:xfrm>
            <a:off x="7163448" y="4926830"/>
            <a:ext cx="4753249" cy="1165961"/>
          </a:xfrm>
          <a:prstGeom prst="rect">
            <a:avLst/>
          </a:prstGeom>
          <a:noFill/>
          <a:ln>
            <a:noFill/>
          </a:ln>
        </p:spPr>
      </p:pic>
      <p:pic>
        <p:nvPicPr>
          <p:cNvPr id="558" name="Google Shape;558;p65"/>
          <p:cNvPicPr preferRelativeResize="0"/>
          <p:nvPr/>
        </p:nvPicPr>
        <p:blipFill rotWithShape="1">
          <a:blip r:embed="rId12">
            <a:alphaModFix/>
          </a:blip>
          <a:srcRect/>
          <a:stretch/>
        </p:blipFill>
        <p:spPr>
          <a:xfrm>
            <a:off x="6869030" y="4679682"/>
            <a:ext cx="5342083" cy="32006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2331</Words>
  <Application>Microsoft Office PowerPoint</Application>
  <PresentationFormat>Widescreen</PresentationFormat>
  <Paragraphs>227</Paragraphs>
  <Slides>78</Slides>
  <Notes>58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Calibri</vt:lpstr>
      <vt:lpstr>Noto Sans Symbols</vt:lpstr>
      <vt:lpstr>Times New Roman</vt:lpstr>
      <vt:lpstr>Wingdings</vt:lpstr>
      <vt:lpstr>Office Theme</vt:lpstr>
      <vt:lpstr>Statistical Estimation - Maximum Likelihood Estimator (MLE) </vt:lpstr>
      <vt:lpstr>PROBABILITY DISTRIBUTION</vt:lpstr>
      <vt:lpstr>Discrete Probability Distributions</vt:lpstr>
      <vt:lpstr>Bernoulli Trial</vt:lpstr>
      <vt:lpstr>Bernoulli Trial</vt:lpstr>
      <vt:lpstr>Bernoulli distribution</vt:lpstr>
      <vt:lpstr>Binomial Distribution</vt:lpstr>
      <vt:lpstr>Binomial Distribution</vt:lpstr>
      <vt:lpstr>Example</vt:lpstr>
      <vt:lpstr>Example</vt:lpstr>
      <vt:lpstr>PowerPoint Presentation</vt:lpstr>
      <vt:lpstr>PowerPoint Presentation</vt:lpstr>
      <vt:lpstr>POISSON DISTRIBUTION</vt:lpstr>
      <vt:lpstr>PowerPoint Presentation</vt:lpstr>
      <vt:lpstr>BERNOULLI DISTRIBUTION</vt:lpstr>
      <vt:lpstr>Continuous Probability Distributions</vt:lpstr>
      <vt:lpstr>Uniform distribution</vt:lpstr>
      <vt:lpstr>Uniform distribution</vt:lpstr>
      <vt:lpstr>Uniform distribution: Example</vt:lpstr>
      <vt:lpstr>Normal distribution or Gaussian distribution</vt:lpstr>
      <vt:lpstr>Normal distribution or Gaussian distribution</vt:lpstr>
      <vt:lpstr>Normal Distribution Examples</vt:lpstr>
      <vt:lpstr>Standard normal distribution</vt:lpstr>
      <vt:lpstr>Standard normal distribution</vt:lpstr>
      <vt:lpstr>Example 1</vt:lpstr>
      <vt:lpstr>                                                   Example 1-answ</vt:lpstr>
      <vt:lpstr>PowerPoint Presentation</vt:lpstr>
      <vt:lpstr>PowerPoint Presentation</vt:lpstr>
      <vt:lpstr>PowerPoint Presentation</vt:lpstr>
      <vt:lpstr>PowerPoint Presentation</vt:lpstr>
      <vt:lpstr>PowerPoint Presentation</vt:lpstr>
      <vt:lpstr>Exponential distribution</vt:lpstr>
      <vt:lpstr>Exponential distribution</vt:lpstr>
      <vt:lpstr>Exponential distribution</vt:lpstr>
      <vt:lpstr>PowerPoint Presentation</vt:lpstr>
      <vt:lpstr>Statistical estimation</vt:lpstr>
      <vt:lpstr>Key terms</vt:lpstr>
      <vt:lpstr>Example: Estimating a Population Parameter</vt:lpstr>
      <vt:lpstr>Parameter vs. Statistic &amp; Estimator vs. Estimate</vt:lpstr>
      <vt:lpstr>Why Estimation Matters in Al and Data Science</vt:lpstr>
      <vt:lpstr>LIKELIHOOD ESTIMATE</vt:lpstr>
      <vt:lpstr>PowerPoint Presentation</vt:lpstr>
      <vt:lpstr>PowerPoint Presentation</vt:lpstr>
      <vt:lpstr>Log-likelihood function</vt:lpstr>
      <vt:lpstr>PowerPoint Presentation</vt:lpstr>
      <vt:lpstr>Steps for calculating Maximum Likelihood Estimate(MLE)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MLE for Bernoulli distribution</vt:lpstr>
      <vt:lpstr>PowerPoint Presentation</vt:lpstr>
      <vt:lpstr>PowerPoint Presentation</vt:lpstr>
      <vt:lpstr>Common Estimation Methods </vt:lpstr>
      <vt:lpstr>Assignment 3 –issued on 30-09-25</vt:lpstr>
      <vt:lpstr>Least Squares Estimation</vt:lpstr>
      <vt:lpstr>How it Works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CORRELATION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Anju Joseph</dc:creator>
  <cp:lastModifiedBy>Neethu Suman</cp:lastModifiedBy>
  <cp:revision>10</cp:revision>
  <dcterms:created xsi:type="dcterms:W3CDTF">2025-09-23T08:27:47Z</dcterms:created>
  <dcterms:modified xsi:type="dcterms:W3CDTF">2026-09-01T15:10:42Z</dcterms:modified>
</cp:coreProperties>
</file>