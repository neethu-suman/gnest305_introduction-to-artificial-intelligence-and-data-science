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  <p:sldId id="310" r:id="rId9"/>
    <p:sldId id="311" r:id="rId10"/>
    <p:sldId id="267" r:id="rId11"/>
    <p:sldId id="268" r:id="rId12"/>
    <p:sldId id="340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39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41" r:id="rId39"/>
    <p:sldId id="336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AABD-1CE3-E370-62CB-73D4A591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7A248-06CE-6160-658E-092B2FE8D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A62-C30C-2D88-BAB9-B0A29122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6187F-7B1D-901C-8526-1066E49F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A17F8-AAE9-DB50-D431-A9B690FC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1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6072-3DCF-DC09-E77A-4706172F9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0672A-2C65-E0CB-8715-00491BA23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0DFF-AB71-4C09-315D-12513F25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B524-F212-3A49-0494-2978B690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6240A-1163-165F-1F40-F3D02F2F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35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2B17-E375-9873-6313-B2FF66E7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6593D-FAD7-34AB-4058-AC8D5DD88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34E9B-9188-18BA-147E-D96426A2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43DA9-F84E-D933-9182-ECF46D02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83059-FB57-978A-9D66-990DAEE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01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FC72-BEFF-2F66-5EA8-AA067E52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644FA-DFBF-233C-BAC2-3272516DD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8E8E5-300E-457F-1442-A7A00400D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59CBC-C13C-0CF6-9380-6D4207B6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FDFE8-321D-0BA7-A8D8-F0C14B23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80910-4CAF-E0EB-1C0B-DAA8F90F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43D-8A6D-43A3-8B04-943B3DE4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80739-7E43-EBF0-6771-E8166B728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87D0B-976B-BBDE-2403-AE7AF127D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3E295-9FB3-5D1D-DE99-D64819AB9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F71B5-8D79-E212-9D89-C4F759EF8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874AC-19C9-CF3B-B9A8-166B511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F45CB-BDD9-674B-437A-29C44494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9F3D2-EFA1-DAEF-F8C4-38E45009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3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E42A-2F44-FFFB-9EE6-398DDB20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7B2AA-F8D1-06BC-E7E8-26A2A018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DE947-45E7-72E3-8011-B6C196F7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5CDDE-7EEF-D78D-D14E-9B44D4B3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2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EFF85-4BFE-9A7C-2DDD-67E0A379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69F3F-C1D5-0851-719A-B8E9304A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C66D1-D74E-8202-1129-8E8CBA54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35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86CA-79A0-5908-903D-00A04326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0A663-B365-DE43-659B-4C667F7D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420B6-1E25-A8F1-B88B-CE4C694E1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119BE-31B7-6380-46BB-73542452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571FD-168E-6BE7-941D-30063604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A2134-6D93-A807-7D2F-5F959526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299A-6B27-1BBE-DC21-8D623F25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0490E-4679-3CA1-09EF-4DE4607DC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87D52-9D41-081C-0900-78A55DC1E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E67C4-F7DA-7831-CA08-75C7E017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2F696-CF0F-24C9-E68A-C665A9CE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4E2C6-53B8-7BE1-F400-282A2871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0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219B-50E2-7293-5960-D7D29BDA8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499DE-2533-0A83-091B-73261BF1C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4311C-FC7D-18AC-9837-5C110238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033C-D0E6-BE7C-3A4A-FBC42291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DC8C3-135B-C06D-C835-BC50C18D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29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5F5A8-BEFC-B29B-5FEE-A28FD777E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07614-B52F-CBA6-30B7-53F76384E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2A278-D017-56ED-D570-C4951B37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7B653-0964-787E-6EB0-01526D72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B040F-1CE4-F250-133C-744A4E5E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95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71528-4B1E-AC1F-9C95-D4EAC331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34E3-A90E-71B1-96C8-1F1CB459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2BDC-FAA4-20F0-37FE-6AED8A2A9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0E8B-0A86-4C8E-9261-3B1BF0C71F5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93E56-3ED8-EDA8-A22D-E6E83FDAC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676F2-3CDB-EE7D-B9F3-51123BE30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39C5-B9CB-4F22-B0FE-F4BFB2E1A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14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106C-3DCC-5800-2B8D-D3F32884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variables and Statistical measures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1726-58D8-9888-387D-E3AEC8F4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random variable is a numerical outcome of a random process or event.</a:t>
            </a:r>
          </a:p>
          <a:p>
            <a:pPr algn="just"/>
            <a:r>
              <a:rPr lang="en-US" dirty="0"/>
              <a:t>It's a function that maps possible outcomes from a random event (the sample space) to real numbers.</a:t>
            </a:r>
          </a:p>
          <a:p>
            <a:pPr algn="just"/>
            <a:r>
              <a:rPr lang="en-US" dirty="0"/>
              <a:t>For example, when rolling a die, the possible outcomes are {1, 2, 3, 4, 5, 6}, and the random variable can simply represent the number on the face of the die.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646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CAF6-43C3-97C2-C185-4499479F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Measures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BABF0-FE40-197E-B859-C1D53A2EA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Statistical measures describe the characteristics of a random variable's probability distribution.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12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CD4F-E252-7ECC-9BB9-BE6FDE9E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26E5BD-F7D0-C882-2359-8FBC7CF4C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433" y="1871715"/>
            <a:ext cx="9740567" cy="343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1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FA7766-1C2F-E2F2-00FB-95DE36706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513" y="487124"/>
            <a:ext cx="11158330" cy="60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3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F611-4C6A-E060-D92E-635C7D3F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Random Variables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94B5-0795-F6A2-DBD8-5F4A6AC69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Discrete Random Variables</a:t>
            </a:r>
          </a:p>
          <a:p>
            <a:pPr algn="just"/>
            <a:r>
              <a:rPr lang="en-US" dirty="0"/>
              <a:t>These can only take a finite number of values or an infinite sequence of values.</a:t>
            </a:r>
          </a:p>
          <a:p>
            <a:pPr algn="just"/>
            <a:r>
              <a:rPr lang="en-US" dirty="0"/>
              <a:t>Example: The number of defective items in a batch of products. </a:t>
            </a:r>
          </a:p>
          <a:p>
            <a:pPr marL="0" indent="0" algn="just">
              <a:buNone/>
            </a:pPr>
            <a:r>
              <a:rPr lang="en-US" b="1" dirty="0"/>
              <a:t>Continuous Random Variables</a:t>
            </a:r>
          </a:p>
          <a:p>
            <a:pPr algn="just"/>
            <a:r>
              <a:rPr lang="en-US" dirty="0"/>
              <a:t>These can take on any value within a given range or interval.</a:t>
            </a:r>
          </a:p>
          <a:p>
            <a:pPr algn="just"/>
            <a:r>
              <a:rPr lang="en-US" dirty="0"/>
              <a:t>Example: The weight of a randomly selected person, which can be any value within a range of weights.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46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6C7BD-936F-DB57-B98E-9F316F85D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530" y="397672"/>
            <a:ext cx="11104253" cy="609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8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D12B-A6D4-A941-8442-CE1F16EE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-81372"/>
            <a:ext cx="10515600" cy="1325563"/>
          </a:xfrm>
        </p:spPr>
        <p:txBody>
          <a:bodyPr/>
          <a:lstStyle/>
          <a:p>
            <a:r>
              <a:rPr lang="en-US" dirty="0"/>
              <a:t>RANDOM VARIABLE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4321B-09B8-8979-CE7E-B185D34DA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393" y="1068797"/>
            <a:ext cx="9289026" cy="2360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E170B2-9E1E-C9AF-50C2-05B450796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93" y="3362721"/>
            <a:ext cx="6843353" cy="28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3D4C87-7F4C-A711-05D9-BA9A774AD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54" y="3680185"/>
            <a:ext cx="5654530" cy="3177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3F0846-F056-0BDD-A6E0-29D444E99476}"/>
              </a:ext>
            </a:extLst>
          </p:cNvPr>
          <p:cNvSpPr txBox="1"/>
          <p:nvPr/>
        </p:nvSpPr>
        <p:spPr>
          <a:xfrm>
            <a:off x="6020628" y="3895870"/>
            <a:ext cx="6097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PROBABILITY OF THE RANDOM VARIABLE ‘X’</a:t>
            </a:r>
          </a:p>
          <a:p>
            <a:endParaRPr lang="en-US" sz="2400" dirty="0"/>
          </a:p>
          <a:p>
            <a:pPr lvl="2"/>
            <a:r>
              <a:rPr lang="en-US" sz="2400" dirty="0"/>
              <a:t>P(X=0)=1/8</a:t>
            </a:r>
          </a:p>
          <a:p>
            <a:pPr lvl="2"/>
            <a:r>
              <a:rPr lang="en-US" sz="2400" dirty="0"/>
              <a:t>P(X=1)=3/8</a:t>
            </a:r>
          </a:p>
          <a:p>
            <a:pPr lvl="2"/>
            <a:r>
              <a:rPr lang="en-US" sz="2400" dirty="0"/>
              <a:t>P(X=2)=3/8</a:t>
            </a:r>
          </a:p>
          <a:p>
            <a:pPr lvl="2"/>
            <a:r>
              <a:rPr lang="en-US" sz="2400" dirty="0"/>
              <a:t>P(X=3)=1/8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3097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D773-83A3-BEEE-865E-08A02875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Mass Function(PMF)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AD4ADE-E999-9C4A-E1FB-A326157B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52" y="1435510"/>
            <a:ext cx="9242932" cy="5057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DADB9-ACBB-A863-0C57-485538B1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120" y="779712"/>
            <a:ext cx="1185679" cy="65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0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8BC35C-E87D-0A13-B133-97AE16B4201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844550"/>
            <a:ext cx="7864475" cy="3529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0C968C-9F51-8E58-55B8-2C4378229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1" y="275271"/>
            <a:ext cx="4801016" cy="39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26562C-BBF2-6D6E-340D-053CF4096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97747"/>
            <a:ext cx="6149873" cy="3071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A698E-BE4C-3078-7720-1B0E5C291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1" y="5820663"/>
            <a:ext cx="8344623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2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389C94-8534-5041-E150-420115712D9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03367" y="1531662"/>
            <a:ext cx="10240963" cy="5049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52FA02-6668-7D26-2C61-33497291C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67" y="429393"/>
            <a:ext cx="8937136" cy="63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1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E5509-362F-3D90-5980-D8F65337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3" y="233776"/>
            <a:ext cx="11510257" cy="616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9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B77F-3EF6-8CB0-2521-0D8FA6D5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9D7616-0A9D-0C62-7BD4-456117C5C90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87626" y="350434"/>
            <a:ext cx="11161644" cy="6169636"/>
          </a:xfrm>
        </p:spPr>
      </p:pic>
    </p:spTree>
    <p:extLst>
      <p:ext uri="{BB962C8B-B14F-4D97-AF65-F5344CB8AC3E}">
        <p14:creationId xmlns:p14="http://schemas.microsoft.com/office/powerpoint/2010/main" val="3002013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5259B9-ABCC-07D0-C30D-1404AEEEDA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21630" y="1201738"/>
            <a:ext cx="10551169" cy="4911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1B4E0-DA4B-A4F6-EC05-A4479A93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1" y="365931"/>
            <a:ext cx="5858987" cy="5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81D325F-6D01-7725-0C07-6320846060E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37322" y="966028"/>
            <a:ext cx="11585175" cy="527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0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F14929-E7F9-5045-1494-1784C9FD9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1" y="182562"/>
            <a:ext cx="1123623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45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82D4-CEEC-5999-D382-8DD01E8775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3852" y="365125"/>
            <a:ext cx="9511748" cy="1325563"/>
          </a:xfrm>
        </p:spPr>
        <p:txBody>
          <a:bodyPr/>
          <a:lstStyle/>
          <a:p>
            <a:r>
              <a:rPr lang="en-US" dirty="0"/>
              <a:t>PDF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CC149-F399-C85A-DB89-1E77214A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846" y="2139251"/>
            <a:ext cx="8420830" cy="2453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E35CC-5332-83C3-4568-1EBBF914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244" y="4718749"/>
            <a:ext cx="8436071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61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84D7-9EE6-2EA9-77A8-B683BB00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measures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C527-F72A-73FD-F286-94A6D0743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Statistical measures are numerical values that describe key characteristics of a dataset, including measures of central tendency (like the mean, median, and mode) which summarize the center of the data.</a:t>
            </a:r>
          </a:p>
          <a:p>
            <a:pPr algn="just"/>
            <a:r>
              <a:rPr lang="en-US" dirty="0"/>
              <a:t>and measures of dispersion (such as range, variance, and standard deviation) which describe the spread or variability of the data.</a:t>
            </a:r>
          </a:p>
          <a:p>
            <a:pPr algn="just"/>
            <a:r>
              <a:rPr lang="en-US" dirty="0"/>
              <a:t> Together, these measures provide a concise summary of a dataset's properties.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692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BAFAB7-8BD5-9D3C-5916-E320D7B0B7F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06651" y="2201840"/>
            <a:ext cx="10190114" cy="3533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6B6AA-3F66-CED9-2C90-CD4AC26F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51" y="829768"/>
            <a:ext cx="5512914" cy="9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15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35B0-C3AD-A449-6C7D-6B7B205B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MEAN/EXPECTED VALUE OF A RANDOM VARIABLE</a:t>
            </a:r>
            <a:endParaRPr lang="en-I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1ECE38-40C8-2CE5-6B18-009FF57C5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548" y="2123768"/>
            <a:ext cx="9399639" cy="35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5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CF385C-9A98-BD03-2896-E954CB0A5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9" y="345210"/>
            <a:ext cx="10676871" cy="61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33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38741C-8F10-EBB7-90D5-75826DCF4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3" y="165614"/>
            <a:ext cx="11315723" cy="64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38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ABB0-77A7-3071-5417-708F5405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MEDIAN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8598B6-8226-7322-7EF4-8EF308881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36471"/>
            <a:ext cx="10681253" cy="500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67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7FAD-C02D-B414-3A49-B59F917A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MODE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3461FD-372C-35EA-AF94-A89123FE7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147" y="1772595"/>
            <a:ext cx="8534265" cy="335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46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D7122F-1D00-BC58-E668-5EDB8A6E6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65" y="1376326"/>
            <a:ext cx="10273748" cy="5152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DA7E72-ADBD-4CFF-1EF2-01E2E7FFD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965" y="393642"/>
            <a:ext cx="7013713" cy="6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67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C6D3-517E-D417-369A-D86BD0F8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CE4658-A596-6CB3-D15B-08117B9E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87" y="343946"/>
            <a:ext cx="5186180" cy="5008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0E84CD-FFEA-DF44-B9C5-84A7D55EA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14" y="1061706"/>
            <a:ext cx="10012172" cy="51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72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E6CF-A2B8-4BDB-746A-7E0C69F4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Dispersion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913AC-6E7A-B3E4-9041-AA81CF2DB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184" y="1823143"/>
            <a:ext cx="8446255" cy="196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76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81E1-B781-620D-3D39-26677085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90232A-A18B-C4AC-822F-A1057A719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50" y="1830532"/>
            <a:ext cx="8697123" cy="223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62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A29E-C94D-89BD-2010-772DDDB2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Interquartile Range(IQR)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C5B705-6523-B3E2-EAA8-C46294AC9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551" y="1523190"/>
            <a:ext cx="9880345" cy="46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62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9552-228B-0EB8-AC54-842E15F7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and Standard Deviation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031680-089F-042F-07D8-8B3D9C5B2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609" y="1690687"/>
            <a:ext cx="1007997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07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E952-CAAF-86CF-A812-CF0DCA79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72AF4-FCD6-9E6E-A96F-A23033EEB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399AF-90ED-7705-4594-709145C5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8" y="255639"/>
            <a:ext cx="9891252" cy="635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1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413076-D1B9-292D-06D2-14A40818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26" y="297467"/>
            <a:ext cx="10700104" cy="50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06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13E200-5B47-7B0F-A871-45218E06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84" y="172879"/>
            <a:ext cx="11124394" cy="64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92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9D4CCE-D944-FC83-9D0C-61CAF7716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8" y="285148"/>
            <a:ext cx="11257562" cy="4992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A4937-A36E-FC1D-8E8D-03EB228F5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68" y="5531483"/>
            <a:ext cx="11396710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8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74962E-2813-C7EA-B95A-D88C86B6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4" y="381214"/>
            <a:ext cx="11430534" cy="63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28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3B21-FE99-9984-4638-B2FB9C42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CB085A-5FDA-4926-4B0C-14DCA10CD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2601"/>
            <a:ext cx="10681252" cy="477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53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FD58-B31E-9683-D49D-D7DD1F9D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Kurtosis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870E9-90DE-6CD6-971E-8639C2477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930" y="1690687"/>
            <a:ext cx="8778817" cy="3982525"/>
          </a:xfrm>
          <a:prstGeom prst="rect">
            <a:avLst/>
          </a:prstGeom>
        </p:spPr>
      </p:pic>
      <p:pic>
        <p:nvPicPr>
          <p:cNvPr id="3074" name="Picture 2" descr="Kurtosis - KeyToDataScience">
            <a:extLst>
              <a:ext uri="{FF2B5EF4-FFF2-40B4-BE49-F238E27FC236}">
                <a16:creationId xmlns:a16="http://schemas.microsoft.com/office/drawing/2014/main" id="{FB8D110D-D46B-E520-311D-BF48179AD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0" y="619125"/>
            <a:ext cx="516255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808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2E72-5266-C0FC-3711-7EBB0B8E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Dataset given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5A3A54-0FFF-5E90-39E3-D0F65D59A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090" y="1690688"/>
            <a:ext cx="10515599" cy="2034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446C3-5F53-579F-C6DC-9472EC77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90" y="3970436"/>
            <a:ext cx="10619709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67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72E26-19F0-1570-25CE-6CB3453A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DE060E-60AA-4970-BEB7-7260A88F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89" y="67719"/>
            <a:ext cx="8057322" cy="2971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70DB08-0228-8F0A-B1EE-4CC1752A8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97" y="67719"/>
            <a:ext cx="4835864" cy="575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B87EF1-1EDA-25E3-2C27-961CA2A1D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98" y="2824705"/>
            <a:ext cx="1760812" cy="5269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4B341D-3A90-EDDC-742C-FDC532635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297" y="2824705"/>
            <a:ext cx="8941703" cy="385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47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2AC259-2602-C749-C697-CA253B04E63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434121" y="3429000"/>
            <a:ext cx="9423262" cy="3225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850721-D148-D945-F868-C8EAFCFDC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17" y="109388"/>
            <a:ext cx="1344954" cy="556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672FF6-A72E-53F6-A75E-72CA84081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378" y="109389"/>
            <a:ext cx="10267005" cy="3017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0D6EC-6C88-1B02-B06B-112FE92C5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18" y="3491111"/>
            <a:ext cx="2103322" cy="52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D99F1-461E-99A7-A2C7-090DE77B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7945"/>
            <a:ext cx="11148391" cy="4683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E8E9BF4-DDC0-2E8E-C44E-F6A564D80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PDF</a:t>
            </a:r>
          </a:p>
        </p:txBody>
      </p:sp>
    </p:spTree>
    <p:extLst>
      <p:ext uri="{BB962C8B-B14F-4D97-AF65-F5344CB8AC3E}">
        <p14:creationId xmlns:p14="http://schemas.microsoft.com/office/powerpoint/2010/main" val="2085440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24A8E2-2D81-72A8-91DD-32965CBE5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615" y="1449019"/>
            <a:ext cx="7756402" cy="351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673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6BDFC-7965-BABA-CDA4-D825E9D57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2" y="367911"/>
            <a:ext cx="10308842" cy="56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587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BE92A-F2D8-5507-4F26-76FEDA1D3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40" y="85443"/>
            <a:ext cx="11598590" cy="65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22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BC66F-9499-3C2D-D307-4F903D01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2" y="198584"/>
            <a:ext cx="9751586" cy="63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74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40039-9B66-E095-BECB-EFB4B2CC4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" y="-1"/>
            <a:ext cx="10596068" cy="64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98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F7A42-23AF-BF6E-D563-5D7C7528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4" y="95524"/>
            <a:ext cx="9611630" cy="65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34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A21F2-6A6A-60C5-0F30-52EF47E07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49" y="158142"/>
            <a:ext cx="9905167" cy="66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6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135D7-A924-54A3-1B2D-C1BDC60C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3" y="160642"/>
            <a:ext cx="11619901" cy="626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1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325</Words>
  <Application>Microsoft Office PowerPoint</Application>
  <PresentationFormat>Widescreen</PresentationFormat>
  <Paragraphs>38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Times New Roman</vt:lpstr>
      <vt:lpstr>Office Theme</vt:lpstr>
      <vt:lpstr>Random variables and Statistical measures</vt:lpstr>
      <vt:lpstr>Statistical Measures</vt:lpstr>
      <vt:lpstr>RANDOM VARIABLE</vt:lpstr>
      <vt:lpstr>PowerPoint Presentation</vt:lpstr>
      <vt:lpstr>Types of Random Variables </vt:lpstr>
      <vt:lpstr>PowerPoint Presentation</vt:lpstr>
      <vt:lpstr>RANDOM VARIABLE EXAMPLE</vt:lpstr>
      <vt:lpstr>Probability Mass Function(PMF)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PDF</vt:lpstr>
      <vt:lpstr>Statistical measures</vt:lpstr>
      <vt:lpstr>PowerPoint Presentation</vt:lpstr>
      <vt:lpstr>MEAN/EXPECTED VALUE OF A RANDOM VARIABLE</vt:lpstr>
      <vt:lpstr>PowerPoint Presentation</vt:lpstr>
      <vt:lpstr>PowerPoint Presentation</vt:lpstr>
      <vt:lpstr>MEDIAN</vt:lpstr>
      <vt:lpstr>MODE</vt:lpstr>
      <vt:lpstr>PowerPoint Presentation</vt:lpstr>
      <vt:lpstr>PowerPoint Presentation</vt:lpstr>
      <vt:lpstr>Measures Of Dispersion</vt:lpstr>
      <vt:lpstr>Range</vt:lpstr>
      <vt:lpstr>Interquartile Range(IQR)</vt:lpstr>
      <vt:lpstr>Variance and Standard Deviation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Skewness</vt:lpstr>
      <vt:lpstr>Kurtosis</vt:lpstr>
      <vt:lpstr>Example: Dataset given</vt:lpstr>
      <vt:lpstr>PowerPoint Presentation</vt:lpstr>
      <vt:lpstr>PowerPoint Presentation</vt:lpstr>
      <vt:lpstr>Example - PDF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3</cp:revision>
  <dcterms:created xsi:type="dcterms:W3CDTF">2026-08-31T06:08:57Z</dcterms:created>
  <dcterms:modified xsi:type="dcterms:W3CDTF">2026-09-01T14:30:35Z</dcterms:modified>
</cp:coreProperties>
</file>