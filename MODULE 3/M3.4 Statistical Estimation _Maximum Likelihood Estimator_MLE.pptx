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78" r:id="rId3"/>
    <p:sldId id="279" r:id="rId4"/>
    <p:sldId id="341" r:id="rId5"/>
    <p:sldId id="343" r:id="rId6"/>
    <p:sldId id="344" r:id="rId7"/>
    <p:sldId id="283" r:id="rId8"/>
    <p:sldId id="284" r:id="rId9"/>
    <p:sldId id="285" r:id="rId10"/>
    <p:sldId id="286" r:id="rId11"/>
    <p:sldId id="287" r:id="rId12"/>
    <p:sldId id="288" r:id="rId13"/>
    <p:sldId id="289" r:id="rId14"/>
    <p:sldId id="290" r:id="rId15"/>
    <p:sldId id="291" r:id="rId16"/>
    <p:sldId id="345" r:id="rId17"/>
    <p:sldId id="293" r:id="rId18"/>
    <p:sldId id="294" r:id="rId19"/>
    <p:sldId id="295" r:id="rId20"/>
    <p:sldId id="346" r:id="rId21"/>
    <p:sldId id="296" r:id="rId22"/>
    <p:sldId id="297" r:id="rId23"/>
    <p:sldId id="298" r:id="rId24"/>
    <p:sldId id="370" r:id="rId25"/>
    <p:sldId id="371" r:id="rId26"/>
    <p:sldId id="372" r:id="rId27"/>
    <p:sldId id="373"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1" roundtripDataSignature="AMtx7mjfR8CrKAMgRANQaPKEh3AmiipH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37B77B-4F06-4096-9CB8-DE4C9E06CF24}">
  <a:tblStyle styleId="{5137B77B-4F06-4096-9CB8-DE4C9E06CF2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8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82"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8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8" Type="http://schemas.openxmlformats.org/officeDocument/2006/relationships/slide" Target="slides/slide7.xml"/><Relationship Id="rId8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7" name="Google Shape;337;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 name="Google Shape;36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a:extLst>
            <a:ext uri="{FF2B5EF4-FFF2-40B4-BE49-F238E27FC236}">
              <a16:creationId xmlns:a16="http://schemas.microsoft.com/office/drawing/2014/main" id="{9F9F4093-179A-D63F-32AA-14EAA569EC1E}"/>
            </a:ext>
          </a:extLst>
        </p:cNvPr>
        <p:cNvGrpSpPr/>
        <p:nvPr/>
      </p:nvGrpSpPr>
      <p:grpSpPr>
        <a:xfrm>
          <a:off x="0" y="0"/>
          <a:ext cx="0" cy="0"/>
          <a:chOff x="0" y="0"/>
          <a:chExt cx="0" cy="0"/>
        </a:xfrm>
      </p:grpSpPr>
      <p:sp>
        <p:nvSpPr>
          <p:cNvPr id="364" name="Google Shape;364;p40:notes">
            <a:extLst>
              <a:ext uri="{FF2B5EF4-FFF2-40B4-BE49-F238E27FC236}">
                <a16:creationId xmlns:a16="http://schemas.microsoft.com/office/drawing/2014/main" id="{E2F1B8DD-F14B-CE09-017E-85AF3FC77A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 name="Google Shape;365;p40:notes">
            <a:extLst>
              <a:ext uri="{FF2B5EF4-FFF2-40B4-BE49-F238E27FC236}">
                <a16:creationId xmlns:a16="http://schemas.microsoft.com/office/drawing/2014/main" id="{557AF89D-9408-AD6C-F7A4-2B117C2C89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8612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6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6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
        <p:cNvGrpSpPr/>
        <p:nvPr/>
      </p:nvGrpSpPr>
      <p:grpSpPr>
        <a:xfrm>
          <a:off x="0" y="0"/>
          <a:ext cx="0" cy="0"/>
          <a:chOff x="0" y="0"/>
          <a:chExt cx="0" cy="0"/>
        </a:xfrm>
      </p:grpSpPr>
      <p:sp>
        <p:nvSpPr>
          <p:cNvPr id="24" name="Google Shape;24;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7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7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7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7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7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75"/>
          <p:cNvSpPr>
            <a:spLocks noGrp="1"/>
          </p:cNvSpPr>
          <p:nvPr>
            <p:ph type="pic" idx="2"/>
          </p:nvPr>
        </p:nvSpPr>
        <p:spPr>
          <a:xfrm>
            <a:off x="5183188" y="987425"/>
            <a:ext cx="6172200" cy="4873625"/>
          </a:xfrm>
          <a:prstGeom prst="rect">
            <a:avLst/>
          </a:prstGeom>
          <a:noFill/>
          <a:ln>
            <a:noFill/>
          </a:ln>
        </p:spPr>
      </p:sp>
      <p:sp>
        <p:nvSpPr>
          <p:cNvPr id="64" name="Google Shape;64;p7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7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7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7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google.com/search?sca_esv=637c0e90f834ed3d&amp;sxsrf=AE3TifNnb1XChY3dTPYiRqCFrQieGOwTzQ%3A1758606822018&amp;q=Estimator&amp;sa=X&amp;ved=2ahUKEwiu4LP3mO6PAxUDRmwGHf3OAiYQxccNegUI4gEQAQ&amp;mstk=AUtExfCPc4v5zlWihGPH2-fCV1y8UgjkIk0XsRms0maTbTp1CIVQ2C1O9Bf_ZuiyaJAA4qfbogi442D6Ovczs9TTEts9VuFQ5YEDAFJIFjLo643Yp9BuDsoG3CKDQWjq6tHalWJdPWfTwOrAChjDc9RebbvjzVNYjOSG1PLB2c5mM517C_s&amp;csui=3"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2"/>
            <a:ext cx="9144000" cy="369811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ct val="100000"/>
              <a:buFont typeface="Calibri"/>
              <a:buNone/>
            </a:pPr>
            <a:r>
              <a:rPr lang="en-US" dirty="0"/>
              <a:t>Statistical Estimation - Maximum Likelihood Estimator (MLE)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alibri"/>
              <a:buNone/>
            </a:pPr>
            <a:r>
              <a:rPr lang="en-US"/>
              <a:t>Statistical estimation</a:t>
            </a:r>
            <a:endParaRPr/>
          </a:p>
        </p:txBody>
      </p:sp>
      <p:sp>
        <p:nvSpPr>
          <p:cNvPr id="250" name="Google Shape;250;p23"/>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indent="-457200" algn="just">
              <a:spcBef>
                <a:spcPts val="0"/>
              </a:spcBef>
              <a:buSzPts val="2800"/>
            </a:pPr>
            <a:r>
              <a:rPr lang="en-US" dirty="0"/>
              <a:t>Statistical estimation is the process of using a sample of data to make an "educated guess" about a characteristic (a parameter) of a much larger group, known as a population.</a:t>
            </a:r>
            <a:endParaRPr dirty="0"/>
          </a:p>
          <a:p>
            <a:pPr indent="-457200" algn="just">
              <a:buSzPts val="2800"/>
            </a:pPr>
            <a:r>
              <a:rPr lang="en-US" dirty="0"/>
              <a:t>It involves applying statistical rules called </a:t>
            </a:r>
            <a:r>
              <a:rPr lang="en-US" b="1" dirty="0">
                <a:solidFill>
                  <a:schemeClr val="tx1"/>
                </a:solidFill>
              </a:rPr>
              <a:t>estimators</a:t>
            </a:r>
            <a:r>
              <a:rPr lang="en-US" dirty="0"/>
              <a:t> to observed data to calculate </a:t>
            </a:r>
          </a:p>
          <a:p>
            <a:pPr lvl="1" indent="-457200" algn="just">
              <a:buSzPts val="2800"/>
            </a:pPr>
            <a:r>
              <a:rPr lang="en-US" dirty="0"/>
              <a:t>Point estimates (a single value, like the sample mean for the population mean) or </a:t>
            </a:r>
          </a:p>
          <a:p>
            <a:pPr lvl="1" indent="-457200" algn="just">
              <a:buSzPts val="2800"/>
            </a:pPr>
            <a:r>
              <a:rPr lang="en-US" dirty="0"/>
              <a:t>Interval estimates (a range of values, like a </a:t>
            </a:r>
            <a:r>
              <a:rPr lang="en-US" b="1" dirty="0">
                <a:solidFill>
                  <a:schemeClr val="tx1"/>
                </a:solidFill>
              </a:rPr>
              <a:t>confidence interval </a:t>
            </a:r>
            <a:r>
              <a:rPr lang="en-US" dirty="0"/>
              <a:t>for the population mean).</a:t>
            </a:r>
            <a:endParaRPr dirty="0"/>
          </a:p>
          <a:p>
            <a:pPr marL="635000" indent="-457200">
              <a:buSzPts val="2800"/>
            </a:pPr>
            <a:endParaRPr dirty="0"/>
          </a:p>
        </p:txBody>
      </p:sp>
      <p:sp>
        <p:nvSpPr>
          <p:cNvPr id="251" name="Google Shape;251;p23"/>
          <p:cNvSpPr/>
          <p:nvPr/>
        </p:nvSpPr>
        <p:spPr>
          <a:xfrm>
            <a:off x="0" y="-373149"/>
            <a:ext cx="65" cy="746298"/>
          </a:xfrm>
          <a:prstGeom prst="rect">
            <a:avLst/>
          </a:prstGeom>
          <a:solidFill>
            <a:srgbClr val="FFFFFF"/>
          </a:solidFill>
          <a:ln>
            <a:noFill/>
          </a:ln>
        </p:spPr>
        <p:txBody>
          <a:bodyPr spcFirstLastPara="1" wrap="square" lIns="0" tIns="63475" rIns="0" bIns="126950" anchor="ctr"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Key terms</a:t>
            </a:r>
            <a:endParaRPr dirty="0"/>
          </a:p>
        </p:txBody>
      </p:sp>
      <p:sp>
        <p:nvSpPr>
          <p:cNvPr id="257" name="Google Shape;257;p24"/>
          <p:cNvSpPr txBox="1">
            <a:spLocks noGrp="1"/>
          </p:cNvSpPr>
          <p:nvPr>
            <p:ph type="body" idx="1"/>
          </p:nvPr>
        </p:nvSpPr>
        <p:spPr>
          <a:xfrm>
            <a:off x="838200" y="1690688"/>
            <a:ext cx="10515600" cy="4802187"/>
          </a:xfrm>
          <a:prstGeom prst="rect">
            <a:avLst/>
          </a:prstGeom>
          <a:noFill/>
          <a:ln>
            <a:noFill/>
          </a:ln>
        </p:spPr>
        <p:txBody>
          <a:bodyPr spcFirstLastPara="1" wrap="square" lIns="91425" tIns="45700" rIns="91425" bIns="45700" anchor="t" anchorCtr="0">
            <a:normAutofit/>
          </a:bodyPr>
          <a:lstStyle/>
          <a:p>
            <a:pPr indent="-457200" algn="just">
              <a:lnSpc>
                <a:spcPct val="100000"/>
              </a:lnSpc>
              <a:spcBef>
                <a:spcPts val="0"/>
              </a:spcBef>
              <a:buClr>
                <a:srgbClr val="001D35"/>
              </a:buClr>
              <a:buSzPts val="2800"/>
            </a:pPr>
            <a:r>
              <a:rPr lang="en-US" b="1"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Population:</a:t>
            </a:r>
            <a:r>
              <a:rPr lang="en-US"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 The entire group of interest (e.g., all students in a school, all steel produced). </a:t>
            </a:r>
            <a:endParaRPr dirty="0">
              <a:latin typeface="Calibri" panose="020F0502020204030204" pitchFamily="34" charset="0"/>
              <a:ea typeface="Calibri" panose="020F0502020204030204" pitchFamily="34" charset="0"/>
              <a:cs typeface="Calibri" panose="020F0502020204030204" pitchFamily="34" charset="0"/>
            </a:endParaRPr>
          </a:p>
          <a:p>
            <a:pPr indent="-457200" algn="just">
              <a:lnSpc>
                <a:spcPct val="100000"/>
              </a:lnSpc>
              <a:spcBef>
                <a:spcPts val="0"/>
              </a:spcBef>
              <a:buClr>
                <a:srgbClr val="001D35"/>
              </a:buClr>
              <a:buSzPts val="2800"/>
            </a:pPr>
            <a:r>
              <a:rPr lang="en-US" b="1"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Parameter:</a:t>
            </a:r>
            <a:r>
              <a:rPr lang="en-US"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 A numerical characteristic of a population (e.g., the true mean height of all people). </a:t>
            </a:r>
            <a:endParaRPr dirty="0">
              <a:latin typeface="Calibri" panose="020F0502020204030204" pitchFamily="34" charset="0"/>
              <a:ea typeface="Calibri" panose="020F0502020204030204" pitchFamily="34" charset="0"/>
              <a:cs typeface="Calibri" panose="020F0502020204030204" pitchFamily="34" charset="0"/>
            </a:endParaRPr>
          </a:p>
          <a:p>
            <a:pPr indent="-457200" algn="just">
              <a:lnSpc>
                <a:spcPct val="100000"/>
              </a:lnSpc>
              <a:spcBef>
                <a:spcPts val="0"/>
              </a:spcBef>
              <a:buClr>
                <a:srgbClr val="001D35"/>
              </a:buClr>
              <a:buSzPts val="2800"/>
            </a:pPr>
            <a:r>
              <a:rPr lang="en-US" b="1"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Sample:</a:t>
            </a:r>
            <a:r>
              <a:rPr lang="en-US"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 A subset of the population from which data is collected. </a:t>
            </a:r>
            <a:endParaRPr dirty="0">
              <a:latin typeface="Calibri" panose="020F0502020204030204" pitchFamily="34" charset="0"/>
              <a:ea typeface="Calibri" panose="020F0502020204030204" pitchFamily="34" charset="0"/>
              <a:cs typeface="Calibri" panose="020F0502020204030204" pitchFamily="34" charset="0"/>
            </a:endParaRPr>
          </a:p>
          <a:p>
            <a:pPr indent="-457200" algn="just">
              <a:lnSpc>
                <a:spcPct val="100000"/>
              </a:lnSpc>
              <a:spcBef>
                <a:spcPts val="0"/>
              </a:spcBef>
              <a:buClr>
                <a:srgbClr val="001D35"/>
              </a:buClr>
              <a:buSzPts val="2800"/>
            </a:pPr>
            <a:r>
              <a:rPr lang="en-US" b="1"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Statistic:</a:t>
            </a:r>
            <a:r>
              <a:rPr lang="en-US"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 A numerical characteristic of a sample (e.g., the mean height of a sample of students). </a:t>
            </a:r>
            <a:endParaRPr dirty="0">
              <a:latin typeface="Calibri" panose="020F0502020204030204" pitchFamily="34" charset="0"/>
              <a:ea typeface="Calibri" panose="020F0502020204030204" pitchFamily="34" charset="0"/>
              <a:cs typeface="Calibri" panose="020F0502020204030204" pitchFamily="34" charset="0"/>
            </a:endParaRPr>
          </a:p>
          <a:p>
            <a:pPr indent="-457200" algn="just">
              <a:lnSpc>
                <a:spcPct val="100000"/>
              </a:lnSpc>
              <a:spcBef>
                <a:spcPts val="0"/>
              </a:spcBef>
              <a:buClr>
                <a:srgbClr val="001D35"/>
              </a:buClr>
              <a:buSzPts val="2800"/>
            </a:pPr>
            <a:r>
              <a:rPr lang="en-US" b="1" u="sng"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hlinkClick r:id="rId3">
                  <a:extLst>
                    <a:ext uri="{A12FA001-AC4F-418D-AE19-62706E023703}">
                      <ahyp:hlinkClr xmlns:ahyp="http://schemas.microsoft.com/office/drawing/2018/hyperlinkcolor" val="tx"/>
                    </a:ext>
                  </a:extLst>
                </a:hlinkClick>
              </a:rPr>
              <a:t>Estimator</a:t>
            </a:r>
            <a:r>
              <a:rPr lang="en-US" b="1"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a:t>
            </a:r>
            <a:r>
              <a:rPr lang="en-US"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 A rule or formula used to calculate an estimate from sample data (e.g., the sample mean is an estimator for the population mean). </a:t>
            </a:r>
            <a:endParaRPr dirty="0">
              <a:latin typeface="Calibri" panose="020F0502020204030204" pitchFamily="34" charset="0"/>
              <a:ea typeface="Calibri" panose="020F0502020204030204" pitchFamily="34" charset="0"/>
              <a:cs typeface="Calibri" panose="020F0502020204030204" pitchFamily="34" charset="0"/>
            </a:endParaRPr>
          </a:p>
          <a:p>
            <a:pPr indent="-457200" algn="just">
              <a:lnSpc>
                <a:spcPct val="100000"/>
              </a:lnSpc>
              <a:spcBef>
                <a:spcPts val="0"/>
              </a:spcBef>
              <a:buClr>
                <a:srgbClr val="001D35"/>
              </a:buClr>
              <a:buSzPts val="2800"/>
            </a:pPr>
            <a:r>
              <a:rPr lang="en-US" b="1"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Estimate:</a:t>
            </a:r>
            <a:r>
              <a:rPr lang="en-US"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 The single computed value produced by an estimator. </a:t>
            </a:r>
            <a:endParaRPr dirty="0">
              <a:latin typeface="Calibri" panose="020F0502020204030204" pitchFamily="34" charset="0"/>
              <a:ea typeface="Calibri" panose="020F0502020204030204" pitchFamily="34" charset="0"/>
              <a:cs typeface="Calibri" panose="020F0502020204030204" pitchFamily="34" charset="0"/>
            </a:endParaRPr>
          </a:p>
          <a:p>
            <a:pPr marL="635000" indent="-457200">
              <a:buSzPts val="2800"/>
            </a:pPr>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A3A3-89EA-21E1-83AA-0DFA03B10FEB}"/>
              </a:ext>
            </a:extLst>
          </p:cNvPr>
          <p:cNvSpPr>
            <a:spLocks noGrp="1"/>
          </p:cNvSpPr>
          <p:nvPr>
            <p:ph type="title"/>
          </p:nvPr>
        </p:nvSpPr>
        <p:spPr/>
        <p:txBody>
          <a:bodyPr>
            <a:normAutofit/>
          </a:bodyPr>
          <a:lstStyle/>
          <a:p>
            <a:r>
              <a:rPr lang="en-US" dirty="0"/>
              <a:t>Example: Estimating a Population Parameter</a:t>
            </a:r>
            <a:endParaRPr lang="en-IN" dirty="0"/>
          </a:p>
        </p:txBody>
      </p:sp>
      <p:sp>
        <p:nvSpPr>
          <p:cNvPr id="3" name="Text Placeholder 2">
            <a:extLst>
              <a:ext uri="{FF2B5EF4-FFF2-40B4-BE49-F238E27FC236}">
                <a16:creationId xmlns:a16="http://schemas.microsoft.com/office/drawing/2014/main" id="{5C090B59-ADAF-07C0-DA4A-171CFBE8004B}"/>
              </a:ext>
            </a:extLst>
          </p:cNvPr>
          <p:cNvSpPr>
            <a:spLocks noGrp="1"/>
          </p:cNvSpPr>
          <p:nvPr>
            <p:ph type="body" idx="1"/>
          </p:nvPr>
        </p:nvSpPr>
        <p:spPr/>
        <p:txBody>
          <a:bodyPr/>
          <a:lstStyle/>
          <a:p>
            <a:r>
              <a:rPr lang="en-US" dirty="0"/>
              <a:t>Goal: average height of all students in a college (unknown parameter).</a:t>
            </a:r>
          </a:p>
          <a:p>
            <a:r>
              <a:rPr lang="en-US" dirty="0"/>
              <a:t>Action: measure the height of all students in a class and compute the average (statistic).</a:t>
            </a:r>
          </a:p>
          <a:p>
            <a:r>
              <a:rPr lang="en-US" dirty="0"/>
              <a:t>Use the class average as an estimate of all student’s true average.</a:t>
            </a:r>
            <a:endParaRPr lang="en-IN" dirty="0"/>
          </a:p>
        </p:txBody>
      </p:sp>
    </p:spTree>
    <p:extLst>
      <p:ext uri="{BB962C8B-B14F-4D97-AF65-F5344CB8AC3E}">
        <p14:creationId xmlns:p14="http://schemas.microsoft.com/office/powerpoint/2010/main" val="3509650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5314B-320A-59EE-EF3D-FFA6D32E4E0C}"/>
              </a:ext>
            </a:extLst>
          </p:cNvPr>
          <p:cNvSpPr>
            <a:spLocks noGrp="1"/>
          </p:cNvSpPr>
          <p:nvPr>
            <p:ph type="title"/>
          </p:nvPr>
        </p:nvSpPr>
        <p:spPr/>
        <p:txBody>
          <a:bodyPr/>
          <a:lstStyle/>
          <a:p>
            <a:r>
              <a:rPr lang="en-IN" dirty="0"/>
              <a:t>Parameter vs. Statistic &amp; Estimator vs. Estimate</a:t>
            </a:r>
          </a:p>
        </p:txBody>
      </p:sp>
      <p:pic>
        <p:nvPicPr>
          <p:cNvPr id="5" name="Picture 4">
            <a:extLst>
              <a:ext uri="{FF2B5EF4-FFF2-40B4-BE49-F238E27FC236}">
                <a16:creationId xmlns:a16="http://schemas.microsoft.com/office/drawing/2014/main" id="{1F6FFBAF-60C4-C0D9-548C-BF0F63EC1A51}"/>
              </a:ext>
            </a:extLst>
          </p:cNvPr>
          <p:cNvPicPr>
            <a:picLocks noChangeAspect="1"/>
          </p:cNvPicPr>
          <p:nvPr/>
        </p:nvPicPr>
        <p:blipFill>
          <a:blip r:embed="rId2"/>
          <a:stretch>
            <a:fillRect/>
          </a:stretch>
        </p:blipFill>
        <p:spPr>
          <a:xfrm>
            <a:off x="838200" y="2018679"/>
            <a:ext cx="10515600" cy="3944799"/>
          </a:xfrm>
          <a:prstGeom prst="rect">
            <a:avLst/>
          </a:prstGeom>
        </p:spPr>
      </p:pic>
    </p:spTree>
    <p:extLst>
      <p:ext uri="{BB962C8B-B14F-4D97-AF65-F5344CB8AC3E}">
        <p14:creationId xmlns:p14="http://schemas.microsoft.com/office/powerpoint/2010/main" val="565114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4A5D52-7A20-A63F-F702-4D7023FF8B14}"/>
              </a:ext>
            </a:extLst>
          </p:cNvPr>
          <p:cNvSpPr>
            <a:spLocks noGrp="1"/>
          </p:cNvSpPr>
          <p:nvPr>
            <p:ph type="title"/>
          </p:nvPr>
        </p:nvSpPr>
        <p:spPr/>
        <p:txBody>
          <a:bodyPr>
            <a:normAutofit/>
          </a:bodyPr>
          <a:lstStyle/>
          <a:p>
            <a:r>
              <a:rPr lang="en-IN" dirty="0"/>
              <a:t>Why Estimation Matters in Al and Data Science</a:t>
            </a:r>
          </a:p>
        </p:txBody>
      </p:sp>
      <p:sp>
        <p:nvSpPr>
          <p:cNvPr id="4" name="Text Placeholder 3">
            <a:extLst>
              <a:ext uri="{FF2B5EF4-FFF2-40B4-BE49-F238E27FC236}">
                <a16:creationId xmlns:a16="http://schemas.microsoft.com/office/drawing/2014/main" id="{116CE098-4D40-7970-7C1A-3B53EAEBBBB8}"/>
              </a:ext>
            </a:extLst>
          </p:cNvPr>
          <p:cNvSpPr>
            <a:spLocks noGrp="1"/>
          </p:cNvSpPr>
          <p:nvPr>
            <p:ph type="body" idx="1"/>
          </p:nvPr>
        </p:nvSpPr>
        <p:spPr/>
        <p:txBody>
          <a:bodyPr/>
          <a:lstStyle/>
          <a:p>
            <a:r>
              <a:rPr lang="en-IN" dirty="0"/>
              <a:t>Models in ML Al have unknown parameters (e.g., mean/variance of a Gaussian).</a:t>
            </a:r>
          </a:p>
          <a:p>
            <a:r>
              <a:rPr lang="en-IN" dirty="0"/>
              <a:t>We need estimators to: train models, predict outcomes, and quantify uncertainty.</a:t>
            </a:r>
          </a:p>
          <a:p>
            <a:r>
              <a:rPr lang="en-IN" dirty="0"/>
              <a:t>This motivates systematic methods like Maximum Likelihood Estimation (MLE)</a:t>
            </a:r>
          </a:p>
        </p:txBody>
      </p:sp>
    </p:spTree>
    <p:extLst>
      <p:ext uri="{BB962C8B-B14F-4D97-AF65-F5344CB8AC3E}">
        <p14:creationId xmlns:p14="http://schemas.microsoft.com/office/powerpoint/2010/main" val="500192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Likelihood Estimate</a:t>
            </a:r>
          </a:p>
        </p:txBody>
      </p:sp>
      <p:sp>
        <p:nvSpPr>
          <p:cNvPr id="284" name="Google Shape;284;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dirty="0"/>
              <a:t>Likelihood estimation is a statistical method to estimate the parameters of a statistical model by finding the parameters that maximize the likelihood function, which is the probability of observing the given data under the assumed model. </a:t>
            </a:r>
            <a:endParaRPr dirty="0"/>
          </a:p>
          <a:p>
            <a:pPr marL="228600" lvl="0" indent="-228600" algn="just" rtl="0">
              <a:lnSpc>
                <a:spcPct val="90000"/>
              </a:lnSpc>
              <a:spcBef>
                <a:spcPts val="1000"/>
              </a:spcBef>
              <a:spcAft>
                <a:spcPts val="0"/>
              </a:spcAft>
              <a:buClr>
                <a:schemeClr val="dk1"/>
              </a:buClr>
              <a:buSzPts val="2800"/>
              <a:buChar char="•"/>
            </a:pPr>
            <a:r>
              <a:rPr lang="en-US" dirty="0"/>
              <a:t>This technique, known as Maximum Likelihood Estimation (MLE), finds the parameter values (maximum likelihood estimates) that make the observed data most probable, providing the best "fit" for the data within the assumed model. </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91" name="Google Shape;291;p29"/>
          <p:cNvPicPr preferRelativeResize="0"/>
          <p:nvPr/>
        </p:nvPicPr>
        <p:blipFill rotWithShape="1">
          <a:blip r:embed="rId3">
            <a:alphaModFix/>
          </a:blip>
          <a:srcRect/>
          <a:stretch/>
        </p:blipFill>
        <p:spPr>
          <a:xfrm>
            <a:off x="136688" y="104307"/>
            <a:ext cx="11869781" cy="675369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pic>
        <p:nvPicPr>
          <p:cNvPr id="298" name="Google Shape;298;p30"/>
          <p:cNvPicPr preferRelativeResize="0"/>
          <p:nvPr/>
        </p:nvPicPr>
        <p:blipFill rotWithShape="1">
          <a:blip r:embed="rId3">
            <a:alphaModFix/>
          </a:blip>
          <a:srcRect/>
          <a:stretch/>
        </p:blipFill>
        <p:spPr>
          <a:xfrm>
            <a:off x="121834" y="0"/>
            <a:ext cx="11974087" cy="676854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1"/>
          <p:cNvSpPr txBox="1">
            <a:spLocks noGrp="1"/>
          </p:cNvSpPr>
          <p:nvPr>
            <p:ph type="title"/>
          </p:nvPr>
        </p:nvSpPr>
        <p:spPr>
          <a:xfrm>
            <a:off x="838200" y="255796"/>
            <a:ext cx="10515600" cy="9468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Log-likelihood function</a:t>
            </a:r>
            <a:endParaRPr dirty="0"/>
          </a:p>
        </p:txBody>
      </p:sp>
      <p:pic>
        <p:nvPicPr>
          <p:cNvPr id="305" name="Google Shape;305;p31"/>
          <p:cNvPicPr preferRelativeResize="0"/>
          <p:nvPr/>
        </p:nvPicPr>
        <p:blipFill rotWithShape="1">
          <a:blip r:embed="rId3">
            <a:alphaModFix/>
          </a:blip>
          <a:srcRect/>
          <a:stretch/>
        </p:blipFill>
        <p:spPr>
          <a:xfrm>
            <a:off x="619538" y="1341783"/>
            <a:ext cx="11267661" cy="55659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312" name="Google Shape;312;p32"/>
          <p:cNvPicPr preferRelativeResize="0"/>
          <p:nvPr/>
        </p:nvPicPr>
        <p:blipFill rotWithShape="1">
          <a:blip r:embed="rId3">
            <a:alphaModFix/>
          </a:blip>
          <a:srcRect/>
          <a:stretch/>
        </p:blipFill>
        <p:spPr>
          <a:xfrm>
            <a:off x="2679010" y="243716"/>
            <a:ext cx="7219700" cy="958919"/>
          </a:xfrm>
          <a:prstGeom prst="rect">
            <a:avLst/>
          </a:prstGeom>
          <a:noFill/>
          <a:ln>
            <a:noFill/>
          </a:ln>
        </p:spPr>
      </p:pic>
      <p:pic>
        <p:nvPicPr>
          <p:cNvPr id="313" name="Google Shape;313;p32"/>
          <p:cNvPicPr preferRelativeResize="0"/>
          <p:nvPr/>
        </p:nvPicPr>
        <p:blipFill rotWithShape="1">
          <a:blip r:embed="rId4">
            <a:alphaModFix/>
          </a:blip>
          <a:srcRect/>
          <a:stretch/>
        </p:blipFill>
        <p:spPr>
          <a:xfrm>
            <a:off x="829438" y="1202635"/>
            <a:ext cx="10719832" cy="54116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Steps for calculating Maximum Likelihood Estimate(MLE)</a:t>
            </a:r>
            <a:endParaRPr dirty="0"/>
          </a:p>
        </p:txBody>
      </p:sp>
      <p:pic>
        <p:nvPicPr>
          <p:cNvPr id="320" name="Google Shape;320;p33"/>
          <p:cNvPicPr preferRelativeResize="0"/>
          <p:nvPr/>
        </p:nvPicPr>
        <p:blipFill rotWithShape="1">
          <a:blip r:embed="rId3">
            <a:alphaModFix/>
          </a:blip>
          <a:srcRect/>
          <a:stretch/>
        </p:blipFill>
        <p:spPr>
          <a:xfrm>
            <a:off x="936202" y="1690688"/>
            <a:ext cx="10742276" cy="435230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7" name="Google Shape;327;p34"/>
          <p:cNvPicPr preferRelativeResize="0"/>
          <p:nvPr/>
        </p:nvPicPr>
        <p:blipFill rotWithShape="1">
          <a:blip r:embed="rId3">
            <a:alphaModFix/>
          </a:blip>
          <a:srcRect/>
          <a:stretch/>
        </p:blipFill>
        <p:spPr>
          <a:xfrm>
            <a:off x="206799" y="112644"/>
            <a:ext cx="11829488" cy="656645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4" name="Google Shape;334;p35"/>
          <p:cNvPicPr preferRelativeResize="0"/>
          <p:nvPr/>
        </p:nvPicPr>
        <p:blipFill rotWithShape="1">
          <a:blip r:embed="rId3">
            <a:alphaModFix/>
          </a:blip>
          <a:srcRect/>
          <a:stretch/>
        </p:blipFill>
        <p:spPr>
          <a:xfrm>
            <a:off x="396925" y="327671"/>
            <a:ext cx="11321310" cy="54867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pic>
        <p:nvPicPr>
          <p:cNvPr id="341" name="Google Shape;341;p36"/>
          <p:cNvPicPr preferRelativeResize="0"/>
          <p:nvPr/>
        </p:nvPicPr>
        <p:blipFill rotWithShape="1">
          <a:blip r:embed="rId3">
            <a:alphaModFix/>
          </a:blip>
          <a:srcRect/>
          <a:stretch/>
        </p:blipFill>
        <p:spPr>
          <a:xfrm>
            <a:off x="276799" y="424000"/>
            <a:ext cx="11471253" cy="614576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D94FC0-1A2A-496D-0531-E0A3BE8D9380}"/>
              </a:ext>
            </a:extLst>
          </p:cNvPr>
          <p:cNvPicPr>
            <a:picLocks noChangeAspect="1"/>
          </p:cNvPicPr>
          <p:nvPr/>
        </p:nvPicPr>
        <p:blipFill>
          <a:blip r:embed="rId2"/>
          <a:stretch>
            <a:fillRect/>
          </a:stretch>
        </p:blipFill>
        <p:spPr>
          <a:xfrm>
            <a:off x="840379" y="351983"/>
            <a:ext cx="3877824" cy="781078"/>
          </a:xfrm>
          <a:prstGeom prst="rect">
            <a:avLst/>
          </a:prstGeom>
        </p:spPr>
      </p:pic>
      <p:pic>
        <p:nvPicPr>
          <p:cNvPr id="5" name="Picture 4">
            <a:extLst>
              <a:ext uri="{FF2B5EF4-FFF2-40B4-BE49-F238E27FC236}">
                <a16:creationId xmlns:a16="http://schemas.microsoft.com/office/drawing/2014/main" id="{F010F8A5-36DC-9A91-1029-88934BD27248}"/>
              </a:ext>
            </a:extLst>
          </p:cNvPr>
          <p:cNvPicPr>
            <a:picLocks noChangeAspect="1"/>
          </p:cNvPicPr>
          <p:nvPr/>
        </p:nvPicPr>
        <p:blipFill>
          <a:blip r:embed="rId3"/>
          <a:stretch>
            <a:fillRect/>
          </a:stretch>
        </p:blipFill>
        <p:spPr>
          <a:xfrm>
            <a:off x="953485" y="1493106"/>
            <a:ext cx="9282364" cy="1935894"/>
          </a:xfrm>
          <a:prstGeom prst="rect">
            <a:avLst/>
          </a:prstGeom>
        </p:spPr>
      </p:pic>
      <p:pic>
        <p:nvPicPr>
          <p:cNvPr id="7" name="Picture 6">
            <a:extLst>
              <a:ext uri="{FF2B5EF4-FFF2-40B4-BE49-F238E27FC236}">
                <a16:creationId xmlns:a16="http://schemas.microsoft.com/office/drawing/2014/main" id="{2E2D66AF-FAA9-0AF1-A027-C67CFC7006D9}"/>
              </a:ext>
            </a:extLst>
          </p:cNvPr>
          <p:cNvPicPr>
            <a:picLocks noChangeAspect="1"/>
          </p:cNvPicPr>
          <p:nvPr/>
        </p:nvPicPr>
        <p:blipFill>
          <a:blip r:embed="rId4"/>
          <a:stretch>
            <a:fillRect/>
          </a:stretch>
        </p:blipFill>
        <p:spPr>
          <a:xfrm>
            <a:off x="2716772" y="3689652"/>
            <a:ext cx="7668886" cy="1675241"/>
          </a:xfrm>
          <a:prstGeom prst="rect">
            <a:avLst/>
          </a:prstGeom>
        </p:spPr>
      </p:pic>
    </p:spTree>
    <p:extLst>
      <p:ext uri="{BB962C8B-B14F-4D97-AF65-F5344CB8AC3E}">
        <p14:creationId xmlns:p14="http://schemas.microsoft.com/office/powerpoint/2010/main" val="2953752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pic>
        <p:nvPicPr>
          <p:cNvPr id="355" name="Google Shape;355;p38"/>
          <p:cNvPicPr preferRelativeResize="0"/>
          <p:nvPr/>
        </p:nvPicPr>
        <p:blipFill rotWithShape="1">
          <a:blip r:embed="rId3">
            <a:alphaModFix/>
          </a:blip>
          <a:srcRect/>
          <a:stretch/>
        </p:blipFill>
        <p:spPr>
          <a:xfrm>
            <a:off x="178635" y="92862"/>
            <a:ext cx="11834730" cy="664586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2" name="Google Shape;362;p39"/>
          <p:cNvPicPr preferRelativeResize="0"/>
          <p:nvPr/>
        </p:nvPicPr>
        <p:blipFill rotWithShape="1">
          <a:blip r:embed="rId3">
            <a:alphaModFix/>
          </a:blip>
          <a:srcRect/>
          <a:stretch/>
        </p:blipFill>
        <p:spPr>
          <a:xfrm>
            <a:off x="186659" y="0"/>
            <a:ext cx="11760176" cy="6400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pic>
        <p:nvPicPr>
          <p:cNvPr id="369" name="Google Shape;369;p40"/>
          <p:cNvPicPr preferRelativeResize="0"/>
          <p:nvPr/>
        </p:nvPicPr>
        <p:blipFill rotWithShape="1">
          <a:blip r:embed="rId3">
            <a:alphaModFix/>
          </a:blip>
          <a:srcRect/>
          <a:stretch/>
        </p:blipFill>
        <p:spPr>
          <a:xfrm>
            <a:off x="535244" y="573378"/>
            <a:ext cx="11004086" cy="50024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6">
          <a:extLst>
            <a:ext uri="{FF2B5EF4-FFF2-40B4-BE49-F238E27FC236}">
              <a16:creationId xmlns:a16="http://schemas.microsoft.com/office/drawing/2014/main" id="{7C636711-9C1F-72E6-BB6B-5A41A3CD1E30}"/>
            </a:ext>
          </a:extLst>
        </p:cNvPr>
        <p:cNvGrpSpPr/>
        <p:nvPr/>
      </p:nvGrpSpPr>
      <p:grpSpPr>
        <a:xfrm>
          <a:off x="0" y="0"/>
          <a:ext cx="0" cy="0"/>
          <a:chOff x="0" y="0"/>
          <a:chExt cx="0" cy="0"/>
        </a:xfrm>
      </p:grpSpPr>
      <p:pic>
        <p:nvPicPr>
          <p:cNvPr id="370" name="Google Shape;370;p40">
            <a:extLst>
              <a:ext uri="{FF2B5EF4-FFF2-40B4-BE49-F238E27FC236}">
                <a16:creationId xmlns:a16="http://schemas.microsoft.com/office/drawing/2014/main" id="{0C32800D-56E6-2498-332C-4FA6A8471554}"/>
              </a:ext>
            </a:extLst>
          </p:cNvPr>
          <p:cNvPicPr preferRelativeResize="0"/>
          <p:nvPr/>
        </p:nvPicPr>
        <p:blipFill rotWithShape="1">
          <a:blip r:embed="rId3">
            <a:alphaModFix/>
          </a:blip>
          <a:srcRect/>
          <a:stretch/>
        </p:blipFill>
        <p:spPr>
          <a:xfrm>
            <a:off x="575000" y="553706"/>
            <a:ext cx="11063721" cy="5230868"/>
          </a:xfrm>
          <a:prstGeom prst="rect">
            <a:avLst/>
          </a:prstGeom>
          <a:noFill/>
          <a:ln>
            <a:noFill/>
          </a:ln>
        </p:spPr>
      </p:pic>
    </p:spTree>
    <p:extLst>
      <p:ext uri="{BB962C8B-B14F-4D97-AF65-F5344CB8AC3E}">
        <p14:creationId xmlns:p14="http://schemas.microsoft.com/office/powerpoint/2010/main" val="100253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1"/>
          <p:cNvSpPr txBox="1">
            <a:spLocks noGrp="1"/>
          </p:cNvSpPr>
          <p:nvPr>
            <p:ph type="title"/>
          </p:nvPr>
        </p:nvSpPr>
        <p:spPr>
          <a:xfrm>
            <a:off x="838200" y="275674"/>
            <a:ext cx="10515600" cy="87726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MLE for Bernoulli distribution</a:t>
            </a:r>
            <a:endParaRPr dirty="0"/>
          </a:p>
        </p:txBody>
      </p:sp>
      <p:pic>
        <p:nvPicPr>
          <p:cNvPr id="376" name="Google Shape;376;p41"/>
          <p:cNvPicPr preferRelativeResize="0">
            <a:picLocks noGrp="1"/>
          </p:cNvPicPr>
          <p:nvPr>
            <p:ph type="body" idx="1"/>
          </p:nvPr>
        </p:nvPicPr>
        <p:blipFill rotWithShape="1">
          <a:blip r:embed="rId3">
            <a:alphaModFix/>
          </a:blip>
          <a:srcRect/>
          <a:stretch/>
        </p:blipFill>
        <p:spPr>
          <a:xfrm>
            <a:off x="934064" y="1396181"/>
            <a:ext cx="11062466" cy="528975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pic>
        <p:nvPicPr>
          <p:cNvPr id="383" name="Google Shape;383;p42"/>
          <p:cNvPicPr preferRelativeResize="0"/>
          <p:nvPr/>
        </p:nvPicPr>
        <p:blipFill rotWithShape="1">
          <a:blip r:embed="rId3">
            <a:alphaModFix/>
          </a:blip>
          <a:srcRect/>
          <a:stretch/>
        </p:blipFill>
        <p:spPr>
          <a:xfrm>
            <a:off x="264830" y="215668"/>
            <a:ext cx="11850969" cy="641373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90" name="Google Shape;390;p43"/>
          <p:cNvPicPr preferRelativeResize="0"/>
          <p:nvPr/>
        </p:nvPicPr>
        <p:blipFill rotWithShape="1">
          <a:blip r:embed="rId3">
            <a:alphaModFix/>
          </a:blip>
          <a:srcRect/>
          <a:stretch/>
        </p:blipFill>
        <p:spPr>
          <a:xfrm>
            <a:off x="357806" y="283056"/>
            <a:ext cx="11370368" cy="2927283"/>
          </a:xfrm>
          <a:prstGeom prst="rect">
            <a:avLst/>
          </a:prstGeom>
          <a:noFill/>
          <a:ln>
            <a:noFill/>
          </a:ln>
        </p:spPr>
      </p:pic>
      <p:pic>
        <p:nvPicPr>
          <p:cNvPr id="391" name="Google Shape;391;p43"/>
          <p:cNvPicPr preferRelativeResize="0"/>
          <p:nvPr/>
        </p:nvPicPr>
        <p:blipFill rotWithShape="1">
          <a:blip r:embed="rId4">
            <a:alphaModFix/>
          </a:blip>
          <a:srcRect/>
          <a:stretch/>
        </p:blipFill>
        <p:spPr>
          <a:xfrm>
            <a:off x="672547" y="2502231"/>
            <a:ext cx="11161647" cy="3282344"/>
          </a:xfrm>
          <a:prstGeom prst="rect">
            <a:avLst/>
          </a:prstGeom>
          <a:noFill/>
          <a:ln>
            <a:noFill/>
          </a:ln>
        </p:spPr>
      </p:pic>
      <p:pic>
        <p:nvPicPr>
          <p:cNvPr id="3" name="Picture 2">
            <a:extLst>
              <a:ext uri="{FF2B5EF4-FFF2-40B4-BE49-F238E27FC236}">
                <a16:creationId xmlns:a16="http://schemas.microsoft.com/office/drawing/2014/main" id="{67376CEF-EE7C-3622-EEAF-28A1EEF86585}"/>
              </a:ext>
            </a:extLst>
          </p:cNvPr>
          <p:cNvPicPr>
            <a:picLocks noChangeAspect="1"/>
          </p:cNvPicPr>
          <p:nvPr/>
        </p:nvPicPr>
        <p:blipFill>
          <a:blip r:embed="rId5"/>
          <a:stretch>
            <a:fillRect/>
          </a:stretch>
        </p:blipFill>
        <p:spPr>
          <a:xfrm>
            <a:off x="4024713" y="5877370"/>
            <a:ext cx="6252349" cy="697574"/>
          </a:xfrm>
          <a:prstGeom prst="rect">
            <a:avLst/>
          </a:prstGeom>
        </p:spPr>
      </p:pic>
      <p:pic>
        <p:nvPicPr>
          <p:cNvPr id="5" name="Picture 4">
            <a:extLst>
              <a:ext uri="{FF2B5EF4-FFF2-40B4-BE49-F238E27FC236}">
                <a16:creationId xmlns:a16="http://schemas.microsoft.com/office/drawing/2014/main" id="{8E05D8C6-A7E1-0CE9-7DCB-14C1B18BC968}"/>
              </a:ext>
            </a:extLst>
          </p:cNvPr>
          <p:cNvPicPr>
            <a:picLocks noChangeAspect="1"/>
          </p:cNvPicPr>
          <p:nvPr/>
        </p:nvPicPr>
        <p:blipFill>
          <a:blip r:embed="rId6"/>
          <a:stretch>
            <a:fillRect/>
          </a:stretch>
        </p:blipFill>
        <p:spPr>
          <a:xfrm>
            <a:off x="1726095" y="5485137"/>
            <a:ext cx="1679424" cy="137286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637323-F4B8-627A-BFE1-792155336A88}"/>
              </a:ext>
            </a:extLst>
          </p:cNvPr>
          <p:cNvSpPr txBox="1"/>
          <p:nvPr/>
        </p:nvSpPr>
        <p:spPr>
          <a:xfrm>
            <a:off x="168965" y="288260"/>
            <a:ext cx="11638721" cy="1384995"/>
          </a:xfrm>
          <a:prstGeom prst="rect">
            <a:avLst/>
          </a:prstGeom>
          <a:noFill/>
        </p:spPr>
        <p:txBody>
          <a:bodyPr wrap="square">
            <a:spAutoFit/>
          </a:bodyPr>
          <a:lstStyle/>
          <a:p>
            <a:pPr>
              <a:buNone/>
              <a:tabLst>
                <a:tab pos="1143000" algn="l"/>
              </a:tabLst>
            </a:pPr>
            <a:r>
              <a:rPr lang="en-IN" sz="2800" dirty="0">
                <a:effectLst/>
                <a:latin typeface="Calibri" panose="020F0502020204030204" pitchFamily="34" charset="0"/>
                <a:ea typeface="Calibri" panose="020F0502020204030204" pitchFamily="34" charset="0"/>
                <a:cs typeface="Calibri" panose="020F0502020204030204" pitchFamily="34" charset="0"/>
              </a:rPr>
              <a:t>Apply MLE to estimate parameters of a normal distribution given the sample:</a:t>
            </a:r>
          </a:p>
          <a:p>
            <a:pPr marL="457200" indent="457200">
              <a:buNone/>
              <a:tabLst>
                <a:tab pos="581660" algn="l"/>
                <a:tab pos="114300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800" dirty="0">
                <a:effectLst/>
                <a:latin typeface="Calibri" panose="020F0502020204030204" pitchFamily="34" charset="0"/>
                <a:ea typeface="Calibri" panose="020F0502020204030204" pitchFamily="34" charset="0"/>
                <a:cs typeface="Calibri" panose="020F0502020204030204" pitchFamily="34" charset="0"/>
              </a:rPr>
              <a:t>Data: [2.1, 2.3, 1.8, 2.5, 2.0, 2.2, 1.9, 2.4]</a:t>
            </a:r>
          </a:p>
          <a:p>
            <a:pPr>
              <a:buNone/>
            </a:pPr>
            <a:r>
              <a:rPr lang="en-IN" sz="2800" dirty="0">
                <a:effectLst/>
                <a:latin typeface="Calibri" panose="020F0502020204030204" pitchFamily="34" charset="0"/>
                <a:ea typeface="Calibri" panose="020F0502020204030204" pitchFamily="34" charset="0"/>
                <a:cs typeface="Calibri" panose="020F0502020204030204" pitchFamily="34" charset="0"/>
              </a:rPr>
              <a:t>Find the estimates for mean and variance. </a:t>
            </a:r>
            <a:endParaRPr lang="en-IN" sz="2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A395C388-C27A-DDBB-D676-F0E8002B36FC}"/>
              </a:ext>
            </a:extLst>
          </p:cNvPr>
          <p:cNvPicPr>
            <a:picLocks noChangeAspect="1"/>
          </p:cNvPicPr>
          <p:nvPr/>
        </p:nvPicPr>
        <p:blipFill>
          <a:blip r:embed="rId2"/>
          <a:stretch>
            <a:fillRect/>
          </a:stretch>
        </p:blipFill>
        <p:spPr>
          <a:xfrm>
            <a:off x="590270" y="2152075"/>
            <a:ext cx="10159219" cy="2837368"/>
          </a:xfrm>
          <a:prstGeom prst="rect">
            <a:avLst/>
          </a:prstGeom>
        </p:spPr>
      </p:pic>
    </p:spTree>
    <p:extLst>
      <p:ext uri="{BB962C8B-B14F-4D97-AF65-F5344CB8AC3E}">
        <p14:creationId xmlns:p14="http://schemas.microsoft.com/office/powerpoint/2010/main" val="2340288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B12E7D-E140-C029-998E-D654A186A875}"/>
              </a:ext>
            </a:extLst>
          </p:cNvPr>
          <p:cNvPicPr>
            <a:picLocks noChangeAspect="1"/>
          </p:cNvPicPr>
          <p:nvPr/>
        </p:nvPicPr>
        <p:blipFill>
          <a:blip r:embed="rId2"/>
          <a:stretch>
            <a:fillRect/>
          </a:stretch>
        </p:blipFill>
        <p:spPr>
          <a:xfrm>
            <a:off x="99121" y="155761"/>
            <a:ext cx="11758262" cy="5061788"/>
          </a:xfrm>
          <a:prstGeom prst="rect">
            <a:avLst/>
          </a:prstGeom>
        </p:spPr>
      </p:pic>
    </p:spTree>
    <p:extLst>
      <p:ext uri="{BB962C8B-B14F-4D97-AF65-F5344CB8AC3E}">
        <p14:creationId xmlns:p14="http://schemas.microsoft.com/office/powerpoint/2010/main" val="1077190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6A9238-2965-0E99-3E2E-7E9B74C7E63B}"/>
              </a:ext>
            </a:extLst>
          </p:cNvPr>
          <p:cNvPicPr>
            <a:picLocks noChangeAspect="1"/>
          </p:cNvPicPr>
          <p:nvPr/>
        </p:nvPicPr>
        <p:blipFill>
          <a:blip r:embed="rId2"/>
          <a:stretch>
            <a:fillRect/>
          </a:stretch>
        </p:blipFill>
        <p:spPr>
          <a:xfrm>
            <a:off x="333929" y="68305"/>
            <a:ext cx="9138062" cy="6721389"/>
          </a:xfrm>
          <a:prstGeom prst="rect">
            <a:avLst/>
          </a:prstGeom>
        </p:spPr>
      </p:pic>
    </p:spTree>
    <p:extLst>
      <p:ext uri="{BB962C8B-B14F-4D97-AF65-F5344CB8AC3E}">
        <p14:creationId xmlns:p14="http://schemas.microsoft.com/office/powerpoint/2010/main" val="22322260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A64EEA-03DA-F882-8FDC-BED897EE7004}"/>
              </a:ext>
            </a:extLst>
          </p:cNvPr>
          <p:cNvPicPr>
            <a:picLocks noChangeAspect="1"/>
          </p:cNvPicPr>
          <p:nvPr/>
        </p:nvPicPr>
        <p:blipFill>
          <a:blip r:embed="rId2"/>
          <a:stretch>
            <a:fillRect/>
          </a:stretch>
        </p:blipFill>
        <p:spPr>
          <a:xfrm>
            <a:off x="352152" y="541431"/>
            <a:ext cx="10898349" cy="4905212"/>
          </a:xfrm>
          <a:prstGeom prst="rect">
            <a:avLst/>
          </a:prstGeom>
        </p:spPr>
      </p:pic>
    </p:spTree>
    <p:extLst>
      <p:ext uri="{BB962C8B-B14F-4D97-AF65-F5344CB8AC3E}">
        <p14:creationId xmlns:p14="http://schemas.microsoft.com/office/powerpoint/2010/main" val="28566750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1148</TotalTime>
  <Words>464</Words>
  <Application>Microsoft Office PowerPoint</Application>
  <PresentationFormat>Widescreen</PresentationFormat>
  <Paragraphs>31</Paragraphs>
  <Slides>27</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Statistical Estimation - Maximum Likelihood Estimator (MLE) </vt:lpstr>
      <vt:lpstr>Statistical estimation</vt:lpstr>
      <vt:lpstr>Key terms</vt:lpstr>
      <vt:lpstr>Example: Estimating a Population Parameter</vt:lpstr>
      <vt:lpstr>Parameter vs. Statistic &amp; Estimator vs. Estimate</vt:lpstr>
      <vt:lpstr>Why Estimation Matters in Al and Data Science</vt:lpstr>
      <vt:lpstr>Likelihood Estimate</vt:lpstr>
      <vt:lpstr>PowerPoint Presentation</vt:lpstr>
      <vt:lpstr>PowerPoint Presentation</vt:lpstr>
      <vt:lpstr>Log-likelihood function</vt:lpstr>
      <vt:lpstr>PowerPoint Presentation</vt:lpstr>
      <vt:lpstr>Steps for calculating Maximum Likelihood Estimate(MLE)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MLE for Bernoulli distribution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Anju Joseph</dc:creator>
  <cp:lastModifiedBy>Neethu Suman</cp:lastModifiedBy>
  <cp:revision>26</cp:revision>
  <dcterms:created xsi:type="dcterms:W3CDTF">2025-09-23T08:27:47Z</dcterms:created>
  <dcterms:modified xsi:type="dcterms:W3CDTF">2026-09-16T09:42:02Z</dcterms:modified>
</cp:coreProperties>
</file>