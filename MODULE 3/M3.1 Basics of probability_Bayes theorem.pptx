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5EEB2D-5550-4C9A-9542-84841A1FFBC6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92E-2BA6-4064-BA7A-206D4C0632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593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E8D6C-BA3E-ACF5-9626-2C466159F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A0688-701E-4747-B2A4-50F19980C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E0990-06C3-C960-3FD0-B1B4A9B6B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63CCB-FA59-E2DD-2AF8-8BE1AEF12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CC2DD-7207-67C5-8DD1-5198F40BB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40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045DE-761C-C2C8-056F-04528E0C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52D71-8AD2-B986-BF92-2899E3886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88386-1D94-08C5-835F-036C49803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11E23-17AE-2D44-134E-DB3F02B3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CC361-B71B-1C18-962F-D23D6C76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63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375BA-1B31-B7E1-A0C7-4576D38BE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699A4-4B26-0DA4-B9CC-8357DA886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9E4EB-6926-8C55-F240-2B92E755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032B0-6259-DBF7-78BC-685E5C517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3BA97-95F0-06C0-5523-0DC52F834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76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3472F-7B42-F76F-A1CC-427379669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7F8D3-9B62-EBB9-AA49-E1C625F4E9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595EC-BA5D-F6C2-F453-993484620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E02AD-6DB8-39E9-23BE-C0440BD5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A7552-E13C-0257-8C4D-B8609A08A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7CCB5-E01D-7EC0-7238-987B483AB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006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EC7F5-C757-F0D8-DBAA-0E5C0ECAE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88367-75D6-B3FB-FE68-39FA32169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849E9-21FC-3B18-927E-661A3B1C9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BF2A7-11D6-2A30-DDC2-826B122DF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EDDF5E-E1A3-CB4C-CA08-DB69B2624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B5D9BD-5C57-337B-FD49-9C6CE1C47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9F8A84-6E44-8F38-54D2-04C1DE1FB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E39D3-6E0D-52A2-D434-4BF6F6BF2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105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95EA-9477-E574-C8AA-7BF320C9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183A5-6184-5088-DBF7-EE65C75B2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026E6-09D8-FD53-8CD5-A0A168CA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EB966-8F6F-1F73-7AF1-83A9AB890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429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6B9B1-06DE-84B2-4A9D-63F88AC82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D6160-8D63-36B1-9F10-B457D2E46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3DE5A-5446-9B72-CB6F-EAEE5E2D3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91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BED52-81D9-FD64-11C6-3F75B425A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6CFBB-9070-CF49-823D-5BD7F3380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3D560-A8CD-6AA0-FB20-134F5899B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42A82-F2D4-71CA-230A-1DA043F5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7DB23B-EE1B-5516-1103-41DC9F69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7BAAB-AB0A-2E1E-5E1B-E72500FC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21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5EED-B2BD-3E1C-4782-D6635FC15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127E65-1048-CC05-152E-C1DE80BBB6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FF09F-6C55-F09D-233F-7772FB46F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407A8-724F-A250-66D7-60475B9C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93216-1A7A-4280-EBA7-5179D82E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D3DC7-D8E9-D8BC-0A58-439B4AFBC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51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24A5E-0C8C-5BB8-6EFC-32308D9FC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7DBF9-F49B-1F70-9568-6592C3CC6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06E74-EA7E-211A-E75A-EE83BBE1E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D7025-B3F1-63C1-11FF-1B752B194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9E4A6-C689-70B6-005B-68902D1A1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47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670461-BE43-2853-828F-2291B1346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4959A4-EC25-C8D4-8394-C4DC6E4E0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62124-FE21-26A0-E529-02BBD440F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18B7-0674-4A90-9211-05312160FE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DF2E4-CF12-96A3-FCED-66B5D994D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458C3-45E3-9668-3361-DF9779FBF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304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0DEC1D-A7E4-CC17-2C01-51F53530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B3257-77D9-880D-2490-A4853324A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9BDD9-CE38-4825-82CD-5E78CA61C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618B7-0674-4A90-9211-05312160FE44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02EEF-6A4E-6D4C-0B60-5DEB25A3A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93715-1D9D-369F-3D7E-270BB378B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B3E6D-62C7-4075-91C5-09D5F08EC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588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naive-bayes-classifiers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FB0A0C-3600-98C1-8ECD-5D9662CE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3: </a:t>
            </a:r>
            <a:r>
              <a:rPr lang="en-US" dirty="0"/>
              <a:t>Applied Probability and Statistics for AI and Data Science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28C7C6-87A6-B368-B7DB-60B7FB4F9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3958"/>
          </a:xfrm>
        </p:spPr>
        <p:txBody>
          <a:bodyPr>
            <a:normAutofit/>
          </a:bodyPr>
          <a:lstStyle/>
          <a:p>
            <a:r>
              <a:rPr lang="en-US" dirty="0"/>
              <a:t>Basics of probability</a:t>
            </a:r>
          </a:p>
          <a:p>
            <a:r>
              <a:rPr lang="en-US" dirty="0"/>
              <a:t>Random variables and statistical measures </a:t>
            </a:r>
          </a:p>
          <a:p>
            <a:r>
              <a:rPr lang="en-US" dirty="0"/>
              <a:t>Rules in probability</a:t>
            </a:r>
          </a:p>
          <a:p>
            <a:pPr lvl="1"/>
            <a:r>
              <a:rPr lang="en-US" dirty="0"/>
              <a:t>Bayes theorem and its applications</a:t>
            </a:r>
          </a:p>
          <a:p>
            <a:r>
              <a:rPr lang="en-US" dirty="0"/>
              <a:t>Statistical estimation</a:t>
            </a:r>
          </a:p>
          <a:p>
            <a:pPr lvl="1"/>
            <a:r>
              <a:rPr lang="en-US" dirty="0"/>
              <a:t>Maximum Likelihood Estimator (MLE)</a:t>
            </a:r>
          </a:p>
          <a:p>
            <a:r>
              <a:rPr lang="en-US" dirty="0"/>
              <a:t>Statistical summaries</a:t>
            </a:r>
          </a:p>
          <a:p>
            <a:pPr lvl="1"/>
            <a:r>
              <a:rPr lang="en-US" dirty="0"/>
              <a:t>Correlation analysis linear correlation (direct problems only)</a:t>
            </a:r>
          </a:p>
          <a:p>
            <a:pPr lvl="1"/>
            <a:r>
              <a:rPr lang="en-US" dirty="0"/>
              <a:t>Regression analysis</a:t>
            </a:r>
          </a:p>
          <a:p>
            <a:pPr lvl="1"/>
            <a:r>
              <a:rPr lang="en-US" dirty="0"/>
              <a:t>Linear regression (using least square method)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1035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DFCD5-F12C-2FE7-7475-D0CDDCBD8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Basics of probability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52CA5-AB91-A08B-E3FC-00D39A8FE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b="1" dirty="0"/>
              <a:t>Probability </a:t>
            </a:r>
            <a:r>
              <a:rPr lang="en-US" dirty="0"/>
              <a:t>is a branch of Mathematics and statistics concerning events and numerical descriptions of how likely they are to occur. </a:t>
            </a:r>
          </a:p>
          <a:p>
            <a:pPr lvl="0">
              <a:buClr>
                <a:schemeClr val="dk1"/>
              </a:buClr>
              <a:buSzPts val="2800"/>
            </a:pPr>
            <a:r>
              <a:rPr lang="en-US" dirty="0"/>
              <a:t>The probability of an event is a number between 0 and 1; the larger the probability, the more likely an event is to occur.</a:t>
            </a:r>
          </a:p>
          <a:p>
            <a:pPr lvl="0">
              <a:buClr>
                <a:schemeClr val="dk1"/>
              </a:buClr>
              <a:buSzPts val="2800"/>
            </a:pPr>
            <a:r>
              <a:rPr lang="en-US" dirty="0"/>
              <a:t>This number is often expressed as a percentage (%), ranging from 0% to 100%. </a:t>
            </a:r>
          </a:p>
          <a:p>
            <a:pPr lvl="0" indent="-50800">
              <a:buClr>
                <a:schemeClr val="dk1"/>
              </a:buClr>
              <a:buSzPts val="2800"/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2421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Example 1</a:t>
            </a:r>
            <a:endParaRPr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 tossing of a fair (unbiased) coin. 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Since the coin is fair, the two outcomes ("heads" and "tails") are both equally probable; </a:t>
            </a:r>
            <a:endParaRPr dirty="0"/>
          </a:p>
          <a:p>
            <a:pPr marL="228600" lvl="0" indent="-2286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 probability of "heads" equals the probability of "tails"; and since no other outcomes are possible, the probability of either "heads" or "tails" is 1/2 (which could also be written as 0.5 or 50%).</a:t>
            </a:r>
            <a:endParaRPr dirty="0"/>
          </a:p>
        </p:txBody>
      </p:sp>
      <p:pic>
        <p:nvPicPr>
          <p:cNvPr id="98" name="Google Shape;98;p3" descr="Coin Probability Problem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6091" y="4430764"/>
            <a:ext cx="3735490" cy="24272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Example 2</a:t>
            </a:r>
            <a:endParaRPr dirty="0"/>
          </a:p>
        </p:txBody>
      </p:sp>
      <p:pic>
        <p:nvPicPr>
          <p:cNvPr id="104" name="Google Shape;104;p4" descr="Probability with Dice - Maths with Mum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38167" y="1825625"/>
            <a:ext cx="5261421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 descr="How to calculate Dice Probabilities ..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7067" y="4367213"/>
            <a:ext cx="2524125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 descr="Rolling a Die Meaning, Probability ..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7067" y="2039144"/>
            <a:ext cx="226695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06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/>
              <a:t>Probability</a:t>
            </a:r>
            <a:endParaRPr dirty="0"/>
          </a:p>
        </p:txBody>
      </p:sp>
      <p:sp>
        <p:nvSpPr>
          <p:cNvPr id="112" name="Google Shape;112;p5"/>
          <p:cNvSpPr txBox="1">
            <a:spLocks noGrp="1"/>
          </p:cNvSpPr>
          <p:nvPr>
            <p:ph type="body" idx="1"/>
          </p:nvPr>
        </p:nvSpPr>
        <p:spPr>
          <a:xfrm>
            <a:off x="983974" y="1431235"/>
            <a:ext cx="9949069" cy="506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Probability is a mathematical tool to measure uncertainty: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 			0&lt; P(E) ≤1.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/>
              <a:t>Why important in ML:</a:t>
            </a:r>
            <a:endParaRPr b="1" dirty="0"/>
          </a:p>
          <a:p>
            <a:pPr lvl="1"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dirty="0"/>
              <a:t>Model predictions are uncertain (e.g., "90% chance of spam").</a:t>
            </a:r>
            <a:endParaRPr dirty="0"/>
          </a:p>
          <a:p>
            <a:pPr lvl="1"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dirty="0"/>
              <a:t>Helps in decision-making under incomplete information.</a:t>
            </a:r>
            <a:endParaRPr dirty="0"/>
          </a:p>
          <a:p>
            <a:pPr lvl="1"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dirty="0"/>
              <a:t>Basis of algorithms: Naive Bayes, Bayesian Networks, Hidden Markov Models.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 dirty="0"/>
              <a:t>Applications:</a:t>
            </a:r>
          </a:p>
          <a:p>
            <a:pPr lvl="1"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dirty="0"/>
              <a:t>Predicting class labels with confidence.</a:t>
            </a:r>
          </a:p>
          <a:p>
            <a:pPr lvl="1"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dirty="0"/>
              <a:t>Quantifying risk in autonomous driving.</a:t>
            </a:r>
          </a:p>
          <a:p>
            <a:pPr lvl="1"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dirty="0"/>
              <a:t>Estimating error likelihood in ML models.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Real-Life Analogy</a:t>
            </a:r>
            <a:endParaRPr/>
          </a:p>
        </p:txBody>
      </p:sp>
      <p:sp>
        <p:nvSpPr>
          <p:cNvPr id="118" name="Google Shape;118;p6"/>
          <p:cNvSpPr txBox="1">
            <a:spLocks noGrp="1"/>
          </p:cNvSpPr>
          <p:nvPr>
            <p:ph type="body" idx="1"/>
          </p:nvPr>
        </p:nvSpPr>
        <p:spPr>
          <a:xfrm>
            <a:off x="838199" y="1825625"/>
            <a:ext cx="11039061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Weather forecast today?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80% chance of rain, That number is not random; it's probability in action!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Link to ML: "Similarly, when Gmail says an email has 90% chance of being spam, it's using probability to measure uncertainty."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Probability - Basic Terminologies</a:t>
            </a:r>
            <a:endParaRPr dirty="0"/>
          </a:p>
        </p:txBody>
      </p:sp>
      <p:pic>
        <p:nvPicPr>
          <p:cNvPr id="124" name="Google Shape;124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690688"/>
            <a:ext cx="11029122" cy="4889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8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51047" y="345247"/>
            <a:ext cx="9580563" cy="28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8164" y="3429000"/>
            <a:ext cx="9533446" cy="2339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Sample Space and Events</a:t>
            </a:r>
            <a:endParaRPr/>
          </a:p>
        </p:txBody>
      </p:sp>
      <p:pic>
        <p:nvPicPr>
          <p:cNvPr id="137" name="Google Shape;137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66850" y="1690688"/>
            <a:ext cx="9727653" cy="4074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Probability Definitions</a:t>
            </a:r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1. Classical Probability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2. Empirical Probability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3. Axiomatic Probability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Classical Probability</a:t>
            </a:r>
            <a:endParaRPr/>
          </a:p>
        </p:txBody>
      </p:sp>
      <p:pic>
        <p:nvPicPr>
          <p:cNvPr id="149" name="Google Shape;149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480959"/>
            <a:ext cx="9693480" cy="1874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3702653"/>
            <a:ext cx="9662997" cy="184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Empirical Probability</a:t>
            </a:r>
            <a:endParaRPr/>
          </a:p>
        </p:txBody>
      </p:sp>
      <p:pic>
        <p:nvPicPr>
          <p:cNvPr id="156" name="Google Shape;156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16248" y="1690688"/>
            <a:ext cx="9495343" cy="237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4391472"/>
            <a:ext cx="9502964" cy="1752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Axiomatic Probability</a:t>
            </a:r>
            <a:endParaRPr/>
          </a:p>
        </p:txBody>
      </p:sp>
      <p:pic>
        <p:nvPicPr>
          <p:cNvPr id="163" name="Google Shape;163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4690" y="1597688"/>
            <a:ext cx="10379110" cy="457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pic>
        <p:nvPicPr>
          <p:cNvPr id="169" name="Google Shape;169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72326" y="326590"/>
            <a:ext cx="10381473" cy="310241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4"/>
          <p:cNvSpPr txBox="1"/>
          <p:nvPr/>
        </p:nvSpPr>
        <p:spPr>
          <a:xfrm>
            <a:off x="1140541" y="3974990"/>
            <a:ext cx="950779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probability of their union is the sum of their individual probabilities. </a:t>
            </a:r>
            <a:endParaRPr sz="36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Mutually Exclusive and Independent Events</a:t>
            </a:r>
            <a:endParaRPr/>
          </a:p>
        </p:txBody>
      </p:sp>
      <p:pic>
        <p:nvPicPr>
          <p:cNvPr id="176" name="Google Shape;176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24610" y="1690688"/>
            <a:ext cx="9297206" cy="390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Independent Events</a:t>
            </a:r>
            <a:endParaRPr/>
          </a:p>
        </p:txBody>
      </p:sp>
      <p:pic>
        <p:nvPicPr>
          <p:cNvPr id="182" name="Google Shape;182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297063" y="1609315"/>
            <a:ext cx="879162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Rules of Probability</a:t>
            </a:r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• Addition Rule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• Multiplication Theorem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• Conditional Probability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Addition Rule</a:t>
            </a:r>
            <a:endParaRPr/>
          </a:p>
        </p:txBody>
      </p:sp>
      <p:pic>
        <p:nvPicPr>
          <p:cNvPr id="194" name="Google Shape;194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31162" y="1551650"/>
            <a:ext cx="4953429" cy="518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080" y="2446193"/>
            <a:ext cx="9336768" cy="4046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What is Conditional Probability?</a:t>
            </a:r>
            <a:endParaRPr/>
          </a:p>
        </p:txBody>
      </p:sp>
      <p:pic>
        <p:nvPicPr>
          <p:cNvPr id="201" name="Google Shape;201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89784" y="1825625"/>
            <a:ext cx="9012431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Conditional Probability Example</a:t>
            </a:r>
            <a:endParaRPr/>
          </a:p>
        </p:txBody>
      </p:sp>
      <p:pic>
        <p:nvPicPr>
          <p:cNvPr id="207" name="Google Shape;207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517301"/>
            <a:ext cx="8889740" cy="4659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Example: Conditional Probability</a:t>
            </a:r>
            <a:endParaRPr/>
          </a:p>
        </p:txBody>
      </p:sp>
      <p:pic>
        <p:nvPicPr>
          <p:cNvPr id="213" name="Google Shape;213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58003" y="1825625"/>
            <a:ext cx="9275993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Solution</a:t>
            </a:r>
            <a:endParaRPr/>
          </a:p>
        </p:txBody>
      </p:sp>
      <p:pic>
        <p:nvPicPr>
          <p:cNvPr id="219" name="Google Shape;219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02604" y="1878940"/>
            <a:ext cx="9586791" cy="4244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Multiplication Rule</a:t>
            </a:r>
            <a:endParaRPr/>
          </a:p>
        </p:txBody>
      </p:sp>
      <p:pic>
        <p:nvPicPr>
          <p:cNvPr id="225" name="Google Shape;225;p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690688"/>
            <a:ext cx="9434378" cy="2728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 Question: P(Rain Umbrella)</a:t>
            </a:r>
            <a:endParaRPr/>
          </a:p>
        </p:txBody>
      </p:sp>
      <p:pic>
        <p:nvPicPr>
          <p:cNvPr id="231" name="Google Shape;231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93058" y="1825625"/>
            <a:ext cx="9855051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Theorems of Probability</a:t>
            </a:r>
            <a:endParaRPr/>
          </a:p>
        </p:txBody>
      </p:sp>
      <p:sp>
        <p:nvSpPr>
          <p:cNvPr id="237" name="Google Shape;237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Total Theorem of Probability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Bayes Theorem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Total Probability Theorem</a:t>
            </a:r>
            <a:endParaRPr/>
          </a:p>
        </p:txBody>
      </p:sp>
      <p:pic>
        <p:nvPicPr>
          <p:cNvPr id="243" name="Google Shape;243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43811" y="1825625"/>
            <a:ext cx="9304377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Total Probability Theorem</a:t>
            </a:r>
            <a:endParaRPr dirty="0"/>
          </a:p>
        </p:txBody>
      </p:sp>
      <p:pic>
        <p:nvPicPr>
          <p:cNvPr id="249" name="Google Shape;249;p2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05839" y="1363288"/>
            <a:ext cx="9393383" cy="4730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/>
              <a:t>Total Probability Theorem</a:t>
            </a:r>
            <a:endParaRPr dirty="0"/>
          </a:p>
        </p:txBody>
      </p:sp>
      <p:pic>
        <p:nvPicPr>
          <p:cNvPr id="255" name="Google Shape;255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434926"/>
            <a:ext cx="8538990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Total Probability Theorem</a:t>
            </a:r>
            <a:endParaRPr/>
          </a:p>
        </p:txBody>
      </p:sp>
      <p:pic>
        <p:nvPicPr>
          <p:cNvPr id="261" name="Google Shape;261;p2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96931" y="2583851"/>
            <a:ext cx="9198137" cy="2834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4257" y="426479"/>
            <a:ext cx="11123917" cy="6173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242" y="267937"/>
            <a:ext cx="11464627" cy="6252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548" y="233776"/>
            <a:ext cx="11502139" cy="6504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6684" y="365125"/>
            <a:ext cx="9842090" cy="5696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Bayes Theorem Applications</a:t>
            </a:r>
            <a:br>
              <a:rPr lang="en-US" b="1"/>
            </a:br>
            <a:endParaRPr/>
          </a:p>
        </p:txBody>
      </p:sp>
      <p:sp>
        <p:nvSpPr>
          <p:cNvPr id="295" name="Google Shape;295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Some of the Key Applications are: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AI &amp; Machine Learning</a:t>
            </a:r>
            <a:r>
              <a:rPr lang="en-US"/>
              <a:t> → Used in </a:t>
            </a:r>
            <a:r>
              <a:rPr lang="en-US" b="1" u="sng">
                <a:solidFill>
                  <a:schemeClr val="hlink"/>
                </a:solidFill>
                <a:hlinkClick r:id="rId3"/>
              </a:rPr>
              <a:t>Naïve Bayes classifiers</a:t>
            </a:r>
            <a:r>
              <a:rPr lang="en-US"/>
              <a:t> to predict outcomes.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Medical Testing</a:t>
            </a:r>
            <a:r>
              <a:rPr lang="en-US"/>
              <a:t> → Finding the real probability of having a disease after a positive test.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Spam Filters</a:t>
            </a:r>
            <a:r>
              <a:rPr lang="en-US"/>
              <a:t> → Checking if an email is spam based on keywords.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b="1"/>
              <a:t>Weather Prediction</a:t>
            </a:r>
            <a:r>
              <a:rPr lang="en-US"/>
              <a:t> → Updating the chance of rain based on new data.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514</Words>
  <Application>Microsoft Office PowerPoint</Application>
  <PresentationFormat>Widescreen</PresentationFormat>
  <Paragraphs>71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Play</vt:lpstr>
      <vt:lpstr>Office Theme</vt:lpstr>
      <vt:lpstr>Module 3: Applied Probability and Statistics for AI and Data Science</vt:lpstr>
      <vt:lpstr>Basics of probability</vt:lpstr>
      <vt:lpstr>Example 1</vt:lpstr>
      <vt:lpstr>Example 2</vt:lpstr>
      <vt:lpstr>Probability</vt:lpstr>
      <vt:lpstr>Real-Life Analogy</vt:lpstr>
      <vt:lpstr>Probability - Basic Terminologies</vt:lpstr>
      <vt:lpstr>PowerPoint Presentation</vt:lpstr>
      <vt:lpstr>Sample Space and Events</vt:lpstr>
      <vt:lpstr>Probability Definitions</vt:lpstr>
      <vt:lpstr>Classical Probability</vt:lpstr>
      <vt:lpstr>Empirical Probability</vt:lpstr>
      <vt:lpstr>Axiomatic Probability</vt:lpstr>
      <vt:lpstr>PowerPoint Presentation</vt:lpstr>
      <vt:lpstr>Mutually Exclusive and Independent Events</vt:lpstr>
      <vt:lpstr>Independent Events</vt:lpstr>
      <vt:lpstr>Rules of Probability</vt:lpstr>
      <vt:lpstr>Addition Rule</vt:lpstr>
      <vt:lpstr>What is Conditional Probability?</vt:lpstr>
      <vt:lpstr>Conditional Probability Example</vt:lpstr>
      <vt:lpstr>Example: Conditional Probability</vt:lpstr>
      <vt:lpstr>Solution</vt:lpstr>
      <vt:lpstr>Multiplication Rule</vt:lpstr>
      <vt:lpstr>Example Question: P(Rain Umbrella)</vt:lpstr>
      <vt:lpstr>Theorems of Probability</vt:lpstr>
      <vt:lpstr>Total Probability Theorem</vt:lpstr>
      <vt:lpstr>Total Probability Theorem</vt:lpstr>
      <vt:lpstr>Total Probability Theorem</vt:lpstr>
      <vt:lpstr>Total Probability Theorem</vt:lpstr>
      <vt:lpstr>PowerPoint Presentation</vt:lpstr>
      <vt:lpstr>PowerPoint Presentation</vt:lpstr>
      <vt:lpstr>PowerPoint Presentation</vt:lpstr>
      <vt:lpstr>PowerPoint Presentation</vt:lpstr>
      <vt:lpstr>Bayes Theorem Applications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2</cp:revision>
  <dcterms:created xsi:type="dcterms:W3CDTF">2026-08-31T06:06:57Z</dcterms:created>
  <dcterms:modified xsi:type="dcterms:W3CDTF">2026-09-01T14:06:07Z</dcterms:modified>
</cp:coreProperties>
</file>