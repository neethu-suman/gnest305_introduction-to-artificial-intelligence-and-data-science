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7" r:id="rId2"/>
    <p:sldId id="258" r:id="rId3"/>
    <p:sldId id="325" r:id="rId4"/>
    <p:sldId id="326" r:id="rId5"/>
    <p:sldId id="327" r:id="rId6"/>
    <p:sldId id="328" r:id="rId7"/>
    <p:sldId id="329" r:id="rId8"/>
    <p:sldId id="330" r:id="rId9"/>
    <p:sldId id="331" r:id="rId10"/>
    <p:sldId id="333" r:id="rId11"/>
    <p:sldId id="273" r:id="rId12"/>
    <p:sldId id="274" r:id="rId13"/>
    <p:sldId id="275" r:id="rId14"/>
    <p:sldId id="276" r:id="rId15"/>
    <p:sldId id="259" r:id="rId16"/>
    <p:sldId id="321" r:id="rId17"/>
    <p:sldId id="260" r:id="rId18"/>
    <p:sldId id="323" r:id="rId19"/>
    <p:sldId id="262" r:id="rId20"/>
    <p:sldId id="324" r:id="rId21"/>
    <p:sldId id="263" r:id="rId22"/>
    <p:sldId id="264" r:id="rId23"/>
    <p:sldId id="265" r:id="rId24"/>
    <p:sldId id="266" r:id="rId25"/>
    <p:sldId id="267" r:id="rId26"/>
    <p:sldId id="334" r:id="rId27"/>
    <p:sldId id="335" r:id="rId28"/>
    <p:sldId id="336" r:id="rId29"/>
    <p:sldId id="337" r:id="rId30"/>
    <p:sldId id="338" r:id="rId31"/>
    <p:sldId id="332" r:id="rId32"/>
    <p:sldId id="339" r:id="rId33"/>
    <p:sldId id="34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7911B3-79DA-4340-BF58-F54DF0F4B7FA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A90F30-2B1A-4167-A74D-49CCA14182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339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0127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78534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44208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40751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F6DE2690-1A2A-C8A2-A9F6-689DF2D96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>
            <a:extLst>
              <a:ext uri="{FF2B5EF4-FFF2-40B4-BE49-F238E27FC236}">
                <a16:creationId xmlns:a16="http://schemas.microsoft.com/office/drawing/2014/main" id="{A54802E0-7456-FB3F-0CB0-D0E5D625D4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>
            <a:extLst>
              <a:ext uri="{FF2B5EF4-FFF2-40B4-BE49-F238E27FC236}">
                <a16:creationId xmlns:a16="http://schemas.microsoft.com/office/drawing/2014/main" id="{F291DCA7-1347-35D5-9808-99F1449108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15447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1E5AA7DE-824A-A7B9-170E-EFB4510B9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>
            <a:extLst>
              <a:ext uri="{FF2B5EF4-FFF2-40B4-BE49-F238E27FC236}">
                <a16:creationId xmlns:a16="http://schemas.microsoft.com/office/drawing/2014/main" id="{43EA9C15-A888-0CFE-38A8-8A98067E02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7:notes">
            <a:extLst>
              <a:ext uri="{FF2B5EF4-FFF2-40B4-BE49-F238E27FC236}">
                <a16:creationId xmlns:a16="http://schemas.microsoft.com/office/drawing/2014/main" id="{FC9E7FF7-6091-B36E-6126-C67194852E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09718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DC1E6-69EF-3A02-75A3-30245DF04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D81709-CD90-A78F-572B-3899227D62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640B6-9437-AD07-D2F1-0A54A1384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2D2A-5CEA-4409-88A8-CC80A70ECCF9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B3C05-7666-AC48-AE02-4044116C3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DB4F2-F79C-E9A0-8ED4-47A58987B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598A-B4AF-44C4-B1E0-1DD43BC26A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447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BBE3D-197A-96CF-1CE7-E26899454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783A9-0713-ACBA-863B-EBA8B674F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5141A-C157-5E7E-54EB-75A88FED1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2D2A-5CEA-4409-88A8-CC80A70ECCF9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74C06-FA11-4385-316A-43CF98C58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C001D-2A54-0977-4851-6D0FAD69B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598A-B4AF-44C4-B1E0-1DD43BC26A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875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D6F27-1D3C-01FB-4436-4C26FBDD5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28A3E-F5BD-6263-D987-51DEAD2F2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30E73-9F32-BEF0-13DA-6BA2CAC1B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2D2A-5CEA-4409-88A8-CC80A70ECCF9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A3E57-BE53-4D85-8167-73662B6A6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20DA7-15DA-4A68-F0BF-1F5A6FD29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598A-B4AF-44C4-B1E0-1DD43BC26A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213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9F930-2B0F-2DFF-FD18-5247F87AC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5B6EC-0879-9908-804C-BCF3514DAF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B345C3-F271-2358-B032-954D56533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006560-228E-049A-EEAB-EDD1C891E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2D2A-5CEA-4409-88A8-CC80A70ECCF9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E4140B-A947-4CCA-58F9-A74B123B2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9A6671-0C25-2397-58E2-8FC31F853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598A-B4AF-44C4-B1E0-1DD43BC26A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072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73387-05F1-F6A4-41AF-943AB9BDF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A97AE-E0A4-F973-3E43-89E270811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2644B5-23BD-8BC4-EDE0-B0A5E21F0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4EDFCF-3BFE-36FC-5C80-3CC7B75418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7C98A5-B705-C535-E006-FE1E2C46D6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F03DDB-D8B8-DE00-38A1-1BABD14AF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2D2A-5CEA-4409-88A8-CC80A70ECCF9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8D769E-D2B1-5792-245F-79E3CDBAB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E61256-880B-2F2B-CC0F-5303CB158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598A-B4AF-44C4-B1E0-1DD43BC26A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957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7C1CE-2E0A-29DD-D3D4-F1A099EF5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BB487A-CAAB-AB79-398B-C38D85E4B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2D2A-5CEA-4409-88A8-CC80A70ECCF9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E9047D-5496-E6FB-60D8-23DE09047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B8D0A8-6852-94CE-6EEE-AA190A86E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598A-B4AF-44C4-B1E0-1DD43BC26A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25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67158E-8E50-81B7-5660-3B1D1C73C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2D2A-5CEA-4409-88A8-CC80A70ECCF9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269EB3-9F2F-4D31-931D-7C556CB67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E177B-6678-ABA0-63B8-7AB057F98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598A-B4AF-44C4-B1E0-1DD43BC26A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9475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A50EA-1192-0BE0-6496-307D05C67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A7B15-1E46-91AF-6334-0BBEFDD44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E62E23-F3FC-6FEE-9346-B108C6A74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BC18C-91EB-6B5E-E866-10DEAF461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2D2A-5CEA-4409-88A8-CC80A70ECCF9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6E83C-2E10-7F74-1BAA-0E2D7C4B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29641-A79B-4B9E-CF1B-DE27C5B4C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598A-B4AF-44C4-B1E0-1DD43BC26A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619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92C1-E3E5-BE8C-594A-A19D70AC9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CDFD72-5026-F464-9500-86BE29EDC4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21A5FD-09A0-F4F5-734D-6EF767BA6E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0D894-2667-873B-D8EB-DEBA1FFA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2D2A-5CEA-4409-88A8-CC80A70ECCF9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96E60-447C-C73D-97BD-50C79B4C7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F17E7B-7D12-5562-F6E3-1D4033716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598A-B4AF-44C4-B1E0-1DD43BC26A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87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FC876-96D8-4543-F62B-36E16FE5A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C671E3-BB15-3B9A-80DA-E1792A342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ACA7C-928F-F0C2-9A0B-AD2E40846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2D2A-5CEA-4409-88A8-CC80A70ECCF9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EB84E-BB04-41BC-33C8-C4067701A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AADDF-31C9-4AA1-AB38-EC649E510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598A-B4AF-44C4-B1E0-1DD43BC26A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47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5388EA-5D90-AAFF-AF6D-1E7FF946BE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92422D-ED98-8255-391F-7551DE7B0B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8ACA8-D51A-66BD-E960-FD80400C6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2D2A-5CEA-4409-88A8-CC80A70ECCF9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97C22-A97E-FF6B-12D6-C3050E7ED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871E7-80CA-72A8-91AF-7081FB8CE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598A-B4AF-44C4-B1E0-1DD43BC26A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132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8D38E6-5007-901B-4153-0DF706B7A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74DF94-5E0D-6FA2-DE1A-C226B9D65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F9AC7-2B6D-234F-0167-BB2F7B423E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D2D2A-5CEA-4409-88A8-CC80A70ECCF9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A84E2-53BF-6E01-5DB5-2B7AB44E99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0F5C2-6419-D758-DBA2-BEC40B1E6F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4598A-B4AF-44C4-B1E0-1DD43BC26A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6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Probability Distribution</a:t>
            </a:r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A probability distribution is a mathematical function or rule that describes how the probabilities of different outcomes are assigned to the possible values of a random variable. 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It provides a way of modeling the likelihood of each outcome in a random experiment.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Described by PMF  and PDF.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Types:</a:t>
            </a:r>
            <a:r>
              <a:rPr lang="en-US" b="1" dirty="0"/>
              <a:t> Discrete Probability Distributions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/>
              <a:t>           Continuous Probability Distributions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Discrete Probability Distributions</a:t>
            </a:r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dirty="0"/>
              <a:t>Bernoulli distribution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dirty="0"/>
              <a:t>Binomial Distribution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dirty="0"/>
              <a:t>Poisson distribution 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C05B9-013A-C30C-C28B-4AAD9160D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Bernoulli Trial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0FAD6-D6D9-1E69-CAFE-67F25B7F7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825625"/>
            <a:ext cx="10899913" cy="4351338"/>
          </a:xfrm>
        </p:spPr>
        <p:txBody>
          <a:bodyPr>
            <a:normAutofit/>
          </a:bodyPr>
          <a:lstStyle/>
          <a:p>
            <a:r>
              <a:rPr lang="en-US" dirty="0"/>
              <a:t>An experiment or process that has exactly two possible outcomes, usually labelled</a:t>
            </a:r>
          </a:p>
          <a:p>
            <a:pPr lvl="1"/>
            <a:r>
              <a:rPr lang="en-US" dirty="0"/>
              <a:t>Success (1 ) — happens with probability p</a:t>
            </a:r>
          </a:p>
          <a:p>
            <a:pPr lvl="1"/>
            <a:r>
              <a:rPr lang="en-US" dirty="0"/>
              <a:t>Failure (0) - happens with probability 1- p</a:t>
            </a:r>
          </a:p>
          <a:p>
            <a:r>
              <a:rPr lang="en-US" dirty="0"/>
              <a:t>Key Features of a Bernoulli Trial:</a:t>
            </a:r>
          </a:p>
          <a:p>
            <a:pPr marL="1028700" lvl="1" indent="-457200">
              <a:buSzPct val="100000"/>
              <a:buFont typeface="+mj-lt"/>
              <a:buAutoNum type="arabicPeriod"/>
            </a:pPr>
            <a:r>
              <a:rPr lang="en-US" b="1" dirty="0"/>
              <a:t>Two outcomes only :</a:t>
            </a:r>
            <a:r>
              <a:rPr lang="en-US" dirty="0"/>
              <a:t> success/failure, yes/no, head/tail, defective/good, etc.</a:t>
            </a:r>
          </a:p>
          <a:p>
            <a:pPr marL="1028700" lvl="1" indent="-457200">
              <a:buSzPct val="100000"/>
              <a:buFont typeface="+mj-lt"/>
              <a:buAutoNum type="arabicPeriod"/>
            </a:pPr>
            <a:r>
              <a:rPr lang="en-US" b="1" dirty="0"/>
              <a:t>Fixed probability of success (p):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/>
              <a:t>does not change from trial to trial.</a:t>
            </a:r>
          </a:p>
          <a:p>
            <a:pPr marL="1028700" lvl="1" indent="-457200">
              <a:buSzPct val="100000"/>
              <a:buFont typeface="+mj-lt"/>
              <a:buAutoNum type="arabicPeriod"/>
            </a:pPr>
            <a:r>
              <a:rPr lang="en-US" b="1" dirty="0"/>
              <a:t>Independence:</a:t>
            </a:r>
            <a:r>
              <a:rPr lang="en-US" dirty="0"/>
              <a:t> Outcome of one trial does not affect the outcome of another.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488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091AE-0508-B7F1-19F3-05BB93BFF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Bernoulli Trial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A41C75-15D7-57D0-DC4B-0FE127D7C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470" y="1577541"/>
            <a:ext cx="10511567" cy="476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640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EBA784-2F77-2F41-52AF-52D22A30F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Bernoulli distribution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0FE247-7056-A175-1EB9-C242BFE87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651" y="1690688"/>
            <a:ext cx="9409043" cy="2469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274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644FB-1B4B-8C59-16CC-A5D2B5BBC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Binomial Distribution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8C36F3-6059-E2E3-8397-885204130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1072977" cy="367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290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86427-4189-C03B-7AF9-00EB82E22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Binomial Distribution</a:t>
            </a:r>
            <a:endParaRPr lang="en-IN" dirty="0"/>
          </a:p>
        </p:txBody>
      </p:sp>
      <p:pic>
        <p:nvPicPr>
          <p:cNvPr id="199" name="Google Shape;199;p16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5798" y="1667355"/>
            <a:ext cx="9559863" cy="44452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9642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D0E6B-C698-DE54-ED3E-D20EDAB4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9A35C4-83BE-08B3-FAA7-FDCFA265A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926634" cy="342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758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1126F-726A-478F-8258-39FA1A24E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pic>
        <p:nvPicPr>
          <p:cNvPr id="206" name="Google Shape;206;p17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28562" y="914695"/>
            <a:ext cx="4557021" cy="705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72430" y="1690688"/>
            <a:ext cx="8506457" cy="1742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36906" y="3783231"/>
            <a:ext cx="7777504" cy="29455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6508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A3B0BD-7782-1429-B946-495064364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76" y="271505"/>
            <a:ext cx="11161127" cy="590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725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6935" y="213898"/>
            <a:ext cx="11779900" cy="6485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0810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 txBox="1">
            <a:spLocks noGrp="1"/>
          </p:cNvSpPr>
          <p:nvPr>
            <p:ph type="title"/>
          </p:nvPr>
        </p:nvSpPr>
        <p:spPr>
          <a:xfrm>
            <a:off x="629478" y="275674"/>
            <a:ext cx="1051560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POISSON DISTRIBUTION</a:t>
            </a:r>
            <a:endParaRPr dirty="0"/>
          </a:p>
        </p:txBody>
      </p:sp>
      <p:pic>
        <p:nvPicPr>
          <p:cNvPr id="223" name="Google Shape;223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626" y="1063488"/>
            <a:ext cx="10711069" cy="2365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B35AA1-C708-15D4-8738-2F49DE8F0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255" y="3319668"/>
            <a:ext cx="9796766" cy="2325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028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6278" y="164202"/>
            <a:ext cx="11859948" cy="63956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1231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BERNOULLI DISTRIBUTION</a:t>
            </a:r>
            <a:endParaRPr/>
          </a:p>
        </p:txBody>
      </p:sp>
      <p:pic>
        <p:nvPicPr>
          <p:cNvPr id="237" name="Google Shape;237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3898" y="2133600"/>
            <a:ext cx="9556844" cy="29595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4592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Continuous Probability Distributions</a:t>
            </a:r>
            <a:endParaRPr/>
          </a:p>
        </p:txBody>
      </p:sp>
      <p:sp>
        <p:nvSpPr>
          <p:cNvPr id="103" name="Google Shape;103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Uniform distribution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Normal  distribution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Exponential distribution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D116A65E-FC9D-071B-4167-32EDF94E7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>
            <a:extLst>
              <a:ext uri="{FF2B5EF4-FFF2-40B4-BE49-F238E27FC236}">
                <a16:creationId xmlns:a16="http://schemas.microsoft.com/office/drawing/2014/main" id="{22D7ED76-340B-8C05-76C0-01D6FA8A8F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dirty="0"/>
              <a:t>Uniform distribution</a:t>
            </a:r>
            <a:endParaRPr dirty="0"/>
          </a:p>
        </p:txBody>
      </p:sp>
      <p:sp>
        <p:nvSpPr>
          <p:cNvPr id="109" name="Google Shape;109;p5">
            <a:extLst>
              <a:ext uri="{FF2B5EF4-FFF2-40B4-BE49-F238E27FC236}">
                <a16:creationId xmlns:a16="http://schemas.microsoft.com/office/drawing/2014/main" id="{C991499C-8B0B-A37F-F245-42B0AEA7B4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400" dirty="0"/>
              <a:t>Uniform Distribution models equally likely outcomes over a closed interval [</a:t>
            </a:r>
            <a:r>
              <a:rPr lang="en-US" sz="2400" dirty="0" err="1"/>
              <a:t>a,b</a:t>
            </a:r>
            <a:r>
              <a:rPr lang="en-US" sz="2400" dirty="0"/>
              <a:t>], where the probability is uniform.</a:t>
            </a:r>
            <a:endParaRPr sz="24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400" dirty="0"/>
          </a:p>
        </p:txBody>
      </p:sp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BEE35DCE-A1CB-2632-225F-0F575AAEA83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8165" y="3368675"/>
            <a:ext cx="3233531" cy="210778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94786464-9673-79E6-DFCC-622A99FC2F83}"/>
              </a:ext>
            </a:extLst>
          </p:cNvPr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>
            <a:extLst>
              <a:ext uri="{FF2B5EF4-FFF2-40B4-BE49-F238E27FC236}">
                <a16:creationId xmlns:a16="http://schemas.microsoft.com/office/drawing/2014/main" id="{478D97D8-3F2C-8716-6C6D-35C36EBA8A82}"/>
              </a:ext>
            </a:extLst>
          </p:cNvPr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5">
            <a:extLst>
              <a:ext uri="{FF2B5EF4-FFF2-40B4-BE49-F238E27FC236}">
                <a16:creationId xmlns:a16="http://schemas.microsoft.com/office/drawing/2014/main" id="{902E9747-11D6-3928-1C82-7BC874259AE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77678" y="2860468"/>
            <a:ext cx="5526157" cy="3124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1037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dirty="0"/>
              <a:t>Uniform distribution</a:t>
            </a:r>
            <a:endParaRPr dirty="0"/>
          </a:p>
        </p:txBody>
      </p:sp>
      <p:pic>
        <p:nvPicPr>
          <p:cNvPr id="110" name="Google Shape;110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9915" y="1560681"/>
            <a:ext cx="11078867" cy="505877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79914-4F79-EAB5-04E9-F9259B47B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 distribution: Example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518EE-B24B-2F55-2FD6-780FA2FBF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570383"/>
            <a:ext cx="10969487" cy="4922492"/>
          </a:xfrm>
        </p:spPr>
        <p:txBody>
          <a:bodyPr>
            <a:normAutofit/>
          </a:bodyPr>
          <a:lstStyle/>
          <a:p>
            <a:pPr marL="342900" algn="just"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Consider the time it takes for a traffic signal to turn green after it has been red. Assume that the time the signal takes to turn green is uniformly distributed between 20 seconds and 40 seconds.</a:t>
            </a:r>
          </a:p>
          <a:p>
            <a:pPr marL="0" lvl="0" indent="0">
              <a:spcBef>
                <a:spcPts val="0"/>
              </a:spcBef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342900" algn="just"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The minimum value (a) = 20 seconds.  The maximum value (b) = 40 seconds.</a:t>
            </a:r>
          </a:p>
          <a:p>
            <a:pPr marL="342900" algn="just"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The continuous uniform distribution function: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en-US" sz="2400" dirty="0">
                <a:solidFill>
                  <a:schemeClr val="tx1"/>
                </a:solidFill>
              </a:rPr>
              <a:t>		</a:t>
            </a:r>
            <a:r>
              <a:rPr lang="en-US" sz="2400" b="1" dirty="0">
                <a:solidFill>
                  <a:schemeClr val="tx1"/>
                </a:solidFill>
              </a:rPr>
              <a:t>f(x) = 1 / (40–20) = 1 / 20		for 20 ≤ x ≤ 40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tx1"/>
                </a:solidFill>
              </a:rPr>
              <a:t>		f(x) = 0					 otherwise</a:t>
            </a:r>
          </a:p>
          <a:p>
            <a:pPr marL="0" lvl="0" indent="0">
              <a:spcBef>
                <a:spcPts val="0"/>
              </a:spcBef>
              <a:buNone/>
            </a:pPr>
            <a:endParaRPr lang="en-US" sz="2400" b="1" dirty="0">
              <a:solidFill>
                <a:schemeClr val="tx1"/>
              </a:solidFill>
            </a:endParaRPr>
          </a:p>
          <a:p>
            <a:pPr marL="342900" lvl="0" algn="just">
              <a:spcBef>
                <a:spcPts val="0"/>
              </a:spcBef>
              <a:buClr>
                <a:schemeClr val="tx1"/>
              </a:buClr>
              <a:buSzPts val="2200"/>
            </a:pPr>
            <a:r>
              <a:rPr lang="en-US" sz="2400" dirty="0">
                <a:solidFill>
                  <a:schemeClr val="tx1"/>
                </a:solidFill>
              </a:rPr>
              <a:t>At any time between 20 seconds and 40 seconds, the probability of the signal turning green has an equal probability of 1/20.</a:t>
            </a:r>
          </a:p>
          <a:p>
            <a:pPr marL="342900" lvl="0" algn="just">
              <a:spcBef>
                <a:spcPts val="0"/>
              </a:spcBef>
              <a:buClr>
                <a:schemeClr val="tx1"/>
              </a:buClr>
              <a:buSzPts val="2200"/>
            </a:pPr>
            <a:r>
              <a:rPr lang="en-US" sz="2400" dirty="0">
                <a:solidFill>
                  <a:schemeClr val="tx1"/>
                </a:solidFill>
              </a:rPr>
              <a:t>The probability of the signal turning green in exactly 25 seconds = 1/20.</a:t>
            </a:r>
          </a:p>
          <a:p>
            <a:pPr marL="342900" lvl="0" algn="just">
              <a:spcBef>
                <a:spcPts val="0"/>
              </a:spcBef>
              <a:buClr>
                <a:schemeClr val="tx1"/>
              </a:buClr>
              <a:buSzPts val="2200"/>
            </a:pPr>
            <a:r>
              <a:rPr lang="en-US" sz="2400" dirty="0">
                <a:solidFill>
                  <a:schemeClr val="tx1"/>
                </a:solidFill>
              </a:rPr>
              <a:t>Similarly, the probability of the signal turning green in exactly 30 seconds = 1/20.</a:t>
            </a:r>
          </a:p>
        </p:txBody>
      </p:sp>
    </p:spTree>
    <p:extLst>
      <p:ext uri="{BB962C8B-B14F-4D97-AF65-F5344CB8AC3E}">
        <p14:creationId xmlns:p14="http://schemas.microsoft.com/office/powerpoint/2010/main" val="35896880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Normal distribution or Gaussian distribution</a:t>
            </a:r>
            <a:endParaRPr dirty="0"/>
          </a:p>
        </p:txBody>
      </p:sp>
      <p:sp>
        <p:nvSpPr>
          <p:cNvPr id="127" name="Google Shape;127;p7"/>
          <p:cNvSpPr txBox="1">
            <a:spLocks noGrp="1"/>
          </p:cNvSpPr>
          <p:nvPr>
            <p:ph type="body" idx="1"/>
          </p:nvPr>
        </p:nvSpPr>
        <p:spPr>
          <a:xfrm>
            <a:off x="838200" y="1480930"/>
            <a:ext cx="10711070" cy="5011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endParaRPr lang="en-US" sz="2400" dirty="0"/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endParaRPr lang="en-US" sz="2400" dirty="0"/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endParaRPr lang="en-US" sz="2400" dirty="0"/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endParaRPr lang="en-US" sz="2400" dirty="0"/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endParaRPr lang="en-US" sz="2400" dirty="0"/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endParaRPr lang="en-US" sz="2400" dirty="0"/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endParaRPr lang="en-US" sz="2400" dirty="0"/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endParaRPr lang="en-US" sz="2400" dirty="0"/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endParaRPr lang="en-US" sz="2400" dirty="0"/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endParaRPr lang="en-US" sz="2400" dirty="0"/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endParaRPr lang="en-US" sz="2400" dirty="0"/>
          </a:p>
          <a:p>
            <a:pPr marL="228600" indent="-228600" algn="just">
              <a:spcBef>
                <a:spcPts val="0"/>
              </a:spcBef>
              <a:buSzPts val="2200"/>
            </a:pPr>
            <a:r>
              <a:rPr lang="en-US" sz="2400" dirty="0"/>
              <a:t>The parameter ⁠μ is the mean or expectation of the distribution, while the parameter σ</a:t>
            </a:r>
            <a:r>
              <a:rPr lang="en-US" sz="2400" baseline="30000" dirty="0"/>
              <a:t>2</a:t>
            </a:r>
            <a:r>
              <a:rPr lang="en-US" sz="2400" dirty="0"/>
              <a:t> is the variance. The standard deviation of the distribution is ⁠σ(sigma). </a:t>
            </a:r>
            <a:endParaRPr sz="2400" dirty="0"/>
          </a:p>
        </p:txBody>
      </p:sp>
      <p:sp>
        <p:nvSpPr>
          <p:cNvPr id="129" name="Google Shape;129;p7" descr="{\textstyle \sigma ^{2}}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94C511-88C7-AB17-7F64-8DFF3661D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552" y="1656456"/>
            <a:ext cx="8333718" cy="32402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E4700521-F201-72B1-D88E-9796F13BA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>
            <a:extLst>
              <a:ext uri="{FF2B5EF4-FFF2-40B4-BE49-F238E27FC236}">
                <a16:creationId xmlns:a16="http://schemas.microsoft.com/office/drawing/2014/main" id="{AF95D09E-38FC-D578-75BA-AE034C1E2A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Normal distribution or Gaussian distribution</a:t>
            </a:r>
            <a:endParaRPr dirty="0"/>
          </a:p>
        </p:txBody>
      </p:sp>
      <p:sp>
        <p:nvSpPr>
          <p:cNvPr id="127" name="Google Shape;127;p7">
            <a:extLst>
              <a:ext uri="{FF2B5EF4-FFF2-40B4-BE49-F238E27FC236}">
                <a16:creationId xmlns:a16="http://schemas.microsoft.com/office/drawing/2014/main" id="{7A6A941D-6899-DC2C-314D-4A8C379FC1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793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88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dirty="0"/>
          </a:p>
          <a:p>
            <a:pPr marL="228600" lvl="0" indent="-88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dirty="0"/>
          </a:p>
          <a:p>
            <a:pPr marL="228600" lvl="0" indent="-88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dirty="0"/>
          </a:p>
          <a:p>
            <a:pPr marL="228600" lvl="0" indent="-88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dirty="0"/>
          </a:p>
          <a:p>
            <a:pPr marL="228600" lvl="0" indent="-88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dirty="0"/>
          </a:p>
          <a:p>
            <a:pPr marL="228600" lvl="0" indent="-88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lang="en-IN" sz="2200" dirty="0"/>
          </a:p>
          <a:p>
            <a:pPr marL="228600" lvl="0" indent="-88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lang="en-IN" sz="2200" dirty="0"/>
          </a:p>
          <a:p>
            <a:pPr marL="228600" lvl="0" indent="-88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dirty="0"/>
              <a:t>A random variable with a Gaussian distribution is said to be normally distributed, and is called a normal deviate.</a:t>
            </a:r>
            <a:endParaRPr sz="2200" dirty="0"/>
          </a:p>
        </p:txBody>
      </p:sp>
      <p:sp>
        <p:nvSpPr>
          <p:cNvPr id="129" name="Google Shape;129;p7" descr="{\textstyle \sigma ^{2}}">
            <a:extLst>
              <a:ext uri="{FF2B5EF4-FFF2-40B4-BE49-F238E27FC236}">
                <a16:creationId xmlns:a16="http://schemas.microsoft.com/office/drawing/2014/main" id="{6267F904-9946-EA93-4248-939E3F09A2CD}"/>
              </a:ext>
            </a:extLst>
          </p:cNvPr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7">
            <a:extLst>
              <a:ext uri="{FF2B5EF4-FFF2-40B4-BE49-F238E27FC236}">
                <a16:creationId xmlns:a16="http://schemas.microsoft.com/office/drawing/2014/main" id="{67A6E59D-C9C7-E90A-D209-F5004B4DAB7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58413" y="1690687"/>
            <a:ext cx="8887613" cy="36267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3272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Normal Distribution Examples</a:t>
            </a:r>
            <a:endParaRPr dirty="0"/>
          </a:p>
        </p:txBody>
      </p:sp>
      <p:sp>
        <p:nvSpPr>
          <p:cNvPr id="136" name="Google Shape;136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can draw a Normal Distribution for various types of data that include,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Distribution of Height of People.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Distribution of Errors in any Measurement.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Distribution of Blood Pressure of any Patient, etc.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Standard normal distribution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96278E-A543-F72F-DFF3-CB87E8995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810538"/>
            <a:ext cx="10515600" cy="1769165"/>
          </a:xfrm>
        </p:spPr>
        <p:txBody>
          <a:bodyPr>
            <a:normAutofit/>
          </a:bodyPr>
          <a:lstStyle/>
          <a:p>
            <a:r>
              <a:rPr lang="en-US" dirty="0"/>
              <a:t>Normal distributions with a mean ⁠μ  and standard deviation can be transformed into the standard normal distribution with mean of zero and standard deviation of one.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663FCA-3EA0-E87A-AC54-624868954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7491" y="2131711"/>
            <a:ext cx="5827970" cy="171129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>
            <a:spLocks noGrp="1"/>
          </p:cNvSpPr>
          <p:nvPr>
            <p:ph type="title"/>
          </p:nvPr>
        </p:nvSpPr>
        <p:spPr>
          <a:xfrm>
            <a:off x="71038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Standard normal distribution</a:t>
            </a:r>
            <a:endParaRPr/>
          </a:p>
        </p:txBody>
      </p:sp>
      <p:pic>
        <p:nvPicPr>
          <p:cNvPr id="153" name="Google Shape;15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5352" y="1651931"/>
            <a:ext cx="8725656" cy="252243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FAF666-4D7C-010A-85F1-24D2DD5E645A}"/>
              </a:ext>
            </a:extLst>
          </p:cNvPr>
          <p:cNvSpPr txBox="1"/>
          <p:nvPr/>
        </p:nvSpPr>
        <p:spPr>
          <a:xfrm>
            <a:off x="710380" y="5037128"/>
            <a:ext cx="106997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Regions within the original normal distribution correspond to regions in the standard normal distribution.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Areas in the standard normal distribution are known and tabulated in tables (or stored in statistics programs).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1</a:t>
            </a:r>
            <a:endParaRPr/>
          </a:p>
        </p:txBody>
      </p:sp>
      <p:pic>
        <p:nvPicPr>
          <p:cNvPr id="162" name="Google Shape;162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62821" y="3175954"/>
            <a:ext cx="6502719" cy="272712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6D706F-F1E7-4EB7-5105-6F2D224D8A05}"/>
              </a:ext>
            </a:extLst>
          </p:cNvPr>
          <p:cNvSpPr txBox="1"/>
          <p:nvPr/>
        </p:nvSpPr>
        <p:spPr>
          <a:xfrm>
            <a:off x="838200" y="1487490"/>
            <a:ext cx="10515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Consider a population of 80 guinea pigs in which the mean mass is 1.1 kg and the standard deviation is 200g (0.2 kg).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                                                   Example 1-answ</a:t>
            </a:r>
            <a:endParaRPr/>
          </a:p>
        </p:txBody>
      </p:sp>
      <p:sp>
        <p:nvSpPr>
          <p:cNvPr id="168" name="Google Shape;168;p12"/>
          <p:cNvSpPr txBox="1">
            <a:spLocks noGrp="1"/>
          </p:cNvSpPr>
          <p:nvPr>
            <p:ph type="body" idx="1"/>
          </p:nvPr>
        </p:nvSpPr>
        <p:spPr>
          <a:xfrm>
            <a:off x="838200" y="180596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69" name="Google Shape;169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9931" y="270639"/>
            <a:ext cx="6944694" cy="5906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74625" y="4861282"/>
            <a:ext cx="2263336" cy="92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28660" y="3160558"/>
            <a:ext cx="3368332" cy="36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26046" y="1939018"/>
            <a:ext cx="4431889" cy="419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D4E1FA-FB20-15F6-BB57-A949371F3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60" y="333800"/>
            <a:ext cx="11702296" cy="566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3284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738D9D-39BD-B3C9-5D4E-9A1AC56A0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93" y="296321"/>
            <a:ext cx="9218824" cy="639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0196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C9A6FF-170D-E928-7B27-9A456DF4F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77" y="333760"/>
            <a:ext cx="10375735" cy="6248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9888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19C306-5A88-1744-20CE-5B65D5419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47" y="407144"/>
            <a:ext cx="10390636" cy="596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3306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8BA568-0366-AB17-6ECF-5E1BD1A7F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73" y="520506"/>
            <a:ext cx="11605425" cy="506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9875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FEA0-CAA4-0932-60AF-1DD463D6C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 distribution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E0F4A-BBF1-40F1-6ED5-312FB1DC0F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2400" dirty="0"/>
              <a:t>The Exponential Distribution is one of the most commonly used probability distributions in statistics and data science. </a:t>
            </a:r>
          </a:p>
          <a:p>
            <a:pPr fontAlgn="base"/>
            <a:r>
              <a:rPr lang="en-US" sz="2400" dirty="0"/>
              <a:t>It is widely used to model the time or space between events in a Poisson process. </a:t>
            </a:r>
          </a:p>
          <a:p>
            <a:pPr fontAlgn="base"/>
            <a:r>
              <a:rPr lang="en-US" sz="2400" dirty="0"/>
              <a:t>In simple terms, it describes how long you have to wait before something happens, like a bus arriving or a customer calling a help center.</a:t>
            </a:r>
          </a:p>
          <a:p>
            <a:pPr fontAlgn="base"/>
            <a:r>
              <a:rPr lang="en-US" sz="2400" dirty="0"/>
              <a:t>For example, if buses arrive at a bus stop every 15 minutes on average, the time you wait for the next bus can be modelled using an exponential distribution.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272515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CE51D-B780-6000-CA42-4649463DC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 distribution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175FD4-AEAD-1CB2-9704-19510CB81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89" y="1680749"/>
            <a:ext cx="9256763" cy="464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975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AAC0C-43C8-F1D8-D0D9-DCFCA3F5E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 distribution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8FE5B9-5509-58E4-BE74-661E01D19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441" y="1534478"/>
            <a:ext cx="11026882" cy="472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669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674</Words>
  <Application>Microsoft Office PowerPoint</Application>
  <PresentationFormat>Widescreen</PresentationFormat>
  <Paragraphs>89</Paragraphs>
  <Slides>33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Wingdings</vt:lpstr>
      <vt:lpstr>Office Theme</vt:lpstr>
      <vt:lpstr>Probability Distribution</vt:lpstr>
      <vt:lpstr>Discrete Probability Distributions</vt:lpstr>
      <vt:lpstr>Bernoulli Trial</vt:lpstr>
      <vt:lpstr>Bernoulli Trial</vt:lpstr>
      <vt:lpstr>Bernoulli distribution</vt:lpstr>
      <vt:lpstr>Binomial Distribution</vt:lpstr>
      <vt:lpstr>Binomial Distribution</vt:lpstr>
      <vt:lpstr>Example</vt:lpstr>
      <vt:lpstr>Example</vt:lpstr>
      <vt:lpstr>PowerPoint Presentation</vt:lpstr>
      <vt:lpstr>PowerPoint Presentation</vt:lpstr>
      <vt:lpstr>POISSON DISTRIBUTION</vt:lpstr>
      <vt:lpstr>PowerPoint Presentation</vt:lpstr>
      <vt:lpstr>BERNOULLI DISTRIBUTION</vt:lpstr>
      <vt:lpstr>Continuous Probability Distributions</vt:lpstr>
      <vt:lpstr>Uniform distribution</vt:lpstr>
      <vt:lpstr>Uniform distribution</vt:lpstr>
      <vt:lpstr>Uniform distribution: Example</vt:lpstr>
      <vt:lpstr>Normal distribution or Gaussian distribution</vt:lpstr>
      <vt:lpstr>Normal distribution or Gaussian distribution</vt:lpstr>
      <vt:lpstr>Normal Distribution Examples</vt:lpstr>
      <vt:lpstr>Standard normal distribution</vt:lpstr>
      <vt:lpstr>Standard normal distribution</vt:lpstr>
      <vt:lpstr>Example 1</vt:lpstr>
      <vt:lpstr>                                                   Example 1-answ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Exponential distribution</vt:lpstr>
      <vt:lpstr>Exponential distribution</vt:lpstr>
      <vt:lpstr>Exponential distribution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2026-09-02T04:44:13Z</dcterms:created>
  <dcterms:modified xsi:type="dcterms:W3CDTF">2026-09-02T04:45:03Z</dcterms:modified>
</cp:coreProperties>
</file>