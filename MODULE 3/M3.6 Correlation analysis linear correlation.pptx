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12" r:id="rId2"/>
    <p:sldId id="313" r:id="rId3"/>
    <p:sldId id="314" r:id="rId4"/>
    <p:sldId id="315" r:id="rId5"/>
    <p:sldId id="316" r:id="rId6"/>
    <p:sldId id="317" r:id="rId7"/>
    <p:sldId id="318" r:id="rId8"/>
    <p:sldId id="354" r:id="rId9"/>
    <p:sldId id="319" r:id="rId10"/>
    <p:sldId id="369" r:id="rId11"/>
    <p:sldId id="320" r:id="rId12"/>
    <p:sldId id="358" r:id="rId13"/>
    <p:sldId id="359" r:id="rId14"/>
    <p:sldId id="357" r:id="rId15"/>
    <p:sldId id="366" r:id="rId16"/>
    <p:sldId id="3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9212A-E4F4-4E69-9189-7428DE38E51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E1591-C73F-4A49-BEA9-623363054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659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BE2BFB14-62D2-0FF2-3D58-68512D847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3:notes">
            <a:extLst>
              <a:ext uri="{FF2B5EF4-FFF2-40B4-BE49-F238E27FC236}">
                <a16:creationId xmlns:a16="http://schemas.microsoft.com/office/drawing/2014/main" id="{43E99796-F634-269F-AC50-5DCC97AA3C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63:notes">
            <a:extLst>
              <a:ext uri="{FF2B5EF4-FFF2-40B4-BE49-F238E27FC236}">
                <a16:creationId xmlns:a16="http://schemas.microsoft.com/office/drawing/2014/main" id="{B4F7F0C9-EE2D-5A46-A8BE-796986FAD9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4610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A694AC6D-EDFF-22F1-7C0B-D6C35CF7E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5:notes">
            <a:extLst>
              <a:ext uri="{FF2B5EF4-FFF2-40B4-BE49-F238E27FC236}">
                <a16:creationId xmlns:a16="http://schemas.microsoft.com/office/drawing/2014/main" id="{31F645DA-02EC-877F-D538-9232B7D6D4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65:notes">
            <a:extLst>
              <a:ext uri="{FF2B5EF4-FFF2-40B4-BE49-F238E27FC236}">
                <a16:creationId xmlns:a16="http://schemas.microsoft.com/office/drawing/2014/main" id="{98BCFDC2-F849-D7EF-FF88-A0A95D7A3E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5107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5D5CE-7C19-E1FA-01BE-360582A58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1FE238-7475-9579-9D05-EDFA592E3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3A4A2-A878-8A5D-7979-FF5274B7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80C-C602-4E68-88DB-6415A48BDBB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94102-9FD9-347E-6FC5-FECA8F49D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071C2-7009-3307-3A98-A0E5FB6F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818B-C3D1-48B6-B803-5981D2CAD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98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8FA0D-9918-AE50-7E28-417FD7A9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4505E-AEBE-4B51-4A16-4C1DE6275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6D247-D563-CAE4-BA58-B6A51334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80C-C602-4E68-88DB-6415A48BDBB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2FD21-C983-85CA-0DF5-54A8F6FA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CE87F-824D-2669-ED75-DB7FF638F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818B-C3D1-48B6-B803-5981D2CAD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019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4A7C-B68B-CA62-9241-3C7B1B651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BEC2F-4773-B05E-DFBC-95C353095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5D86E-79D6-1CB0-1535-950D8D0C4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80C-C602-4E68-88DB-6415A48BDBB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7FF7B-D712-09CC-222E-F71642947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8E3A4-B3AD-5075-4383-91BDF97F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818B-C3D1-48B6-B803-5981D2CAD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500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BD20-D32F-E4AB-B16A-57AF3953A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36DC6-0C54-312B-157E-91264D21D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46055-8105-4788-3800-D4445D5A1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E745C-F36A-C0C9-E62D-AD468C61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80C-C602-4E68-88DB-6415A48BDBB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823F1-4DB2-8CA2-88D0-3D58CC6B3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6747F-18A0-D265-F88E-81F8E0FA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818B-C3D1-48B6-B803-5981D2CAD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020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EA51-D80F-9580-BFA4-06E182A6F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D1AEC-407F-7122-ACA9-6ED259888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97539-7266-FED8-6B7F-8122E166D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B1F030-530C-0D65-5251-B874775911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D68D1D-87F6-7403-02AD-5BE920325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ADB3E2-66C9-A19A-C007-7D521F410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80C-C602-4E68-88DB-6415A48BDBB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42956D-1B1C-6152-5595-019420B5A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49C7E-E526-82C9-B1F6-D5F27FD05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818B-C3D1-48B6-B803-5981D2CAD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27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ECC2E-9CD5-2A5B-10A2-4185A0BB0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DFEBD0-D0A7-5440-8A9B-3831A76AF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80C-C602-4E68-88DB-6415A48BDBB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DD829D-AE47-B60F-5B68-DDB1240B4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092B9-AF10-1545-52BB-8D11D0E4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818B-C3D1-48B6-B803-5981D2CAD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00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A2DE32-0FF4-C57D-3514-6051058E7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80C-C602-4E68-88DB-6415A48BDBB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2675B-8BB9-A1DC-2818-3C748CC0B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B3700-B034-851A-D922-25A2F5B45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818B-C3D1-48B6-B803-5981D2CAD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682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A45F7-BFB8-4FEE-026D-16596376A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E13AF-D9D3-DE64-EC88-FB5A914B0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A6CF8-40D9-C53D-15C2-CFEA91660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9C2F1-2187-CB90-A827-C817DBD10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80C-C602-4E68-88DB-6415A48BDBB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91B36-8309-9786-B284-E8DA9109B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069DC-A5BD-030C-26B0-B9C00BDA4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818B-C3D1-48B6-B803-5981D2CAD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621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B253A-9FAB-D3A2-63D6-3553A1CCF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87BFF-09D7-668A-6A5C-261A6F8913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ADFDE-56C7-CAB8-6C70-89711D6B7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19B89-1711-799C-BB19-C7DC0EF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80C-C602-4E68-88DB-6415A48BDBB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E1810-2884-0476-5F80-91579B8E1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AFC92-937C-EAEC-58DE-53FC395D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818B-C3D1-48B6-B803-5981D2CAD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28DBD-4DA9-DF43-6281-6DBB8E6A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3BD75-A9EC-C11E-E742-B8AB8A08B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226D3-03BD-82C9-7A7B-6EE5813C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80C-C602-4E68-88DB-6415A48BDBB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7AE7F-706B-0F5E-F02F-4AFA5D2D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55610-FE4E-37BE-93F7-11FD8ED40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818B-C3D1-48B6-B803-5981D2CAD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94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B16FCD-E845-50E8-3CEB-8C337F03B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45E2D6-AA78-EEF0-0151-68C57826B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E5A52-72DB-5204-84B3-4C8F2C7D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80C-C602-4E68-88DB-6415A48BDBB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43CD6-A143-C6D7-FC83-77766D78D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888A0-8DDF-B736-49CA-7A66BECB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818B-C3D1-48B6-B803-5981D2CAD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798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3F8AF6-2B64-5CDE-B8B9-EBB0FE57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7DF0D-62A6-2610-C76F-908828B5C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144A5-9197-A585-BD87-35DD8DB95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7E80C-C602-4E68-88DB-6415A48BDBB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EA6FB-90D6-86DD-89E4-F584B44EE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4C113-7FFE-5CC2-1AC5-29B818D6A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5818B-C3D1-48B6-B803-5981D2CAD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64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CORRELATION ANALYSIS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2AC01-B197-DCBC-BA29-959076C39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920154" cy="4351338"/>
          </a:xfrm>
        </p:spPr>
        <p:txBody>
          <a:bodyPr/>
          <a:lstStyle/>
          <a:p>
            <a:r>
              <a:rPr lang="en-US" dirty="0"/>
              <a:t>We often want to know:</a:t>
            </a:r>
          </a:p>
          <a:p>
            <a:pPr lvl="1"/>
            <a:r>
              <a:rPr lang="en-US" dirty="0"/>
              <a:t>How do two variables change together?</a:t>
            </a:r>
          </a:p>
          <a:p>
            <a:pPr lvl="1"/>
            <a:r>
              <a:rPr lang="en-US" dirty="0"/>
              <a:t>Example: If study hours increase, do exam scores also increase?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17888-8982-8FB9-00C1-1BC5428FA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354" y="365125"/>
            <a:ext cx="5158663" cy="64639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964" y="284026"/>
            <a:ext cx="11386931" cy="6236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2E03A1-8DE1-206E-A052-174669065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191" y="5262008"/>
            <a:ext cx="4392381" cy="13119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327" y="210460"/>
            <a:ext cx="11423908" cy="6309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9913" y="325938"/>
            <a:ext cx="11446922" cy="6283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229" y="261505"/>
            <a:ext cx="11428032" cy="6258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9756" y="217435"/>
            <a:ext cx="11318540" cy="6421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201" y="353339"/>
            <a:ext cx="11037033" cy="6166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5D208C8E-F479-B622-11BB-3FB79290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63">
            <a:extLst>
              <a:ext uri="{FF2B5EF4-FFF2-40B4-BE49-F238E27FC236}">
                <a16:creationId xmlns:a16="http://schemas.microsoft.com/office/drawing/2014/main" id="{4EE5ED5E-3E72-AA79-7CEA-4846E465EE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800" y="481254"/>
            <a:ext cx="9687765" cy="5333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2265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106" y="465588"/>
            <a:ext cx="10996894" cy="5044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510465"/>
            <a:ext cx="10330070" cy="762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A91FCF-4B74-DBD6-6B00-1C17F9D73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92" y="182947"/>
            <a:ext cx="3829897" cy="16534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2461F5-A545-6B01-0085-BA1EDD31D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887" y="182947"/>
            <a:ext cx="7777339" cy="16534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4FA962-F9BD-A38A-DF67-08F923CF7925}"/>
                  </a:ext>
                </a:extLst>
              </p:cNvPr>
              <p:cNvSpPr txBox="1"/>
              <p:nvPr/>
            </p:nvSpPr>
            <p:spPr>
              <a:xfrm>
                <a:off x="806818" y="2103991"/>
                <a:ext cx="763566" cy="4279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𝐹𝑖𝑛𝑑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b="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IN" sz="2800" b="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IN" sz="2800" b="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baseline="30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b="0" i="0" baseline="30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IN" sz="28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sz="2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b="0" i="1" baseline="30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IN" sz="2800" dirty="0">
                  <a:latin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IN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4FA962-F9BD-A38A-DF67-08F923CF7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18" y="2103991"/>
                <a:ext cx="763566" cy="4279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F1E15FA-89E4-81DB-2AD8-12E4F46DF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6047" y="3351934"/>
            <a:ext cx="1653683" cy="8916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64FB82-E9F7-4F57-44C2-7749453A85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6047" y="4678145"/>
            <a:ext cx="1562235" cy="86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0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E995DC-376D-E14A-06B0-69A941E35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75" y="197010"/>
            <a:ext cx="10671249" cy="59453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D1EBEB30-9A95-D8F3-377B-38B2E68F9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AEC012-EECF-BFC4-8C08-690CEA44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09" y="242577"/>
            <a:ext cx="5272219" cy="23508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BD9EF8-5F1A-4160-6AB3-F4609B043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237" y="2843837"/>
            <a:ext cx="4536519" cy="22518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445494-DB4F-E241-8914-414B784658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237" y="5272111"/>
            <a:ext cx="1554321" cy="13008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1DB749-16F1-EF47-2848-3C5C8E503C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1038" y="5682754"/>
            <a:ext cx="879291" cy="47961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24FD14F-DC4B-D56C-1CF8-C7D5D5D734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209" y="2727365"/>
            <a:ext cx="3829897" cy="165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88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F6619-7CAC-978F-1F96-EB4E8087C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9500B0-A162-2042-5BD4-02FACA42A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96" y="523266"/>
            <a:ext cx="6679504" cy="12856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27F172-D291-19DB-CA41-02A46D618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65" y="2060651"/>
            <a:ext cx="4411983" cy="36061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C99007-8A28-CF2B-79DF-C136EC578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417" y="2060651"/>
            <a:ext cx="2928913" cy="3606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EACC35-5E79-9DA7-F168-F06B88D619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999" y="2060651"/>
            <a:ext cx="3950001" cy="360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718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215A8EB-554A-C3E8-A18F-B5F929FCF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522" y="328316"/>
            <a:ext cx="6838121" cy="29890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3E0B22-991C-0708-083C-3DA182F4D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72" y="3429000"/>
            <a:ext cx="10530459" cy="318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28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E5C37-C282-A0EC-4E26-B7E5E90AA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correlation coefficient between X=[1,2,3,4] and Y=[2,4,6,8]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5021D6-BC2E-C1C7-75F2-01F1E460A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35" y="2148729"/>
            <a:ext cx="8954361" cy="25156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D14991-DE88-193C-0983-DA2D89852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69" y="4830538"/>
            <a:ext cx="3931787" cy="167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52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4D0092-6A71-1F65-8D35-A0513B43CFA6}"/>
              </a:ext>
            </a:extLst>
          </p:cNvPr>
          <p:cNvGraphicFramePr>
            <a:graphicFrameLocks noGrp="1"/>
          </p:cNvGraphicFramePr>
          <p:nvPr/>
        </p:nvGraphicFramePr>
        <p:xfrm>
          <a:off x="838198" y="262193"/>
          <a:ext cx="11148396" cy="4319748"/>
        </p:xfrm>
        <a:graphic>
          <a:graphicData uri="http://schemas.openxmlformats.org/drawingml/2006/table">
            <a:tbl>
              <a:tblPr/>
              <a:tblGrid>
                <a:gridCol w="980663">
                  <a:extLst>
                    <a:ext uri="{9D8B030D-6E8A-4147-A177-3AD203B41FA5}">
                      <a16:colId xmlns:a16="http://schemas.microsoft.com/office/drawing/2014/main" val="3183765355"/>
                    </a:ext>
                  </a:extLst>
                </a:gridCol>
                <a:gridCol w="1262269">
                  <a:extLst>
                    <a:ext uri="{9D8B030D-6E8A-4147-A177-3AD203B41FA5}">
                      <a16:colId xmlns:a16="http://schemas.microsoft.com/office/drawing/2014/main" val="1623432594"/>
                    </a:ext>
                  </a:extLst>
                </a:gridCol>
                <a:gridCol w="1540566">
                  <a:extLst>
                    <a:ext uri="{9D8B030D-6E8A-4147-A177-3AD203B41FA5}">
                      <a16:colId xmlns:a16="http://schemas.microsoft.com/office/drawing/2014/main" val="211190886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485614969"/>
                    </a:ext>
                  </a:extLst>
                </a:gridCol>
                <a:gridCol w="1580321">
                  <a:extLst>
                    <a:ext uri="{9D8B030D-6E8A-4147-A177-3AD203B41FA5}">
                      <a16:colId xmlns:a16="http://schemas.microsoft.com/office/drawing/2014/main" val="1266750991"/>
                    </a:ext>
                  </a:extLst>
                </a:gridCol>
                <a:gridCol w="1699592">
                  <a:extLst>
                    <a:ext uri="{9D8B030D-6E8A-4147-A177-3AD203B41FA5}">
                      <a16:colId xmlns:a16="http://schemas.microsoft.com/office/drawing/2014/main" val="1213695785"/>
                    </a:ext>
                  </a:extLst>
                </a:gridCol>
                <a:gridCol w="2713385">
                  <a:extLst>
                    <a:ext uri="{9D8B030D-6E8A-4147-A177-3AD203B41FA5}">
                      <a16:colId xmlns:a16="http://schemas.microsoft.com/office/drawing/2014/main" val="587087431"/>
                    </a:ext>
                  </a:extLst>
                </a:gridCol>
              </a:tblGrid>
              <a:tr h="7199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X−Xˉ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Y−Yˉ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(X−Xˉ)2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(Y−Yˉ)2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(X−Xˉ)(Y−Yˉ)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271611"/>
                  </a:ext>
                </a:extLst>
              </a:tr>
              <a:tr h="7199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-1.5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-3.0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2.25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9.0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968875"/>
                  </a:ext>
                </a:extLst>
              </a:tr>
              <a:tr h="7199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-0.5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-1.0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0.25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390529"/>
                  </a:ext>
                </a:extLst>
              </a:tr>
              <a:tr h="7199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0.25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5103"/>
                  </a:ext>
                </a:extLst>
              </a:tr>
              <a:tr h="7199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2.25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9.0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251017"/>
                  </a:ext>
                </a:extLst>
              </a:tr>
              <a:tr h="7199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2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2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2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5.0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20.0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10.0</a:t>
                      </a:r>
                      <a:endParaRPr lang="en-IN" sz="24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77979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3DF00AB-8961-DF3A-B3FE-9796FB026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35" y="5056316"/>
            <a:ext cx="5902381" cy="152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21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Microsoft Office PowerPoint</Application>
  <PresentationFormat>Widescreen</PresentationFormat>
  <Paragraphs>50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CORRELATION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 the correlation coefficient between X=[1,2,3,4] and Y=[2,4,6,8]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2026-09-16T09:22:20Z</dcterms:created>
  <dcterms:modified xsi:type="dcterms:W3CDTF">2026-09-16T09:23:18Z</dcterms:modified>
</cp:coreProperties>
</file>