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97" r:id="rId2"/>
    <p:sldId id="303" r:id="rId3"/>
    <p:sldId id="304" r:id="rId4"/>
    <p:sldId id="305" r:id="rId5"/>
    <p:sldId id="294" r:id="rId6"/>
    <p:sldId id="296" r:id="rId7"/>
    <p:sldId id="295" r:id="rId8"/>
    <p:sldId id="371" r:id="rId9"/>
    <p:sldId id="372" r:id="rId10"/>
    <p:sldId id="373" r:id="rId11"/>
    <p:sldId id="374" r:id="rId12"/>
    <p:sldId id="306" r:id="rId13"/>
    <p:sldId id="298" r:id="rId14"/>
    <p:sldId id="307" r:id="rId15"/>
    <p:sldId id="308" r:id="rId16"/>
    <p:sldId id="309" r:id="rId17"/>
    <p:sldId id="310" r:id="rId18"/>
    <p:sldId id="31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2FC78E-01C2-4601-9091-9317721AE68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FC07C4-7D28-4558-8D9B-D20DEF51E7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762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7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70" name="Google Shape;370;p3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9" name="Google Shape;409;p4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42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F203E-2EA5-FC9D-ED08-637E68D28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B81DC9-8AB8-ACBC-54E5-81CA1B2420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439BC-5736-4BB4-367D-9E4B5838A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F8866-4856-4054-A018-4E913C33D1F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F7C13-C132-5576-4D9B-A10AA6B41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B2282-3038-95F8-DCBF-99297B020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862F6-E321-4D31-AC0F-2DFD1E1E3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553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58421-3238-688E-A36F-89CC52E7E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B7BB8-87C6-D42E-7DC0-329D1507F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767FE-0AF5-BF9F-28CE-6444EE884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F8866-4856-4054-A018-4E913C33D1F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3422E-0C29-1FD7-51BC-32787545E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09774-9DA1-5941-0945-A2432BAAC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862F6-E321-4D31-AC0F-2DFD1E1E3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87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59B04-D8ED-C3D7-6C80-3B3C3D6C0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05631-0739-A639-3B12-D78EE51C2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74BA8-F702-A1C5-1A81-27D1CF31D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F8866-4856-4054-A018-4E913C33D1F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DA021-077B-208D-59CA-37E215FCE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95831-AAC7-53E3-0AEE-5D30DC0B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862F6-E321-4D31-AC0F-2DFD1E1E3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184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5C819-4F61-1686-8512-7A3FB2734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BCEFA-4856-41E7-026D-7C62FB8F10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2701A3-63CA-C50F-EE78-34371412D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050AB7-CCF9-42B8-76C0-6029DAB8C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F8866-4856-4054-A018-4E913C33D1F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CE370-487E-CF37-CEB0-7FAC4D92E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11B55E-F999-2D2F-43C0-C1E0AF91B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862F6-E321-4D31-AC0F-2DFD1E1E3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703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6E433-FC66-3B0E-4762-FC40F8BD7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8058E-9276-423F-7976-27F078104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0731A8-1932-FA05-7C1C-1E4EB9B4C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EAF60A-C3E6-CF3D-AB1D-EC6268644B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D2ABE7-0A82-DEA7-B772-D3CD51DE40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626537-34E2-3816-5BD0-A6B2CB7CC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F8866-4856-4054-A018-4E913C33D1F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03D1E2-13F0-30E2-DD36-A00CD3C4C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C1678B-A82F-D52B-CB04-66F8CA511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862F6-E321-4D31-AC0F-2DFD1E1E3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070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ECB5A-4933-0C48-94F5-5F67874FC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B343D7-D137-9086-C8E3-5B2B92BB9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F8866-4856-4054-A018-4E913C33D1F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66066B-BB06-4DCB-8EB6-0A9084097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EE6DA-D2E8-C520-0336-6CF6BED02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862F6-E321-4D31-AC0F-2DFD1E1E3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930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9E491C-2B57-ACFE-C6C6-ABA3FF7EB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F8866-4856-4054-A018-4E913C33D1F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1264A3-46B6-9C01-9533-F7B543081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CB0AA-298B-3610-C050-628156909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862F6-E321-4D31-AC0F-2DFD1E1E3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728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B1FDF-0894-5CD4-D0D5-5B35FD944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F5E8E-5BC4-FF4C-9A0B-4CF9D2149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D2956E-7038-A440-B9B7-23C104614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B06FD3-7FE1-8834-9468-76F8FF536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F8866-4856-4054-A018-4E913C33D1F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8FFC70-8714-75E8-1FDC-B871500E8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35F99-6F36-77EB-CECF-32465080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862F6-E321-4D31-AC0F-2DFD1E1E3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105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EB852-620F-C5B6-6FDC-2A7B1229A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B72EEC-55CF-8989-161B-D5EDE9ACE3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02653B-3C00-D93E-7A95-FFFA887FA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767DA-CFC6-2093-A1D1-7798EAABC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F8866-4856-4054-A018-4E913C33D1F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CE65DF-79E0-B3D0-CE63-EA2F93326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1DE51-D5F2-14F7-3350-E15EB7A14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862F6-E321-4D31-AC0F-2DFD1E1E3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311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71804-6F72-5F72-B234-610335B4F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EA1DE6-282F-664C-7754-C9C0F1A8A0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4761C-D86A-56F9-FF2F-8B852A707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F8866-4856-4054-A018-4E913C33D1F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F2748-74AA-A53D-23A8-8D907196F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B2777-C5B9-41FB-A54A-046EE5807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862F6-E321-4D31-AC0F-2DFD1E1E3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846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31ABD0-3B38-3630-AFAE-7E906246B3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E9F290-D53A-8E39-7A86-8AA15C080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E0429-D42F-4E5A-E55E-25946B189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F8866-4856-4054-A018-4E913C33D1F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B7011-0613-351A-5AC0-E79F3B77D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8AD44-BEA3-A775-5E6C-844C8EEED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862F6-E321-4D31-AC0F-2DFD1E1E3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082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2"/>
          <p:cNvSpPr/>
          <p:nvPr/>
        </p:nvSpPr>
        <p:spPr>
          <a:xfrm>
            <a:off x="8040623" y="6446520"/>
            <a:ext cx="2801620" cy="363220"/>
          </a:xfrm>
          <a:custGeom>
            <a:avLst/>
            <a:gdLst/>
            <a:ahLst/>
            <a:cxnLst/>
            <a:rect l="l" t="t" r="r" b="b"/>
            <a:pathLst>
              <a:path w="2801620" h="363220" extrusionOk="0">
                <a:moveTo>
                  <a:pt x="2801112" y="0"/>
                </a:moveTo>
                <a:lnTo>
                  <a:pt x="0" y="0"/>
                </a:lnTo>
                <a:lnTo>
                  <a:pt x="0" y="362711"/>
                </a:lnTo>
                <a:lnTo>
                  <a:pt x="2801112" y="362711"/>
                </a:lnTo>
                <a:lnTo>
                  <a:pt x="2801112" y="0"/>
                </a:lnTo>
                <a:close/>
              </a:path>
            </a:pathLst>
          </a:custGeom>
          <a:solidFill>
            <a:srgbClr val="3333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4" name="Google Shape;24;p82"/>
          <p:cNvSpPr/>
          <p:nvPr/>
        </p:nvSpPr>
        <p:spPr>
          <a:xfrm>
            <a:off x="1097280" y="6446520"/>
            <a:ext cx="6818630" cy="365760"/>
          </a:xfrm>
          <a:custGeom>
            <a:avLst/>
            <a:gdLst/>
            <a:ahLst/>
            <a:cxnLst/>
            <a:rect l="l" t="t" r="r" b="b"/>
            <a:pathLst>
              <a:path w="6818630" h="365759" extrusionOk="0">
                <a:moveTo>
                  <a:pt x="6818376" y="0"/>
                </a:moveTo>
                <a:lnTo>
                  <a:pt x="0" y="0"/>
                </a:lnTo>
                <a:lnTo>
                  <a:pt x="0" y="365759"/>
                </a:lnTo>
                <a:lnTo>
                  <a:pt x="6818376" y="365759"/>
                </a:lnTo>
                <a:lnTo>
                  <a:pt x="6818376" y="0"/>
                </a:lnTo>
                <a:close/>
              </a:path>
            </a:pathLst>
          </a:custGeom>
          <a:solidFill>
            <a:srgbClr val="3333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5" name="Google Shape;25;p82"/>
          <p:cNvSpPr txBox="1">
            <a:spLocks noGrp="1"/>
          </p:cNvSpPr>
          <p:nvPr>
            <p:ph type="title"/>
          </p:nvPr>
        </p:nvSpPr>
        <p:spPr>
          <a:xfrm>
            <a:off x="60452" y="-89558"/>
            <a:ext cx="12131802" cy="1743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2"/>
          <p:cNvSpPr txBox="1">
            <a:spLocks noGrp="1"/>
          </p:cNvSpPr>
          <p:nvPr>
            <p:ph type="body" idx="1"/>
          </p:nvPr>
        </p:nvSpPr>
        <p:spPr>
          <a:xfrm>
            <a:off x="280060" y="2234292"/>
            <a:ext cx="10385425" cy="3496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rgbClr val="40404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2"/>
          <p:cNvSpPr txBox="1">
            <a:spLocks noGrp="1"/>
          </p:cNvSpPr>
          <p:nvPr>
            <p:ph type="ftr" idx="11"/>
          </p:nvPr>
        </p:nvSpPr>
        <p:spPr>
          <a:xfrm>
            <a:off x="8119998" y="6530664"/>
            <a:ext cx="2643124" cy="186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2"/>
          <p:cNvSpPr txBox="1">
            <a:spLocks noGrp="1"/>
          </p:cNvSpPr>
          <p:nvPr>
            <p:ph type="dt" idx="10"/>
          </p:nvPr>
        </p:nvSpPr>
        <p:spPr>
          <a:xfrm>
            <a:off x="1176324" y="6546193"/>
            <a:ext cx="6256350" cy="175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92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D90455-C36F-0103-3FFD-880463246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6A963-20D4-16A5-CBEC-936998777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99092-3701-DBC9-FA7E-A9684ED11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FF8866-4856-4054-A018-4E913C33D1F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CC2BC-6C82-91D4-A843-BD1F63D539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6E62D-EC5E-B8BB-18B2-8760EF758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862F6-E321-4D31-AC0F-2DFD1E1E3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437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5"/>
          <p:cNvSpPr txBox="1"/>
          <p:nvPr/>
        </p:nvSpPr>
        <p:spPr>
          <a:xfrm>
            <a:off x="2179675" y="2498652"/>
            <a:ext cx="75679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/>
              <a:t>Some common operations on matrices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6"/>
          <p:cNvSpPr txBox="1">
            <a:spLocks/>
          </p:cNvSpPr>
          <p:nvPr/>
        </p:nvSpPr>
        <p:spPr>
          <a:xfrm>
            <a:off x="3937591" y="489453"/>
            <a:ext cx="3866707" cy="644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3600" b="1" dirty="0">
                <a:latin typeface="Calibri"/>
                <a:ea typeface="Calibri"/>
                <a:cs typeface="Calibri"/>
                <a:sym typeface="Calibri"/>
              </a:rPr>
              <a:t>Product of 2 Matrices</a:t>
            </a:r>
            <a:endParaRPr lang="en-US" dirty="0"/>
          </a:p>
        </p:txBody>
      </p:sp>
      <p:sp>
        <p:nvSpPr>
          <p:cNvPr id="360" name="Google Shape;360;p36"/>
          <p:cNvSpPr txBox="1">
            <a:spLocks/>
          </p:cNvSpPr>
          <p:nvPr/>
        </p:nvSpPr>
        <p:spPr>
          <a:xfrm>
            <a:off x="1612900" y="4779964"/>
            <a:ext cx="8834438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142240">
              <a:spcBef>
                <a:spcPts val="0"/>
              </a:spcBef>
              <a:buClr>
                <a:srgbClr val="404040"/>
              </a:buClr>
              <a:buSzPct val="100000"/>
              <a:buFont typeface="Arial"/>
              <a:buChar char="•"/>
            </a:pPr>
            <a:r>
              <a:rPr lang="en-US"/>
              <a:t> ‘inner matrix dimensions must agree’</a:t>
            </a:r>
          </a:p>
          <a:p>
            <a:pPr marL="0" indent="-142240">
              <a:spcBef>
                <a:spcPts val="0"/>
              </a:spcBef>
              <a:buClr>
                <a:srgbClr val="404040"/>
              </a:buClr>
              <a:buSzPct val="100000"/>
              <a:buFont typeface="Arial"/>
              <a:buChar char="•"/>
            </a:pPr>
            <a:r>
              <a:rPr lang="en-US" b="1"/>
              <a:t>Note: </a:t>
            </a:r>
            <a:r>
              <a:rPr lang="en-US"/>
              <a:t>Matrix multiplication doesn’t (generally) commute, </a:t>
            </a:r>
            <a:r>
              <a:rPr lang="en-US" b="1"/>
              <a:t>AB</a:t>
            </a:r>
            <a:r>
              <a:rPr lang="en-US"/>
              <a:t> ≠ </a:t>
            </a:r>
            <a:r>
              <a:rPr lang="en-US" b="1"/>
              <a:t>BA</a:t>
            </a:r>
          </a:p>
        </p:txBody>
      </p:sp>
      <p:pic>
        <p:nvPicPr>
          <p:cNvPr id="361" name="Google Shape;361;p36" descr="mtimesm.eps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12900" y="1755775"/>
            <a:ext cx="8955088" cy="130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6"/>
          <p:cNvSpPr txBox="1"/>
          <p:nvPr/>
        </p:nvSpPr>
        <p:spPr>
          <a:xfrm>
            <a:off x="2368550" y="3538539"/>
            <a:ext cx="67945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X P</a:t>
            </a:r>
            <a:endParaRPr/>
          </a:p>
        </p:txBody>
      </p:sp>
      <p:sp>
        <p:nvSpPr>
          <p:cNvPr id="363" name="Google Shape;363;p36"/>
          <p:cNvSpPr txBox="1"/>
          <p:nvPr/>
        </p:nvSpPr>
        <p:spPr>
          <a:xfrm>
            <a:off x="5611814" y="3538539"/>
            <a:ext cx="725487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X M</a:t>
            </a:r>
            <a:endParaRPr/>
          </a:p>
        </p:txBody>
      </p:sp>
      <p:sp>
        <p:nvSpPr>
          <p:cNvPr id="364" name="Google Shape;364;p36"/>
          <p:cNvSpPr txBox="1"/>
          <p:nvPr/>
        </p:nvSpPr>
        <p:spPr>
          <a:xfrm>
            <a:off x="8851900" y="3538539"/>
            <a:ext cx="75565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X M</a:t>
            </a:r>
            <a:endParaRPr/>
          </a:p>
        </p:txBody>
      </p:sp>
      <p:sp>
        <p:nvSpPr>
          <p:cNvPr id="365" name="Google Shape;365;p36"/>
          <p:cNvSpPr/>
          <p:nvPr/>
        </p:nvSpPr>
        <p:spPr>
          <a:xfrm rot="-5400000">
            <a:off x="4149726" y="2574926"/>
            <a:ext cx="303213" cy="2906713"/>
          </a:xfrm>
          <a:prstGeom prst="leftBracket">
            <a:avLst>
              <a:gd name="adj" fmla="val 8333"/>
            </a:avLst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cxnSp>
        <p:nvCxnSpPr>
          <p:cNvPr id="366" name="Google Shape;366;p36"/>
          <p:cNvCxnSpPr/>
          <p:nvPr/>
        </p:nvCxnSpPr>
        <p:spPr>
          <a:xfrm rot="10800000" flipH="1">
            <a:off x="4141789" y="4246563"/>
            <a:ext cx="155575" cy="601662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</p:spTree>
    <p:extLst>
      <p:ext uri="{BB962C8B-B14F-4D97-AF65-F5344CB8AC3E}">
        <p14:creationId xmlns:p14="http://schemas.microsoft.com/office/powerpoint/2010/main" val="1560547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7"/>
          <p:cNvSpPr txBox="1">
            <a:spLocks noGrp="1"/>
          </p:cNvSpPr>
          <p:nvPr>
            <p:ph type="title"/>
          </p:nvPr>
        </p:nvSpPr>
        <p:spPr>
          <a:xfrm>
            <a:off x="4346944" y="662837"/>
            <a:ext cx="3095847" cy="644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Matrix Transpose</a:t>
            </a:r>
            <a:endParaRPr/>
          </a:p>
        </p:txBody>
      </p:sp>
      <p:pic>
        <p:nvPicPr>
          <p:cNvPr id="373" name="Google Shape;373;p3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590800" y="2209801"/>
            <a:ext cx="7315200" cy="186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5800" y="4648200"/>
            <a:ext cx="3429000" cy="76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8"/>
          <p:cNvSpPr txBox="1">
            <a:spLocks noGrp="1"/>
          </p:cNvSpPr>
          <p:nvPr>
            <p:ph type="title"/>
          </p:nvPr>
        </p:nvSpPr>
        <p:spPr>
          <a:xfrm>
            <a:off x="3249614" y="2437221"/>
            <a:ext cx="6255893" cy="57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Eigenvectors &amp; eigenvalues</a:t>
            </a:r>
            <a:endParaRPr sz="32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9"/>
          <p:cNvSpPr txBox="1">
            <a:spLocks noGrp="1"/>
          </p:cNvSpPr>
          <p:nvPr>
            <p:ph type="title"/>
          </p:nvPr>
        </p:nvSpPr>
        <p:spPr>
          <a:xfrm>
            <a:off x="4488712" y="675167"/>
            <a:ext cx="2518144" cy="536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Eigenvectors</a:t>
            </a:r>
            <a:endParaRPr dirty="0"/>
          </a:p>
        </p:txBody>
      </p:sp>
      <p:sp>
        <p:nvSpPr>
          <p:cNvPr id="385" name="Google Shape;385;p39"/>
          <p:cNvSpPr txBox="1"/>
          <p:nvPr/>
        </p:nvSpPr>
        <p:spPr>
          <a:xfrm>
            <a:off x="1024269" y="1761460"/>
            <a:ext cx="10143461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nonzero vector </a:t>
            </a:r>
            <a:r>
              <a:rPr lang="en-US" sz="28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an </a:t>
            </a:r>
            <a:r>
              <a:rPr lang="en-US" sz="28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eigenvector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(or </a:t>
            </a:r>
            <a:r>
              <a:rPr lang="en-US" sz="2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 vector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of a square matrix </a:t>
            </a:r>
            <a:r>
              <a:rPr lang="en-US" sz="28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 there exists a scalar </a:t>
            </a:r>
            <a:r>
              <a:rPr lang="en-US" sz="28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such that </a:t>
            </a:r>
            <a:r>
              <a:rPr lang="en-US" sz="28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 = λx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Then </a:t>
            </a:r>
            <a:r>
              <a:rPr lang="en-US" sz="28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an </a:t>
            </a:r>
            <a:r>
              <a:rPr lang="en-US" sz="28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eigenvalue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(or </a:t>
            </a:r>
            <a:r>
              <a:rPr lang="en-US" sz="2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 value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of </a:t>
            </a:r>
            <a:r>
              <a:rPr lang="en-US" sz="28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1"/>
          <p:cNvSpPr txBox="1">
            <a:spLocks noGrp="1"/>
          </p:cNvSpPr>
          <p:nvPr>
            <p:ph type="title"/>
          </p:nvPr>
        </p:nvSpPr>
        <p:spPr>
          <a:xfrm>
            <a:off x="4711337" y="450112"/>
            <a:ext cx="2769324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Eigenvalues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06" name="Google Shape;406;p41"/>
          <p:cNvSpPr txBox="1"/>
          <p:nvPr/>
        </p:nvSpPr>
        <p:spPr>
          <a:xfrm>
            <a:off x="1015409" y="1550582"/>
            <a:ext cx="10310037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x be an eigenvector of the matrix </a:t>
            </a:r>
            <a:r>
              <a:rPr lang="en-US" sz="24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A.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Then there must exist an eigenvalue </a:t>
            </a:r>
            <a:r>
              <a:rPr lang="en-US" sz="24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such that 	</a:t>
            </a:r>
            <a:r>
              <a:rPr lang="en-US" sz="24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Ax = </a:t>
            </a:r>
            <a:r>
              <a:rPr lang="en-US" sz="2400" b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λx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or, equivalently,</a:t>
            </a:r>
            <a:endParaRPr dirty="0"/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lang="en-US" sz="24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	Ax - </a:t>
            </a:r>
            <a:r>
              <a:rPr lang="en-US" sz="2400" b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λx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= 0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or</a:t>
            </a:r>
            <a:endParaRPr dirty="0"/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lang="en-US" sz="24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	(A – </a:t>
            </a:r>
            <a:r>
              <a:rPr lang="en-US" sz="2400" b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λI</a:t>
            </a:r>
            <a:r>
              <a:rPr lang="en-US" sz="24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)x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= 0</a:t>
            </a:r>
            <a:endParaRPr dirty="0"/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			</a:t>
            </a:r>
            <a:r>
              <a:rPr lang="en-US" sz="24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det(A – </a:t>
            </a:r>
            <a:r>
              <a:rPr lang="en-US" sz="2400" b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λI</a:t>
            </a:r>
            <a:r>
              <a:rPr lang="en-US" sz="24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= 0</a:t>
            </a:r>
            <a:endParaRPr dirty="0"/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called the characteristic equation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</a:t>
            </a:r>
            <a:r>
              <a:rPr lang="en-US" sz="24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Its roots determine the eigenvalues of </a:t>
            </a:r>
            <a:r>
              <a:rPr lang="en-US" sz="24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0"/>
          <p:cNvSpPr txBox="1">
            <a:spLocks noGrp="1"/>
          </p:cNvSpPr>
          <p:nvPr>
            <p:ph type="title"/>
          </p:nvPr>
        </p:nvSpPr>
        <p:spPr>
          <a:xfrm>
            <a:off x="60452" y="-89558"/>
            <a:ext cx="12131802" cy="1743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Are there any special vectors </a:t>
            </a:r>
            <a:br>
              <a:rPr lang="en-US"/>
            </a:br>
            <a:r>
              <a:rPr lang="en-US"/>
              <a:t>that </a:t>
            </a:r>
            <a:r>
              <a:rPr lang="en-US" b="1"/>
              <a:t>only get scaled</a:t>
            </a:r>
            <a:r>
              <a:rPr lang="en-US"/>
              <a:t>?</a:t>
            </a:r>
            <a:endParaRPr/>
          </a:p>
        </p:txBody>
      </p:sp>
      <p:sp>
        <p:nvSpPr>
          <p:cNvPr id="391" name="Google Shape;391;p40"/>
          <p:cNvSpPr txBox="1">
            <a:spLocks noGrp="1"/>
          </p:cNvSpPr>
          <p:nvPr>
            <p:ph type="body" idx="1"/>
          </p:nvPr>
        </p:nvSpPr>
        <p:spPr>
          <a:xfrm>
            <a:off x="6254751" y="3354389"/>
            <a:ext cx="5632449" cy="3208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For this special vector, multiplying by M is like multiplying by a scalar.</a:t>
            </a:r>
            <a:endParaRPr sz="2400" dirty="0"/>
          </a:p>
          <a:p>
            <a:pPr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(1,1) is called an </a:t>
            </a:r>
            <a:r>
              <a:rPr lang="en-US" sz="2400" b="1" dirty="0"/>
              <a:t>eigenvector </a:t>
            </a:r>
            <a:r>
              <a:rPr lang="en-US" sz="2400" dirty="0"/>
              <a:t>of M</a:t>
            </a:r>
            <a:endParaRPr sz="2400" b="1" dirty="0"/>
          </a:p>
          <a:p>
            <a:pPr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3 (the scaling factor) is called the </a:t>
            </a:r>
            <a:r>
              <a:rPr lang="en-US" sz="2400" b="1" dirty="0"/>
              <a:t>eigenvalue</a:t>
            </a:r>
            <a:r>
              <a:rPr lang="en-US" sz="2400" dirty="0"/>
              <a:t> associated with this eigenvector</a:t>
            </a:r>
            <a:endParaRPr sz="2400" dirty="0"/>
          </a:p>
        </p:txBody>
      </p:sp>
      <p:pic>
        <p:nvPicPr>
          <p:cNvPr id="392" name="Google Shape;392;p40" descr="eigex.ep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126" y="1935164"/>
            <a:ext cx="8932863" cy="11445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3" name="Google Shape;393;p40"/>
          <p:cNvCxnSpPr/>
          <p:nvPr/>
        </p:nvCxnSpPr>
        <p:spPr>
          <a:xfrm rot="10800000" flipH="1">
            <a:off x="2560638" y="3727450"/>
            <a:ext cx="1714500" cy="2025650"/>
          </a:xfrm>
          <a:prstGeom prst="straightConnector1">
            <a:avLst/>
          </a:prstGeom>
          <a:noFill/>
          <a:ln w="127000" cap="flat" cmpd="sng">
            <a:solidFill>
              <a:srgbClr val="7F7F7F"/>
            </a:solidFill>
            <a:prstDash val="solid"/>
            <a:round/>
            <a:headEnd type="none" w="sm" len="sm"/>
            <a:tailEnd type="stealth" w="med" len="med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cxnSp>
      <p:cxnSp>
        <p:nvCxnSpPr>
          <p:cNvPr id="394" name="Google Shape;394;p40"/>
          <p:cNvCxnSpPr/>
          <p:nvPr/>
        </p:nvCxnSpPr>
        <p:spPr>
          <a:xfrm rot="10800000" flipH="1">
            <a:off x="2560639" y="5032376"/>
            <a:ext cx="619125" cy="720725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395" name="Google Shape;395;p40" descr="xvec.ep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79763" y="5216526"/>
            <a:ext cx="303212" cy="3857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6" name="Google Shape;396;p40"/>
          <p:cNvCxnSpPr/>
          <p:nvPr/>
        </p:nvCxnSpPr>
        <p:spPr>
          <a:xfrm rot="10800000">
            <a:off x="2560638" y="3475038"/>
            <a:ext cx="0" cy="3378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stealth" w="med" len="med"/>
            <a:tailEnd type="stealth" w="med" len="med"/>
          </a:ln>
        </p:spPr>
      </p:cxnSp>
      <p:cxnSp>
        <p:nvCxnSpPr>
          <p:cNvPr id="397" name="Google Shape;397;p40"/>
          <p:cNvCxnSpPr/>
          <p:nvPr/>
        </p:nvCxnSpPr>
        <p:spPr>
          <a:xfrm>
            <a:off x="1679575" y="5753100"/>
            <a:ext cx="2941638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stealth" w="med" len="med"/>
            <a:tailEnd type="stealth" w="med" len="med"/>
          </a:ln>
        </p:spPr>
      </p:cxnSp>
      <p:pic>
        <p:nvPicPr>
          <p:cNvPr id="398" name="Google Shape;398;p40" descr="mx.eps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75138" y="4130675"/>
            <a:ext cx="914400" cy="6223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40"/>
          <p:cNvSpPr txBox="1"/>
          <p:nvPr/>
        </p:nvSpPr>
        <p:spPr>
          <a:xfrm>
            <a:off x="3444876" y="5178425"/>
            <a:ext cx="1116013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(1,1)</a:t>
            </a:r>
            <a:endParaRPr/>
          </a:p>
        </p:txBody>
      </p:sp>
      <p:sp>
        <p:nvSpPr>
          <p:cNvPr id="400" name="Google Shape;400;p40"/>
          <p:cNvSpPr txBox="1"/>
          <p:nvPr/>
        </p:nvSpPr>
        <p:spPr>
          <a:xfrm>
            <a:off x="5138738" y="4316414"/>
            <a:ext cx="1116012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(3,3)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1D7FEE8-60F4-F7E8-CE4A-8597D6F34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89" y="1566092"/>
            <a:ext cx="11522439" cy="410915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ED2190F8-D293-F254-92C4-94BF34B95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389" y="365125"/>
            <a:ext cx="11721222" cy="1325563"/>
          </a:xfrm>
        </p:spPr>
        <p:txBody>
          <a:bodyPr>
            <a:normAutofit/>
          </a:bodyPr>
          <a:lstStyle/>
          <a:p>
            <a:r>
              <a:rPr lang="en-US" sz="4000" dirty="0"/>
              <a:t>Example: Eigenvalues and Eigenvectors of a 3 × 3 Matrix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4084161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C7A3DC-8818-49F6-D398-4AC4FA3A6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416" y="1866764"/>
            <a:ext cx="10463167" cy="312447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DD6330B-72A7-247D-8525-150F5342F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1: Characteristic Equation</a:t>
            </a:r>
          </a:p>
        </p:txBody>
      </p:sp>
    </p:spTree>
    <p:extLst>
      <p:ext uri="{BB962C8B-B14F-4D97-AF65-F5344CB8AC3E}">
        <p14:creationId xmlns:p14="http://schemas.microsoft.com/office/powerpoint/2010/main" val="3686132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BAF4C-B3CD-91C5-983C-FE8AD38BC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Eigenvectors for λ = 4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09A8AB-2083-C392-9B26-3E3335207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04" y="1619092"/>
            <a:ext cx="10433624" cy="437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763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B8D1F-A717-6032-C9E2-7D55D4CE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Eigenvector for λ = 2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63006D-BD14-6BF2-8E61-7B0698CBE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90688"/>
            <a:ext cx="10721009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53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124" y="984060"/>
            <a:ext cx="10583752" cy="165758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3" name="Google Shape;413;p42"/>
          <p:cNvGraphicFramePr/>
          <p:nvPr/>
        </p:nvGraphicFramePr>
        <p:xfrm>
          <a:off x="2238375" y="2991404"/>
          <a:ext cx="7715250" cy="225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715250" imgH="2254250" progId="Paint.Picture">
                  <p:embed/>
                </p:oleObj>
              </mc:Choice>
              <mc:Fallback>
                <p:oleObj r:id="rId4" imgW="7715250" imgH="2254250" progId="Paint.Picture">
                  <p:embed/>
                  <p:pic>
                    <p:nvPicPr>
                      <p:cNvPr id="413" name="Google Shape;413;p42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2238375" y="2991404"/>
                        <a:ext cx="7715250" cy="225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6298" y="897192"/>
            <a:ext cx="9867332" cy="4270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423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195" y="860435"/>
            <a:ext cx="9090837" cy="4937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53847" y="340242"/>
            <a:ext cx="7446702" cy="6028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5943" y="468360"/>
            <a:ext cx="11120113" cy="5730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562" y="997941"/>
            <a:ext cx="9666550" cy="48621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7572" y="1471339"/>
            <a:ext cx="9716856" cy="391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261</Words>
  <Application>Microsoft Office PowerPoint</Application>
  <PresentationFormat>Widescreen</PresentationFormat>
  <Paragraphs>29</Paragraphs>
  <Slides>18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</vt:lpstr>
      <vt:lpstr>Office Theme</vt:lpstr>
      <vt:lpstr>Paintbrush Picture</vt:lpstr>
      <vt:lpstr>PowerPoint Presentation</vt:lpstr>
      <vt:lpstr>PowerPoint Presentation</vt:lpstr>
      <vt:lpstr>Matrix Transpose</vt:lpstr>
      <vt:lpstr>Eigenvectors &amp; eigenvalues</vt:lpstr>
      <vt:lpstr>Eigenvectors</vt:lpstr>
      <vt:lpstr>Eigenvalues</vt:lpstr>
      <vt:lpstr>Are there any special vectors  that only get scaled?</vt:lpstr>
      <vt:lpstr>Example: Eigenvalues and Eigenvectors of a 3 × 3 Matrix</vt:lpstr>
      <vt:lpstr>Step 1: Characteristic Equation</vt:lpstr>
      <vt:lpstr>Step 2: Eigenvectors for λ = 4</vt:lpstr>
      <vt:lpstr>Step 3: Eigenvector for λ =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2026-07-22T17:00:45Z</dcterms:created>
  <dcterms:modified xsi:type="dcterms:W3CDTF">2026-07-22T17:01:55Z</dcterms:modified>
</cp:coreProperties>
</file>