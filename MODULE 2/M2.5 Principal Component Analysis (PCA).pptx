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45" r:id="rId2"/>
    <p:sldId id="259" r:id="rId3"/>
    <p:sldId id="382" r:id="rId4"/>
    <p:sldId id="260" r:id="rId5"/>
    <p:sldId id="261" r:id="rId6"/>
    <p:sldId id="383" r:id="rId7"/>
    <p:sldId id="375" r:id="rId8"/>
    <p:sldId id="376" r:id="rId9"/>
    <p:sldId id="262" r:id="rId10"/>
    <p:sldId id="263" r:id="rId11"/>
    <p:sldId id="384" r:id="rId12"/>
    <p:sldId id="385" r:id="rId13"/>
    <p:sldId id="347" r:id="rId14"/>
    <p:sldId id="348" r:id="rId15"/>
    <p:sldId id="349" r:id="rId16"/>
    <p:sldId id="350" r:id="rId17"/>
    <p:sldId id="351" r:id="rId18"/>
    <p:sldId id="386" r:id="rId19"/>
    <p:sldId id="353" r:id="rId20"/>
    <p:sldId id="387" r:id="rId21"/>
    <p:sldId id="388" r:id="rId22"/>
    <p:sldId id="354" r:id="rId23"/>
    <p:sldId id="389" r:id="rId24"/>
    <p:sldId id="390" r:id="rId25"/>
    <p:sldId id="356" r:id="rId26"/>
    <p:sldId id="357" r:id="rId27"/>
    <p:sldId id="358" r:id="rId28"/>
    <p:sldId id="359" r:id="rId29"/>
    <p:sldId id="393" r:id="rId30"/>
    <p:sldId id="361" r:id="rId31"/>
    <p:sldId id="362" r:id="rId32"/>
    <p:sldId id="391" r:id="rId33"/>
    <p:sldId id="365" r:id="rId34"/>
    <p:sldId id="367" r:id="rId35"/>
    <p:sldId id="368" r:id="rId36"/>
    <p:sldId id="369" r:id="rId37"/>
    <p:sldId id="288" r:id="rId38"/>
    <p:sldId id="37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9A779-4B96-4674-9D13-AA81525A243F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3F868-70C8-4ACB-9A45-855BD371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181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5792DC9-CDB3-E6AB-98B8-E39A3435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F0D0B092-5658-68E2-97BD-73A9D0B35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>
            <a:extLst>
              <a:ext uri="{FF2B5EF4-FFF2-40B4-BE49-F238E27FC236}">
                <a16:creationId xmlns:a16="http://schemas.microsoft.com/office/drawing/2014/main" id="{F4F25F34-0439-059E-CDB3-6FD46918C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3890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8A1CA421-ABF6-362E-9B17-604C75D70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>
            <a:extLst>
              <a:ext uri="{FF2B5EF4-FFF2-40B4-BE49-F238E27FC236}">
                <a16:creationId xmlns:a16="http://schemas.microsoft.com/office/drawing/2014/main" id="{46283F3A-AACF-12F6-384A-31F9B063A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:notes">
            <a:extLst>
              <a:ext uri="{FF2B5EF4-FFF2-40B4-BE49-F238E27FC236}">
                <a16:creationId xmlns:a16="http://schemas.microsoft.com/office/drawing/2014/main" id="{B7CDCE64-C733-EB4D-8629-047304B977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1173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2205-01D6-7475-E26B-9ACB9C7E7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F567F-B69A-1DC2-E684-EF9CDA6B4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48773-9617-32A1-9E5D-3BE9A5D5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59324-A4E8-9281-FE6A-419695B0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D5FD7-595C-8159-B948-C0A9444C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651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8524-681F-4A56-B0F9-6C8146B6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787F5-47E7-7358-8585-DE52C99F1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1E7C5-3CB1-2EE5-8238-ED47483F6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3F303-C0E3-073D-4024-9762F28CA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19E20-A4AF-C471-9920-94FA8B90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64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EC214-B7CE-D83D-D229-20A03736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056E9-C64A-A525-B487-BA48D8390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6CF48-7CE4-21DD-13AE-19351E05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9E395-CC89-E8AD-936A-0F64588C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C1966-7E8D-7B02-5492-98496EE8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01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E95A7-7BAA-C68D-37E7-03D19A4D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9EF25-1261-D8EB-0641-CF680F4A7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C6E5A-6A50-BFF2-2C8C-D1EB290E4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DB786-3054-4D5A-4152-41B7EA8E6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F263A-56C7-6DE3-279A-67666831B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7D69B-4C99-4CA0-7385-F52CE612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215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1930-7553-81A1-D09C-1C44BF7CE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763EC-7E46-7ABB-BA16-38EA483B0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28C64-901D-9126-AB48-C78A0DABB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870E1-8762-42F0-BB45-722F03545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822FE1-A71C-F22E-F504-3A2EFAEE8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443E8F-B798-47F1-DBFE-B342E61C5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AAF525-A9ED-6C12-CBA9-978741AC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87EFC-C42C-48A6-CA27-52E16A71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72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015A-C136-2E3D-B511-E0D34BB3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66729C-97FF-CAAB-CAB2-6241DEDF2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D9946-39B8-5D64-D092-8FE445A7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ABB0B-83E7-A2A1-B63A-D5AF9812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80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57B9E-4E36-5AA5-AA16-3552474FA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BAC4E-F7B1-65C5-4689-79A521B5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AF26C-8CFB-FDAC-0A4D-03D2B883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96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5386-6559-8019-299D-D0133DB42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E60C4-B406-2111-9B8B-C4AD5286D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6AAB0-D196-882B-9DD0-A9E491105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DE278-83A3-81B1-D4B7-21CEBD823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D5E5B-0384-2576-363A-0727B8002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B828E-26C2-1286-7990-3BB322A4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14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22F2-7B7A-79D1-2CDE-76CF9E018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72263A-B574-45EF-0407-F4ABC94807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09B65-CBE9-B082-D222-1635542F3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19E45-FF03-D469-152B-069157C4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C814C-966D-6AF9-B9E2-9F08ADA22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18B50-ADED-B8B1-284D-693A63AB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36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E1EE-C7EC-9383-0AD0-8B1887E0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608BD-537E-208B-02EC-1AE87D55A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3ED15-4C39-C554-C1AA-475FFC3B4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9CD8C-4355-F345-837D-0A8501DEE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862BC-5C7A-B141-6227-1DDEA91E6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961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428AF-DBB8-EC50-8E66-A967505086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52645-AE74-9DB2-8C88-07FF4A6AF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B5D61-6481-F7DA-16B5-FABBC86B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D6F54-6BE0-1106-296A-F7CF0BF4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4E3B5-2E85-8E8A-28FE-77E5EBB1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88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2"/>
          <p:cNvSpPr/>
          <p:nvPr/>
        </p:nvSpPr>
        <p:spPr>
          <a:xfrm>
            <a:off x="8040623" y="6446520"/>
            <a:ext cx="2801620" cy="363220"/>
          </a:xfrm>
          <a:custGeom>
            <a:avLst/>
            <a:gdLst/>
            <a:ahLst/>
            <a:cxnLst/>
            <a:rect l="l" t="t" r="r" b="b"/>
            <a:pathLst>
              <a:path w="2801620" h="363220" extrusionOk="0">
                <a:moveTo>
                  <a:pt x="2801112" y="0"/>
                </a:moveTo>
                <a:lnTo>
                  <a:pt x="0" y="0"/>
                </a:lnTo>
                <a:lnTo>
                  <a:pt x="0" y="362711"/>
                </a:lnTo>
                <a:lnTo>
                  <a:pt x="2801112" y="362711"/>
                </a:lnTo>
                <a:lnTo>
                  <a:pt x="2801112" y="0"/>
                </a:lnTo>
                <a:close/>
              </a:path>
            </a:pathLst>
          </a:custGeom>
          <a:solidFill>
            <a:srgbClr val="3333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" name="Google Shape;24;p82"/>
          <p:cNvSpPr/>
          <p:nvPr/>
        </p:nvSpPr>
        <p:spPr>
          <a:xfrm>
            <a:off x="1097280" y="6446520"/>
            <a:ext cx="6818630" cy="365760"/>
          </a:xfrm>
          <a:custGeom>
            <a:avLst/>
            <a:gdLst/>
            <a:ahLst/>
            <a:cxnLst/>
            <a:rect l="l" t="t" r="r" b="b"/>
            <a:pathLst>
              <a:path w="6818630" h="365759" extrusionOk="0">
                <a:moveTo>
                  <a:pt x="6818376" y="0"/>
                </a:moveTo>
                <a:lnTo>
                  <a:pt x="0" y="0"/>
                </a:lnTo>
                <a:lnTo>
                  <a:pt x="0" y="365759"/>
                </a:lnTo>
                <a:lnTo>
                  <a:pt x="6818376" y="365759"/>
                </a:lnTo>
                <a:lnTo>
                  <a:pt x="6818376" y="0"/>
                </a:lnTo>
                <a:close/>
              </a:path>
            </a:pathLst>
          </a:custGeom>
          <a:solidFill>
            <a:srgbClr val="3333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" name="Google Shape;25;p82"/>
          <p:cNvSpPr txBox="1">
            <a:spLocks noGrp="1"/>
          </p:cNvSpPr>
          <p:nvPr>
            <p:ph type="title"/>
          </p:nvPr>
        </p:nvSpPr>
        <p:spPr>
          <a:xfrm>
            <a:off x="60452" y="-89558"/>
            <a:ext cx="12131802" cy="174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2"/>
          <p:cNvSpPr txBox="1">
            <a:spLocks noGrp="1"/>
          </p:cNvSpPr>
          <p:nvPr>
            <p:ph type="body" idx="1"/>
          </p:nvPr>
        </p:nvSpPr>
        <p:spPr>
          <a:xfrm>
            <a:off x="280060" y="2234292"/>
            <a:ext cx="10385425" cy="3496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40404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2"/>
          <p:cNvSpPr txBox="1">
            <a:spLocks noGrp="1"/>
          </p:cNvSpPr>
          <p:nvPr>
            <p:ph type="ftr" idx="11"/>
          </p:nvPr>
        </p:nvSpPr>
        <p:spPr>
          <a:xfrm>
            <a:off x="8119998" y="6530664"/>
            <a:ext cx="2643124" cy="18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2"/>
          <p:cNvSpPr txBox="1">
            <a:spLocks noGrp="1"/>
          </p:cNvSpPr>
          <p:nvPr>
            <p:ph type="dt" idx="10"/>
          </p:nvPr>
        </p:nvSpPr>
        <p:spPr>
          <a:xfrm>
            <a:off x="1176324" y="6546193"/>
            <a:ext cx="6256350" cy="17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636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8C5DD-5B50-CB73-037B-B2ECF97A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1A0AE-F7E5-247D-AADE-56F2C7403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FA129-737C-402B-2E3F-3D4D5E6C3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FBF73-0A49-44D4-BD34-916017296997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08D2A-7FA8-B8F2-F383-A15C67862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EA313-71F5-4C9E-0578-B1A2B9C1D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F675D-B8EB-44E0-8F80-CB2758332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39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Dimensionality reduction</a:t>
            </a: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Dimensionality reduction is a key technique in modern data science and machine learning that addresses the challenges posed by high dimensional datasets.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As the number of input features increases, data becomes sparse and models become prone to overfitting, reduced interpretability, and longer training times — this is known as the </a:t>
            </a:r>
            <a:r>
              <a:rPr lang="en-US" b="1" dirty="0"/>
              <a:t>curse of dimensionality</a:t>
            </a:r>
            <a:r>
              <a:rPr lang="en-US" dirty="0"/>
              <a:t>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Reducing dimensions is essential for improving model performance, simplifying data visualization, and enhancing generalization.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Principal Component Analysis (PCA)</a:t>
            </a:r>
            <a:endParaRPr/>
          </a:p>
        </p:txBody>
      </p:sp>
      <p:sp>
        <p:nvSpPr>
          <p:cNvPr id="112" name="Google Shape;112;p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Principal Component Analysis (PCA), is one of the most widely used techniques for dimensionality reduction in machine learning and data science.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working with high-dimensional datasets, it becomes difficult to interpret, visualize, and efficiently model the data.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PCA addresses this by transforming the data into a new coordinate system where the axes (called principal components) are ordered by the amount of variance they capture from the original data.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FD7FDB64-6DA4-42CE-462C-E746C598A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D5B38B8D-1200-510D-14FD-E69A09282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Dimensionality reduction-example</a:t>
            </a:r>
            <a:endParaRPr/>
          </a:p>
        </p:txBody>
      </p:sp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08D6426B-8C67-D5F4-725E-CA08B8235DB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Imagine you are managing the library of an engineering college.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Each book in the library has multiple attributes:</a:t>
            </a:r>
            <a:endParaRPr dirty="0"/>
          </a:p>
          <a:p>
            <a:pPr marL="457200" lvl="1" indent="0">
              <a:spcBef>
                <a:spcPts val="1000"/>
              </a:spcBef>
              <a:buClr>
                <a:schemeClr val="dk1"/>
              </a:buClr>
              <a:buSzPct val="100000"/>
              <a:buNone/>
            </a:pPr>
            <a:r>
              <a:rPr lang="en-US" dirty="0"/>
              <a:t>• Title,</a:t>
            </a:r>
            <a:endParaRPr dirty="0"/>
          </a:p>
          <a:p>
            <a:pPr marL="457200" lvl="1" indent="0">
              <a:spcBef>
                <a:spcPts val="1000"/>
              </a:spcBef>
              <a:buClr>
                <a:schemeClr val="dk1"/>
              </a:buClr>
              <a:buSzPct val="100000"/>
              <a:buNone/>
            </a:pPr>
            <a:r>
              <a:rPr lang="en-US" dirty="0"/>
              <a:t>• Author,</a:t>
            </a:r>
            <a:endParaRPr dirty="0"/>
          </a:p>
          <a:p>
            <a:pPr marL="457200" lvl="1" indent="0">
              <a:spcBef>
                <a:spcPts val="1000"/>
              </a:spcBef>
              <a:buClr>
                <a:schemeClr val="dk1"/>
              </a:buClr>
              <a:buSzPct val="100000"/>
              <a:buNone/>
            </a:pPr>
            <a:r>
              <a:rPr lang="en-US" dirty="0"/>
              <a:t>• Number of pages,</a:t>
            </a:r>
            <a:endParaRPr dirty="0"/>
          </a:p>
          <a:p>
            <a:pPr marL="457200" lvl="1" indent="0">
              <a:spcBef>
                <a:spcPts val="1000"/>
              </a:spcBef>
              <a:buClr>
                <a:schemeClr val="dk1"/>
              </a:buClr>
              <a:buSzPct val="100000"/>
              <a:buNone/>
            </a:pPr>
            <a:r>
              <a:rPr lang="en-US" dirty="0"/>
              <a:t>• Publication year,</a:t>
            </a:r>
            <a:endParaRPr dirty="0"/>
          </a:p>
          <a:p>
            <a:pPr marL="457200" lvl="1" indent="0">
              <a:spcBef>
                <a:spcPts val="1000"/>
              </a:spcBef>
              <a:buClr>
                <a:schemeClr val="dk1"/>
              </a:buClr>
              <a:buSzPct val="100000"/>
              <a:buNone/>
            </a:pPr>
            <a:r>
              <a:rPr lang="en-US" dirty="0"/>
              <a:t>• Subject,</a:t>
            </a:r>
            <a:endParaRPr dirty="0"/>
          </a:p>
          <a:p>
            <a:pPr marL="457200" lvl="1" indent="0">
              <a:spcBef>
                <a:spcPts val="1000"/>
              </a:spcBef>
              <a:buClr>
                <a:schemeClr val="dk1"/>
              </a:buClr>
              <a:buSzPct val="100000"/>
              <a:buNone/>
            </a:pPr>
            <a:r>
              <a:rPr lang="en-US" dirty="0"/>
              <a:t>• Semester it belongs to, and even the</a:t>
            </a:r>
            <a:endParaRPr dirty="0"/>
          </a:p>
          <a:p>
            <a:pPr marL="457200" lvl="1" indent="0">
              <a:spcBef>
                <a:spcPts val="1000"/>
              </a:spcBef>
              <a:buClr>
                <a:schemeClr val="dk1"/>
              </a:buClr>
              <a:buSzPct val="100000"/>
              <a:buNone/>
            </a:pPr>
            <a:r>
              <a:rPr lang="en-US" dirty="0"/>
              <a:t>• Color of its cover.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4872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Dimensionality reduction-example</a:t>
            </a:r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 dirty="0"/>
              <a:t>Dimensionality reduction techniques like PCA help automatically identify which features (like subject and syllabus coverage) vary the most with semester classification.</a:t>
            </a:r>
            <a:endParaRPr sz="2400" dirty="0"/>
          </a:p>
          <a:p>
            <a:pPr marL="228600" lvl="0" indent="-2286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 dirty="0"/>
              <a:t>It then reduces the number of dimensions by projecting the data into a space that highlights the most informative patterns</a:t>
            </a:r>
            <a:endParaRPr sz="2400" dirty="0"/>
          </a:p>
          <a:p>
            <a:pPr marL="228600" lvl="0" indent="-2286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 dirty="0"/>
              <a:t>Just like how you might reorganize the library shelves to reflect the semester-wise need while ignoring less useful details.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PCA</a:t>
            </a:r>
            <a:endParaRPr/>
          </a:p>
        </p:txBody>
      </p:sp>
      <p:sp>
        <p:nvSpPr>
          <p:cNvPr id="125" name="Google Shape;125;p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Suppose you are building a simple machine to distinguish between apples and oranges using only two features: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• The radius of the fruit and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• The intensity of the red color.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When you plot the data, you observe that </a:t>
            </a:r>
            <a:r>
              <a:rPr lang="en-US" b="1" dirty="0"/>
              <a:t>all fruits have roughly similar radii but differ significantly in their red color intensity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3550021F-E775-6940-8F78-9B58560E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>
            <a:extLst>
              <a:ext uri="{FF2B5EF4-FFF2-40B4-BE49-F238E27FC236}">
                <a16:creationId xmlns:a16="http://schemas.microsoft.com/office/drawing/2014/main" id="{84895622-CF05-C239-181D-BAF34A877C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PCA</a:t>
            </a:r>
            <a:endParaRPr/>
          </a:p>
        </p:txBody>
      </p:sp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042CDC63-3E7F-ACBF-A86C-4942C0EB91B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Since </a:t>
            </a:r>
            <a:r>
              <a:rPr lang="en-US" b="1"/>
              <a:t>color shows greater variation than radius</a:t>
            </a:r>
            <a:r>
              <a:rPr lang="en-US"/>
              <a:t>, the </a:t>
            </a:r>
            <a:r>
              <a:rPr lang="en-US" b="1" i="1"/>
              <a:t>color feature carries more information </a:t>
            </a:r>
            <a:r>
              <a:rPr lang="en-US"/>
              <a:t>for distinguishing the fruits.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PCA would choose to </a:t>
            </a:r>
            <a:r>
              <a:rPr lang="en-US" b="1"/>
              <a:t>project the data onto the axis corresponding to the red color, capturing</a:t>
            </a:r>
            <a:r>
              <a:rPr lang="en-US"/>
              <a:t> the most variance and thus the most distinguishing information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113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0F6C12-C895-F921-D0E6-749AA775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Dimensionality Reduction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D65243-2C72-AFC3-4818-E80AF4C2B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Simplifies models → Fewer features to analyze.</a:t>
            </a:r>
          </a:p>
          <a:p>
            <a:pPr lvl="1"/>
            <a:r>
              <a:rPr lang="en-US" dirty="0"/>
              <a:t>[Library: You don’t have to consider color, weight, or font style of books — just the title.]</a:t>
            </a:r>
          </a:p>
          <a:p>
            <a:r>
              <a:rPr lang="en-US" sz="2400" dirty="0"/>
              <a:t>Faster learning → Less data processing required.</a:t>
            </a:r>
          </a:p>
          <a:p>
            <a:pPr lvl="1"/>
            <a:r>
              <a:rPr lang="en-US" dirty="0"/>
              <a:t>[Library: Organizing a book is faster when you focus on just the title.]</a:t>
            </a:r>
          </a:p>
          <a:p>
            <a:r>
              <a:rPr lang="en-US" sz="2400" dirty="0"/>
              <a:t>Better generalization → Removes irrelevant/noisy features.</a:t>
            </a:r>
          </a:p>
          <a:p>
            <a:pPr lvl="1"/>
            <a:r>
              <a:rPr lang="en-US" dirty="0"/>
              <a:t>[Library: Ignoring book cover design prevents you from making wrong assumptions about content.]</a:t>
            </a:r>
          </a:p>
          <a:p>
            <a:r>
              <a:rPr lang="en-US" sz="2400" dirty="0"/>
              <a:t>Improved visualization → Allows plotting in 2D or 3D.</a:t>
            </a:r>
          </a:p>
          <a:p>
            <a:pPr lvl="1"/>
            <a:r>
              <a:rPr lang="en-US" dirty="0"/>
              <a:t>[Library: You can arrange shelves clearly — like grouping all books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634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D09D-15E3-DC49-A13C-17F0A018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Principal Component Analysis (PCA)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0A2A7-DB2F-04CF-58C5-46FEC04FF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Principal Component Analysis is a statistical method that transforms a dataset into a new </a:t>
            </a:r>
            <a:r>
              <a:rPr lang="en-IN" dirty="0"/>
              <a:t>coordinate system such that:</a:t>
            </a:r>
          </a:p>
          <a:p>
            <a:pPr lvl="1"/>
            <a:r>
              <a:rPr lang="en-US" dirty="0"/>
              <a:t>The first coordinate (PC1) captures the greatest variance.</a:t>
            </a:r>
          </a:p>
          <a:p>
            <a:pPr lvl="1"/>
            <a:r>
              <a:rPr lang="en-US" dirty="0"/>
              <a:t>The second coordinate (PC2) captures the second greatest variance.</a:t>
            </a:r>
          </a:p>
          <a:p>
            <a:pPr lvl="1"/>
            <a:r>
              <a:rPr lang="en-US" dirty="0"/>
              <a:t>Further components capture remaining variance in decreasing order.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18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Steps in PCA</a:t>
            </a:r>
            <a:endParaRPr/>
          </a:p>
        </p:txBody>
      </p:sp>
      <p:pic>
        <p:nvPicPr>
          <p:cNvPr id="132" name="Google Shape;132;p7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37322" y="1590468"/>
            <a:ext cx="10714382" cy="4902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460513" y="287567"/>
            <a:ext cx="10515600" cy="96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The dataset contains </a:t>
            </a:r>
            <a:r>
              <a:rPr lang="en-US" b="1" dirty="0"/>
              <a:t>2D data </a:t>
            </a:r>
            <a:r>
              <a:rPr lang="en-US" dirty="0"/>
              <a:t>for 10 samples:</a:t>
            </a:r>
            <a:endParaRPr dirty="0"/>
          </a:p>
        </p:txBody>
      </p:sp>
      <p:pic>
        <p:nvPicPr>
          <p:cNvPr id="144" name="Google Shape;144;p9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9408" y="1254285"/>
            <a:ext cx="8745298" cy="5106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6C8233-19BB-5E2E-17A5-BE01A19B6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09" y="158539"/>
            <a:ext cx="11302877" cy="654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39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8;p8">
            <a:extLst>
              <a:ext uri="{FF2B5EF4-FFF2-40B4-BE49-F238E27FC236}">
                <a16:creationId xmlns:a16="http://schemas.microsoft.com/office/drawing/2014/main" id="{05EADF8E-50F9-D63F-242D-D0E1693CE11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650" y="1457877"/>
            <a:ext cx="2796040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E332FE-AE4F-3C6A-95A9-CAF4A2CDF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651" y="227249"/>
            <a:ext cx="2594321" cy="821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2FFAA-9B3D-83F0-63C8-8651A6400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380" y="1383958"/>
            <a:ext cx="2898785" cy="48421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08A4C5-DB73-826C-FC3E-1F989084F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747" y="3112742"/>
            <a:ext cx="3284505" cy="6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057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0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689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57" name="Google Shape;15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522" y="338822"/>
            <a:ext cx="11712955" cy="6180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863" y="315071"/>
            <a:ext cx="11256103" cy="6076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188" y="438321"/>
            <a:ext cx="11469094" cy="603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923" y="144184"/>
            <a:ext cx="11537623" cy="6387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671023-3D48-9FEB-C71A-AB6624770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12" y="250845"/>
            <a:ext cx="11472858" cy="2371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7B0A19-0DC7-7BFA-3673-5D2111BB5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018468"/>
            <a:ext cx="11701765" cy="277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60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1793894" cy="6662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7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6735" y="305098"/>
            <a:ext cx="11059918" cy="5806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8797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7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966" y="103803"/>
            <a:ext cx="11653935" cy="64089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555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1980506" cy="6755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8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65125"/>
            <a:ext cx="11467322" cy="56811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0265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8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066106" cy="4756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4756085"/>
            <a:ext cx="11812555" cy="21019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1752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4010870" cy="589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EAD4D2-4653-BB47-9F7C-1CF01DBB9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9019"/>
            <a:ext cx="12192000" cy="626898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Compute first principal components</a:t>
            </a:r>
            <a:endParaRPr/>
          </a:p>
        </p:txBody>
      </p:sp>
      <p:sp>
        <p:nvSpPr>
          <p:cNvPr id="225" name="Google Shape;225;p20"/>
          <p:cNvSpPr txBox="1">
            <a:spLocks noGrp="1"/>
          </p:cNvSpPr>
          <p:nvPr>
            <p:ph type="body" idx="1"/>
          </p:nvPr>
        </p:nvSpPr>
        <p:spPr>
          <a:xfrm>
            <a:off x="129073" y="117557"/>
            <a:ext cx="10515600" cy="488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Projected Value=</a:t>
            </a:r>
            <a:r>
              <a:rPr lang="en-US" dirty="0" err="1"/>
              <a:t>X</a:t>
            </a:r>
            <a:r>
              <a:rPr lang="en-US" sz="3200" dirty="0" err="1"/>
              <a:t>centered</a:t>
            </a:r>
            <a:r>
              <a:rPr lang="en-US" dirty="0"/>
              <a:t>​*v1​=x1*(0.6678)+x2(0.7443)</a:t>
            </a:r>
            <a:endParaRPr dirty="0"/>
          </a:p>
        </p:txBody>
      </p:sp>
      <p:pic>
        <p:nvPicPr>
          <p:cNvPr id="226" name="Google Shape;22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073" y="890090"/>
            <a:ext cx="11933854" cy="5850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>
            <a:spLocks noGrp="1"/>
          </p:cNvSpPr>
          <p:nvPr>
            <p:ph type="title" idx="4294967295"/>
          </p:nvPr>
        </p:nvSpPr>
        <p:spPr>
          <a:xfrm>
            <a:off x="0" y="1"/>
            <a:ext cx="10515600" cy="737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Example 2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D34797-952C-0F55-A24F-4A7F047A8E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19124"/>
            <a:ext cx="12192000" cy="62388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956F05-F6FB-3B17-4A8F-FD05961C0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4" y="163868"/>
            <a:ext cx="12120465" cy="635822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E70BE-7E7F-7DD5-ADB4-0586799B0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71176" cy="680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3883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E21D3A-A02F-648F-824A-6A2350420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7" y="-1"/>
            <a:ext cx="11992946" cy="674603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D01D5F-3F74-D73B-0C13-8565D9F7E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8181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0D7D3B-E75D-8569-C9BC-2CB3C6933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5412"/>
            <a:ext cx="12192000" cy="692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44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43120-B9D1-1F57-D518-7270C7FFB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17B97B-4602-B478-3563-6D2F0D9A9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53" y="242108"/>
            <a:ext cx="11505884" cy="615869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EEB99E-8848-16BD-FB79-D94A13D4E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88" y="1877302"/>
            <a:ext cx="9753600" cy="4543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2E11ED-CF0D-B568-00A5-68811CF41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47" y="437273"/>
            <a:ext cx="97536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F64886-8C5A-9772-46B3-2A404B88F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647700"/>
            <a:ext cx="9753600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539F00-B9B1-9D04-DC0F-528B46FE3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957262"/>
            <a:ext cx="97536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3FC226-D2EF-BE60-51DB-A75577494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63" y="114786"/>
            <a:ext cx="11645332" cy="6220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Microsoft Office PowerPoint</Application>
  <PresentationFormat>Widescreen</PresentationFormat>
  <Paragraphs>49</Paragraphs>
  <Slides>38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Cambria</vt:lpstr>
      <vt:lpstr>Office Theme</vt:lpstr>
      <vt:lpstr>Dimensionality reduction</vt:lpstr>
      <vt:lpstr>Principal Component Analysis (PCA)</vt:lpstr>
      <vt:lpstr>Dimensionality reduction-example</vt:lpstr>
      <vt:lpstr>Dimensionality reduction-example</vt:lpstr>
      <vt:lpstr>PCA</vt:lpstr>
      <vt:lpstr>PCA</vt:lpstr>
      <vt:lpstr>Benefits of Dimensionality Reduction</vt:lpstr>
      <vt:lpstr>Principal Component Analysis (PCA)</vt:lpstr>
      <vt:lpstr>Steps in PCA</vt:lpstr>
      <vt:lpstr>The dataset contains 2D data for 10 samples: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Compute first principal components</vt:lpstr>
      <vt:lpstr>Example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2026-07-29T14:34:40Z</dcterms:created>
  <dcterms:modified xsi:type="dcterms:W3CDTF">2026-07-29T14:35:29Z</dcterms:modified>
</cp:coreProperties>
</file>