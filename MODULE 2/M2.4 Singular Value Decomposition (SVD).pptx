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25" r:id="rId2"/>
    <p:sldId id="326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77" r:id="rId14"/>
    <p:sldId id="378" r:id="rId15"/>
    <p:sldId id="379" r:id="rId16"/>
    <p:sldId id="380" r:id="rId17"/>
    <p:sldId id="381" r:id="rId18"/>
    <p:sldId id="340" r:id="rId19"/>
    <p:sldId id="341" r:id="rId20"/>
    <p:sldId id="342" r:id="rId21"/>
    <p:sldId id="34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A866B7-9C04-4AB5-B7C9-C81E4252A10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F7A5DF-8E15-4FEA-B58F-EC8D3E3031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082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E3F81-9637-BFCB-F6A6-A23347EAB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CB9AE-F694-F064-76BF-BA3F09AB3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097BD-925B-A7BF-432B-A5F5B3BF5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F9CC-939C-484E-8347-D8120137DA3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63F40-75E1-B1EA-08CD-810766E8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2C615-8CAA-1922-C23A-184FD0DB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5637-5509-4DA6-8C82-E3673B7E8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16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1CAC1-AF68-A239-55C1-F6C2C1563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9F35A-425A-A36E-953C-E386D180B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20F10-3DAB-FF1A-D99F-213122D66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F9CC-939C-484E-8347-D8120137DA3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F8C02-EC8C-5A1D-B87E-B390D071F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BFC3B-AB8F-CD9A-A491-05A8AB4A1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5637-5509-4DA6-8C82-E3673B7E8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96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50A8-75F2-074F-F386-F456CF38D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D850D-8586-0150-BE21-10711C9FC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4D71A-0341-F2D2-E9E8-3CA990A58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F9CC-939C-484E-8347-D8120137DA3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DD328-12B7-A0C0-A34E-75048D50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D7EC8-843E-A908-3074-1A7EAC081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5637-5509-4DA6-8C82-E3673B7E8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47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EAB3-387E-119D-ABC0-36A8ECBD4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7EABD-07E2-2226-B79D-8BE07E1CA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EE8F6-4DFB-41DB-6185-7CF0CAC77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E72DE-472E-4334-1ED7-9292F6A72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F9CC-939C-484E-8347-D8120137DA3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E0D6F-77C7-FE24-B090-EC2AAF2C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5B7CB-1670-6A2D-59AD-2EE10441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5637-5509-4DA6-8C82-E3673B7E8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147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48B3-22F7-B3C0-9903-0675C693B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0D9C3-1B07-5023-D2A7-5A902E4D0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38B7A-9DE3-2564-E79C-1CCFDF85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E893F-EAE3-C88E-FABA-E02CE2071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43799-3286-3180-8499-9F58520E4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22EBE5-CD61-5874-1046-DB8DABFD3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F9CC-939C-484E-8347-D8120137DA3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7D42CE-A571-7E7A-23A7-EAB3F3B9C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C55A1E-47BA-A5D6-0078-CC342DCB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5637-5509-4DA6-8C82-E3673B7E8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95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9ACCF-06CC-A298-838E-C513DC42C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4FFE1F-36C6-30B4-3330-EF54C098E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F9CC-939C-484E-8347-D8120137DA3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3941A-A7AC-BE59-1442-17FF22D87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A6F4B-41CA-4A94-E738-C0FBA7AB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5637-5509-4DA6-8C82-E3673B7E8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40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BC828-B22E-1AED-A687-B72AD7FF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F9CC-939C-484E-8347-D8120137DA3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EEA96-DC57-E722-960A-E3A090421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3F8CB-03EA-34D6-53C2-2CABEBF7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5637-5509-4DA6-8C82-E3673B7E8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95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EE01-39B3-CB52-2005-BC23DC377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C17AA-4137-86E9-DCB6-035AB1E9E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5BA22-ECBD-0521-43C6-003B63AB9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A2C0EB-2532-B73E-102A-404F1EEDC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F9CC-939C-484E-8347-D8120137DA3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F78E8-7C1C-A4F2-95DA-8DD217985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8AA32-6FE9-B69C-4BD8-EAB65FFE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5637-5509-4DA6-8C82-E3673B7E8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8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6501-655B-0FBE-8154-EE9027384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65671E-E649-C176-F50F-4CFAF122FC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8893D-AA37-7F03-91DD-D920DC013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C6981-9B94-9CE8-378A-67BFB1BC7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F9CC-939C-484E-8347-D8120137DA3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E2692-03C4-1629-D2D5-135415D7E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F6EE8-A3D6-D567-49A7-FD3FB576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5637-5509-4DA6-8C82-E3673B7E8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173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5264-690C-08BD-0F9F-B6EB44AD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1454A-82A6-1C8A-05D7-F0A280B3B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1EFEB-D5DE-4F01-0812-BEB22838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F9CC-939C-484E-8347-D8120137DA3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DBAB8-7772-4C75-2E42-924DC6A3B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E26FC-0A0A-C433-C24C-984BB1030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5637-5509-4DA6-8C82-E3673B7E8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88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E1DB86-BF24-F09C-A94C-A25F6E47C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56B89-D3E2-2EA3-2D3B-7F0D2C277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5BF8A-7C3B-08EE-698A-B9788F1F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F9CC-939C-484E-8347-D8120137DA3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BEA9B-4B40-F502-3148-15AE6942D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0AC42-234F-F5A0-7A00-7F7EB977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5637-5509-4DA6-8C82-E3673B7E8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1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7FE272-AC5B-48BC-38E5-A27B4724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D75E6-1FEB-4EC3-F593-A3044D4F0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C4A84-750F-3E5A-FE9F-7599798E3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0F9CC-939C-484E-8347-D8120137DA3A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E78C4-2FC5-6509-2B84-6D0529A4F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7CB51-49F3-F8F7-D624-3D7A00E9A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D5637-5509-4DA6-8C82-E3673B7E8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056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0"/>
          <p:cNvSpPr txBox="1"/>
          <p:nvPr/>
        </p:nvSpPr>
        <p:spPr>
          <a:xfrm>
            <a:off x="1045534" y="1861273"/>
            <a:ext cx="1010093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Singular Value Decomposition (SVD) is a powerful and universal method of matrix decomposition. It breaks any matrix into three simpler, structured matrices that reveal its essential properties.</a:t>
            </a:r>
            <a:endParaRPr sz="2400"/>
          </a:p>
        </p:txBody>
      </p:sp>
      <p:sp>
        <p:nvSpPr>
          <p:cNvPr id="507" name="Google Shape;507;p60"/>
          <p:cNvSpPr txBox="1"/>
          <p:nvPr/>
        </p:nvSpPr>
        <p:spPr>
          <a:xfrm>
            <a:off x="3048886" y="639358"/>
            <a:ext cx="654168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70C0"/>
                </a:solidFill>
              </a:rPr>
              <a:t>Singular Value Decomposition (SVD) </a:t>
            </a:r>
            <a:endParaRPr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9629" y="1892189"/>
            <a:ext cx="11036697" cy="374171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61"/>
          <p:cNvSpPr txBox="1"/>
          <p:nvPr/>
        </p:nvSpPr>
        <p:spPr>
          <a:xfrm>
            <a:off x="3048886" y="639358"/>
            <a:ext cx="654168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70C0"/>
                </a:solidFill>
              </a:rPr>
              <a:t>Singular Value Decomposition (SVD) </a:t>
            </a:r>
            <a:endParaRPr sz="3200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2"/>
          <p:cNvSpPr txBox="1"/>
          <p:nvPr/>
        </p:nvSpPr>
        <p:spPr>
          <a:xfrm>
            <a:off x="999460" y="1935125"/>
            <a:ext cx="10239153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A matrix A is taken and it is transformed by rotating, stretching, flipping, etc. to new output matrices. </a:t>
            </a:r>
            <a:endParaRPr/>
          </a:p>
          <a:p>
            <a:pPr marL="285750" lvl="0" indent="-13335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U:-It can be considered as the rotation of final result, each column in this matrix tells you a direction in the output space</a:t>
            </a:r>
            <a:endParaRPr/>
          </a:p>
          <a:p>
            <a:pPr marL="285750" lvl="0" indent="-13335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∑:-The values on the diagonal (singular values) indicates how much to stretch or compress in each direction</a:t>
            </a:r>
            <a:endParaRPr/>
          </a:p>
        </p:txBody>
      </p:sp>
      <p:sp>
        <p:nvSpPr>
          <p:cNvPr id="519" name="Google Shape;519;p62"/>
          <p:cNvSpPr txBox="1"/>
          <p:nvPr/>
        </p:nvSpPr>
        <p:spPr>
          <a:xfrm>
            <a:off x="2965155" y="894540"/>
            <a:ext cx="654168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70C0"/>
                </a:solidFill>
              </a:rPr>
              <a:t>Singular Value Decomposition (SVD) </a:t>
            </a:r>
            <a:endParaRPr sz="3200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3"/>
          <p:cNvSpPr txBox="1"/>
          <p:nvPr/>
        </p:nvSpPr>
        <p:spPr>
          <a:xfrm>
            <a:off x="3293656" y="564930"/>
            <a:ext cx="56046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70C0"/>
                </a:solidFill>
              </a:rPr>
              <a:t>SVD vs. Spectral Decomposition</a:t>
            </a:r>
            <a:endParaRPr sz="3200" b="1">
              <a:solidFill>
                <a:srgbClr val="0070C0"/>
              </a:solidFill>
            </a:endParaRPr>
          </a:p>
        </p:txBody>
      </p:sp>
      <p:sp>
        <p:nvSpPr>
          <p:cNvPr id="525" name="Google Shape;525;p63"/>
          <p:cNvSpPr txBox="1"/>
          <p:nvPr/>
        </p:nvSpPr>
        <p:spPr>
          <a:xfrm>
            <a:off x="935666" y="1562986"/>
            <a:ext cx="10249786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Spectral decomposition is a special case of SVD that works only for square, symmetric matrices</a:t>
            </a:r>
            <a:endParaRPr/>
          </a:p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SVD works for all matrices</a:t>
            </a:r>
            <a:endParaRPr/>
          </a:p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 sz="240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US" sz="2400"/>
              <a:t>Spectral decomposition is therefore a simpler version of SVD for special matrices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57808" y="65182"/>
            <a:ext cx="12751904" cy="6772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92" y="203939"/>
            <a:ext cx="7439221" cy="6450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6573" y="178192"/>
            <a:ext cx="5861157" cy="6501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7186" y="266258"/>
            <a:ext cx="6496957" cy="632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967" y="386078"/>
            <a:ext cx="7705507" cy="6019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8793" y="1233491"/>
            <a:ext cx="3015709" cy="4091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499" y="102724"/>
            <a:ext cx="12209962" cy="6755276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71"/>
          <p:cNvSpPr txBox="1"/>
          <p:nvPr/>
        </p:nvSpPr>
        <p:spPr>
          <a:xfrm>
            <a:off x="4209106" y="184451"/>
            <a:ext cx="312777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70C0"/>
                </a:solidFill>
              </a:rPr>
              <a:t>Another example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07A946-3E5A-2BA0-4759-18124F499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78904"/>
            <a:ext cx="12192000" cy="613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25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D8A8F3-875E-5B1C-A424-29B37A056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1920332" cy="389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63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148B81-2017-2274-8758-E77447DDB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14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C613BC-CF21-B66B-F99F-C52D6666B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31" y="0"/>
            <a:ext cx="11638868" cy="635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03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FCFCF-1EEF-CA9C-7163-FF496FA56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68" y="342146"/>
            <a:ext cx="6795715" cy="377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72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5"/>
          <p:cNvSpPr txBox="1"/>
          <p:nvPr/>
        </p:nvSpPr>
        <p:spPr>
          <a:xfrm>
            <a:off x="2070691" y="394809"/>
            <a:ext cx="915729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70C0"/>
                </a:solidFill>
              </a:rPr>
              <a:t>Applications of Singular Value Decomposition (SVD)</a:t>
            </a:r>
            <a:endParaRPr sz="3200" b="1" dirty="0">
              <a:solidFill>
                <a:srgbClr val="0070C0"/>
              </a:solidFill>
            </a:endParaRPr>
          </a:p>
        </p:txBody>
      </p:sp>
      <p:sp>
        <p:nvSpPr>
          <p:cNvPr id="587" name="Google Shape;587;p75"/>
          <p:cNvSpPr txBox="1"/>
          <p:nvPr/>
        </p:nvSpPr>
        <p:spPr>
          <a:xfrm>
            <a:off x="409123" y="1488260"/>
            <a:ext cx="11398563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just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800" dirty="0"/>
              <a:t>Dimensionality Reduction (Principal Component Analysis - PCA)</a:t>
            </a:r>
            <a:endParaRPr sz="2800" dirty="0"/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endParaRPr sz="2800" dirty="0"/>
          </a:p>
          <a:p>
            <a:pPr marL="914400" lvl="1" indent="-457200" algn="just">
              <a:buSzPts val="2400"/>
              <a:buFont typeface="Arial" panose="020B0604020202020204" pitchFamily="34" charset="0"/>
              <a:buChar char="•"/>
            </a:pPr>
            <a:r>
              <a:rPr lang="en-US" sz="2800" dirty="0"/>
              <a:t>SVD helps identify the most important features (principal components) in data.</a:t>
            </a:r>
            <a:endParaRPr sz="2800" dirty="0"/>
          </a:p>
          <a:p>
            <a:pPr marL="914400" lvl="1" indent="-457200" algn="just">
              <a:buSzPts val="2400"/>
              <a:buFont typeface="Arial" panose="020B0604020202020204" pitchFamily="34" charset="0"/>
              <a:buChar char="•"/>
            </a:pPr>
            <a:r>
              <a:rPr lang="en-US" sz="2800" dirty="0"/>
              <a:t>Reduces noise, improves computational efficiency, and helps with data compression.</a:t>
            </a:r>
            <a:endParaRPr sz="2800" dirty="0"/>
          </a:p>
          <a:p>
            <a:pPr marL="914400" lvl="1" indent="-457200" algn="just">
              <a:buSzPts val="2400"/>
              <a:buFont typeface="Arial" panose="020B0604020202020204" pitchFamily="34" charset="0"/>
              <a:buChar char="•"/>
            </a:pPr>
            <a:r>
              <a:rPr lang="en-US" sz="2800" dirty="0"/>
              <a:t>Used in image compression, pattern recognition, and machine learning preprocessing.</a:t>
            </a:r>
            <a:endParaRPr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6"/>
          <p:cNvSpPr txBox="1"/>
          <p:nvPr/>
        </p:nvSpPr>
        <p:spPr>
          <a:xfrm>
            <a:off x="406349" y="1609193"/>
            <a:ext cx="11311886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-US" sz="2800" dirty="0"/>
              <a:t>2. Data Noise Filtering</a:t>
            </a:r>
            <a:endParaRPr sz="28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endParaRPr sz="2800" dirty="0"/>
          </a:p>
          <a:p>
            <a:pPr marL="457200" lvl="0" indent="-457200" algn="just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800" dirty="0"/>
              <a:t>SVD can separate signal from noise by keeping large singular values (signal) and discarding small ones (noise).</a:t>
            </a:r>
            <a:endParaRPr sz="2800" dirty="0"/>
          </a:p>
          <a:p>
            <a:pPr marL="457200" lvl="0" indent="-457200" algn="just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800" dirty="0"/>
              <a:t>Especially useful in:</a:t>
            </a:r>
            <a:endParaRPr sz="2800" dirty="0"/>
          </a:p>
          <a:p>
            <a:pPr marL="914400" lvl="1" indent="-457200" algn="just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800" dirty="0"/>
              <a:t>EEG/ECG signal denoising</a:t>
            </a:r>
            <a:endParaRPr sz="2800" dirty="0"/>
          </a:p>
          <a:p>
            <a:pPr marL="914400" lvl="1" indent="-457200" algn="just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800" dirty="0"/>
              <a:t>Sensor data filtering</a:t>
            </a:r>
            <a:endParaRPr sz="2800" dirty="0"/>
          </a:p>
          <a:p>
            <a:pPr marL="914400" lvl="1" indent="-457200" algn="just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800" dirty="0"/>
              <a:t>Financial time series smoothing</a:t>
            </a:r>
            <a:endParaRPr sz="2800" dirty="0"/>
          </a:p>
        </p:txBody>
      </p:sp>
      <p:sp>
        <p:nvSpPr>
          <p:cNvPr id="2" name="Google Shape;586;p75">
            <a:extLst>
              <a:ext uri="{FF2B5EF4-FFF2-40B4-BE49-F238E27FC236}">
                <a16:creationId xmlns:a16="http://schemas.microsoft.com/office/drawing/2014/main" id="{3843A8A7-5FE9-D857-BCC4-A940D3B36F15}"/>
              </a:ext>
            </a:extLst>
          </p:cNvPr>
          <p:cNvSpPr txBox="1"/>
          <p:nvPr/>
        </p:nvSpPr>
        <p:spPr>
          <a:xfrm>
            <a:off x="2070691" y="394809"/>
            <a:ext cx="915729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70C0"/>
                </a:solidFill>
              </a:rPr>
              <a:t>Applications of Singular Value Decomposition (SVD)</a:t>
            </a:r>
            <a:endParaRPr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7"/>
          <p:cNvSpPr/>
          <p:nvPr/>
        </p:nvSpPr>
        <p:spPr>
          <a:xfrm>
            <a:off x="495613" y="1583152"/>
            <a:ext cx="10951029" cy="4216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</a:rPr>
              <a:t>3. Recommender Systems</a:t>
            </a:r>
            <a:endParaRPr sz="2800" dirty="0"/>
          </a:p>
          <a:p>
            <a:pPr marL="914400" lvl="1" indent="-457200" algn="just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</a:rPr>
              <a:t>Singular Value Decomposition (SVD) is widely used in recommender systems to predict missing entries.</a:t>
            </a:r>
            <a:r>
              <a:rPr lang="en-US" sz="2400" dirty="0"/>
              <a:t> </a:t>
            </a:r>
            <a:r>
              <a:rPr lang="en-US" sz="2400" b="0" i="0" u="none" strike="noStrike" cap="none" dirty="0">
                <a:solidFill>
                  <a:schemeClr val="dk1"/>
                </a:solidFill>
              </a:rPr>
              <a:t>In platforms like Netflix or Amazon, users rate only a few items, leaving many entries blank. </a:t>
            </a:r>
            <a:endParaRPr sz="2400" dirty="0"/>
          </a:p>
          <a:p>
            <a:pPr marL="914400" lvl="1" indent="-457200" algn="just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</a:rPr>
              <a:t>SVD decomposes this matrix into three components—user preferences, item features, and their importance—allowing us to identify hidden patterns between users and items. </a:t>
            </a:r>
            <a:endParaRPr sz="2400" dirty="0"/>
          </a:p>
          <a:p>
            <a:pPr marL="914400" lvl="1" indent="-457200" algn="just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</a:rPr>
              <a:t>By reconstructing the matrix using only the most significant features, SVD can estimate the missing ratings accurately. These predicted ratings help recommend new movies, products, or songs that a user is likely to enjoy, making SVD a powerful tool for personalized recommendation systems.</a:t>
            </a:r>
            <a:endParaRPr sz="2400" b="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4" name="Google Shape;586;p75">
            <a:extLst>
              <a:ext uri="{FF2B5EF4-FFF2-40B4-BE49-F238E27FC236}">
                <a16:creationId xmlns:a16="http://schemas.microsoft.com/office/drawing/2014/main" id="{6C4E60C6-86DB-FD8F-9317-A4A11B08B302}"/>
              </a:ext>
            </a:extLst>
          </p:cNvPr>
          <p:cNvSpPr txBox="1"/>
          <p:nvPr/>
        </p:nvSpPr>
        <p:spPr>
          <a:xfrm>
            <a:off x="2070691" y="394809"/>
            <a:ext cx="915729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70C0"/>
                </a:solidFill>
              </a:rPr>
              <a:t>Applications of Singular Value Decomposition (SVD)</a:t>
            </a:r>
            <a:endParaRPr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Dimensionality reduction</a:t>
            </a: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Dimensionality reduction is a key technique in modern data science and machine learning that addresses the challenges posed by high dimensional datasets.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As the number of input features increases, data becomes sparse and models become prone to overfitting, reduced interpretability, and longer training times — this is known as the </a:t>
            </a:r>
            <a:r>
              <a:rPr lang="en-US" b="1" dirty="0"/>
              <a:t>curse of dimensionality</a:t>
            </a:r>
            <a:r>
              <a:rPr lang="en-US" dirty="0"/>
              <a:t>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Reducing dimensions is essential for improving model performance, simplifying data visualization, and enhancing generalization.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Widescreen</PresentationFormat>
  <Paragraphs>39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Dimensionality reduction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2026-07-22T17:07:45Z</dcterms:created>
  <dcterms:modified xsi:type="dcterms:W3CDTF">2026-07-22T17:08:37Z</dcterms:modified>
</cp:coreProperties>
</file>