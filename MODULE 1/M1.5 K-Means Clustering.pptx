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59" r:id="rId2"/>
    <p:sldId id="261" r:id="rId3"/>
    <p:sldId id="262" r:id="rId4"/>
    <p:sldId id="460" r:id="rId5"/>
    <p:sldId id="464" r:id="rId6"/>
    <p:sldId id="465" r:id="rId7"/>
    <p:sldId id="466" r:id="rId8"/>
    <p:sldId id="388" r:id="rId9"/>
    <p:sldId id="390" r:id="rId10"/>
    <p:sldId id="467" r:id="rId11"/>
    <p:sldId id="269" r:id="rId12"/>
    <p:sldId id="461" r:id="rId13"/>
    <p:sldId id="462" r:id="rId14"/>
    <p:sldId id="351" r:id="rId15"/>
    <p:sldId id="352" r:id="rId16"/>
    <p:sldId id="353" r:id="rId17"/>
    <p:sldId id="354" r:id="rId18"/>
    <p:sldId id="463" r:id="rId19"/>
    <p:sldId id="359" r:id="rId20"/>
    <p:sldId id="368" r:id="rId21"/>
    <p:sldId id="360" r:id="rId22"/>
    <p:sldId id="361" r:id="rId23"/>
    <p:sldId id="36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5F53-5CE6-70C3-5905-3AF9902ECE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DBF17D-CBA4-A04E-816E-135940E459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78B6791-4AEF-4A03-8AD3-F1F5F281C6E8}"/>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5" name="Footer Placeholder 4">
            <a:extLst>
              <a:ext uri="{FF2B5EF4-FFF2-40B4-BE49-F238E27FC236}">
                <a16:creationId xmlns:a16="http://schemas.microsoft.com/office/drawing/2014/main" id="{414E0D49-AEDB-384A-4626-25D23DA296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4BB303-2474-960C-51CC-75046759A03E}"/>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2828570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EE1FA-2337-BE2B-FE4B-46B12BDC3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092F9A-50A9-1228-3F46-E0303C77AB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8C84B8-074B-6668-B18D-342429A8449B}"/>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5" name="Footer Placeholder 4">
            <a:extLst>
              <a:ext uri="{FF2B5EF4-FFF2-40B4-BE49-F238E27FC236}">
                <a16:creationId xmlns:a16="http://schemas.microsoft.com/office/drawing/2014/main" id="{AA9378AF-B8A6-7DF6-B978-E53429039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D967AD-5269-8AE1-7571-925902C45FF2}"/>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51276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648B-D75D-11EE-9F21-5CC5E5CE2A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3D6C43-DA05-D9CD-5166-E94966CBD4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46F968-2C2E-12D5-3E54-21B2CEAE85E4}"/>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5" name="Footer Placeholder 4">
            <a:extLst>
              <a:ext uri="{FF2B5EF4-FFF2-40B4-BE49-F238E27FC236}">
                <a16:creationId xmlns:a16="http://schemas.microsoft.com/office/drawing/2014/main" id="{E6A8028C-E139-EA16-746C-0EF26539E7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2E119E-914E-3727-51DB-BA30EDF591F2}"/>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1443335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A3B1-EC53-7D1E-2CE3-AB4BA74F2C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EF5235-114F-4351-EEB1-22E53D8372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C41E82-BE89-F6EE-15B2-A9A643841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43B6C7-D5EF-F4B3-9029-7D16C43367AA}"/>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6" name="Footer Placeholder 5">
            <a:extLst>
              <a:ext uri="{FF2B5EF4-FFF2-40B4-BE49-F238E27FC236}">
                <a16:creationId xmlns:a16="http://schemas.microsoft.com/office/drawing/2014/main" id="{3632C3E3-14C6-7C99-306A-CC75C08A77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D24118-033D-D2C3-868F-D84CB6DF296D}"/>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343108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7ABA2-68CA-6618-B530-DDDFE3ED86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4BD69F-1BA7-0CD4-B496-781A9A5554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FD6778-C841-85E9-057C-14E86E23F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AAF95B-B71A-D545-953C-00206EE5D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9335E9-7AF7-EFD6-D7AF-28CDE3ED1E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702991-3266-B96F-E823-2F52FCAAC9AE}"/>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8" name="Footer Placeholder 7">
            <a:extLst>
              <a:ext uri="{FF2B5EF4-FFF2-40B4-BE49-F238E27FC236}">
                <a16:creationId xmlns:a16="http://schemas.microsoft.com/office/drawing/2014/main" id="{F04153A6-EB63-3CD2-18AB-F4B23426B4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90AC98-5344-54EB-E129-EEF1320432DF}"/>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999026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642EA-C183-897C-DFDC-D52D04EF05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FEF6C1-D0E8-231E-3021-085DDDFA2091}"/>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4" name="Footer Placeholder 3">
            <a:extLst>
              <a:ext uri="{FF2B5EF4-FFF2-40B4-BE49-F238E27FC236}">
                <a16:creationId xmlns:a16="http://schemas.microsoft.com/office/drawing/2014/main" id="{BC131DE5-5470-63DC-F6E7-60018068C66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DA45EB-FEA4-6EFD-28E0-2A8F0D4647BF}"/>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1377418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41CA68-EC09-A323-4E8B-40B3BED47F68}"/>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3" name="Footer Placeholder 2">
            <a:extLst>
              <a:ext uri="{FF2B5EF4-FFF2-40B4-BE49-F238E27FC236}">
                <a16:creationId xmlns:a16="http://schemas.microsoft.com/office/drawing/2014/main" id="{30B4054A-489F-6E0C-E631-50DF2B1D58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7D1761-7AE2-209B-1A31-2B62F0D55701}"/>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306362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077DC-B3C8-B911-AFDC-8D59952C0E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105977-FC91-AD59-C014-0D9A799CA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5EF22C-8324-20D5-2348-2178B9CC5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A2DE37-0912-D84B-CCBD-7CC083B2DD95}"/>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6" name="Footer Placeholder 5">
            <a:extLst>
              <a:ext uri="{FF2B5EF4-FFF2-40B4-BE49-F238E27FC236}">
                <a16:creationId xmlns:a16="http://schemas.microsoft.com/office/drawing/2014/main" id="{1F9A42D1-3E09-59C9-7921-8584AC4AD1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08CA1A-F637-7119-D784-D5B9566DC6C4}"/>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1866874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A104E-484D-A401-4193-3F817B1930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FC5D7B1-A0C9-DBF9-ED6F-8AD7137203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3E2CC54-9322-2A34-1EFE-F46DB6D74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00385D-C075-763F-220A-83844962251F}"/>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6" name="Footer Placeholder 5">
            <a:extLst>
              <a:ext uri="{FF2B5EF4-FFF2-40B4-BE49-F238E27FC236}">
                <a16:creationId xmlns:a16="http://schemas.microsoft.com/office/drawing/2014/main" id="{AE531B20-0851-43EF-A086-3B50311057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988F9B-E3DA-7D64-E5C9-99A13F8527F5}"/>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3790826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D811-9FDC-4984-C0BD-91089E1B87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B657A6-3676-425E-0647-49803F7AB2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41546C-327B-C5C7-820E-559064315E28}"/>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5" name="Footer Placeholder 4">
            <a:extLst>
              <a:ext uri="{FF2B5EF4-FFF2-40B4-BE49-F238E27FC236}">
                <a16:creationId xmlns:a16="http://schemas.microsoft.com/office/drawing/2014/main" id="{BECF7C42-2A56-08AE-5E1B-1828D44A5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BED0-65A5-C110-E30A-2CFBAB137C20}"/>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2085901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E6178-B86C-7B4F-07A0-F9546815AE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C0F84B-68A0-3AF3-C7A4-28D6241651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E9EAB1-AE86-9314-3D88-C7E87BCCB56E}"/>
              </a:ext>
            </a:extLst>
          </p:cNvPr>
          <p:cNvSpPr>
            <a:spLocks noGrp="1"/>
          </p:cNvSpPr>
          <p:nvPr>
            <p:ph type="dt" sz="half" idx="10"/>
          </p:nvPr>
        </p:nvSpPr>
        <p:spPr/>
        <p:txBody>
          <a:bodyPr/>
          <a:lstStyle/>
          <a:p>
            <a:fld id="{87CE5858-B6C6-4DEE-BC00-236953CBA9D3}" type="datetimeFigureOut">
              <a:rPr lang="en-IN" smtClean="0"/>
              <a:t>08-07-2026</a:t>
            </a:fld>
            <a:endParaRPr lang="en-IN"/>
          </a:p>
        </p:txBody>
      </p:sp>
      <p:sp>
        <p:nvSpPr>
          <p:cNvPr id="5" name="Footer Placeholder 4">
            <a:extLst>
              <a:ext uri="{FF2B5EF4-FFF2-40B4-BE49-F238E27FC236}">
                <a16:creationId xmlns:a16="http://schemas.microsoft.com/office/drawing/2014/main" id="{9198D28F-421C-ED63-0C6D-74308AD456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51A42B-B4EA-D739-0D2C-541D04B4E8CD}"/>
              </a:ext>
            </a:extLst>
          </p:cNvPr>
          <p:cNvSpPr>
            <a:spLocks noGrp="1"/>
          </p:cNvSpPr>
          <p:nvPr>
            <p:ph type="sldNum" sz="quarter" idx="12"/>
          </p:nvPr>
        </p:nvSpPr>
        <p:spPr/>
        <p:txBody>
          <a:bodyPr/>
          <a:lstStyle/>
          <a:p>
            <a:fld id="{670DFEC8-8ECA-45D4-854A-4B05B6C70CE6}" type="slidenum">
              <a:rPr lang="en-IN" smtClean="0"/>
              <a:t>‹#›</a:t>
            </a:fld>
            <a:endParaRPr lang="en-IN"/>
          </a:p>
        </p:txBody>
      </p:sp>
    </p:spTree>
    <p:extLst>
      <p:ext uri="{BB962C8B-B14F-4D97-AF65-F5344CB8AC3E}">
        <p14:creationId xmlns:p14="http://schemas.microsoft.com/office/powerpoint/2010/main" val="413501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DA1B69-2047-21E3-C105-7EDF8426F9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ED0504-CE7B-1D02-6370-8E25AE32F5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59DB11-ECED-D5C3-8C14-29706282F6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E5858-B6C6-4DEE-BC00-236953CBA9D3}" type="datetimeFigureOut">
              <a:rPr lang="en-IN" smtClean="0"/>
              <a:t>08-07-2026</a:t>
            </a:fld>
            <a:endParaRPr lang="en-IN"/>
          </a:p>
        </p:txBody>
      </p:sp>
      <p:sp>
        <p:nvSpPr>
          <p:cNvPr id="5" name="Footer Placeholder 4">
            <a:extLst>
              <a:ext uri="{FF2B5EF4-FFF2-40B4-BE49-F238E27FC236}">
                <a16:creationId xmlns:a16="http://schemas.microsoft.com/office/drawing/2014/main" id="{28546A7E-0B07-24F8-94FD-BD2056D134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CCE8A2-DAB0-4AE6-D388-7640C0D055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DFEC8-8ECA-45D4-854A-4B05B6C70CE6}" type="slidenum">
              <a:rPr lang="en-IN" smtClean="0"/>
              <a:t>‹#›</a:t>
            </a:fld>
            <a:endParaRPr lang="en-IN"/>
          </a:p>
        </p:txBody>
      </p:sp>
    </p:spTree>
    <p:extLst>
      <p:ext uri="{BB962C8B-B14F-4D97-AF65-F5344CB8AC3E}">
        <p14:creationId xmlns:p14="http://schemas.microsoft.com/office/powerpoint/2010/main" val="1591431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0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0.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9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F4C6-7BED-990E-55DB-AD92DB327FA5}"/>
              </a:ext>
            </a:extLst>
          </p:cNvPr>
          <p:cNvSpPr>
            <a:spLocks noGrp="1"/>
          </p:cNvSpPr>
          <p:nvPr>
            <p:ph type="title"/>
          </p:nvPr>
        </p:nvSpPr>
        <p:spPr/>
        <p:txBody>
          <a:bodyPr/>
          <a:lstStyle/>
          <a:p>
            <a:r>
              <a:rPr lang="en-IN" dirty="0"/>
              <a:t>K-Means Clustering</a:t>
            </a:r>
          </a:p>
        </p:txBody>
      </p:sp>
      <p:sp>
        <p:nvSpPr>
          <p:cNvPr id="3" name="Content Placeholder 2">
            <a:extLst>
              <a:ext uri="{FF2B5EF4-FFF2-40B4-BE49-F238E27FC236}">
                <a16:creationId xmlns:a16="http://schemas.microsoft.com/office/drawing/2014/main" id="{6C5FB175-AA62-BCC7-1F0A-CFB90CBD6551}"/>
              </a:ext>
            </a:extLst>
          </p:cNvPr>
          <p:cNvSpPr>
            <a:spLocks noGrp="1"/>
          </p:cNvSpPr>
          <p:nvPr>
            <p:ph idx="1"/>
          </p:nvPr>
        </p:nvSpPr>
        <p:spPr/>
        <p:txBody>
          <a:bodyPr>
            <a:normAutofit fontScale="92500" lnSpcReduction="10000"/>
          </a:bodyPr>
          <a:lstStyle/>
          <a:p>
            <a:pPr fontAlgn="base"/>
            <a:r>
              <a:rPr lang="en-US" sz="2400" dirty="0"/>
              <a:t>K-Means Clustering groups similar data points into clusters without needing labeled data. It is used to uncover hidden patterns when the goal is to organize data based on similarity.</a:t>
            </a:r>
          </a:p>
          <a:p>
            <a:pPr lvl="1" fontAlgn="base"/>
            <a:r>
              <a:rPr lang="en-US" sz="2000" dirty="0"/>
              <a:t>Helps identify natural groupings in unlabeled datasets</a:t>
            </a:r>
          </a:p>
          <a:p>
            <a:pPr lvl="1" fontAlgn="base"/>
            <a:r>
              <a:rPr lang="en-US" sz="2000" dirty="0"/>
              <a:t>Works by grouping points based on distance to cluster centers</a:t>
            </a:r>
          </a:p>
          <a:p>
            <a:pPr lvl="1" fontAlgn="base"/>
            <a:r>
              <a:rPr lang="en-US" sz="2000" dirty="0"/>
              <a:t>Commonly used in customer segmentation, image compression, and pattern discovery</a:t>
            </a:r>
          </a:p>
          <a:p>
            <a:pPr lvl="1" fontAlgn="base"/>
            <a:r>
              <a:rPr lang="en-US" sz="2000" dirty="0"/>
              <a:t>Useful when you need structure from raw, unorganized data</a:t>
            </a:r>
          </a:p>
          <a:p>
            <a:r>
              <a:rPr lang="en-US" sz="2600" dirty="0"/>
              <a:t>The vast majority of the instances were clearly assigned to the appropriate cluster, but a few instances were probably mislabeled (especially near the boundary between the top-left cluster and the central cluster). </a:t>
            </a:r>
          </a:p>
          <a:p>
            <a:r>
              <a:rPr lang="en-US" sz="2600" dirty="0"/>
              <a:t>Indeed, the K-Means algorithm does not behave very well when the blobs have very different diameters because all it cares about when assigning an instance to a cluster is the distance to the centroid.</a:t>
            </a:r>
            <a:endParaRPr lang="en-US" sz="5800" dirty="0"/>
          </a:p>
        </p:txBody>
      </p:sp>
    </p:spTree>
    <p:extLst>
      <p:ext uri="{BB962C8B-B14F-4D97-AF65-F5344CB8AC3E}">
        <p14:creationId xmlns:p14="http://schemas.microsoft.com/office/powerpoint/2010/main" val="654260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B870A-EF90-B1F2-E4AA-894776BE4880}"/>
              </a:ext>
            </a:extLst>
          </p:cNvPr>
          <p:cNvSpPr>
            <a:spLocks noGrp="1"/>
          </p:cNvSpPr>
          <p:nvPr>
            <p:ph type="title"/>
          </p:nvPr>
        </p:nvSpPr>
        <p:spPr/>
        <p:txBody>
          <a:bodyPr/>
          <a:lstStyle/>
          <a:p>
            <a:r>
              <a:rPr lang="en-IN" dirty="0"/>
              <a:t>K-Means Clustering</a:t>
            </a:r>
          </a:p>
        </p:txBody>
      </p:sp>
      <p:pic>
        <p:nvPicPr>
          <p:cNvPr id="5" name="Content Placeholder 4">
            <a:extLst>
              <a:ext uri="{FF2B5EF4-FFF2-40B4-BE49-F238E27FC236}">
                <a16:creationId xmlns:a16="http://schemas.microsoft.com/office/drawing/2014/main" id="{8784F921-8ECA-6329-698B-4243D652386B}"/>
              </a:ext>
            </a:extLst>
          </p:cNvPr>
          <p:cNvPicPr>
            <a:picLocks noGrp="1" noChangeAspect="1"/>
          </p:cNvPicPr>
          <p:nvPr>
            <p:ph idx="1"/>
          </p:nvPr>
        </p:nvPicPr>
        <p:blipFill>
          <a:blip r:embed="rId2"/>
          <a:stretch>
            <a:fillRect/>
          </a:stretch>
        </p:blipFill>
        <p:spPr>
          <a:xfrm>
            <a:off x="1" y="1402965"/>
            <a:ext cx="6788426" cy="3177686"/>
          </a:xfrm>
          <a:prstGeom prst="rect">
            <a:avLst/>
          </a:prstGeom>
        </p:spPr>
      </p:pic>
      <p:pic>
        <p:nvPicPr>
          <p:cNvPr id="7" name="Picture 6">
            <a:extLst>
              <a:ext uri="{FF2B5EF4-FFF2-40B4-BE49-F238E27FC236}">
                <a16:creationId xmlns:a16="http://schemas.microsoft.com/office/drawing/2014/main" id="{A4F3BE89-01C5-A366-53BB-4858951DBAA6}"/>
              </a:ext>
            </a:extLst>
          </p:cNvPr>
          <p:cNvPicPr>
            <a:picLocks noChangeAspect="1"/>
          </p:cNvPicPr>
          <p:nvPr/>
        </p:nvPicPr>
        <p:blipFill>
          <a:blip r:embed="rId3"/>
          <a:stretch>
            <a:fillRect/>
          </a:stretch>
        </p:blipFill>
        <p:spPr>
          <a:xfrm>
            <a:off x="4422559" y="3235852"/>
            <a:ext cx="7769440" cy="3622148"/>
          </a:xfrm>
          <a:prstGeom prst="rect">
            <a:avLst/>
          </a:prstGeom>
        </p:spPr>
      </p:pic>
    </p:spTree>
    <p:extLst>
      <p:ext uri="{BB962C8B-B14F-4D97-AF65-F5344CB8AC3E}">
        <p14:creationId xmlns:p14="http://schemas.microsoft.com/office/powerpoint/2010/main" val="421061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4CDD1-C848-1895-00F2-D6D0396DCAC0}"/>
              </a:ext>
            </a:extLst>
          </p:cNvPr>
          <p:cNvSpPr>
            <a:spLocks noGrp="1"/>
          </p:cNvSpPr>
          <p:nvPr>
            <p:ph type="title"/>
          </p:nvPr>
        </p:nvSpPr>
        <p:spPr/>
        <p:txBody>
          <a:bodyPr/>
          <a:lstStyle/>
          <a:p>
            <a:r>
              <a:rPr lang="en-US" dirty="0"/>
              <a:t>K-means clustering</a:t>
            </a:r>
            <a:endParaRPr lang="en-IN" dirty="0"/>
          </a:p>
        </p:txBody>
      </p:sp>
      <p:sp>
        <p:nvSpPr>
          <p:cNvPr id="3" name="Content Placeholder 2">
            <a:extLst>
              <a:ext uri="{FF2B5EF4-FFF2-40B4-BE49-F238E27FC236}">
                <a16:creationId xmlns:a16="http://schemas.microsoft.com/office/drawing/2014/main" id="{4327F9C2-C77F-0F72-5650-A9EF11EA4D8E}"/>
              </a:ext>
            </a:extLst>
          </p:cNvPr>
          <p:cNvSpPr>
            <a:spLocks noGrp="1"/>
          </p:cNvSpPr>
          <p:nvPr>
            <p:ph idx="1"/>
          </p:nvPr>
        </p:nvSpPr>
        <p:spPr/>
        <p:txBody>
          <a:bodyPr>
            <a:normAutofit/>
          </a:bodyPr>
          <a:lstStyle/>
          <a:p>
            <a:r>
              <a:rPr lang="en-US" sz="2400" dirty="0"/>
              <a:t>Instead of assigning each instance to a single cluster, which is called </a:t>
            </a:r>
            <a:r>
              <a:rPr lang="en-US" sz="2400" b="1" dirty="0"/>
              <a:t>hard clustering</a:t>
            </a:r>
            <a:r>
              <a:rPr lang="en-US" sz="2400" dirty="0"/>
              <a:t>, it can be useful to give each instance a score per cluster, which is called </a:t>
            </a:r>
            <a:r>
              <a:rPr lang="en-US" sz="2400" b="1" dirty="0"/>
              <a:t>soft clustering</a:t>
            </a:r>
            <a:r>
              <a:rPr lang="en-US" sz="2400" dirty="0"/>
              <a:t>.</a:t>
            </a:r>
          </a:p>
          <a:p>
            <a:r>
              <a:rPr lang="en-US" sz="2400" dirty="0"/>
              <a:t>The score can be the distance between the instance and the centroid; conversely, it can be a similarity score (or affinity), such as the Gaussian Radial Basis Function.</a:t>
            </a:r>
          </a:p>
          <a:p>
            <a:r>
              <a:rPr lang="en-US" sz="2400" dirty="0"/>
              <a:t>The computational complexity of the algorithm is generally linear with regard to the number of instances </a:t>
            </a:r>
            <a:r>
              <a:rPr lang="en-US" sz="2400" i="1" dirty="0"/>
              <a:t>m</a:t>
            </a:r>
            <a:r>
              <a:rPr lang="en-US" sz="2400" dirty="0"/>
              <a:t>, the number of clusters </a:t>
            </a:r>
            <a:r>
              <a:rPr lang="en-US" sz="2400" i="1" dirty="0"/>
              <a:t>k</a:t>
            </a:r>
            <a:r>
              <a:rPr lang="en-US" sz="2400" dirty="0"/>
              <a:t>, and the number of dimensions </a:t>
            </a:r>
            <a:r>
              <a:rPr lang="en-US" sz="2400" i="1" dirty="0"/>
              <a:t>n</a:t>
            </a:r>
            <a:r>
              <a:rPr lang="en-US" sz="2400" dirty="0"/>
              <a:t>. However, this is only true when the data has a clustering structure. If it does not, then in the </a:t>
            </a:r>
            <a:r>
              <a:rPr lang="en-US" sz="2400" dirty="0" err="1"/>
              <a:t>worstcase</a:t>
            </a:r>
            <a:r>
              <a:rPr lang="en-US" sz="2400" dirty="0"/>
              <a:t> scenario the complexity can increase exponentially with the number of instances. In practice, this rarely happens, and K-Means is generally one of the fastest clustering algorithms.</a:t>
            </a:r>
            <a:endParaRPr lang="en-IN" sz="2400" dirty="0"/>
          </a:p>
        </p:txBody>
      </p:sp>
    </p:spTree>
    <p:extLst>
      <p:ext uri="{BB962C8B-B14F-4D97-AF65-F5344CB8AC3E}">
        <p14:creationId xmlns:p14="http://schemas.microsoft.com/office/powerpoint/2010/main" val="2077864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4BB518-0EB1-41C8-95AD-97E4FC711379}"/>
              </a:ext>
            </a:extLst>
          </p:cNvPr>
          <p:cNvPicPr>
            <a:picLocks noChangeAspect="1"/>
          </p:cNvPicPr>
          <p:nvPr/>
        </p:nvPicPr>
        <p:blipFill>
          <a:blip r:embed="rId2"/>
          <a:stretch>
            <a:fillRect/>
          </a:stretch>
        </p:blipFill>
        <p:spPr>
          <a:xfrm>
            <a:off x="1790740" y="0"/>
            <a:ext cx="8610519" cy="6858000"/>
          </a:xfrm>
          <a:prstGeom prst="rect">
            <a:avLst/>
          </a:prstGeom>
        </p:spPr>
      </p:pic>
    </p:spTree>
    <p:extLst>
      <p:ext uri="{BB962C8B-B14F-4D97-AF65-F5344CB8AC3E}">
        <p14:creationId xmlns:p14="http://schemas.microsoft.com/office/powerpoint/2010/main" val="890832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37C95-CBC7-CBE5-6A5D-A70FBE16C4F9}"/>
              </a:ext>
            </a:extLst>
          </p:cNvPr>
          <p:cNvSpPr>
            <a:spLocks noGrp="1"/>
          </p:cNvSpPr>
          <p:nvPr>
            <p:ph type="title"/>
          </p:nvPr>
        </p:nvSpPr>
        <p:spPr/>
        <p:txBody>
          <a:bodyPr/>
          <a:lstStyle/>
          <a:p>
            <a:r>
              <a:rPr lang="en-US" dirty="0"/>
              <a:t>Dissimilarity(or distance) measure d(</a:t>
            </a:r>
            <a:r>
              <a:rPr lang="en-US" dirty="0" err="1"/>
              <a:t>x,y</a:t>
            </a:r>
            <a:r>
              <a:rPr lang="en-US" dirty="0"/>
              <a:t>)</a:t>
            </a:r>
            <a:endParaRPr lang="en-IN" dirty="0"/>
          </a:p>
        </p:txBody>
      </p:sp>
      <p:sp>
        <p:nvSpPr>
          <p:cNvPr id="3" name="Content Placeholder 2">
            <a:extLst>
              <a:ext uri="{FF2B5EF4-FFF2-40B4-BE49-F238E27FC236}">
                <a16:creationId xmlns:a16="http://schemas.microsoft.com/office/drawing/2014/main" id="{79F737C7-5640-89CF-0595-4AB586F64A8C}"/>
              </a:ext>
            </a:extLst>
          </p:cNvPr>
          <p:cNvSpPr>
            <a:spLocks noGrp="1"/>
          </p:cNvSpPr>
          <p:nvPr>
            <p:ph idx="1"/>
          </p:nvPr>
        </p:nvSpPr>
        <p:spPr/>
        <p:txBody>
          <a:bodyPr/>
          <a:lstStyle/>
          <a:p>
            <a:pPr marL="514350" indent="-514350">
              <a:buFont typeface="+mj-lt"/>
              <a:buAutoNum type="arabicPeriod"/>
            </a:pPr>
            <a:r>
              <a:rPr lang="en-IN" dirty="0"/>
              <a:t>Manhattan distance</a:t>
            </a:r>
          </a:p>
          <a:p>
            <a:pPr marL="514350" indent="-514350">
              <a:buFont typeface="+mj-lt"/>
              <a:buAutoNum type="arabicPeriod"/>
            </a:pPr>
            <a:r>
              <a:rPr lang="en-IN" dirty="0"/>
              <a:t>Euclidean distance</a:t>
            </a:r>
          </a:p>
          <a:p>
            <a:pPr marL="514350" indent="-514350">
              <a:buFont typeface="+mj-lt"/>
              <a:buAutoNum type="arabicPeriod"/>
            </a:pPr>
            <a:r>
              <a:rPr lang="en-IN" dirty="0"/>
              <a:t>Minkowski Distances</a:t>
            </a:r>
          </a:p>
        </p:txBody>
      </p:sp>
      <p:pic>
        <p:nvPicPr>
          <p:cNvPr id="5" name="Picture 4">
            <a:extLst>
              <a:ext uri="{FF2B5EF4-FFF2-40B4-BE49-F238E27FC236}">
                <a16:creationId xmlns:a16="http://schemas.microsoft.com/office/drawing/2014/main" id="{C2C1DC03-6599-E78C-3F1E-8B6FF0204F0E}"/>
              </a:ext>
            </a:extLst>
          </p:cNvPr>
          <p:cNvPicPr>
            <a:picLocks noChangeAspect="1"/>
          </p:cNvPicPr>
          <p:nvPr/>
        </p:nvPicPr>
        <p:blipFill>
          <a:blip r:embed="rId2"/>
          <a:stretch>
            <a:fillRect/>
          </a:stretch>
        </p:blipFill>
        <p:spPr>
          <a:xfrm>
            <a:off x="4452730" y="3135957"/>
            <a:ext cx="7603004" cy="3722043"/>
          </a:xfrm>
          <a:prstGeom prst="rect">
            <a:avLst/>
          </a:prstGeom>
        </p:spPr>
      </p:pic>
    </p:spTree>
    <p:extLst>
      <p:ext uri="{BB962C8B-B14F-4D97-AF65-F5344CB8AC3E}">
        <p14:creationId xmlns:p14="http://schemas.microsoft.com/office/powerpoint/2010/main" val="3128864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8A38-F726-A5F1-D067-53594F724690}"/>
              </a:ext>
            </a:extLst>
          </p:cNvPr>
          <p:cNvSpPr>
            <a:spLocks noGrp="1"/>
          </p:cNvSpPr>
          <p:nvPr>
            <p:ph type="title"/>
          </p:nvPr>
        </p:nvSpPr>
        <p:spPr/>
        <p:txBody>
          <a:bodyPr/>
          <a:lstStyle/>
          <a:p>
            <a:r>
              <a:rPr lang="en-IN" dirty="0"/>
              <a:t>Manhattan distance</a:t>
            </a:r>
          </a:p>
        </p:txBody>
      </p:sp>
      <p:sp>
        <p:nvSpPr>
          <p:cNvPr id="3" name="Content Placeholder 2">
            <a:extLst>
              <a:ext uri="{FF2B5EF4-FFF2-40B4-BE49-F238E27FC236}">
                <a16:creationId xmlns:a16="http://schemas.microsoft.com/office/drawing/2014/main" id="{009F3898-C668-5D3B-1A5B-05E9A0DAEFD4}"/>
              </a:ext>
            </a:extLst>
          </p:cNvPr>
          <p:cNvSpPr>
            <a:spLocks noGrp="1"/>
          </p:cNvSpPr>
          <p:nvPr>
            <p:ph idx="1"/>
          </p:nvPr>
        </p:nvSpPr>
        <p:spPr/>
        <p:txBody>
          <a:bodyPr>
            <a:normAutofit/>
          </a:bodyPr>
          <a:lstStyle/>
          <a:p>
            <a:r>
              <a:rPr lang="en-US" sz="2400" dirty="0"/>
              <a:t>Special </a:t>
            </a:r>
            <a:r>
              <a:rPr lang="en-US" sz="2400" dirty="0" err="1"/>
              <a:t>lp</a:t>
            </a:r>
            <a:r>
              <a:rPr lang="en-US" sz="2400" dirty="0"/>
              <a:t> metric DMs that are also encountered in practice are the (weighted) l1 or Manhattan norm,</a:t>
            </a:r>
            <a:endParaRPr lang="en-IN" sz="2400" dirty="0"/>
          </a:p>
        </p:txBody>
      </p:sp>
      <p:pic>
        <p:nvPicPr>
          <p:cNvPr id="5" name="Picture 4">
            <a:extLst>
              <a:ext uri="{FF2B5EF4-FFF2-40B4-BE49-F238E27FC236}">
                <a16:creationId xmlns:a16="http://schemas.microsoft.com/office/drawing/2014/main" id="{CC853A51-5C00-46F0-F481-D6F48C455726}"/>
              </a:ext>
            </a:extLst>
          </p:cNvPr>
          <p:cNvPicPr>
            <a:picLocks noChangeAspect="1"/>
          </p:cNvPicPr>
          <p:nvPr/>
        </p:nvPicPr>
        <p:blipFill>
          <a:blip r:embed="rId2"/>
          <a:stretch>
            <a:fillRect/>
          </a:stretch>
        </p:blipFill>
        <p:spPr>
          <a:xfrm>
            <a:off x="4252878" y="2759077"/>
            <a:ext cx="3797818" cy="1053790"/>
          </a:xfrm>
          <a:prstGeom prst="rect">
            <a:avLst/>
          </a:prstGeom>
        </p:spPr>
      </p:pic>
    </p:spTree>
    <p:extLst>
      <p:ext uri="{BB962C8B-B14F-4D97-AF65-F5344CB8AC3E}">
        <p14:creationId xmlns:p14="http://schemas.microsoft.com/office/powerpoint/2010/main" val="4175277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0730-87BC-348E-F844-844C5622CF42}"/>
              </a:ext>
            </a:extLst>
          </p:cNvPr>
          <p:cNvSpPr>
            <a:spLocks noGrp="1"/>
          </p:cNvSpPr>
          <p:nvPr>
            <p:ph type="title"/>
          </p:nvPr>
        </p:nvSpPr>
        <p:spPr/>
        <p:txBody>
          <a:bodyPr/>
          <a:lstStyle/>
          <a:p>
            <a:r>
              <a:rPr lang="en-IN" dirty="0"/>
              <a:t>Euclidean distance</a:t>
            </a:r>
          </a:p>
        </p:txBody>
      </p:sp>
      <p:sp>
        <p:nvSpPr>
          <p:cNvPr id="3" name="Content Placeholder 2">
            <a:extLst>
              <a:ext uri="{FF2B5EF4-FFF2-40B4-BE49-F238E27FC236}">
                <a16:creationId xmlns:a16="http://schemas.microsoft.com/office/drawing/2014/main" id="{E45242F9-BA89-7B43-2AA3-5DEDA9089540}"/>
              </a:ext>
            </a:extLst>
          </p:cNvPr>
          <p:cNvSpPr>
            <a:spLocks noGrp="1"/>
          </p:cNvSpPr>
          <p:nvPr>
            <p:ph idx="1"/>
          </p:nvPr>
        </p:nvSpPr>
        <p:spPr>
          <a:xfrm>
            <a:off x="838200" y="1391478"/>
            <a:ext cx="10515600" cy="4785485"/>
          </a:xfrm>
        </p:spPr>
        <p:txBody>
          <a:bodyPr>
            <a:normAutofit/>
          </a:bodyPr>
          <a:lstStyle/>
          <a:p>
            <a:r>
              <a:rPr lang="en-IN" sz="2400" dirty="0"/>
              <a:t>This is a dissimilarity </a:t>
            </a:r>
            <a:r>
              <a:rPr lang="en-US" sz="2400" dirty="0"/>
              <a:t>measure on </a:t>
            </a:r>
            <a:r>
              <a:rPr lang="en-US" sz="2400" i="1" dirty="0"/>
              <a:t>X</a:t>
            </a:r>
            <a:r>
              <a:rPr lang="en-US" sz="2400" dirty="0"/>
              <a:t>, with </a:t>
            </a:r>
            <a:r>
              <a:rPr lang="en-US" sz="2400" i="1" dirty="0"/>
              <a:t>d</a:t>
            </a:r>
            <a:r>
              <a:rPr lang="en-US" sz="2400" baseline="-25000" dirty="0"/>
              <a:t>0</a:t>
            </a:r>
            <a:r>
              <a:rPr lang="en-US" sz="2400" dirty="0"/>
              <a:t> =  0; that is, the minimum possible distance between two vectors of </a:t>
            </a:r>
            <a:r>
              <a:rPr lang="en-US" sz="2400" i="1" dirty="0"/>
              <a:t>X </a:t>
            </a:r>
            <a:r>
              <a:rPr lang="en-US" sz="2400" dirty="0"/>
              <a:t>is 0. Moreover, the distance of a vector from itself is equal to 0. Also, it is easy to observe </a:t>
            </a:r>
            <a:r>
              <a:rPr lang="es-ES" sz="2400" dirty="0" err="1"/>
              <a:t>that</a:t>
            </a:r>
            <a:r>
              <a:rPr lang="es-ES" sz="2400" dirty="0"/>
              <a:t> </a:t>
            </a:r>
            <a:r>
              <a:rPr lang="es-ES" sz="2400" i="1" dirty="0"/>
              <a:t>d</a:t>
            </a:r>
            <a:r>
              <a:rPr lang="es-ES" sz="2400" dirty="0"/>
              <a:t>(</a:t>
            </a:r>
            <a:r>
              <a:rPr lang="es-ES" sz="2400" b="1" i="1" dirty="0"/>
              <a:t>x</a:t>
            </a:r>
            <a:r>
              <a:rPr lang="es-ES" sz="2400" dirty="0"/>
              <a:t>, </a:t>
            </a:r>
            <a:r>
              <a:rPr lang="es-ES" sz="2400" b="1" i="1" dirty="0"/>
              <a:t>y</a:t>
            </a:r>
            <a:r>
              <a:rPr lang="es-ES" sz="2400" dirty="0"/>
              <a:t>)  </a:t>
            </a:r>
            <a:r>
              <a:rPr lang="es-ES" sz="2400" i="1" dirty="0"/>
              <a:t>d</a:t>
            </a:r>
            <a:r>
              <a:rPr lang="es-ES" sz="2400" dirty="0"/>
              <a:t>( </a:t>
            </a:r>
            <a:r>
              <a:rPr lang="es-ES" sz="2400" b="1" i="1" dirty="0"/>
              <a:t>y</a:t>
            </a:r>
            <a:r>
              <a:rPr lang="es-ES" sz="2400" dirty="0"/>
              <a:t>, </a:t>
            </a:r>
            <a:r>
              <a:rPr lang="es-ES" sz="2400" b="1" i="1" dirty="0"/>
              <a:t>x</a:t>
            </a:r>
            <a:r>
              <a:rPr lang="es-ES" sz="2400" dirty="0"/>
              <a:t>).</a:t>
            </a:r>
            <a:endParaRPr lang="en-IN" sz="2400" dirty="0"/>
          </a:p>
        </p:txBody>
      </p:sp>
      <p:pic>
        <p:nvPicPr>
          <p:cNvPr id="5" name="Picture 4">
            <a:extLst>
              <a:ext uri="{FF2B5EF4-FFF2-40B4-BE49-F238E27FC236}">
                <a16:creationId xmlns:a16="http://schemas.microsoft.com/office/drawing/2014/main" id="{39FA649A-17AC-7062-5B44-6708758DC260}"/>
              </a:ext>
            </a:extLst>
          </p:cNvPr>
          <p:cNvPicPr>
            <a:picLocks noChangeAspect="1"/>
          </p:cNvPicPr>
          <p:nvPr/>
        </p:nvPicPr>
        <p:blipFill>
          <a:blip r:embed="rId2"/>
          <a:stretch>
            <a:fillRect/>
          </a:stretch>
        </p:blipFill>
        <p:spPr>
          <a:xfrm>
            <a:off x="1303304" y="2345635"/>
            <a:ext cx="8392696" cy="1829055"/>
          </a:xfrm>
          <a:prstGeom prst="rect">
            <a:avLst/>
          </a:prstGeom>
        </p:spPr>
      </p:pic>
      <p:pic>
        <p:nvPicPr>
          <p:cNvPr id="4" name="Picture 3">
            <a:extLst>
              <a:ext uri="{FF2B5EF4-FFF2-40B4-BE49-F238E27FC236}">
                <a16:creationId xmlns:a16="http://schemas.microsoft.com/office/drawing/2014/main" id="{8DDA0679-10A1-C7F2-0E62-62B9299A06E4}"/>
              </a:ext>
            </a:extLst>
          </p:cNvPr>
          <p:cNvPicPr>
            <a:picLocks noChangeAspect="1"/>
          </p:cNvPicPr>
          <p:nvPr/>
        </p:nvPicPr>
        <p:blipFill>
          <a:blip r:embed="rId3"/>
          <a:stretch>
            <a:fillRect/>
          </a:stretch>
        </p:blipFill>
        <p:spPr>
          <a:xfrm>
            <a:off x="728294" y="4424392"/>
            <a:ext cx="11212490" cy="2267266"/>
          </a:xfrm>
          <a:prstGeom prst="rect">
            <a:avLst/>
          </a:prstGeom>
        </p:spPr>
      </p:pic>
      <p:sp>
        <p:nvSpPr>
          <p:cNvPr id="6" name="Rectangle 5">
            <a:extLst>
              <a:ext uri="{FF2B5EF4-FFF2-40B4-BE49-F238E27FC236}">
                <a16:creationId xmlns:a16="http://schemas.microsoft.com/office/drawing/2014/main" id="{AFD7B18F-F67A-C765-B5FC-F5050C88193F}"/>
              </a:ext>
            </a:extLst>
          </p:cNvPr>
          <p:cNvSpPr/>
          <p:nvPr/>
        </p:nvSpPr>
        <p:spPr>
          <a:xfrm>
            <a:off x="728293" y="5262562"/>
            <a:ext cx="10254445" cy="159543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5550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4BA8-9B30-3EE4-0FD5-8FDED8DA6157}"/>
              </a:ext>
            </a:extLst>
          </p:cNvPr>
          <p:cNvSpPr>
            <a:spLocks noGrp="1"/>
          </p:cNvSpPr>
          <p:nvPr>
            <p:ph type="title"/>
          </p:nvPr>
        </p:nvSpPr>
        <p:spPr/>
        <p:txBody>
          <a:bodyPr/>
          <a:lstStyle/>
          <a:p>
            <a:r>
              <a:rPr lang="en-IN" dirty="0"/>
              <a:t>Minkowski Distances</a:t>
            </a:r>
          </a:p>
        </p:txBody>
      </p:sp>
      <p:pic>
        <p:nvPicPr>
          <p:cNvPr id="5" name="Content Placeholder 4">
            <a:extLst>
              <a:ext uri="{FF2B5EF4-FFF2-40B4-BE49-F238E27FC236}">
                <a16:creationId xmlns:a16="http://schemas.microsoft.com/office/drawing/2014/main" id="{DAB99B0C-8E3E-089B-CF0C-2703B57274A9}"/>
              </a:ext>
            </a:extLst>
          </p:cNvPr>
          <p:cNvPicPr>
            <a:picLocks noGrp="1" noChangeAspect="1"/>
          </p:cNvPicPr>
          <p:nvPr>
            <p:ph idx="1"/>
          </p:nvPr>
        </p:nvPicPr>
        <p:blipFill>
          <a:blip r:embed="rId2"/>
          <a:stretch>
            <a:fillRect/>
          </a:stretch>
        </p:blipFill>
        <p:spPr>
          <a:xfrm>
            <a:off x="1509072" y="2062686"/>
            <a:ext cx="9173855" cy="3877216"/>
          </a:xfrm>
          <a:prstGeom prst="rect">
            <a:avLst/>
          </a:prstGeom>
        </p:spPr>
      </p:pic>
    </p:spTree>
    <p:extLst>
      <p:ext uri="{BB962C8B-B14F-4D97-AF65-F5344CB8AC3E}">
        <p14:creationId xmlns:p14="http://schemas.microsoft.com/office/powerpoint/2010/main" val="945851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529CA-33BF-6AC4-2476-4186B47F22E6}"/>
              </a:ext>
            </a:extLst>
          </p:cNvPr>
          <p:cNvSpPr>
            <a:spLocks noGrp="1"/>
          </p:cNvSpPr>
          <p:nvPr>
            <p:ph type="title"/>
          </p:nvPr>
        </p:nvSpPr>
        <p:spPr/>
        <p:txBody>
          <a:bodyPr/>
          <a:lstStyle/>
          <a:p>
            <a:r>
              <a:rPr lang="en-US" dirty="0"/>
              <a:t>Dissimilarity(or distance) measure d(</a:t>
            </a:r>
            <a:r>
              <a:rPr lang="en-US" dirty="0" err="1"/>
              <a:t>x,y</a:t>
            </a:r>
            <a:r>
              <a:rPr lang="en-US" dirty="0"/>
              <a:t>)</a:t>
            </a:r>
            <a:endParaRPr lang="en-IN" dirty="0"/>
          </a:p>
        </p:txBody>
      </p:sp>
      <p:pic>
        <p:nvPicPr>
          <p:cNvPr id="5" name="Content Placeholder 4">
            <a:extLst>
              <a:ext uri="{FF2B5EF4-FFF2-40B4-BE49-F238E27FC236}">
                <a16:creationId xmlns:a16="http://schemas.microsoft.com/office/drawing/2014/main" id="{A4409269-F7CC-511A-A03B-565056DBAE40}"/>
              </a:ext>
            </a:extLst>
          </p:cNvPr>
          <p:cNvPicPr>
            <a:picLocks noGrp="1" noChangeAspect="1"/>
          </p:cNvPicPr>
          <p:nvPr>
            <p:ph idx="1"/>
          </p:nvPr>
        </p:nvPicPr>
        <p:blipFill>
          <a:blip r:embed="rId2"/>
          <a:stretch>
            <a:fillRect/>
          </a:stretch>
        </p:blipFill>
        <p:spPr>
          <a:xfrm>
            <a:off x="742122" y="1451113"/>
            <a:ext cx="11449878" cy="5152708"/>
          </a:xfrm>
          <a:prstGeom prst="rect">
            <a:avLst/>
          </a:prstGeom>
        </p:spPr>
      </p:pic>
      <p:sp>
        <p:nvSpPr>
          <p:cNvPr id="3" name="Rectangle 2">
            <a:extLst>
              <a:ext uri="{FF2B5EF4-FFF2-40B4-BE49-F238E27FC236}">
                <a16:creationId xmlns:a16="http://schemas.microsoft.com/office/drawing/2014/main" id="{40FB0760-D124-2BAB-6676-6B07841037E3}"/>
              </a:ext>
            </a:extLst>
          </p:cNvPr>
          <p:cNvSpPr/>
          <p:nvPr/>
        </p:nvSpPr>
        <p:spPr>
          <a:xfrm>
            <a:off x="838200" y="2730410"/>
            <a:ext cx="487018" cy="32330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1005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D7F4D-588C-42CE-86F4-E1C22BFCD771}"/>
              </a:ext>
            </a:extLst>
          </p:cNvPr>
          <p:cNvSpPr>
            <a:spLocks noGrp="1"/>
          </p:cNvSpPr>
          <p:nvPr>
            <p:ph type="title"/>
          </p:nvPr>
        </p:nvSpPr>
        <p:spPr/>
        <p:txBody>
          <a:bodyPr/>
          <a:lstStyle/>
          <a:p>
            <a:r>
              <a:rPr lang="en-US" dirty="0"/>
              <a:t>Similarity measure s(</a:t>
            </a:r>
            <a:r>
              <a:rPr lang="en-US" dirty="0" err="1"/>
              <a:t>x,y</a:t>
            </a:r>
            <a:r>
              <a:rPr lang="en-US" dirty="0"/>
              <a:t>)</a:t>
            </a:r>
            <a:endParaRPr lang="en-IN" dirty="0"/>
          </a:p>
        </p:txBody>
      </p:sp>
      <p:pic>
        <p:nvPicPr>
          <p:cNvPr id="5" name="Content Placeholder 4">
            <a:extLst>
              <a:ext uri="{FF2B5EF4-FFF2-40B4-BE49-F238E27FC236}">
                <a16:creationId xmlns:a16="http://schemas.microsoft.com/office/drawing/2014/main" id="{46928834-90D4-9727-16A9-6F4D10DFB8C4}"/>
              </a:ext>
            </a:extLst>
          </p:cNvPr>
          <p:cNvPicPr>
            <a:picLocks noGrp="1" noChangeAspect="1"/>
          </p:cNvPicPr>
          <p:nvPr>
            <p:ph idx="1"/>
          </p:nvPr>
        </p:nvPicPr>
        <p:blipFill>
          <a:blip r:embed="rId2"/>
          <a:stretch>
            <a:fillRect/>
          </a:stretch>
        </p:blipFill>
        <p:spPr>
          <a:xfrm>
            <a:off x="838200" y="1690688"/>
            <a:ext cx="10231278" cy="2638793"/>
          </a:xfrm>
          <a:prstGeom prst="rect">
            <a:avLst/>
          </a:prstGeom>
        </p:spPr>
      </p:pic>
    </p:spTree>
    <p:extLst>
      <p:ext uri="{BB962C8B-B14F-4D97-AF65-F5344CB8AC3E}">
        <p14:creationId xmlns:p14="http://schemas.microsoft.com/office/powerpoint/2010/main" val="4029131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60A8-09E3-065D-C9B2-0050B4FC35E8}"/>
              </a:ext>
            </a:extLst>
          </p:cNvPr>
          <p:cNvSpPr>
            <a:spLocks noGrp="1"/>
          </p:cNvSpPr>
          <p:nvPr>
            <p:ph type="title"/>
          </p:nvPr>
        </p:nvSpPr>
        <p:spPr/>
        <p:txBody>
          <a:bodyPr/>
          <a:lstStyle/>
          <a:p>
            <a:r>
              <a:rPr lang="en-IN" dirty="0"/>
              <a:t>Cosine Similarity</a:t>
            </a:r>
          </a:p>
        </p:txBody>
      </p:sp>
      <p:sp>
        <p:nvSpPr>
          <p:cNvPr id="3" name="Content Placeholder 2">
            <a:extLst>
              <a:ext uri="{FF2B5EF4-FFF2-40B4-BE49-F238E27FC236}">
                <a16:creationId xmlns:a16="http://schemas.microsoft.com/office/drawing/2014/main" id="{385142E0-8CC2-A014-14CF-70DF0E94A87E}"/>
              </a:ext>
            </a:extLst>
          </p:cNvPr>
          <p:cNvSpPr>
            <a:spLocks noGrp="1"/>
          </p:cNvSpPr>
          <p:nvPr>
            <p:ph idx="1"/>
          </p:nvPr>
        </p:nvSpPr>
        <p:spPr/>
        <p:txBody>
          <a:bodyPr>
            <a:normAutofit/>
          </a:bodyPr>
          <a:lstStyle/>
          <a:p>
            <a:r>
              <a:rPr lang="en-US" sz="2400" dirty="0"/>
              <a:t>Closely related to the inner product is the </a:t>
            </a:r>
            <a:r>
              <a:rPr lang="en-US" sz="2400" i="1" dirty="0"/>
              <a:t>cosine similarity measure</a:t>
            </a:r>
            <a:r>
              <a:rPr lang="en-US" sz="2400" dirty="0"/>
              <a:t>, </a:t>
            </a:r>
            <a:r>
              <a:rPr lang="en-IN" sz="2400" dirty="0"/>
              <a:t>which is defined as</a:t>
            </a:r>
          </a:p>
          <a:p>
            <a:endParaRPr lang="en-IN" sz="2400" dirty="0"/>
          </a:p>
          <a:p>
            <a:endParaRPr lang="en-IN" sz="2400" dirty="0"/>
          </a:p>
          <a:p>
            <a:endParaRPr lang="en-IN" sz="2400" dirty="0"/>
          </a:p>
          <a:p>
            <a:endParaRPr lang="en-IN" sz="2400" dirty="0"/>
          </a:p>
        </p:txBody>
      </p:sp>
      <p:pic>
        <p:nvPicPr>
          <p:cNvPr id="5" name="Picture 4">
            <a:extLst>
              <a:ext uri="{FF2B5EF4-FFF2-40B4-BE49-F238E27FC236}">
                <a16:creationId xmlns:a16="http://schemas.microsoft.com/office/drawing/2014/main" id="{A0B79FA1-A091-2CFB-ABF1-F96F711BDB55}"/>
              </a:ext>
            </a:extLst>
          </p:cNvPr>
          <p:cNvPicPr>
            <a:picLocks noChangeAspect="1"/>
          </p:cNvPicPr>
          <p:nvPr/>
        </p:nvPicPr>
        <p:blipFill>
          <a:blip r:embed="rId2"/>
          <a:stretch>
            <a:fillRect/>
          </a:stretch>
        </p:blipFill>
        <p:spPr>
          <a:xfrm>
            <a:off x="3776435" y="2135765"/>
            <a:ext cx="4224566" cy="1293235"/>
          </a:xfrm>
          <a:prstGeom prst="rect">
            <a:avLst/>
          </a:prstGeom>
        </p:spPr>
      </p:pic>
      <p:pic>
        <p:nvPicPr>
          <p:cNvPr id="7" name="Picture 6">
            <a:extLst>
              <a:ext uri="{FF2B5EF4-FFF2-40B4-BE49-F238E27FC236}">
                <a16:creationId xmlns:a16="http://schemas.microsoft.com/office/drawing/2014/main" id="{421FEF04-E35B-90D6-1F9C-67CCB605429C}"/>
              </a:ext>
            </a:extLst>
          </p:cNvPr>
          <p:cNvPicPr>
            <a:picLocks noChangeAspect="1"/>
          </p:cNvPicPr>
          <p:nvPr/>
        </p:nvPicPr>
        <p:blipFill>
          <a:blip r:embed="rId3"/>
          <a:stretch>
            <a:fillRect/>
          </a:stretch>
        </p:blipFill>
        <p:spPr>
          <a:xfrm>
            <a:off x="980361" y="3739140"/>
            <a:ext cx="10231278" cy="1219370"/>
          </a:xfrm>
          <a:prstGeom prst="rect">
            <a:avLst/>
          </a:prstGeom>
        </p:spPr>
      </p:pic>
    </p:spTree>
    <p:extLst>
      <p:ext uri="{BB962C8B-B14F-4D97-AF65-F5344CB8AC3E}">
        <p14:creationId xmlns:p14="http://schemas.microsoft.com/office/powerpoint/2010/main" val="2589653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EBE38-8314-C085-908D-72DBC915820A}"/>
              </a:ext>
            </a:extLst>
          </p:cNvPr>
          <p:cNvSpPr>
            <a:spLocks noGrp="1"/>
          </p:cNvSpPr>
          <p:nvPr>
            <p:ph type="title"/>
          </p:nvPr>
        </p:nvSpPr>
        <p:spPr/>
        <p:txBody>
          <a:bodyPr/>
          <a:lstStyle/>
          <a:p>
            <a:r>
              <a:rPr lang="en-IN" dirty="0"/>
              <a:t>Steps in </a:t>
            </a:r>
            <a:r>
              <a:rPr lang="en-US" dirty="0"/>
              <a:t>K-means clustering algorithm</a:t>
            </a:r>
            <a:endParaRPr lang="en-IN" dirty="0"/>
          </a:p>
        </p:txBody>
      </p:sp>
      <p:sp>
        <p:nvSpPr>
          <p:cNvPr id="3" name="Content Placeholder 2">
            <a:extLst>
              <a:ext uri="{FF2B5EF4-FFF2-40B4-BE49-F238E27FC236}">
                <a16:creationId xmlns:a16="http://schemas.microsoft.com/office/drawing/2014/main" id="{9D4717D5-7092-8FAA-AC6A-00FE73185B92}"/>
              </a:ext>
            </a:extLst>
          </p:cNvPr>
          <p:cNvSpPr>
            <a:spLocks noGrp="1"/>
          </p:cNvSpPr>
          <p:nvPr>
            <p:ph idx="1"/>
          </p:nvPr>
        </p:nvSpPr>
        <p:spPr>
          <a:xfrm>
            <a:off x="838200" y="1825625"/>
            <a:ext cx="10979426" cy="4351338"/>
          </a:xfrm>
        </p:spPr>
        <p:txBody>
          <a:bodyPr>
            <a:normAutofit/>
          </a:bodyPr>
          <a:lstStyle/>
          <a:p>
            <a:pPr marL="514350" indent="-514350">
              <a:buFont typeface="+mj-lt"/>
              <a:buAutoNum type="arabicPeriod"/>
            </a:pPr>
            <a:r>
              <a:rPr lang="en-US" sz="2400" b="1" dirty="0"/>
              <a:t>Choose Number of Clusters (K)</a:t>
            </a:r>
          </a:p>
          <a:p>
            <a:pPr lvl="1"/>
            <a:r>
              <a:rPr lang="en-US" sz="2000" dirty="0"/>
              <a:t>Select the number of clusters </a:t>
            </a:r>
            <a:r>
              <a:rPr lang="en-US" sz="2000" b="1" dirty="0"/>
              <a:t>K</a:t>
            </a:r>
            <a:r>
              <a:rPr lang="en-US" sz="2000" dirty="0"/>
              <a:t> based on the problem requirement.</a:t>
            </a:r>
          </a:p>
          <a:p>
            <a:pPr lvl="1"/>
            <a:r>
              <a:rPr lang="en-US" sz="2000" dirty="0"/>
              <a:t>Methods like the </a:t>
            </a:r>
            <a:r>
              <a:rPr lang="en-US" sz="2000" b="1" dirty="0"/>
              <a:t>Elbow Method</a:t>
            </a:r>
            <a:r>
              <a:rPr lang="en-US" sz="2000" dirty="0"/>
              <a:t> can help in choosing optimal K.</a:t>
            </a:r>
            <a:endParaRPr lang="en-IN" sz="2000" b="1" dirty="0"/>
          </a:p>
          <a:p>
            <a:pPr marL="514350" indent="-514350">
              <a:buFont typeface="+mj-lt"/>
              <a:buAutoNum type="arabicPeriod"/>
            </a:pPr>
            <a:r>
              <a:rPr lang="en-IN" sz="2400" b="1" dirty="0"/>
              <a:t>Initializing Random Centroids</a:t>
            </a:r>
          </a:p>
          <a:p>
            <a:pPr lvl="1"/>
            <a:r>
              <a:rPr lang="en-US" sz="2000" dirty="0"/>
              <a:t>Randomly select </a:t>
            </a:r>
            <a:r>
              <a:rPr lang="en-US" sz="2000" b="1" dirty="0"/>
              <a:t>K data points</a:t>
            </a:r>
            <a:r>
              <a:rPr lang="en-US" sz="2000" dirty="0"/>
              <a:t> as the initial cluster centroids.</a:t>
            </a:r>
          </a:p>
          <a:p>
            <a:pPr lvl="1"/>
            <a:r>
              <a:rPr lang="en-US" sz="2000" dirty="0"/>
              <a:t>These centroids represent the center of each cluster.</a:t>
            </a:r>
          </a:p>
          <a:p>
            <a:pPr marL="514350" indent="-514350">
              <a:buFont typeface="+mj-lt"/>
              <a:buAutoNum type="arabicPeriod"/>
            </a:pPr>
            <a:r>
              <a:rPr lang="en-US" sz="2400" b="1" dirty="0"/>
              <a:t>Assign Data Points to Nearest Centroid</a:t>
            </a:r>
          </a:p>
          <a:p>
            <a:pPr lvl="1"/>
            <a:r>
              <a:rPr lang="en-US" sz="2000" dirty="0"/>
              <a:t>For each data point, compute the </a:t>
            </a:r>
            <a:r>
              <a:rPr lang="en-US" sz="2000" b="1" dirty="0"/>
              <a:t>distance</a:t>
            </a:r>
            <a:r>
              <a:rPr lang="en-US" sz="2000" dirty="0"/>
              <a:t> (usually Euclidean distance) from all centroids.</a:t>
            </a:r>
          </a:p>
          <a:p>
            <a:pPr lvl="1"/>
            <a:r>
              <a:rPr lang="en-US" sz="2000" dirty="0"/>
              <a:t>Assign each point to the cluster with the </a:t>
            </a:r>
            <a:r>
              <a:rPr lang="en-US" sz="2000" b="1" dirty="0"/>
              <a:t>minimum distance</a:t>
            </a:r>
            <a:r>
              <a:rPr lang="en-US" sz="2000" dirty="0"/>
              <a:t>.</a:t>
            </a:r>
          </a:p>
          <a:p>
            <a:pPr marL="457200" lvl="1" indent="0">
              <a:buNone/>
            </a:pPr>
            <a:endParaRPr lang="en-IN" sz="2000" b="1" dirty="0"/>
          </a:p>
          <a:p>
            <a:pPr marL="514350" indent="-514350">
              <a:buFont typeface="+mj-lt"/>
              <a:buAutoNum type="arabicPeriod"/>
            </a:pPr>
            <a:endParaRPr lang="en-IN" sz="2400" dirty="0"/>
          </a:p>
        </p:txBody>
      </p:sp>
    </p:spTree>
    <p:extLst>
      <p:ext uri="{BB962C8B-B14F-4D97-AF65-F5344CB8AC3E}">
        <p14:creationId xmlns:p14="http://schemas.microsoft.com/office/powerpoint/2010/main" val="1474955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18828-AC48-1693-45C3-7E7F751D0951}"/>
              </a:ext>
            </a:extLst>
          </p:cNvPr>
          <p:cNvSpPr>
            <a:spLocks noGrp="1"/>
          </p:cNvSpPr>
          <p:nvPr>
            <p:ph type="title"/>
          </p:nvPr>
        </p:nvSpPr>
        <p:spPr/>
        <p:txBody>
          <a:bodyPr/>
          <a:lstStyle/>
          <a:p>
            <a:r>
              <a:rPr lang="en-IN" dirty="0"/>
              <a:t>Steps in </a:t>
            </a:r>
            <a:r>
              <a:rPr lang="en-US" dirty="0"/>
              <a:t>K-means clustering algorithm</a:t>
            </a:r>
            <a:endParaRPr lang="en-IN" dirty="0"/>
          </a:p>
        </p:txBody>
      </p:sp>
      <p:sp>
        <p:nvSpPr>
          <p:cNvPr id="3" name="Content Placeholder 2">
            <a:extLst>
              <a:ext uri="{FF2B5EF4-FFF2-40B4-BE49-F238E27FC236}">
                <a16:creationId xmlns:a16="http://schemas.microsoft.com/office/drawing/2014/main" id="{2E6F64B3-D969-707D-B9E1-E030B3BA7CE8}"/>
              </a:ext>
            </a:extLst>
          </p:cNvPr>
          <p:cNvSpPr>
            <a:spLocks noGrp="1"/>
          </p:cNvSpPr>
          <p:nvPr>
            <p:ph idx="1"/>
          </p:nvPr>
        </p:nvSpPr>
        <p:spPr/>
        <p:txBody>
          <a:bodyPr/>
          <a:lstStyle/>
          <a:p>
            <a:pPr marL="514350" indent="-514350">
              <a:buFont typeface="+mj-lt"/>
              <a:buAutoNum type="arabicPeriod" startAt="4"/>
            </a:pPr>
            <a:r>
              <a:rPr lang="en-US" sz="2400" b="1" dirty="0"/>
              <a:t>Update Centroids</a:t>
            </a:r>
          </a:p>
          <a:p>
            <a:pPr lvl="1"/>
            <a:r>
              <a:rPr lang="en-US" sz="2000" dirty="0"/>
              <a:t>Recalculate the centroid of each cluster by taking the </a:t>
            </a:r>
            <a:r>
              <a:rPr lang="en-US" sz="2000" b="1" dirty="0"/>
              <a:t>mean of all points</a:t>
            </a:r>
            <a:r>
              <a:rPr lang="en-US" sz="2000" dirty="0"/>
              <a:t> assigned to that cluster.</a:t>
            </a:r>
          </a:p>
          <a:p>
            <a:pPr lvl="1"/>
            <a:endParaRPr lang="en-US" sz="2000" dirty="0"/>
          </a:p>
          <a:p>
            <a:pPr lvl="1"/>
            <a:endParaRPr lang="en-US" sz="2000" dirty="0"/>
          </a:p>
          <a:p>
            <a:pPr lvl="1"/>
            <a:endParaRPr lang="en-US" sz="2000" dirty="0"/>
          </a:p>
          <a:p>
            <a:pPr lvl="1"/>
            <a:endParaRPr lang="en-US" sz="2000" dirty="0"/>
          </a:p>
          <a:p>
            <a:pPr marL="457200" indent="-457200">
              <a:buFont typeface="+mj-lt"/>
              <a:buAutoNum type="arabicPeriod" startAt="5"/>
            </a:pPr>
            <a:r>
              <a:rPr lang="en-US" sz="2400" b="1" dirty="0"/>
              <a:t>Check for Convergence</a:t>
            </a:r>
          </a:p>
          <a:p>
            <a:pPr lvl="1"/>
            <a:r>
              <a:rPr lang="en-US" sz="2000" dirty="0"/>
              <a:t>Compare old and new centroids.</a:t>
            </a:r>
          </a:p>
          <a:p>
            <a:pPr lvl="1"/>
            <a:r>
              <a:rPr lang="en-US" sz="2000" dirty="0"/>
              <a:t>If centroids do not change (or change is below a threshold), the algorithm stops.</a:t>
            </a:r>
          </a:p>
          <a:p>
            <a:pPr lvl="1"/>
            <a:r>
              <a:rPr lang="en-US" sz="2000" dirty="0"/>
              <a:t>Otherwise, repeat Steps 3 and 4.</a:t>
            </a:r>
          </a:p>
          <a:p>
            <a:endParaRPr lang="en-US" sz="2400" dirty="0"/>
          </a:p>
          <a:p>
            <a:pPr lvl="1"/>
            <a:endParaRPr lang="en-US" sz="2000" dirty="0"/>
          </a:p>
          <a:p>
            <a:endParaRPr lang="en-IN" dirty="0"/>
          </a:p>
        </p:txBody>
      </p:sp>
      <p:pic>
        <p:nvPicPr>
          <p:cNvPr id="5" name="Picture 4">
            <a:extLst>
              <a:ext uri="{FF2B5EF4-FFF2-40B4-BE49-F238E27FC236}">
                <a16:creationId xmlns:a16="http://schemas.microsoft.com/office/drawing/2014/main" id="{853E27B8-693D-8CA8-7E91-67D33477A74D}"/>
              </a:ext>
            </a:extLst>
          </p:cNvPr>
          <p:cNvPicPr>
            <a:picLocks noChangeAspect="1"/>
          </p:cNvPicPr>
          <p:nvPr/>
        </p:nvPicPr>
        <p:blipFill>
          <a:blip r:embed="rId2"/>
          <a:stretch>
            <a:fillRect/>
          </a:stretch>
        </p:blipFill>
        <p:spPr>
          <a:xfrm>
            <a:off x="3562452" y="2839416"/>
            <a:ext cx="3583783" cy="1433514"/>
          </a:xfrm>
          <a:prstGeom prst="rect">
            <a:avLst/>
          </a:prstGeom>
        </p:spPr>
      </p:pic>
    </p:spTree>
    <p:extLst>
      <p:ext uri="{BB962C8B-B14F-4D97-AF65-F5344CB8AC3E}">
        <p14:creationId xmlns:p14="http://schemas.microsoft.com/office/powerpoint/2010/main" val="4035874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5945-9995-A6CC-576E-38DF9DFDE86F}"/>
              </a:ext>
            </a:extLst>
          </p:cNvPr>
          <p:cNvSpPr>
            <a:spLocks noGrp="1"/>
          </p:cNvSpPr>
          <p:nvPr>
            <p:ph type="title"/>
          </p:nvPr>
        </p:nvSpPr>
        <p:spPr/>
        <p:txBody>
          <a:bodyPr/>
          <a:lstStyle/>
          <a:p>
            <a:r>
              <a:rPr lang="en-IN" dirty="0"/>
              <a:t>Steps in </a:t>
            </a:r>
            <a:r>
              <a:rPr lang="en-US" dirty="0"/>
              <a:t>K-means clustering algorithm</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14B083C-20AC-79AC-30FB-3E1954C991CF}"/>
                  </a:ext>
                </a:extLst>
              </p:cNvPr>
              <p:cNvSpPr>
                <a:spLocks noGrp="1"/>
              </p:cNvSpPr>
              <p:nvPr>
                <p:ph idx="1"/>
              </p:nvPr>
            </p:nvSpPr>
            <p:spPr/>
            <p:txBody>
              <a:bodyPr/>
              <a:lstStyle/>
              <a:p>
                <a:pPr marL="514350" indent="-514350">
                  <a:buFont typeface="+mj-lt"/>
                  <a:buAutoNum type="arabicPeriod" startAt="6"/>
                </a:pPr>
                <a:r>
                  <a:rPr lang="en-US" b="1" dirty="0"/>
                  <a:t>Output Clusters</a:t>
                </a:r>
              </a:p>
              <a:p>
                <a:pPr lvl="1"/>
                <a:r>
                  <a:rPr lang="en-US" dirty="0"/>
                  <a:t>Final clusters and centroids are produced, minimizing intra-cluster variance.</a:t>
                </a:r>
              </a:p>
              <a:p>
                <a:pPr lvl="1"/>
                <a:r>
                  <a:rPr lang="en-IN" b="1" dirty="0"/>
                  <a:t>Objective Function: </a:t>
                </a:r>
                <a:r>
                  <a:rPr lang="en-IN" dirty="0"/>
                  <a:t>K-Means minimizes:</a:t>
                </a:r>
              </a:p>
              <a:p>
                <a:pPr lvl="1"/>
                <a:endParaRPr lang="en-IN" dirty="0"/>
              </a:p>
              <a:p>
                <a:pPr lvl="1"/>
                <a:endParaRPr lang="en-IN" dirty="0"/>
              </a:p>
              <a:p>
                <a:pPr lvl="1"/>
                <a:endParaRPr lang="en-IN" dirty="0"/>
              </a:p>
              <a:p>
                <a:pPr lvl="1"/>
                <a:r>
                  <a:rPr lang="en-IN" dirty="0"/>
                  <a:t>Where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𝜇</m:t>
                        </m:r>
                      </m:e>
                      <m:sub>
                        <m:r>
                          <a:rPr lang="ar-AE" i="1">
                            <a:latin typeface="Cambria Math" panose="02040503050406030204" pitchFamily="18" charset="0"/>
                          </a:rPr>
                          <m:t>𝑘</m:t>
                        </m:r>
                      </m:sub>
                    </m:sSub>
                  </m:oMath>
                </a14:m>
                <a:r>
                  <a:rPr lang="en-IN" dirty="0"/>
                  <a:t>is centroid of cluster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i="1">
                            <a:latin typeface="Cambria Math" panose="02040503050406030204" pitchFamily="18" charset="0"/>
                          </a:rPr>
                          <m:t>𝑘</m:t>
                        </m:r>
                      </m:sub>
                    </m:sSub>
                  </m:oMath>
                </a14:m>
                <a:r>
                  <a:rPr lang="ar-AE" dirty="0"/>
                  <a:t>.</a:t>
                </a:r>
              </a:p>
              <a:p>
                <a:pPr marL="457200" lvl="1" indent="0" algn="r">
                  <a:buNone/>
                </a:pPr>
                <a:endParaRPr lang="en-US" b="1" dirty="0"/>
              </a:p>
              <a:p>
                <a:pPr marL="457200" lvl="1" indent="0" algn="r">
                  <a:buNone/>
                </a:pPr>
                <a:r>
                  <a:rPr lang="en-US" b="1" dirty="0"/>
                  <a:t>Within-Cluster Sum of Squares (WCSS / SSE)</a:t>
                </a:r>
              </a:p>
              <a:p>
                <a:endParaRPr lang="en-IN" dirty="0"/>
              </a:p>
            </p:txBody>
          </p:sp>
        </mc:Choice>
        <mc:Fallback>
          <p:sp>
            <p:nvSpPr>
              <p:cNvPr id="3" name="Content Placeholder 2">
                <a:extLst>
                  <a:ext uri="{FF2B5EF4-FFF2-40B4-BE49-F238E27FC236}">
                    <a16:creationId xmlns:a16="http://schemas.microsoft.com/office/drawing/2014/main" id="{314B083C-20AC-79AC-30FB-3E1954C991CF}"/>
                  </a:ext>
                </a:extLst>
              </p:cNvPr>
              <p:cNvSpPr>
                <a:spLocks noGrp="1" noRot="1" noChangeAspect="1" noMove="1" noResize="1" noEditPoints="1" noAdjustHandles="1" noChangeArrowheads="1" noChangeShapeType="1" noTextEdit="1"/>
              </p:cNvSpPr>
              <p:nvPr>
                <p:ph idx="1"/>
              </p:nvPr>
            </p:nvSpPr>
            <p:spPr>
              <a:blipFill>
                <a:blip r:embed="rId2"/>
                <a:stretch>
                  <a:fillRect l="-1217" t="-2381" r="-870"/>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7C5AD20-F91B-FDB1-5CB9-427D9351550E}"/>
              </a:ext>
            </a:extLst>
          </p:cNvPr>
          <p:cNvPicPr>
            <a:picLocks noChangeAspect="1"/>
          </p:cNvPicPr>
          <p:nvPr/>
        </p:nvPicPr>
        <p:blipFill>
          <a:blip r:embed="rId3"/>
          <a:stretch>
            <a:fillRect/>
          </a:stretch>
        </p:blipFill>
        <p:spPr>
          <a:xfrm>
            <a:off x="5823544" y="2959732"/>
            <a:ext cx="3687010" cy="1294215"/>
          </a:xfrm>
          <a:prstGeom prst="rect">
            <a:avLst/>
          </a:prstGeom>
        </p:spPr>
      </p:pic>
    </p:spTree>
    <p:extLst>
      <p:ext uri="{BB962C8B-B14F-4D97-AF65-F5344CB8AC3E}">
        <p14:creationId xmlns:p14="http://schemas.microsoft.com/office/powerpoint/2010/main" val="3030896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E222-CF93-BB3E-F667-FEF8751767C1}"/>
              </a:ext>
            </a:extLst>
          </p:cNvPr>
          <p:cNvSpPr>
            <a:spLocks noGrp="1"/>
          </p:cNvSpPr>
          <p:nvPr>
            <p:ph type="title"/>
          </p:nvPr>
        </p:nvSpPr>
        <p:spPr/>
        <p:txBody>
          <a:bodyPr/>
          <a:lstStyle/>
          <a:p>
            <a:r>
              <a:rPr lang="en-US" dirty="0"/>
              <a:t>Simple Example of K-Means Clustering</a:t>
            </a:r>
            <a:endParaRPr lang="en-IN" dirty="0"/>
          </a:p>
        </p:txBody>
      </p:sp>
      <p:sp>
        <p:nvSpPr>
          <p:cNvPr id="3" name="Content Placeholder 2">
            <a:extLst>
              <a:ext uri="{FF2B5EF4-FFF2-40B4-BE49-F238E27FC236}">
                <a16:creationId xmlns:a16="http://schemas.microsoft.com/office/drawing/2014/main" id="{4CC2DF19-BD91-71A0-C949-00A67737404F}"/>
              </a:ext>
            </a:extLst>
          </p:cNvPr>
          <p:cNvSpPr>
            <a:spLocks noGrp="1"/>
          </p:cNvSpPr>
          <p:nvPr>
            <p:ph sz="half" idx="1"/>
          </p:nvPr>
        </p:nvSpPr>
        <p:spPr/>
        <p:txBody>
          <a:bodyPr>
            <a:normAutofit/>
          </a:bodyPr>
          <a:lstStyle/>
          <a:p>
            <a:r>
              <a:rPr lang="en-US" sz="2400" dirty="0"/>
              <a:t>Assume we have </a:t>
            </a:r>
            <a:r>
              <a:rPr lang="en-US" sz="2400" b="1" dirty="0"/>
              <a:t>6 data points</a:t>
            </a:r>
            <a:r>
              <a:rPr lang="en-US" sz="2400" dirty="0"/>
              <a:t> representing students based on two features: </a:t>
            </a:r>
            <a:r>
              <a:rPr lang="en-US" sz="2400" b="1" dirty="0"/>
              <a:t>Study Hours (X)</a:t>
            </a:r>
            <a:r>
              <a:rPr lang="en-US" sz="2400" dirty="0"/>
              <a:t> and </a:t>
            </a:r>
            <a:r>
              <a:rPr lang="en-US" sz="2400" b="1" dirty="0"/>
              <a:t>Marks (Y)</a:t>
            </a:r>
            <a:r>
              <a:rPr lang="en-US" sz="2400" dirty="0"/>
              <a:t>.</a:t>
            </a:r>
            <a:endParaRPr lang="en-IN" sz="2400"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A9988D3-F1B3-2379-1543-A0155836DB32}"/>
                  </a:ext>
                </a:extLst>
              </p:cNvPr>
              <p:cNvSpPr>
                <a:spLocks noGrp="1"/>
              </p:cNvSpPr>
              <p:nvPr>
                <p:ph sz="half" idx="2"/>
              </p:nvPr>
            </p:nvSpPr>
            <p:spPr/>
            <p:txBody>
              <a:bodyPr/>
              <a:lstStyle/>
              <a:p>
                <a:pPr marL="514350" indent="-514350">
                  <a:buFont typeface="+mj-lt"/>
                  <a:buAutoNum type="arabicPeriod"/>
                </a:pPr>
                <a:r>
                  <a:rPr lang="en-IN" b="1" dirty="0"/>
                  <a:t>Choose K</a:t>
                </a:r>
                <a:r>
                  <a:rPr lang="en-IN" b="1" dirty="0">
                    <a:sym typeface="Wingdings" panose="05000000000000000000" pitchFamily="2" charset="2"/>
                  </a:rPr>
                  <a:t> </a:t>
                </a:r>
                <a:r>
                  <a:rPr lang="en-IN" dirty="0"/>
                  <a:t>Let </a:t>
                </a:r>
                <a:r>
                  <a:rPr lang="en-IN" b="1" dirty="0"/>
                  <a:t>K = 2</a:t>
                </a:r>
                <a:r>
                  <a:rPr lang="en-IN" dirty="0"/>
                  <a:t>.</a:t>
                </a:r>
              </a:p>
              <a:p>
                <a:pPr marL="514350" indent="-514350">
                  <a:buFont typeface="+mj-lt"/>
                  <a:buAutoNum type="arabicPeriod"/>
                </a:pPr>
                <a:r>
                  <a:rPr lang="en-IN" b="1" dirty="0"/>
                  <a:t>Initialize Centroids</a:t>
                </a:r>
              </a:p>
              <a:p>
                <a:pPr lvl="1"/>
                <a:r>
                  <a:rPr lang="en-IN" dirty="0"/>
                  <a:t>Choose two initial centroids randomly: </a:t>
                </a:r>
                <a14:m>
                  <m:oMath xmlns:m="http://schemas.openxmlformats.org/officeDocument/2006/math">
                    <m:sSub>
                      <m:sSubPr>
                        <m:ctrlPr>
                          <a:rPr lang="ar-AE" i="1" smtClean="0">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1</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1</m:t>
                        </m:r>
                      </m:e>
                      <m:e>
                        <m:r>
                          <a:rPr lang="ar-AE">
                            <a:latin typeface="Cambria Math" panose="02040503050406030204" pitchFamily="18" charset="0"/>
                          </a:rPr>
                          <m:t>2</m:t>
                        </m:r>
                      </m:e>
                    </m:d>
                    <m:r>
                      <a:rPr lang="ar-AE">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𝐶</m:t>
                        </m:r>
                      </m:e>
                      <m:sub>
                        <m:r>
                          <a:rPr lang="ar-AE">
                            <a:latin typeface="Cambria Math" panose="02040503050406030204" pitchFamily="18" charset="0"/>
                          </a:rPr>
                          <m:t>2</m:t>
                        </m:r>
                      </m:sub>
                    </m:sSub>
                    <m:r>
                      <a:rPr lang="ar-AE">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5</m:t>
                        </m:r>
                      </m:e>
                      <m:e>
                        <m:r>
                          <a:rPr lang="ar-AE">
                            <a:latin typeface="Cambria Math" panose="02040503050406030204" pitchFamily="18" charset="0"/>
                          </a:rPr>
                          <m:t>4</m:t>
                        </m:r>
                      </m:e>
                    </m:d>
                  </m:oMath>
                </a14:m>
                <a:endParaRPr lang="ar-AE" dirty="0"/>
              </a:p>
              <a:p>
                <a:pPr marL="514350" indent="-514350">
                  <a:buFont typeface="+mj-lt"/>
                  <a:buAutoNum type="arabicPeriod"/>
                </a:pPr>
                <a:r>
                  <a:rPr lang="en-US" b="1" dirty="0"/>
                  <a:t>Assign Points to Nearest Centroid</a:t>
                </a:r>
              </a:p>
              <a:p>
                <a:pPr lvl="1"/>
                <a:r>
                  <a:rPr lang="en-US" dirty="0"/>
                  <a:t>Using Euclidean distance:</a:t>
                </a:r>
              </a:p>
              <a:p>
                <a:pPr marL="514350" indent="-514350">
                  <a:buFont typeface="+mj-lt"/>
                  <a:buAutoNum type="arabicPeriod"/>
                </a:pPr>
                <a:endParaRPr lang="en-IN" dirty="0"/>
              </a:p>
              <a:p>
                <a:endParaRPr lang="en-IN" dirty="0"/>
              </a:p>
            </p:txBody>
          </p:sp>
        </mc:Choice>
        <mc:Fallback xmlns="">
          <p:sp>
            <p:nvSpPr>
              <p:cNvPr id="5" name="Content Placeholder 4">
                <a:extLst>
                  <a:ext uri="{FF2B5EF4-FFF2-40B4-BE49-F238E27FC236}">
                    <a16:creationId xmlns:a16="http://schemas.microsoft.com/office/drawing/2014/main" id="{FA9988D3-F1B3-2379-1543-A0155836DB32}"/>
                  </a:ext>
                </a:extLst>
              </p:cNvPr>
              <p:cNvSpPr>
                <a:spLocks noGrp="1" noRot="1" noChangeAspect="1" noMove="1" noResize="1" noEditPoints="1" noAdjustHandles="1" noChangeArrowheads="1" noChangeShapeType="1" noTextEdit="1"/>
              </p:cNvSpPr>
              <p:nvPr>
                <p:ph sz="half" idx="2"/>
              </p:nvPr>
            </p:nvSpPr>
            <p:spPr>
              <a:blipFill>
                <a:blip r:embed="rId2"/>
                <a:stretch>
                  <a:fillRect l="-2471" t="-2661"/>
                </a:stretch>
              </a:blipFill>
            </p:spPr>
            <p:txBody>
              <a:bodyPr/>
              <a:lstStyle/>
              <a:p>
                <a:r>
                  <a:rPr lang="en-IN">
                    <a:noFill/>
                  </a:rPr>
                  <a:t> </a:t>
                </a:r>
              </a:p>
            </p:txBody>
          </p:sp>
        </mc:Fallback>
      </mc:AlternateContent>
      <p:graphicFrame>
        <p:nvGraphicFramePr>
          <p:cNvPr id="4" name="Table 3">
            <a:extLst>
              <a:ext uri="{FF2B5EF4-FFF2-40B4-BE49-F238E27FC236}">
                <a16:creationId xmlns:a16="http://schemas.microsoft.com/office/drawing/2014/main" id="{3311C640-0D1E-8840-2C2E-D633A8D57B71}"/>
              </a:ext>
            </a:extLst>
          </p:cNvPr>
          <p:cNvGraphicFramePr>
            <a:graphicFrameLocks noGrp="1"/>
          </p:cNvGraphicFramePr>
          <p:nvPr/>
        </p:nvGraphicFramePr>
        <p:xfrm>
          <a:off x="1205947" y="3538220"/>
          <a:ext cx="3515139" cy="2773680"/>
        </p:xfrm>
        <a:graphic>
          <a:graphicData uri="http://schemas.openxmlformats.org/drawingml/2006/table">
            <a:tbl>
              <a:tblPr/>
              <a:tblGrid>
                <a:gridCol w="1171713">
                  <a:extLst>
                    <a:ext uri="{9D8B030D-6E8A-4147-A177-3AD203B41FA5}">
                      <a16:colId xmlns:a16="http://schemas.microsoft.com/office/drawing/2014/main" val="3229688118"/>
                    </a:ext>
                  </a:extLst>
                </a:gridCol>
                <a:gridCol w="1171713">
                  <a:extLst>
                    <a:ext uri="{9D8B030D-6E8A-4147-A177-3AD203B41FA5}">
                      <a16:colId xmlns:a16="http://schemas.microsoft.com/office/drawing/2014/main" val="954662938"/>
                    </a:ext>
                  </a:extLst>
                </a:gridCol>
                <a:gridCol w="1171713">
                  <a:extLst>
                    <a:ext uri="{9D8B030D-6E8A-4147-A177-3AD203B41FA5}">
                      <a16:colId xmlns:a16="http://schemas.microsoft.com/office/drawing/2014/main" val="581273158"/>
                    </a:ext>
                  </a:extLst>
                </a:gridCol>
              </a:tblGrid>
              <a:tr h="0">
                <a:tc>
                  <a:txBody>
                    <a:bodyPr/>
                    <a:lstStyle/>
                    <a:p>
                      <a:pPr>
                        <a:buNone/>
                      </a:pPr>
                      <a:r>
                        <a:rPr lang="en-IN" sz="2000" dirty="0"/>
                        <a:t>Student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X (Hours)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Y (Marks)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3012076"/>
                  </a:ext>
                </a:extLst>
              </a:tr>
              <a:tr h="0">
                <a:tc>
                  <a:txBody>
                    <a:bodyPr/>
                    <a:lstStyle/>
                    <a:p>
                      <a:pPr>
                        <a:buNone/>
                      </a:pPr>
                      <a:r>
                        <a:rPr lang="en-IN" sz="20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236506"/>
                  </a:ext>
                </a:extLst>
              </a:tr>
              <a:tr h="0">
                <a:tc>
                  <a:txBody>
                    <a:bodyPr/>
                    <a:lstStyle/>
                    <a:p>
                      <a:pPr>
                        <a:buNone/>
                      </a:pPr>
                      <a:r>
                        <a:rPr lang="en-IN" sz="200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707701"/>
                  </a:ext>
                </a:extLst>
              </a:tr>
              <a:tr h="0">
                <a:tc>
                  <a:txBody>
                    <a:bodyPr/>
                    <a:lstStyle/>
                    <a:p>
                      <a:pPr>
                        <a:buNone/>
                      </a:pPr>
                      <a:r>
                        <a:rPr lang="en-IN" sz="2000"/>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9446860"/>
                  </a:ext>
                </a:extLst>
              </a:tr>
              <a:tr h="0">
                <a:tc>
                  <a:txBody>
                    <a:bodyPr/>
                    <a:lstStyle/>
                    <a:p>
                      <a:pPr>
                        <a:buNone/>
                      </a:pPr>
                      <a:r>
                        <a:rPr lang="en-IN" sz="2000"/>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06287"/>
                  </a:ext>
                </a:extLst>
              </a:tr>
              <a:tr h="0">
                <a:tc>
                  <a:txBody>
                    <a:bodyPr/>
                    <a:lstStyle/>
                    <a:p>
                      <a:pPr>
                        <a:buNone/>
                      </a:pPr>
                      <a:r>
                        <a:rPr lang="en-IN" sz="2000"/>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02673"/>
                  </a:ext>
                </a:extLst>
              </a:tr>
              <a:tr h="0">
                <a:tc>
                  <a:txBody>
                    <a:bodyPr/>
                    <a:lstStyle/>
                    <a:p>
                      <a:pPr>
                        <a:buNone/>
                      </a:pPr>
                      <a:r>
                        <a:rPr lang="en-IN" sz="2000"/>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872298"/>
                  </a:ext>
                </a:extLst>
              </a:tr>
            </a:tbl>
          </a:graphicData>
        </a:graphic>
      </p:graphicFrame>
    </p:spTree>
    <p:extLst>
      <p:ext uri="{BB962C8B-B14F-4D97-AF65-F5344CB8AC3E}">
        <p14:creationId xmlns:p14="http://schemas.microsoft.com/office/powerpoint/2010/main" val="413838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9260-16F3-B47E-CAE6-AA2478B31E4A}"/>
              </a:ext>
            </a:extLst>
          </p:cNvPr>
          <p:cNvSpPr>
            <a:spLocks noGrp="1"/>
          </p:cNvSpPr>
          <p:nvPr>
            <p:ph type="title"/>
          </p:nvPr>
        </p:nvSpPr>
        <p:spPr/>
        <p:txBody>
          <a:bodyPr/>
          <a:lstStyle/>
          <a:p>
            <a:r>
              <a:rPr lang="en-US" dirty="0"/>
              <a:t>Simple Example of K-Means Clustering</a:t>
            </a:r>
            <a:endParaRPr lang="en-IN" dirty="0"/>
          </a:p>
        </p:txBody>
      </p:sp>
      <p:graphicFrame>
        <p:nvGraphicFramePr>
          <p:cNvPr id="5" name="Content Placeholder 4">
            <a:extLst>
              <a:ext uri="{FF2B5EF4-FFF2-40B4-BE49-F238E27FC236}">
                <a16:creationId xmlns:a16="http://schemas.microsoft.com/office/drawing/2014/main" id="{73E79FAF-7107-FEB7-6B48-8ED30D692E8D}"/>
              </a:ext>
            </a:extLst>
          </p:cNvPr>
          <p:cNvGraphicFramePr>
            <a:graphicFrameLocks noGrp="1"/>
          </p:cNvGraphicFramePr>
          <p:nvPr>
            <p:ph sz="half" idx="1"/>
          </p:nvPr>
        </p:nvGraphicFramePr>
        <p:xfrm>
          <a:off x="802171" y="3301237"/>
          <a:ext cx="5181600" cy="2875726"/>
        </p:xfrm>
        <a:graphic>
          <a:graphicData uri="http://schemas.openxmlformats.org/drawingml/2006/table">
            <a:tbl>
              <a:tblPr/>
              <a:tblGrid>
                <a:gridCol w="1295400">
                  <a:extLst>
                    <a:ext uri="{9D8B030D-6E8A-4147-A177-3AD203B41FA5}">
                      <a16:colId xmlns:a16="http://schemas.microsoft.com/office/drawing/2014/main" val="544349980"/>
                    </a:ext>
                  </a:extLst>
                </a:gridCol>
                <a:gridCol w="1295400">
                  <a:extLst>
                    <a:ext uri="{9D8B030D-6E8A-4147-A177-3AD203B41FA5}">
                      <a16:colId xmlns:a16="http://schemas.microsoft.com/office/drawing/2014/main" val="4271097763"/>
                    </a:ext>
                  </a:extLst>
                </a:gridCol>
                <a:gridCol w="1295400">
                  <a:extLst>
                    <a:ext uri="{9D8B030D-6E8A-4147-A177-3AD203B41FA5}">
                      <a16:colId xmlns:a16="http://schemas.microsoft.com/office/drawing/2014/main" val="3274030309"/>
                    </a:ext>
                  </a:extLst>
                </a:gridCol>
                <a:gridCol w="1295400">
                  <a:extLst>
                    <a:ext uri="{9D8B030D-6E8A-4147-A177-3AD203B41FA5}">
                      <a16:colId xmlns:a16="http://schemas.microsoft.com/office/drawing/2014/main" val="1991217654"/>
                    </a:ext>
                  </a:extLst>
                </a:gridCol>
              </a:tblGrid>
              <a:tr h="180230">
                <a:tc>
                  <a:txBody>
                    <a:bodyPr/>
                    <a:lstStyle/>
                    <a:p>
                      <a:pPr>
                        <a:buNone/>
                      </a:pPr>
                      <a:r>
                        <a:rPr lang="en-IN" sz="240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err="1"/>
                        <a:t>Dist</a:t>
                      </a:r>
                      <a:r>
                        <a:rPr lang="en-IN" sz="2400" dirty="0"/>
                        <a:t>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Dist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4265872"/>
                  </a:ext>
                </a:extLst>
              </a:tr>
              <a:tr h="180230">
                <a:tc>
                  <a:txBody>
                    <a:bodyPr/>
                    <a:lstStyle/>
                    <a:p>
                      <a:pPr>
                        <a:buNone/>
                      </a:pPr>
                      <a:r>
                        <a:rPr lang="en-IN" sz="2400" dirty="0"/>
                        <a:t>A(1,2)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5321753"/>
                  </a:ext>
                </a:extLst>
              </a:tr>
              <a:tr h="180230">
                <a:tc>
                  <a:txBody>
                    <a:bodyPr/>
                    <a:lstStyle/>
                    <a:p>
                      <a:pPr>
                        <a:buNone/>
                      </a:pPr>
                      <a:r>
                        <a:rPr lang="en-IN" sz="2400"/>
                        <a:t>B(2,1)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9880142"/>
                  </a:ext>
                </a:extLst>
              </a:tr>
              <a:tr h="180230">
                <a:tc>
                  <a:txBody>
                    <a:bodyPr/>
                    <a:lstStyle/>
                    <a:p>
                      <a:pPr>
                        <a:buNone/>
                      </a:pPr>
                      <a:r>
                        <a:rPr lang="en-IN" sz="2400"/>
                        <a:t>C(4,5)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4.24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8406676"/>
                  </a:ext>
                </a:extLst>
              </a:tr>
              <a:tr h="180230">
                <a:tc>
                  <a:txBody>
                    <a:bodyPr/>
                    <a:lstStyle/>
                    <a:p>
                      <a:pPr>
                        <a:buNone/>
                      </a:pPr>
                      <a:r>
                        <a:rPr lang="en-IN" sz="2400"/>
                        <a:t>D(5,4)</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4.47</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162751"/>
                  </a:ext>
                </a:extLst>
              </a:tr>
              <a:tr h="180230">
                <a:tc>
                  <a:txBody>
                    <a:bodyPr/>
                    <a:lstStyle/>
                    <a:p>
                      <a:pPr>
                        <a:buNone/>
                      </a:pPr>
                      <a:r>
                        <a:rPr lang="en-IN" sz="2400"/>
                        <a:t>E(6,5)</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5.66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1.41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9666497"/>
                  </a:ext>
                </a:extLst>
              </a:tr>
              <a:tr h="180230">
                <a:tc>
                  <a:txBody>
                    <a:bodyPr/>
                    <a:lstStyle/>
                    <a:p>
                      <a:pPr>
                        <a:buNone/>
                      </a:pPr>
                      <a:r>
                        <a:rPr lang="en-IN" sz="2400"/>
                        <a:t>F(7,6)</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7.21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2.83</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7014566"/>
                  </a:ext>
                </a:extLst>
              </a:tr>
            </a:tbl>
          </a:graphicData>
        </a:graphic>
      </p:graphicFrame>
      <p:sp>
        <p:nvSpPr>
          <p:cNvPr id="4" name="Content Placeholder 3">
            <a:extLst>
              <a:ext uri="{FF2B5EF4-FFF2-40B4-BE49-F238E27FC236}">
                <a16:creationId xmlns:a16="http://schemas.microsoft.com/office/drawing/2014/main" id="{B132DBBE-FF61-FF99-F2F7-B31EC0DDF8A0}"/>
              </a:ext>
            </a:extLst>
          </p:cNvPr>
          <p:cNvSpPr>
            <a:spLocks noGrp="1"/>
          </p:cNvSpPr>
          <p:nvPr>
            <p:ph sz="half" idx="2"/>
          </p:nvPr>
        </p:nvSpPr>
        <p:spPr/>
        <p:txBody>
          <a:bodyPr>
            <a:normAutofit/>
          </a:bodyPr>
          <a:lstStyle/>
          <a:p>
            <a:pPr marL="457200" indent="-457200">
              <a:buFont typeface="+mj-lt"/>
              <a:buAutoNum type="arabicPeriod" startAt="4"/>
            </a:pPr>
            <a:r>
              <a:rPr lang="en-IN" sz="2400" b="1" dirty="0"/>
              <a:t>Update Centroids</a:t>
            </a:r>
          </a:p>
        </p:txBody>
      </p:sp>
      <p:sp>
        <p:nvSpPr>
          <p:cNvPr id="7" name="TextBox 6">
            <a:extLst>
              <a:ext uri="{FF2B5EF4-FFF2-40B4-BE49-F238E27FC236}">
                <a16:creationId xmlns:a16="http://schemas.microsoft.com/office/drawing/2014/main" id="{7529FB12-CCF6-77E9-C170-398F5FCC2F49}"/>
              </a:ext>
            </a:extLst>
          </p:cNvPr>
          <p:cNvSpPr txBox="1"/>
          <p:nvPr/>
        </p:nvSpPr>
        <p:spPr>
          <a:xfrm>
            <a:off x="613741" y="1747929"/>
            <a:ext cx="5181600" cy="830997"/>
          </a:xfrm>
          <a:prstGeom prst="rect">
            <a:avLst/>
          </a:prstGeom>
          <a:noFill/>
        </p:spPr>
        <p:txBody>
          <a:bodyPr wrap="square">
            <a:spAutoFit/>
          </a:bodyPr>
          <a:lstStyle/>
          <a:p>
            <a:pPr marL="514350" indent="-514350">
              <a:buFont typeface="+mj-lt"/>
              <a:buAutoNum type="arabicPeriod" startAt="3"/>
            </a:pPr>
            <a:r>
              <a:rPr lang="en-US" sz="2400" b="1" dirty="0"/>
              <a:t>Assign Points to Nearest Centroid</a:t>
            </a:r>
          </a:p>
          <a:p>
            <a:pPr marL="914400" lvl="1" indent="-457200">
              <a:buFont typeface="Arial" panose="020B0604020202020204" pitchFamily="34" charset="0"/>
              <a:buChar char="•"/>
            </a:pPr>
            <a:r>
              <a:rPr lang="en-US" sz="2400" dirty="0"/>
              <a:t>Using Euclidean distance: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1734B5-88DE-306D-807D-EB0DF703E0DA}"/>
                  </a:ext>
                </a:extLst>
              </p:cNvPr>
              <p:cNvSpPr txBox="1"/>
              <p:nvPr/>
            </p:nvSpPr>
            <p:spPr>
              <a:xfrm>
                <a:off x="361950" y="2703881"/>
                <a:ext cx="2842591"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e>
                        <m:e>
                          <m:r>
                            <a:rPr lang="ar-AE" sz="2000">
                              <a:latin typeface="Cambria Math" panose="02040503050406030204" pitchFamily="18" charset="0"/>
                            </a:rPr>
                            <m:t>2</m:t>
                          </m:r>
                        </m:e>
                      </m:d>
                      <m:r>
                        <a:rPr lang="ar-AE"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5</m:t>
                          </m:r>
                        </m:e>
                        <m:e>
                          <m:r>
                            <a:rPr lang="ar-AE" sz="2000">
                              <a:latin typeface="Cambria Math" panose="02040503050406030204" pitchFamily="18" charset="0"/>
                            </a:rPr>
                            <m:t>4</m:t>
                          </m:r>
                        </m:e>
                      </m:d>
                    </m:oMath>
                  </m:oMathPara>
                </a14:m>
                <a:endParaRPr lang="en-IN" sz="2000" dirty="0"/>
              </a:p>
            </p:txBody>
          </p:sp>
        </mc:Choice>
        <mc:Fallback xmlns="">
          <p:sp>
            <p:nvSpPr>
              <p:cNvPr id="9" name="TextBox 8">
                <a:extLst>
                  <a:ext uri="{FF2B5EF4-FFF2-40B4-BE49-F238E27FC236}">
                    <a16:creationId xmlns:a16="http://schemas.microsoft.com/office/drawing/2014/main" id="{7C1734B5-88DE-306D-807D-EB0DF703E0DA}"/>
                  </a:ext>
                </a:extLst>
              </p:cNvPr>
              <p:cNvSpPr txBox="1">
                <a:spLocks noRot="1" noChangeAspect="1" noMove="1" noResize="1" noEditPoints="1" noAdjustHandles="1" noChangeArrowheads="1" noChangeShapeType="1" noTextEdit="1"/>
              </p:cNvSpPr>
              <p:nvPr/>
            </p:nvSpPr>
            <p:spPr>
              <a:xfrm>
                <a:off x="361950" y="2703881"/>
                <a:ext cx="2842591" cy="400110"/>
              </a:xfrm>
              <a:prstGeom prst="rect">
                <a:avLst/>
              </a:prstGeom>
              <a:blipFill>
                <a:blip r:embed="rId2"/>
                <a:stretch>
                  <a:fillRect b="-1538"/>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67CCE427-356B-50A6-E5FB-3DDE03A0090A}"/>
              </a:ext>
            </a:extLst>
          </p:cNvPr>
          <p:cNvSpPr txBox="1"/>
          <p:nvPr/>
        </p:nvSpPr>
        <p:spPr>
          <a:xfrm>
            <a:off x="613741" y="6353452"/>
            <a:ext cx="6107594" cy="400110"/>
          </a:xfrm>
          <a:prstGeom prst="rect">
            <a:avLst/>
          </a:prstGeom>
          <a:noFill/>
        </p:spPr>
        <p:txBody>
          <a:bodyPr wrap="square">
            <a:spAutoFit/>
          </a:bodyPr>
          <a:lstStyle/>
          <a:p>
            <a:r>
              <a:rPr lang="pt-BR" sz="2000" dirty="0"/>
              <a:t>Cluster 1 → A, B, Cluster 2 → C, D, E, F</a:t>
            </a:r>
            <a:endParaRPr lang="en-IN" sz="2000" dirty="0"/>
          </a:p>
        </p:txBody>
      </p:sp>
      <p:pic>
        <p:nvPicPr>
          <p:cNvPr id="13" name="Picture 12">
            <a:extLst>
              <a:ext uri="{FF2B5EF4-FFF2-40B4-BE49-F238E27FC236}">
                <a16:creationId xmlns:a16="http://schemas.microsoft.com/office/drawing/2014/main" id="{1430A632-0C1B-079B-A1E5-D03A66F73626}"/>
              </a:ext>
            </a:extLst>
          </p:cNvPr>
          <p:cNvPicPr>
            <a:picLocks noChangeAspect="1"/>
          </p:cNvPicPr>
          <p:nvPr/>
        </p:nvPicPr>
        <p:blipFill>
          <a:blip r:embed="rId3"/>
          <a:stretch>
            <a:fillRect/>
          </a:stretch>
        </p:blipFill>
        <p:spPr>
          <a:xfrm>
            <a:off x="3204541" y="2636166"/>
            <a:ext cx="2857899" cy="488582"/>
          </a:xfrm>
          <a:prstGeom prst="rect">
            <a:avLst/>
          </a:prstGeom>
        </p:spPr>
      </p:pic>
      <p:pic>
        <p:nvPicPr>
          <p:cNvPr id="15" name="Picture 14">
            <a:extLst>
              <a:ext uri="{FF2B5EF4-FFF2-40B4-BE49-F238E27FC236}">
                <a16:creationId xmlns:a16="http://schemas.microsoft.com/office/drawing/2014/main" id="{576D9BEA-00E6-DCD0-D13E-7A88E251C639}"/>
              </a:ext>
            </a:extLst>
          </p:cNvPr>
          <p:cNvPicPr>
            <a:picLocks noChangeAspect="1"/>
          </p:cNvPicPr>
          <p:nvPr/>
        </p:nvPicPr>
        <p:blipFill>
          <a:blip r:embed="rId4"/>
          <a:stretch>
            <a:fillRect/>
          </a:stretch>
        </p:blipFill>
        <p:spPr>
          <a:xfrm>
            <a:off x="6360630" y="2281077"/>
            <a:ext cx="5217629" cy="3155627"/>
          </a:xfrm>
          <a:prstGeom prst="rect">
            <a:avLst/>
          </a:prstGeom>
        </p:spPr>
      </p:pic>
    </p:spTree>
    <p:extLst>
      <p:ext uri="{BB962C8B-B14F-4D97-AF65-F5344CB8AC3E}">
        <p14:creationId xmlns:p14="http://schemas.microsoft.com/office/powerpoint/2010/main" val="10048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A5B-9D5D-1642-A71B-902022B56445}"/>
              </a:ext>
            </a:extLst>
          </p:cNvPr>
          <p:cNvSpPr>
            <a:spLocks noGrp="1"/>
          </p:cNvSpPr>
          <p:nvPr>
            <p:ph type="title"/>
          </p:nvPr>
        </p:nvSpPr>
        <p:spPr/>
        <p:txBody>
          <a:bodyPr/>
          <a:lstStyle/>
          <a:p>
            <a:r>
              <a:rPr lang="en-US" dirty="0"/>
              <a:t>Simple Example of K-Means Clustering</a:t>
            </a:r>
            <a:endParaRPr lang="en-IN" dirty="0"/>
          </a:p>
        </p:txBody>
      </p:sp>
      <p:pic>
        <p:nvPicPr>
          <p:cNvPr id="1026" name="Picture 2">
            <a:extLst>
              <a:ext uri="{FF2B5EF4-FFF2-40B4-BE49-F238E27FC236}">
                <a16:creationId xmlns:a16="http://schemas.microsoft.com/office/drawing/2014/main" id="{C35BF7E7-56E3-16D2-0CA3-92C26D541C5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1911076"/>
            <a:ext cx="5181600" cy="41804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3257B5C-ADE0-C56B-347E-732FDD95D2E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72200" y="1911076"/>
            <a:ext cx="5181600" cy="4180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324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CFE37-03A4-D78D-3FCB-AE735B225167}"/>
              </a:ext>
            </a:extLst>
          </p:cNvPr>
          <p:cNvSpPr>
            <a:spLocks noGrp="1"/>
          </p:cNvSpPr>
          <p:nvPr>
            <p:ph type="title"/>
          </p:nvPr>
        </p:nvSpPr>
        <p:spPr/>
        <p:txBody>
          <a:bodyPr/>
          <a:lstStyle/>
          <a:p>
            <a:r>
              <a:rPr lang="en-US" dirty="0"/>
              <a:t>Simple Example of K-Means Clustering</a:t>
            </a:r>
            <a:endParaRPr lang="en-IN" dirty="0"/>
          </a:p>
        </p:txBody>
      </p:sp>
      <p:graphicFrame>
        <p:nvGraphicFramePr>
          <p:cNvPr id="5" name="Content Placeholder 4">
            <a:extLst>
              <a:ext uri="{FF2B5EF4-FFF2-40B4-BE49-F238E27FC236}">
                <a16:creationId xmlns:a16="http://schemas.microsoft.com/office/drawing/2014/main" id="{6F81B0E3-B52F-2B9C-6E47-3BF68F63C598}"/>
              </a:ext>
            </a:extLst>
          </p:cNvPr>
          <p:cNvGraphicFramePr>
            <a:graphicFrameLocks noGrp="1"/>
          </p:cNvGraphicFramePr>
          <p:nvPr>
            <p:ph sz="half" idx="1"/>
          </p:nvPr>
        </p:nvGraphicFramePr>
        <p:xfrm>
          <a:off x="796787" y="3353236"/>
          <a:ext cx="5181600" cy="2753806"/>
        </p:xfrm>
        <a:graphic>
          <a:graphicData uri="http://schemas.openxmlformats.org/drawingml/2006/table">
            <a:tbl>
              <a:tblPr/>
              <a:tblGrid>
                <a:gridCol w="1295400">
                  <a:extLst>
                    <a:ext uri="{9D8B030D-6E8A-4147-A177-3AD203B41FA5}">
                      <a16:colId xmlns:a16="http://schemas.microsoft.com/office/drawing/2014/main" val="879158091"/>
                    </a:ext>
                  </a:extLst>
                </a:gridCol>
                <a:gridCol w="1295400">
                  <a:extLst>
                    <a:ext uri="{9D8B030D-6E8A-4147-A177-3AD203B41FA5}">
                      <a16:colId xmlns:a16="http://schemas.microsoft.com/office/drawing/2014/main" val="2465564020"/>
                    </a:ext>
                  </a:extLst>
                </a:gridCol>
                <a:gridCol w="1295400">
                  <a:extLst>
                    <a:ext uri="{9D8B030D-6E8A-4147-A177-3AD203B41FA5}">
                      <a16:colId xmlns:a16="http://schemas.microsoft.com/office/drawing/2014/main" val="3255851435"/>
                    </a:ext>
                  </a:extLst>
                </a:gridCol>
                <a:gridCol w="1295400">
                  <a:extLst>
                    <a:ext uri="{9D8B030D-6E8A-4147-A177-3AD203B41FA5}">
                      <a16:colId xmlns:a16="http://schemas.microsoft.com/office/drawing/2014/main" val="262458252"/>
                    </a:ext>
                  </a:extLst>
                </a:gridCol>
              </a:tblGrid>
              <a:tr h="180230">
                <a:tc>
                  <a:txBody>
                    <a:bodyPr/>
                    <a:lstStyle/>
                    <a:p>
                      <a:pPr>
                        <a:buNone/>
                      </a:pPr>
                      <a:r>
                        <a:rPr lang="en-IN" sz="2000"/>
                        <a:t>Point</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d to 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Assigned Cluster</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3306384"/>
                  </a:ext>
                </a:extLst>
              </a:tr>
              <a:tr h="180230">
                <a:tc>
                  <a:txBody>
                    <a:bodyPr/>
                    <a:lstStyle/>
                    <a:p>
                      <a:pPr>
                        <a:buNone/>
                      </a:pPr>
                      <a:r>
                        <a:rPr lang="en-IN" sz="2000" dirty="0"/>
                        <a:t>A</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5.41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279711"/>
                  </a:ext>
                </a:extLst>
              </a:tr>
              <a:tr h="180230">
                <a:tc>
                  <a:txBody>
                    <a:bodyPr/>
                    <a:lstStyle/>
                    <a:p>
                      <a:pPr>
                        <a:buNone/>
                      </a:pPr>
                      <a:r>
                        <a:rPr lang="en-IN" sz="2000"/>
                        <a:t>B</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0.71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5.32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C₁</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3248567"/>
                  </a:ext>
                </a:extLst>
              </a:tr>
              <a:tr h="180230">
                <a:tc>
                  <a:txBody>
                    <a:bodyPr/>
                    <a:lstStyle/>
                    <a:p>
                      <a:pPr>
                        <a:buNone/>
                      </a:pPr>
                      <a:r>
                        <a:rPr lang="en-IN" sz="2000"/>
                        <a:t>C</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4.30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1.50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5899279"/>
                  </a:ext>
                </a:extLst>
              </a:tr>
              <a:tr h="180230">
                <a:tc>
                  <a:txBody>
                    <a:bodyPr/>
                    <a:lstStyle/>
                    <a:p>
                      <a:pPr>
                        <a:buNone/>
                      </a:pPr>
                      <a:r>
                        <a:rPr lang="en-IN" sz="2000"/>
                        <a:t>D</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4.30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1.12</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0845780"/>
                  </a:ext>
                </a:extLst>
              </a:tr>
              <a:tr h="180230">
                <a:tc>
                  <a:txBody>
                    <a:bodyPr/>
                    <a:lstStyle/>
                    <a:p>
                      <a:pPr>
                        <a:buNone/>
                      </a:pPr>
                      <a:r>
                        <a:rPr lang="en-IN" sz="2000"/>
                        <a:t>E</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5.70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0.50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1648211"/>
                  </a:ext>
                </a:extLst>
              </a:tr>
              <a:tr h="180230">
                <a:tc>
                  <a:txBody>
                    <a:bodyPr/>
                    <a:lstStyle/>
                    <a:p>
                      <a:pPr>
                        <a:buNone/>
                      </a:pPr>
                      <a:r>
                        <a:rPr lang="en-IN" sz="2000"/>
                        <a:t>F</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7.11</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1.80</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C₂</a:t>
                      </a:r>
                    </a:p>
                  </a:txBody>
                  <a:tcPr marL="45057" marR="45057" marT="22529" marB="225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5112493"/>
                  </a:ext>
                </a:extLst>
              </a:tr>
            </a:tbl>
          </a:graphicData>
        </a:graphic>
      </p:graphicFrame>
      <p:sp>
        <p:nvSpPr>
          <p:cNvPr id="7" name="TextBox 6">
            <a:extLst>
              <a:ext uri="{FF2B5EF4-FFF2-40B4-BE49-F238E27FC236}">
                <a16:creationId xmlns:a16="http://schemas.microsoft.com/office/drawing/2014/main" id="{B5382443-DB80-7DB2-B84B-E44D4BE4D01D}"/>
              </a:ext>
            </a:extLst>
          </p:cNvPr>
          <p:cNvSpPr txBox="1"/>
          <p:nvPr/>
        </p:nvSpPr>
        <p:spPr>
          <a:xfrm>
            <a:off x="838200" y="1825625"/>
            <a:ext cx="4946374" cy="830997"/>
          </a:xfrm>
          <a:prstGeom prst="rect">
            <a:avLst/>
          </a:prstGeom>
          <a:noFill/>
        </p:spPr>
        <p:txBody>
          <a:bodyPr wrap="square">
            <a:spAutoFit/>
          </a:bodyPr>
          <a:lstStyle/>
          <a:p>
            <a:pPr marL="514350" indent="-514350">
              <a:buFont typeface="+mj-lt"/>
              <a:buAutoNum type="arabicPeriod" startAt="3"/>
            </a:pPr>
            <a:r>
              <a:rPr lang="en-US" sz="2400" b="1" dirty="0"/>
              <a:t>Assign Points to Nearest Centroid</a:t>
            </a:r>
          </a:p>
          <a:p>
            <a:pPr marL="914400" lvl="1" indent="-457200">
              <a:buFont typeface="Arial" panose="020B0604020202020204" pitchFamily="34" charset="0"/>
              <a:buChar char="•"/>
            </a:pPr>
            <a:r>
              <a:rPr lang="en-US" sz="2400" dirty="0"/>
              <a:t>Using Euclidean distance:</a:t>
            </a:r>
          </a:p>
        </p:txBody>
      </p:sp>
      <p:sp>
        <p:nvSpPr>
          <p:cNvPr id="8" name="TextBox 7">
            <a:extLst>
              <a:ext uri="{FF2B5EF4-FFF2-40B4-BE49-F238E27FC236}">
                <a16:creationId xmlns:a16="http://schemas.microsoft.com/office/drawing/2014/main" id="{E411F9E9-3B09-C5CA-18FD-2591B173B0DD}"/>
              </a:ext>
            </a:extLst>
          </p:cNvPr>
          <p:cNvSpPr txBox="1"/>
          <p:nvPr/>
        </p:nvSpPr>
        <p:spPr>
          <a:xfrm>
            <a:off x="613741" y="6353452"/>
            <a:ext cx="6107594" cy="400110"/>
          </a:xfrm>
          <a:prstGeom prst="rect">
            <a:avLst/>
          </a:prstGeom>
          <a:noFill/>
        </p:spPr>
        <p:txBody>
          <a:bodyPr wrap="square">
            <a:spAutoFit/>
          </a:bodyPr>
          <a:lstStyle/>
          <a:p>
            <a:r>
              <a:rPr lang="pt-BR" sz="2000" dirty="0"/>
              <a:t>Cluster 1 → A, B, Cluster 2 → C, D, E, F</a:t>
            </a:r>
            <a:endParaRPr lang="en-IN" sz="20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AD75A3-9212-FAFA-2BE3-6D90402D411F}"/>
                  </a:ext>
                </a:extLst>
              </p:cNvPr>
              <p:cNvSpPr txBox="1"/>
              <p:nvPr/>
            </p:nvSpPr>
            <p:spPr>
              <a:xfrm>
                <a:off x="934278" y="2737494"/>
                <a:ext cx="485029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ar-AE" sz="2000" i="1" smtClean="0">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1</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1</m:t>
                          </m:r>
                          <m:r>
                            <a:rPr lang="en-IN" sz="2000" b="0" i="0" smtClean="0">
                              <a:latin typeface="Cambria Math" panose="02040503050406030204" pitchFamily="18" charset="0"/>
                            </a:rPr>
                            <m:t>.</m:t>
                          </m:r>
                          <m:r>
                            <a:rPr lang="en-IN" sz="2000" b="0" i="0" smtClean="0">
                              <a:latin typeface="Cambria Math" panose="02040503050406030204" pitchFamily="18" charset="0"/>
                            </a:rPr>
                            <m:t>5</m:t>
                          </m:r>
                        </m:e>
                        <m:e>
                          <m:r>
                            <a:rPr lang="en-IN" sz="2000" b="0" i="1" smtClean="0">
                              <a:latin typeface="Cambria Math" panose="02040503050406030204" pitchFamily="18" charset="0"/>
                            </a:rPr>
                            <m:t>1</m:t>
                          </m:r>
                          <m:r>
                            <a:rPr lang="en-IN" sz="2000" b="0" i="1" smtClean="0">
                              <a:latin typeface="Cambria Math" panose="02040503050406030204" pitchFamily="18" charset="0"/>
                            </a:rPr>
                            <m:t>.</m:t>
                          </m:r>
                          <m:r>
                            <a:rPr lang="en-IN" sz="2000" b="0" i="1" smtClean="0">
                              <a:latin typeface="Cambria Math" panose="02040503050406030204" pitchFamily="18" charset="0"/>
                            </a:rPr>
                            <m:t>5</m:t>
                          </m:r>
                        </m:e>
                      </m:d>
                      <m:r>
                        <a:rPr lang="ar-AE" sz="2000">
                          <a:latin typeface="Cambria Math" panose="02040503050406030204" pitchFamily="18" charset="0"/>
                        </a:rPr>
                        <m:t>, </m:t>
                      </m:r>
                      <m:sSub>
                        <m:sSubPr>
                          <m:ctrlPr>
                            <a:rPr lang="ar-AE" sz="2000" i="1">
                              <a:latin typeface="Cambria Math" panose="02040503050406030204" pitchFamily="18" charset="0"/>
                            </a:rPr>
                          </m:ctrlPr>
                        </m:sSubPr>
                        <m:e>
                          <m:r>
                            <a:rPr lang="ar-AE" sz="2000" i="1">
                              <a:latin typeface="Cambria Math" panose="02040503050406030204" pitchFamily="18" charset="0"/>
                            </a:rPr>
                            <m:t>𝐶</m:t>
                          </m:r>
                        </m:e>
                        <m:sub>
                          <m:r>
                            <a:rPr lang="ar-AE" sz="2000">
                              <a:latin typeface="Cambria Math" panose="02040503050406030204" pitchFamily="18" charset="0"/>
                            </a:rPr>
                            <m:t>2</m:t>
                          </m:r>
                        </m:sub>
                      </m:sSub>
                      <m:r>
                        <a:rPr lang="ar-AE" sz="2000">
                          <a:latin typeface="Cambria Math" panose="02040503050406030204" pitchFamily="18" charset="0"/>
                        </a:rPr>
                        <m:t>=</m:t>
                      </m:r>
                      <m:d>
                        <m:dPr>
                          <m:sepChr m:val=","/>
                          <m:ctrlPr>
                            <a:rPr lang="ar-AE" sz="2000" i="1">
                              <a:latin typeface="Cambria Math" panose="02040503050406030204" pitchFamily="18" charset="0"/>
                            </a:rPr>
                          </m:ctrlPr>
                        </m:dPr>
                        <m:e>
                          <m:r>
                            <a:rPr lang="ar-AE" sz="2000">
                              <a:latin typeface="Cambria Math" panose="02040503050406030204" pitchFamily="18" charset="0"/>
                            </a:rPr>
                            <m:t>5</m:t>
                          </m:r>
                          <m:r>
                            <a:rPr lang="en-IN" sz="2000" b="0" i="1" smtClean="0">
                              <a:latin typeface="Cambria Math" panose="02040503050406030204" pitchFamily="18" charset="0"/>
                            </a:rPr>
                            <m:t>.</m:t>
                          </m:r>
                          <m:r>
                            <a:rPr lang="en-IN" sz="2000" b="0" i="1" smtClean="0">
                              <a:latin typeface="Cambria Math" panose="02040503050406030204" pitchFamily="18" charset="0"/>
                            </a:rPr>
                            <m:t>5</m:t>
                          </m:r>
                        </m:e>
                        <m:e>
                          <m:r>
                            <a:rPr lang="en-IN" sz="2000" b="0" i="1" smtClean="0">
                              <a:latin typeface="Cambria Math" panose="02040503050406030204" pitchFamily="18" charset="0"/>
                            </a:rPr>
                            <m:t>5</m:t>
                          </m:r>
                        </m:e>
                      </m:d>
                    </m:oMath>
                  </m:oMathPara>
                </a14:m>
                <a:endParaRPr lang="en-IN" sz="2000" dirty="0"/>
              </a:p>
            </p:txBody>
          </p:sp>
        </mc:Choice>
        <mc:Fallback xmlns="">
          <p:sp>
            <p:nvSpPr>
              <p:cNvPr id="10" name="TextBox 9">
                <a:extLst>
                  <a:ext uri="{FF2B5EF4-FFF2-40B4-BE49-F238E27FC236}">
                    <a16:creationId xmlns:a16="http://schemas.microsoft.com/office/drawing/2014/main" id="{5AAD75A3-9212-FAFA-2BE3-6D90402D411F}"/>
                  </a:ext>
                </a:extLst>
              </p:cNvPr>
              <p:cNvSpPr txBox="1">
                <a:spLocks noRot="1" noChangeAspect="1" noMove="1" noResize="1" noEditPoints="1" noAdjustHandles="1" noChangeArrowheads="1" noChangeShapeType="1" noTextEdit="1"/>
              </p:cNvSpPr>
              <p:nvPr/>
            </p:nvSpPr>
            <p:spPr>
              <a:xfrm>
                <a:off x="934278" y="2737494"/>
                <a:ext cx="4850296" cy="400110"/>
              </a:xfrm>
              <a:prstGeom prst="rect">
                <a:avLst/>
              </a:prstGeom>
              <a:blipFill>
                <a:blip r:embed="rId2"/>
                <a:stretch>
                  <a:fillRect/>
                </a:stretch>
              </a:blipFill>
            </p:spPr>
            <p:txBody>
              <a:bodyPr/>
              <a:lstStyle/>
              <a:p>
                <a:r>
                  <a:rPr lang="en-IN">
                    <a:noFill/>
                  </a:rPr>
                  <a:t> </a:t>
                </a:r>
              </a:p>
            </p:txBody>
          </p:sp>
        </mc:Fallback>
      </mc:AlternateContent>
      <p:pic>
        <p:nvPicPr>
          <p:cNvPr id="11" name="Content Placeholder 10">
            <a:extLst>
              <a:ext uri="{FF2B5EF4-FFF2-40B4-BE49-F238E27FC236}">
                <a16:creationId xmlns:a16="http://schemas.microsoft.com/office/drawing/2014/main" id="{6B72C889-E226-59DB-E636-BE105F172CEB}"/>
              </a:ext>
            </a:extLst>
          </p:cNvPr>
          <p:cNvPicPr>
            <a:picLocks noGrp="1" noChangeAspect="1"/>
          </p:cNvPicPr>
          <p:nvPr>
            <p:ph sz="half" idx="2"/>
          </p:nvPr>
        </p:nvPicPr>
        <p:blipFill>
          <a:blip r:embed="rId3"/>
          <a:stretch>
            <a:fillRect/>
          </a:stretch>
        </p:blipFill>
        <p:spPr>
          <a:xfrm>
            <a:off x="6172200" y="3055260"/>
            <a:ext cx="5181600" cy="1892068"/>
          </a:xfrm>
          <a:prstGeom prst="rect">
            <a:avLst/>
          </a:prstGeom>
        </p:spPr>
      </p:pic>
      <p:sp>
        <p:nvSpPr>
          <p:cNvPr id="13" name="TextBox 12">
            <a:extLst>
              <a:ext uri="{FF2B5EF4-FFF2-40B4-BE49-F238E27FC236}">
                <a16:creationId xmlns:a16="http://schemas.microsoft.com/office/drawing/2014/main" id="{1CBBB201-992A-0DF5-D4A4-08D980BB8FBE}"/>
              </a:ext>
            </a:extLst>
          </p:cNvPr>
          <p:cNvSpPr txBox="1"/>
          <p:nvPr/>
        </p:nvSpPr>
        <p:spPr>
          <a:xfrm>
            <a:off x="7317683" y="1921797"/>
            <a:ext cx="3943352" cy="400110"/>
          </a:xfrm>
          <a:prstGeom prst="rect">
            <a:avLst/>
          </a:prstGeom>
          <a:noFill/>
        </p:spPr>
        <p:txBody>
          <a:bodyPr wrap="square">
            <a:spAutoFit/>
          </a:bodyPr>
          <a:lstStyle/>
          <a:p>
            <a:pPr marL="457200" indent="-457200">
              <a:buFont typeface="+mj-lt"/>
              <a:buAutoNum type="arabicPeriod" startAt="4"/>
            </a:pPr>
            <a:r>
              <a:rPr lang="en-IN" sz="2000" b="1" dirty="0"/>
              <a:t>Update Centroids</a:t>
            </a:r>
          </a:p>
        </p:txBody>
      </p:sp>
      <p:sp>
        <p:nvSpPr>
          <p:cNvPr id="14" name="TextBox 13">
            <a:extLst>
              <a:ext uri="{FF2B5EF4-FFF2-40B4-BE49-F238E27FC236}">
                <a16:creationId xmlns:a16="http://schemas.microsoft.com/office/drawing/2014/main" id="{8C8C685B-6506-6BB2-383F-2EC2C2DB51F8}"/>
              </a:ext>
            </a:extLst>
          </p:cNvPr>
          <p:cNvSpPr txBox="1"/>
          <p:nvPr/>
        </p:nvSpPr>
        <p:spPr>
          <a:xfrm>
            <a:off x="3756991" y="1371450"/>
            <a:ext cx="7178535" cy="461665"/>
          </a:xfrm>
          <a:prstGeom prst="rect">
            <a:avLst/>
          </a:prstGeom>
          <a:noFill/>
        </p:spPr>
        <p:txBody>
          <a:bodyPr wrap="square" rtlCol="0">
            <a:spAutoFit/>
          </a:bodyPr>
          <a:lstStyle/>
          <a:p>
            <a:r>
              <a:rPr lang="en-IN" sz="2400" b="1" dirty="0"/>
              <a:t>Repeat Step 3, 4</a:t>
            </a:r>
          </a:p>
        </p:txBody>
      </p:sp>
    </p:spTree>
    <p:extLst>
      <p:ext uri="{BB962C8B-B14F-4D97-AF65-F5344CB8AC3E}">
        <p14:creationId xmlns:p14="http://schemas.microsoft.com/office/powerpoint/2010/main" val="2832980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473272D-B404-26DC-40A5-E21C4CBE94B0}"/>
              </a:ext>
            </a:extLst>
          </p:cNvPr>
          <p:cNvSpPr>
            <a:spLocks noGrp="1"/>
          </p:cNvSpPr>
          <p:nvPr>
            <p:ph type="title"/>
          </p:nvPr>
        </p:nvSpPr>
        <p:spPr/>
        <p:txBody>
          <a:bodyPr/>
          <a:lstStyle/>
          <a:p>
            <a:r>
              <a:rPr lang="en-IN" dirty="0"/>
              <a:t>Limitations of k means clustering</a:t>
            </a:r>
          </a:p>
        </p:txBody>
      </p:sp>
      <p:sp>
        <p:nvSpPr>
          <p:cNvPr id="6" name="Content Placeholder 5">
            <a:extLst>
              <a:ext uri="{FF2B5EF4-FFF2-40B4-BE49-F238E27FC236}">
                <a16:creationId xmlns:a16="http://schemas.microsoft.com/office/drawing/2014/main" id="{4EE02956-DBDB-B9D8-3B6A-7383F4AEAD12}"/>
              </a:ext>
            </a:extLst>
          </p:cNvPr>
          <p:cNvSpPr>
            <a:spLocks noGrp="1"/>
          </p:cNvSpPr>
          <p:nvPr>
            <p:ph idx="1"/>
          </p:nvPr>
        </p:nvSpPr>
        <p:spPr/>
        <p:txBody>
          <a:bodyPr/>
          <a:lstStyle/>
          <a:p>
            <a:r>
              <a:rPr lang="en-US" dirty="0"/>
              <a:t>K-means clustering needs the number of clusters to be specified. </a:t>
            </a:r>
          </a:p>
          <a:p>
            <a:r>
              <a:rPr lang="en-US" dirty="0"/>
              <a:t>K-means has problems when clusters are of differing sized, densities, and nonglobular shapes. </a:t>
            </a:r>
          </a:p>
          <a:p>
            <a:r>
              <a:rPr lang="en-US" dirty="0"/>
              <a:t>Presence of outlier can skew the results.</a:t>
            </a:r>
            <a:endParaRPr lang="en-IN" dirty="0"/>
          </a:p>
        </p:txBody>
      </p:sp>
    </p:spTree>
    <p:extLst>
      <p:ext uri="{BB962C8B-B14F-4D97-AF65-F5344CB8AC3E}">
        <p14:creationId xmlns:p14="http://schemas.microsoft.com/office/powerpoint/2010/main" val="3220925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71FC6-0984-833A-2F00-8682DA494D31}"/>
              </a:ext>
            </a:extLst>
          </p:cNvPr>
          <p:cNvSpPr>
            <a:spLocks noGrp="1"/>
          </p:cNvSpPr>
          <p:nvPr>
            <p:ph type="title"/>
          </p:nvPr>
        </p:nvSpPr>
        <p:spPr/>
        <p:txBody>
          <a:bodyPr/>
          <a:lstStyle/>
          <a:p>
            <a:r>
              <a:rPr lang="en-IN" dirty="0"/>
              <a:t>Failure cases of k-means</a:t>
            </a:r>
          </a:p>
        </p:txBody>
      </p:sp>
      <p:pic>
        <p:nvPicPr>
          <p:cNvPr id="5" name="Content Placeholder 4">
            <a:extLst>
              <a:ext uri="{FF2B5EF4-FFF2-40B4-BE49-F238E27FC236}">
                <a16:creationId xmlns:a16="http://schemas.microsoft.com/office/drawing/2014/main" id="{42DC6BF9-CE4A-8929-AA30-935482CB0892}"/>
              </a:ext>
            </a:extLst>
          </p:cNvPr>
          <p:cNvPicPr>
            <a:picLocks noGrp="1" noChangeAspect="1"/>
          </p:cNvPicPr>
          <p:nvPr>
            <p:ph idx="1"/>
          </p:nvPr>
        </p:nvPicPr>
        <p:blipFill>
          <a:blip r:embed="rId2"/>
          <a:stretch>
            <a:fillRect/>
          </a:stretch>
        </p:blipFill>
        <p:spPr>
          <a:xfrm>
            <a:off x="212880" y="1437998"/>
            <a:ext cx="5333156" cy="3695375"/>
          </a:xfrm>
          <a:prstGeom prst="rect">
            <a:avLst/>
          </a:prstGeom>
        </p:spPr>
      </p:pic>
      <p:sp>
        <p:nvSpPr>
          <p:cNvPr id="7" name="TextBox 6">
            <a:extLst>
              <a:ext uri="{FF2B5EF4-FFF2-40B4-BE49-F238E27FC236}">
                <a16:creationId xmlns:a16="http://schemas.microsoft.com/office/drawing/2014/main" id="{61F5424A-62B0-265C-1355-DA2A6270D14D}"/>
              </a:ext>
            </a:extLst>
          </p:cNvPr>
          <p:cNvSpPr txBox="1"/>
          <p:nvPr/>
        </p:nvSpPr>
        <p:spPr>
          <a:xfrm>
            <a:off x="536713" y="5133373"/>
            <a:ext cx="5009323" cy="400110"/>
          </a:xfrm>
          <a:prstGeom prst="rect">
            <a:avLst/>
          </a:prstGeom>
          <a:noFill/>
        </p:spPr>
        <p:txBody>
          <a:bodyPr wrap="square">
            <a:spAutoFit/>
          </a:bodyPr>
          <a:lstStyle/>
          <a:p>
            <a:r>
              <a:rPr lang="en-US" sz="2000" b="1" u="none" strike="noStrike" baseline="0" dirty="0"/>
              <a:t>k-means fails to identify nonspherical clusters</a:t>
            </a:r>
            <a:endParaRPr lang="en-IN" sz="2000" b="1" dirty="0"/>
          </a:p>
        </p:txBody>
      </p:sp>
      <p:pic>
        <p:nvPicPr>
          <p:cNvPr id="9" name="Picture 8">
            <a:extLst>
              <a:ext uri="{FF2B5EF4-FFF2-40B4-BE49-F238E27FC236}">
                <a16:creationId xmlns:a16="http://schemas.microsoft.com/office/drawing/2014/main" id="{D28E6E12-0A88-60D5-449C-63054148E683}"/>
              </a:ext>
            </a:extLst>
          </p:cNvPr>
          <p:cNvPicPr>
            <a:picLocks noChangeAspect="1"/>
          </p:cNvPicPr>
          <p:nvPr/>
        </p:nvPicPr>
        <p:blipFill>
          <a:blip r:embed="rId3"/>
          <a:stretch>
            <a:fillRect/>
          </a:stretch>
        </p:blipFill>
        <p:spPr>
          <a:xfrm>
            <a:off x="6171356" y="1294351"/>
            <a:ext cx="5688732" cy="3839022"/>
          </a:xfrm>
          <a:prstGeom prst="rect">
            <a:avLst/>
          </a:prstGeom>
        </p:spPr>
      </p:pic>
      <p:sp>
        <p:nvSpPr>
          <p:cNvPr id="11" name="TextBox 10">
            <a:extLst>
              <a:ext uri="{FF2B5EF4-FFF2-40B4-BE49-F238E27FC236}">
                <a16:creationId xmlns:a16="http://schemas.microsoft.com/office/drawing/2014/main" id="{30A51620-AF00-2E81-AEAC-9ABEAA0782A3}"/>
              </a:ext>
            </a:extLst>
          </p:cNvPr>
          <p:cNvSpPr txBox="1"/>
          <p:nvPr/>
        </p:nvSpPr>
        <p:spPr>
          <a:xfrm>
            <a:off x="6096000" y="5163539"/>
            <a:ext cx="5923722" cy="400110"/>
          </a:xfrm>
          <a:prstGeom prst="rect">
            <a:avLst/>
          </a:prstGeom>
          <a:noFill/>
        </p:spPr>
        <p:txBody>
          <a:bodyPr wrap="square">
            <a:spAutoFit/>
          </a:bodyPr>
          <a:lstStyle/>
          <a:p>
            <a:r>
              <a:rPr lang="en-US" sz="2000" b="1" u="none" strike="noStrike" baseline="0" dirty="0"/>
              <a:t>k-means fails to identify clusters with complex shapes</a:t>
            </a:r>
            <a:endParaRPr lang="en-IN" sz="2000" b="1" dirty="0"/>
          </a:p>
        </p:txBody>
      </p:sp>
    </p:spTree>
    <p:extLst>
      <p:ext uri="{BB962C8B-B14F-4D97-AF65-F5344CB8AC3E}">
        <p14:creationId xmlns:p14="http://schemas.microsoft.com/office/powerpoint/2010/main" val="3832428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86F3-A3E0-FCD4-1028-D7612AF4B806}"/>
              </a:ext>
            </a:extLst>
          </p:cNvPr>
          <p:cNvSpPr>
            <a:spLocks noGrp="1"/>
          </p:cNvSpPr>
          <p:nvPr>
            <p:ph type="title"/>
          </p:nvPr>
        </p:nvSpPr>
        <p:spPr/>
        <p:txBody>
          <a:bodyPr/>
          <a:lstStyle/>
          <a:p>
            <a:r>
              <a:rPr lang="en-IN"/>
              <a:t>Use cases</a:t>
            </a:r>
          </a:p>
        </p:txBody>
      </p:sp>
      <p:sp>
        <p:nvSpPr>
          <p:cNvPr id="3" name="Content Placeholder 2">
            <a:extLst>
              <a:ext uri="{FF2B5EF4-FFF2-40B4-BE49-F238E27FC236}">
                <a16:creationId xmlns:a16="http://schemas.microsoft.com/office/drawing/2014/main" id="{F7ADEE58-48A9-0A48-D3E7-EAD5E45513D1}"/>
              </a:ext>
            </a:extLst>
          </p:cNvPr>
          <p:cNvSpPr>
            <a:spLocks noGrp="1"/>
          </p:cNvSpPr>
          <p:nvPr>
            <p:ph idx="1"/>
          </p:nvPr>
        </p:nvSpPr>
        <p:spPr/>
        <p:txBody>
          <a:bodyPr/>
          <a:lstStyle/>
          <a:p>
            <a:r>
              <a:rPr lang="en-US" dirty="0"/>
              <a:t>K-Means is widely used for many applications. </a:t>
            </a:r>
          </a:p>
          <a:p>
            <a:pPr lvl="1"/>
            <a:r>
              <a:rPr lang="en-US" dirty="0"/>
              <a:t>Image Segmentation </a:t>
            </a:r>
          </a:p>
          <a:p>
            <a:pPr lvl="1"/>
            <a:r>
              <a:rPr lang="en-US" dirty="0"/>
              <a:t>Clustering Gene Segmentation Data </a:t>
            </a:r>
          </a:p>
          <a:p>
            <a:pPr lvl="1"/>
            <a:r>
              <a:rPr lang="en-US" dirty="0"/>
              <a:t>News Article Clustering </a:t>
            </a:r>
          </a:p>
          <a:p>
            <a:pPr lvl="1"/>
            <a:r>
              <a:rPr lang="en-US" dirty="0"/>
              <a:t>Clustering Languages </a:t>
            </a:r>
          </a:p>
          <a:p>
            <a:pPr lvl="1"/>
            <a:r>
              <a:rPr lang="en-US" dirty="0"/>
              <a:t>Species Clustering</a:t>
            </a:r>
          </a:p>
          <a:p>
            <a:pPr lvl="1"/>
            <a:r>
              <a:rPr lang="en-US" dirty="0"/>
              <a:t>Anomaly Detection</a:t>
            </a:r>
            <a:endParaRPr lang="en-IN" dirty="0"/>
          </a:p>
        </p:txBody>
      </p:sp>
    </p:spTree>
    <p:extLst>
      <p:ext uri="{BB962C8B-B14F-4D97-AF65-F5344CB8AC3E}">
        <p14:creationId xmlns:p14="http://schemas.microsoft.com/office/powerpoint/2010/main" val="139859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6E7EA-7E4E-DD7B-B1DA-8B8453FC1A2C}"/>
              </a:ext>
            </a:extLst>
          </p:cNvPr>
          <p:cNvSpPr>
            <a:spLocks noGrp="1"/>
          </p:cNvSpPr>
          <p:nvPr>
            <p:ph type="title"/>
          </p:nvPr>
        </p:nvSpPr>
        <p:spPr/>
        <p:txBody>
          <a:bodyPr/>
          <a:lstStyle/>
          <a:p>
            <a:r>
              <a:rPr lang="en-US" dirty="0"/>
              <a:t>Elbow Method</a:t>
            </a:r>
            <a:endParaRPr lang="en-IN" dirty="0"/>
          </a:p>
        </p:txBody>
      </p:sp>
      <p:sp>
        <p:nvSpPr>
          <p:cNvPr id="3" name="Content Placeholder 2">
            <a:extLst>
              <a:ext uri="{FF2B5EF4-FFF2-40B4-BE49-F238E27FC236}">
                <a16:creationId xmlns:a16="http://schemas.microsoft.com/office/drawing/2014/main" id="{97FF5BE6-0921-AAD0-FDA6-09428E139878}"/>
              </a:ext>
            </a:extLst>
          </p:cNvPr>
          <p:cNvSpPr>
            <a:spLocks noGrp="1"/>
          </p:cNvSpPr>
          <p:nvPr>
            <p:ph idx="1"/>
          </p:nvPr>
        </p:nvSpPr>
        <p:spPr/>
        <p:txBody>
          <a:bodyPr>
            <a:normAutofit/>
          </a:bodyPr>
          <a:lstStyle/>
          <a:p>
            <a:pPr marL="457200" indent="-457200">
              <a:buFont typeface="+mj-lt"/>
              <a:buAutoNum type="arabicPeriod"/>
            </a:pPr>
            <a:r>
              <a:rPr lang="en-US" sz="2400" dirty="0"/>
              <a:t>First of all, compute the sum of squared error (SSE) for some values of k. The SSE is defined as the sum of the squared distance between each member of the cluster and its centroid. Mathematically: </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r>
              <a:rPr lang="en-US" sz="2400" dirty="0"/>
              <a:t>If you plot k against the SSE, you will see that the error decreases as k gets larger; this is because when the number of clusters increases, they should be smaller, so distortion is also smaller. The idea of the elbow method is to choose the k at which the SSE decreases abruptly. This produces an "elbow effect" in the graph</a:t>
            </a:r>
            <a:endParaRPr lang="en-IN" sz="2400" dirty="0"/>
          </a:p>
        </p:txBody>
      </p:sp>
      <p:pic>
        <p:nvPicPr>
          <p:cNvPr id="5" name="Picture 4">
            <a:extLst>
              <a:ext uri="{FF2B5EF4-FFF2-40B4-BE49-F238E27FC236}">
                <a16:creationId xmlns:a16="http://schemas.microsoft.com/office/drawing/2014/main" id="{6F92087F-06D1-17E3-748F-C4987DAACCCF}"/>
              </a:ext>
            </a:extLst>
          </p:cNvPr>
          <p:cNvPicPr>
            <a:picLocks noChangeAspect="1"/>
          </p:cNvPicPr>
          <p:nvPr/>
        </p:nvPicPr>
        <p:blipFill>
          <a:blip r:embed="rId2"/>
          <a:stretch>
            <a:fillRect/>
          </a:stretch>
        </p:blipFill>
        <p:spPr>
          <a:xfrm>
            <a:off x="3956958" y="3090815"/>
            <a:ext cx="5084246" cy="904715"/>
          </a:xfrm>
          <a:prstGeom prst="rect">
            <a:avLst/>
          </a:prstGeom>
        </p:spPr>
      </p:pic>
    </p:spTree>
    <p:extLst>
      <p:ext uri="{BB962C8B-B14F-4D97-AF65-F5344CB8AC3E}">
        <p14:creationId xmlns:p14="http://schemas.microsoft.com/office/powerpoint/2010/main" val="2462627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B50E9-74C2-55CB-4CF9-929FCCD1C239}"/>
              </a:ext>
            </a:extLst>
          </p:cNvPr>
          <p:cNvSpPr>
            <a:spLocks noGrp="1"/>
          </p:cNvSpPr>
          <p:nvPr>
            <p:ph type="title"/>
          </p:nvPr>
        </p:nvSpPr>
        <p:spPr/>
        <p:txBody>
          <a:bodyPr/>
          <a:lstStyle/>
          <a:p>
            <a:r>
              <a:rPr lang="en-US" dirty="0"/>
              <a:t>Elbow Method</a:t>
            </a:r>
            <a:endParaRPr lang="en-IN" dirty="0"/>
          </a:p>
        </p:txBody>
      </p:sp>
      <p:pic>
        <p:nvPicPr>
          <p:cNvPr id="5" name="Content Placeholder 4">
            <a:extLst>
              <a:ext uri="{FF2B5EF4-FFF2-40B4-BE49-F238E27FC236}">
                <a16:creationId xmlns:a16="http://schemas.microsoft.com/office/drawing/2014/main" id="{878B9FF3-31F2-D1DC-6F84-A522AD62D6C0}"/>
              </a:ext>
            </a:extLst>
          </p:cNvPr>
          <p:cNvPicPr>
            <a:picLocks noGrp="1" noChangeAspect="1"/>
          </p:cNvPicPr>
          <p:nvPr>
            <p:ph idx="1"/>
          </p:nvPr>
        </p:nvPicPr>
        <p:blipFill>
          <a:blip r:embed="rId2"/>
          <a:stretch>
            <a:fillRect/>
          </a:stretch>
        </p:blipFill>
        <p:spPr>
          <a:xfrm>
            <a:off x="1146313" y="1621114"/>
            <a:ext cx="10515600" cy="3925601"/>
          </a:xfrm>
          <a:prstGeom prst="rect">
            <a:avLst/>
          </a:prstGeom>
        </p:spPr>
      </p:pic>
    </p:spTree>
    <p:extLst>
      <p:ext uri="{BB962C8B-B14F-4D97-AF65-F5344CB8AC3E}">
        <p14:creationId xmlns:p14="http://schemas.microsoft.com/office/powerpoint/2010/main" val="1456303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1110</Words>
  <Application>Microsoft Office PowerPoint</Application>
  <PresentationFormat>Widescreen</PresentationFormat>
  <Paragraphs>180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Wingdings</vt:lpstr>
      <vt:lpstr>Office Theme</vt:lpstr>
      <vt:lpstr>K-Means Clustering</vt:lpstr>
      <vt:lpstr>K-Means Clustering</vt:lpstr>
      <vt:lpstr>K-means clustering</vt:lpstr>
      <vt:lpstr>PowerPoint Presentation</vt:lpstr>
      <vt:lpstr>Dissimilarity(or distance) measure d(x,y)</vt:lpstr>
      <vt:lpstr>Manhattan distance</vt:lpstr>
      <vt:lpstr>Euclidean distance</vt:lpstr>
      <vt:lpstr>Minkowski Distances</vt:lpstr>
      <vt:lpstr>Dissimilarity(or distance) measure d(x,y)</vt:lpstr>
      <vt:lpstr>Similarity measure s(x,y)</vt:lpstr>
      <vt:lpstr>Cosine Similarity</vt:lpstr>
      <vt:lpstr>Steps in K-means clustering algorithm</vt:lpstr>
      <vt:lpstr>Steps in K-means clustering algorithm</vt:lpstr>
      <vt:lpstr>Steps in K-means clustering algorithm</vt:lpstr>
      <vt:lpstr>Simple Example of K-Means Clustering</vt:lpstr>
      <vt:lpstr>Simple Example of K-Means Clustering</vt:lpstr>
      <vt:lpstr>Simple Example of K-Means Clustering</vt:lpstr>
      <vt:lpstr>Simple Example of K-Means Clustering</vt:lpstr>
      <vt:lpstr>Limitations of k means clustering</vt:lpstr>
      <vt:lpstr>Failure cases of k-means</vt:lpstr>
      <vt:lpstr>Use cases</vt:lpstr>
      <vt:lpstr>Elbow Method</vt:lpstr>
      <vt:lpstr>Elbow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2026-07-08T08:26:17Z</dcterms:created>
  <dcterms:modified xsi:type="dcterms:W3CDTF">2026-07-08T08:26:27Z</dcterms:modified>
</cp:coreProperties>
</file>