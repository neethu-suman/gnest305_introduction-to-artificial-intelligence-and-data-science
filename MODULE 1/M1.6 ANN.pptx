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373" r:id="rId2"/>
    <p:sldId id="413" r:id="rId3"/>
    <p:sldId id="414" r:id="rId4"/>
    <p:sldId id="415" r:id="rId5"/>
    <p:sldId id="416" r:id="rId6"/>
    <p:sldId id="388" r:id="rId7"/>
    <p:sldId id="389" r:id="rId8"/>
    <p:sldId id="390" r:id="rId9"/>
    <p:sldId id="376" r:id="rId10"/>
    <p:sldId id="391" r:id="rId11"/>
    <p:sldId id="392" r:id="rId12"/>
    <p:sldId id="393" r:id="rId13"/>
    <p:sldId id="394" r:id="rId14"/>
    <p:sldId id="348" r:id="rId15"/>
    <p:sldId id="349" r:id="rId16"/>
    <p:sldId id="395" r:id="rId17"/>
    <p:sldId id="400" r:id="rId18"/>
    <p:sldId id="396" r:id="rId19"/>
    <p:sldId id="403" r:id="rId20"/>
    <p:sldId id="450" r:id="rId21"/>
    <p:sldId id="451" r:id="rId22"/>
    <p:sldId id="452" r:id="rId23"/>
    <p:sldId id="453" r:id="rId24"/>
    <p:sldId id="454" r:id="rId25"/>
    <p:sldId id="455" r:id="rId26"/>
    <p:sldId id="456" r:id="rId27"/>
    <p:sldId id="457" r:id="rId28"/>
    <p:sldId id="401" r:id="rId29"/>
    <p:sldId id="402" r:id="rId30"/>
    <p:sldId id="398" r:id="rId31"/>
    <p:sldId id="378" r:id="rId32"/>
    <p:sldId id="397" r:id="rId33"/>
    <p:sldId id="399" r:id="rId34"/>
    <p:sldId id="441" r:id="rId35"/>
    <p:sldId id="379" r:id="rId36"/>
    <p:sldId id="405" r:id="rId37"/>
    <p:sldId id="406" r:id="rId38"/>
    <p:sldId id="407" r:id="rId39"/>
    <p:sldId id="408" r:id="rId40"/>
    <p:sldId id="409" r:id="rId41"/>
    <p:sldId id="410" r:id="rId42"/>
    <p:sldId id="411" r:id="rId43"/>
    <p:sldId id="442" r:id="rId44"/>
    <p:sldId id="382" r:id="rId45"/>
    <p:sldId id="446" r:id="rId46"/>
    <p:sldId id="362" r:id="rId47"/>
    <p:sldId id="271" r:id="rId48"/>
    <p:sldId id="272" r:id="rId49"/>
    <p:sldId id="273" r:id="rId50"/>
    <p:sldId id="444" r:id="rId51"/>
    <p:sldId id="445" r:id="rId52"/>
    <p:sldId id="412" r:id="rId53"/>
    <p:sldId id="459" r:id="rId54"/>
    <p:sldId id="417" r:id="rId55"/>
    <p:sldId id="418" r:id="rId56"/>
    <p:sldId id="447" r:id="rId57"/>
    <p:sldId id="448" r:id="rId58"/>
    <p:sldId id="458" r:id="rId59"/>
    <p:sldId id="449"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90B5C7-8842-4DC1-BB01-39F721AD017D}">
          <p14:sldIdLst>
            <p14:sldId id="373"/>
            <p14:sldId id="413"/>
            <p14:sldId id="414"/>
            <p14:sldId id="415"/>
            <p14:sldId id="416"/>
            <p14:sldId id="388"/>
            <p14:sldId id="389"/>
            <p14:sldId id="390"/>
            <p14:sldId id="376"/>
            <p14:sldId id="391"/>
            <p14:sldId id="392"/>
            <p14:sldId id="393"/>
            <p14:sldId id="394"/>
            <p14:sldId id="348"/>
            <p14:sldId id="349"/>
            <p14:sldId id="395"/>
            <p14:sldId id="400"/>
            <p14:sldId id="396"/>
            <p14:sldId id="403"/>
            <p14:sldId id="450"/>
            <p14:sldId id="451"/>
            <p14:sldId id="452"/>
            <p14:sldId id="453"/>
            <p14:sldId id="454"/>
            <p14:sldId id="455"/>
            <p14:sldId id="456"/>
            <p14:sldId id="457"/>
            <p14:sldId id="401"/>
            <p14:sldId id="402"/>
            <p14:sldId id="398"/>
            <p14:sldId id="378"/>
            <p14:sldId id="397"/>
            <p14:sldId id="399"/>
            <p14:sldId id="441"/>
            <p14:sldId id="379"/>
            <p14:sldId id="405"/>
            <p14:sldId id="406"/>
            <p14:sldId id="407"/>
            <p14:sldId id="408"/>
            <p14:sldId id="409"/>
            <p14:sldId id="410"/>
            <p14:sldId id="411"/>
            <p14:sldId id="442"/>
            <p14:sldId id="382"/>
            <p14:sldId id="446"/>
            <p14:sldId id="362"/>
            <p14:sldId id="271"/>
            <p14:sldId id="272"/>
            <p14:sldId id="273"/>
            <p14:sldId id="444"/>
            <p14:sldId id="445"/>
            <p14:sldId id="412"/>
            <p14:sldId id="459"/>
            <p14:sldId id="417"/>
            <p14:sldId id="418"/>
            <p14:sldId id="447"/>
            <p14:sldId id="448"/>
            <p14:sldId id="458"/>
            <p14:sldId id="449"/>
          </p14:sldIdLst>
        </p14:section>
        <p14:section name="Default Section" id="{7E2D77D8-E4AD-42D5-AB4D-728798CC04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09156D-0FAE-44A1-9719-E3729156A2F5}" type="datetimeFigureOut">
              <a:rPr lang="en-IN" smtClean="0"/>
              <a:t>18-07-2026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7941CD-D5B5-440E-87A1-2C3C2EF7E2B0}" type="slidenum">
              <a:rPr lang="en-IN" smtClean="0"/>
              <a:t>‹#›</a:t>
            </a:fld>
            <a:endParaRPr lang="en-IN"/>
          </a:p>
        </p:txBody>
      </p:sp>
    </p:spTree>
    <p:extLst>
      <p:ext uri="{BB962C8B-B14F-4D97-AF65-F5344CB8AC3E}">
        <p14:creationId xmlns:p14="http://schemas.microsoft.com/office/powerpoint/2010/main" val="1077695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9" name="Google Shape;729;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06243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5" name="Google Shape;735;p9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171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1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6" name="Google Shape;816;p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35909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9A11-0A4D-475B-20A3-854796747D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E9737D-C9C5-6A3E-AB31-E4E4ADB76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FADAEC-75D3-9E95-34C5-8CEEA0074892}"/>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5" name="Footer Placeholder 4">
            <a:extLst>
              <a:ext uri="{FF2B5EF4-FFF2-40B4-BE49-F238E27FC236}">
                <a16:creationId xmlns:a16="http://schemas.microsoft.com/office/drawing/2014/main" id="{4DC12025-E345-3AA5-28EE-5B41A3AE54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75290-AB7B-F3D5-C6A0-845D26DADEA8}"/>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555554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92D9D-6ACC-A9CA-8A56-37F19F0E30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4E34A9-AC3B-DB23-5910-28347A8257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3F43A7-117E-DF49-1C7F-31F9DC1AA5CF}"/>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5" name="Footer Placeholder 4">
            <a:extLst>
              <a:ext uri="{FF2B5EF4-FFF2-40B4-BE49-F238E27FC236}">
                <a16:creationId xmlns:a16="http://schemas.microsoft.com/office/drawing/2014/main" id="{800B4448-D898-618D-03FB-ABD0C96841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1817F3-546F-F3DB-FAB3-7E14764C95E5}"/>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368282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688DC-D1FF-F4A8-AC04-C62BDC68F3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059F27-3634-AC66-E1B9-1F8549380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870051-CEB5-4921-899C-399EAED01C08}"/>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5" name="Footer Placeholder 4">
            <a:extLst>
              <a:ext uri="{FF2B5EF4-FFF2-40B4-BE49-F238E27FC236}">
                <a16:creationId xmlns:a16="http://schemas.microsoft.com/office/drawing/2014/main" id="{AE9795D3-0D2F-670E-531E-D4DA0FBA73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3FC919-D0E7-A5D4-18A8-AFDF997F5DD9}"/>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2596959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29684-E04F-37C4-EA5C-7ECACC28EC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E1DDA5-C145-7A3D-2BAE-6BB63EA057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A5BE09C-666C-2C24-100C-C9DFFB9E67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78FC028-D458-174B-E4B5-62A3C110CE97}"/>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6" name="Footer Placeholder 5">
            <a:extLst>
              <a:ext uri="{FF2B5EF4-FFF2-40B4-BE49-F238E27FC236}">
                <a16:creationId xmlns:a16="http://schemas.microsoft.com/office/drawing/2014/main" id="{00DD4DE5-BD54-E35F-351B-1627AFA1CA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06BF20-A60B-1EAA-3269-1155B5708487}"/>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2836282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6CF4-240C-5EA0-45A0-0A0C52CEF8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2FAD92-3385-61A7-BBCA-43F2D49B36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FEA81C-C211-918E-AE05-993AE3E6CF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02326F-1D5E-C2DF-86AB-4B2F5995AC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222287-1224-4921-1AF4-E758EC7D66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FC9B135-2EA2-D8CD-E65B-BF43E1F23830}"/>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8" name="Footer Placeholder 7">
            <a:extLst>
              <a:ext uri="{FF2B5EF4-FFF2-40B4-BE49-F238E27FC236}">
                <a16:creationId xmlns:a16="http://schemas.microsoft.com/office/drawing/2014/main" id="{0C1A3D99-BAD0-865B-88B9-EA7E1285B61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CDA9F9-1501-1429-0582-4A1283910FA4}"/>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4280019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742D5-EBCB-6899-1125-3CEF835644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EFFCEE-0091-60C7-8E5E-5F36C643C491}"/>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4" name="Footer Placeholder 3">
            <a:extLst>
              <a:ext uri="{FF2B5EF4-FFF2-40B4-BE49-F238E27FC236}">
                <a16:creationId xmlns:a16="http://schemas.microsoft.com/office/drawing/2014/main" id="{2C2E1C8A-DDD0-B508-EB3F-249BE04185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6A6EFF-AE2B-DB27-F69E-A9DEBFB6D200}"/>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373152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CEE94B-65D7-2725-D4A7-FA66ECADB3CE}"/>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3" name="Footer Placeholder 2">
            <a:extLst>
              <a:ext uri="{FF2B5EF4-FFF2-40B4-BE49-F238E27FC236}">
                <a16:creationId xmlns:a16="http://schemas.microsoft.com/office/drawing/2014/main" id="{771A437E-BAA8-08AE-8C14-EECB63219E0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AE8958-B7B4-E235-6F03-CCCF826BC28B}"/>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265754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F213D-36D9-2FD2-241C-64C1DF639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FD2903-7817-1FAC-D9B5-23F950808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33C718-6EB9-B8CA-BF5F-642636D64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6DFF11-A6FF-7505-B4BA-C653BF894089}"/>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6" name="Footer Placeholder 5">
            <a:extLst>
              <a:ext uri="{FF2B5EF4-FFF2-40B4-BE49-F238E27FC236}">
                <a16:creationId xmlns:a16="http://schemas.microsoft.com/office/drawing/2014/main" id="{161DAE97-F858-3F60-2A3C-3FA71D3735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012F95-395E-1391-9A45-D4BA8B25ED48}"/>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2586784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399DF-1114-12E2-A4D7-7AF56AE84C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3D293CB-0ECD-FDB5-5A7F-93C353EFE7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FB80E9-4376-BE6B-E405-0DA979B7E7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8D818D-2F78-A857-1C16-99BBAB22496B}"/>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6" name="Footer Placeholder 5">
            <a:extLst>
              <a:ext uri="{FF2B5EF4-FFF2-40B4-BE49-F238E27FC236}">
                <a16:creationId xmlns:a16="http://schemas.microsoft.com/office/drawing/2014/main" id="{30991B60-7C40-205B-C800-9622959183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4AE59B-7D6B-934A-9D85-3551B51FA679}"/>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183251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8A77-5F98-9966-7517-418DF13424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0AF151-FA30-8109-4775-A9145A5E43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36C811-85FC-61F3-A91D-E9C45E280999}"/>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5" name="Footer Placeholder 4">
            <a:extLst>
              <a:ext uri="{FF2B5EF4-FFF2-40B4-BE49-F238E27FC236}">
                <a16:creationId xmlns:a16="http://schemas.microsoft.com/office/drawing/2014/main" id="{79C6AEAA-974A-37D6-1AC1-B2026B5FBC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60A815-821E-5356-F64C-70917A43A1D2}"/>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1148472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56B8B5-8EF7-C9EF-FAD5-B0E4D4A5DA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23BF67-AC55-45BA-07A7-6AE805DAE2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EA21A4-DA59-EB1D-7E7B-4EE713432EA8}"/>
              </a:ext>
            </a:extLst>
          </p:cNvPr>
          <p:cNvSpPr>
            <a:spLocks noGrp="1"/>
          </p:cNvSpPr>
          <p:nvPr>
            <p:ph type="dt" sz="half" idx="10"/>
          </p:nvPr>
        </p:nvSpPr>
        <p:spPr/>
        <p:txBody>
          <a:bodyPr/>
          <a:lstStyle/>
          <a:p>
            <a:fld id="{A842D6F1-7042-4C09-BABF-CD28CCE27DBA}" type="datetimeFigureOut">
              <a:rPr lang="en-IN" smtClean="0"/>
              <a:t>18-07-2026</a:t>
            </a:fld>
            <a:endParaRPr lang="en-IN"/>
          </a:p>
        </p:txBody>
      </p:sp>
      <p:sp>
        <p:nvSpPr>
          <p:cNvPr id="5" name="Footer Placeholder 4">
            <a:extLst>
              <a:ext uri="{FF2B5EF4-FFF2-40B4-BE49-F238E27FC236}">
                <a16:creationId xmlns:a16="http://schemas.microsoft.com/office/drawing/2014/main" id="{C79CF74F-B2F0-A60C-1992-F3269359DB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0CB8CF-C68E-38F8-33D5-7D42818D0931}"/>
              </a:ext>
            </a:extLst>
          </p:cNvPr>
          <p:cNvSpPr>
            <a:spLocks noGrp="1"/>
          </p:cNvSpPr>
          <p:nvPr>
            <p:ph type="sldNum" sz="quarter" idx="12"/>
          </p:nvPr>
        </p:nvSpPr>
        <p:spPr/>
        <p:txBody>
          <a:bodyPr/>
          <a:lstStyle/>
          <a:p>
            <a:fld id="{3DF77BC1-F2DC-453E-9D0C-3A86C4D59324}" type="slidenum">
              <a:rPr lang="en-IN" smtClean="0"/>
              <a:t>‹#›</a:t>
            </a:fld>
            <a:endParaRPr lang="en-IN"/>
          </a:p>
        </p:txBody>
      </p:sp>
    </p:spTree>
    <p:extLst>
      <p:ext uri="{BB962C8B-B14F-4D97-AF65-F5344CB8AC3E}">
        <p14:creationId xmlns:p14="http://schemas.microsoft.com/office/powerpoint/2010/main" val="1525677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EDB31D-2844-C3B3-B8FB-AE41625659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1295E7-4049-4C4C-FC81-B24C8F0236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EA480C-F972-9D57-83D3-F8B7E486E2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42D6F1-7042-4C09-BABF-CD28CCE27DBA}" type="datetimeFigureOut">
              <a:rPr lang="en-IN" smtClean="0"/>
              <a:t>18-07-2026</a:t>
            </a:fld>
            <a:endParaRPr lang="en-IN"/>
          </a:p>
        </p:txBody>
      </p:sp>
      <p:sp>
        <p:nvSpPr>
          <p:cNvPr id="5" name="Footer Placeholder 4">
            <a:extLst>
              <a:ext uri="{FF2B5EF4-FFF2-40B4-BE49-F238E27FC236}">
                <a16:creationId xmlns:a16="http://schemas.microsoft.com/office/drawing/2014/main" id="{F38A887D-DAF6-7973-280D-46B6854D19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291FB23-52EA-C6EA-CBA8-FADFADB17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F77BC1-F2DC-453E-9D0C-3A86C4D59324}" type="slidenum">
              <a:rPr lang="en-IN" smtClean="0"/>
              <a:t>‹#›</a:t>
            </a:fld>
            <a:endParaRPr lang="en-IN"/>
          </a:p>
        </p:txBody>
      </p:sp>
    </p:spTree>
    <p:extLst>
      <p:ext uri="{BB962C8B-B14F-4D97-AF65-F5344CB8AC3E}">
        <p14:creationId xmlns:p14="http://schemas.microsoft.com/office/powerpoint/2010/main" val="1605970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2.xml"/><Relationship Id="rId5" Type="http://schemas.openxmlformats.org/officeDocument/2006/relationships/image" Target="../media/image47.jpg"/><Relationship Id="rId4" Type="http://schemas.openxmlformats.org/officeDocument/2006/relationships/image" Target="../media/image46.jpg"/></Relationships>
</file>

<file path=ppt/slides/_rels/slide49.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B372B-1848-D6D3-F0A8-B4D97FF93EBC}"/>
              </a:ext>
            </a:extLst>
          </p:cNvPr>
          <p:cNvSpPr>
            <a:spLocks noGrp="1"/>
          </p:cNvSpPr>
          <p:nvPr>
            <p:ph type="title"/>
          </p:nvPr>
        </p:nvSpPr>
        <p:spPr/>
        <p:txBody>
          <a:bodyPr/>
          <a:lstStyle/>
          <a:p>
            <a:r>
              <a:rPr lang="en-US" dirty="0"/>
              <a:t>Introduction to Artificial Neural Networks</a:t>
            </a:r>
            <a:endParaRPr lang="en-IN" dirty="0"/>
          </a:p>
        </p:txBody>
      </p:sp>
      <p:sp>
        <p:nvSpPr>
          <p:cNvPr id="3" name="Content Placeholder 2">
            <a:extLst>
              <a:ext uri="{FF2B5EF4-FFF2-40B4-BE49-F238E27FC236}">
                <a16:creationId xmlns:a16="http://schemas.microsoft.com/office/drawing/2014/main" id="{BB878CB7-0F64-D0FE-798E-FD9FB0CF99AA}"/>
              </a:ext>
            </a:extLst>
          </p:cNvPr>
          <p:cNvSpPr>
            <a:spLocks noGrp="1"/>
          </p:cNvSpPr>
          <p:nvPr>
            <p:ph idx="1"/>
          </p:nvPr>
        </p:nvSpPr>
        <p:spPr/>
        <p:txBody>
          <a:bodyPr/>
          <a:lstStyle/>
          <a:p>
            <a:r>
              <a:rPr lang="en-US" dirty="0"/>
              <a:t>Artificial Neural Networks (ANNs) are computer systems designed to mimic how the human brain processes information. </a:t>
            </a:r>
          </a:p>
          <a:p>
            <a:r>
              <a:rPr lang="en-US" dirty="0"/>
              <a:t>Just like the brain uses neurons to process data and make decisions, ANNs use artificial neurons to analyze data, identify patterns and make predictions. </a:t>
            </a:r>
          </a:p>
          <a:p>
            <a:r>
              <a:rPr lang="en-US" dirty="0"/>
              <a:t>These networks consist of layers of interconnected neurons that work together to solve complex problems. </a:t>
            </a:r>
          </a:p>
          <a:p>
            <a:r>
              <a:rPr lang="en-US" dirty="0"/>
              <a:t>The key idea is that ANNs can "learn" from the data they process, just as our brain learns from experience.</a:t>
            </a:r>
            <a:endParaRPr lang="en-IN" dirty="0"/>
          </a:p>
        </p:txBody>
      </p:sp>
    </p:spTree>
    <p:extLst>
      <p:ext uri="{BB962C8B-B14F-4D97-AF65-F5344CB8AC3E}">
        <p14:creationId xmlns:p14="http://schemas.microsoft.com/office/powerpoint/2010/main" val="47363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E00C4-AAD6-C382-7814-57C2938C4A2D}"/>
              </a:ext>
            </a:extLst>
          </p:cNvPr>
          <p:cNvSpPr>
            <a:spLocks noGrp="1"/>
          </p:cNvSpPr>
          <p:nvPr>
            <p:ph type="title"/>
          </p:nvPr>
        </p:nvSpPr>
        <p:spPr/>
        <p:txBody>
          <a:bodyPr/>
          <a:lstStyle/>
          <a:p>
            <a:r>
              <a:rPr lang="en-US" dirty="0"/>
              <a:t>Introduction to Artificial Neural Networks</a:t>
            </a:r>
            <a:endParaRPr lang="en-IN" dirty="0"/>
          </a:p>
        </p:txBody>
      </p:sp>
      <p:pic>
        <p:nvPicPr>
          <p:cNvPr id="5" name="Content Placeholder 4">
            <a:extLst>
              <a:ext uri="{FF2B5EF4-FFF2-40B4-BE49-F238E27FC236}">
                <a16:creationId xmlns:a16="http://schemas.microsoft.com/office/drawing/2014/main" id="{9FD8EDE6-002C-B33A-BCD3-7D33312E6C12}"/>
              </a:ext>
            </a:extLst>
          </p:cNvPr>
          <p:cNvPicPr>
            <a:picLocks noGrp="1" noChangeAspect="1"/>
          </p:cNvPicPr>
          <p:nvPr>
            <p:ph idx="1"/>
          </p:nvPr>
        </p:nvPicPr>
        <p:blipFill>
          <a:blip r:embed="rId2"/>
          <a:stretch>
            <a:fillRect/>
          </a:stretch>
        </p:blipFill>
        <p:spPr>
          <a:xfrm>
            <a:off x="1890125" y="1843580"/>
            <a:ext cx="8411749" cy="4315427"/>
          </a:xfrm>
          <a:prstGeom prst="rect">
            <a:avLst/>
          </a:prstGeom>
        </p:spPr>
      </p:pic>
    </p:spTree>
    <p:extLst>
      <p:ext uri="{BB962C8B-B14F-4D97-AF65-F5344CB8AC3E}">
        <p14:creationId xmlns:p14="http://schemas.microsoft.com/office/powerpoint/2010/main" val="4198359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3EB6-F238-1C55-BE36-4DA0234CC697}"/>
              </a:ext>
            </a:extLst>
          </p:cNvPr>
          <p:cNvSpPr>
            <a:spLocks noGrp="1"/>
          </p:cNvSpPr>
          <p:nvPr>
            <p:ph type="title"/>
          </p:nvPr>
        </p:nvSpPr>
        <p:spPr/>
        <p:txBody>
          <a:bodyPr/>
          <a:lstStyle/>
          <a:p>
            <a:r>
              <a:rPr lang="en-IN" dirty="0"/>
              <a:t>Neural networks: </a:t>
            </a:r>
            <a:r>
              <a:rPr lang="en-US" dirty="0"/>
              <a:t>key components</a:t>
            </a:r>
            <a:endParaRPr lang="en-IN" dirty="0"/>
          </a:p>
        </p:txBody>
      </p:sp>
      <p:sp>
        <p:nvSpPr>
          <p:cNvPr id="3" name="Content Placeholder 2">
            <a:extLst>
              <a:ext uri="{FF2B5EF4-FFF2-40B4-BE49-F238E27FC236}">
                <a16:creationId xmlns:a16="http://schemas.microsoft.com/office/drawing/2014/main" id="{BB22F96C-32B8-B816-FE13-D2F6B7C8B528}"/>
              </a:ext>
            </a:extLst>
          </p:cNvPr>
          <p:cNvSpPr>
            <a:spLocks noGrp="1"/>
          </p:cNvSpPr>
          <p:nvPr>
            <p:ph idx="1"/>
          </p:nvPr>
        </p:nvSpPr>
        <p:spPr/>
        <p:txBody>
          <a:bodyPr>
            <a:normAutofit/>
          </a:bodyPr>
          <a:lstStyle/>
          <a:p>
            <a:pPr fontAlgn="base"/>
            <a:r>
              <a:rPr lang="en-US" sz="2400" b="1" dirty="0"/>
              <a:t>Neurons</a:t>
            </a:r>
            <a:r>
              <a:rPr lang="en-US" sz="2400" dirty="0"/>
              <a:t>: The basic units that receive inputs, each neuron is governed by a threshold and an activation function.</a:t>
            </a:r>
          </a:p>
          <a:p>
            <a:pPr fontAlgn="base"/>
            <a:r>
              <a:rPr lang="en-US" sz="2400" b="1" dirty="0"/>
              <a:t>Connections</a:t>
            </a:r>
            <a:r>
              <a:rPr lang="en-US" sz="2400" dirty="0"/>
              <a:t>: Links between neurons that carry information, regulated by weights and biases.</a:t>
            </a:r>
          </a:p>
          <a:p>
            <a:pPr fontAlgn="base"/>
            <a:r>
              <a:rPr lang="en-US" sz="2400" b="1" dirty="0"/>
              <a:t>Weights and Biases</a:t>
            </a:r>
            <a:r>
              <a:rPr lang="en-US" sz="2400" dirty="0"/>
              <a:t>: These parameters determine the strength and influence of connections.</a:t>
            </a:r>
          </a:p>
          <a:p>
            <a:pPr fontAlgn="base"/>
            <a:r>
              <a:rPr lang="en-US" sz="2400" b="1" dirty="0"/>
              <a:t>Propagation Functions</a:t>
            </a:r>
            <a:r>
              <a:rPr lang="en-US" sz="2400" dirty="0"/>
              <a:t>: Mechanisms that help process and transfer data across layers of neurons.</a:t>
            </a:r>
          </a:p>
          <a:p>
            <a:pPr fontAlgn="base"/>
            <a:r>
              <a:rPr lang="en-US" sz="2400" b="1" dirty="0"/>
              <a:t>Learning Rule</a:t>
            </a:r>
            <a:r>
              <a:rPr lang="en-US" sz="2400" dirty="0"/>
              <a:t>: The method that adjusts weights and biases over time to improve accuracy.</a:t>
            </a:r>
            <a:endParaRPr lang="en-IN" sz="2400" dirty="0"/>
          </a:p>
        </p:txBody>
      </p:sp>
    </p:spTree>
    <p:extLst>
      <p:ext uri="{BB962C8B-B14F-4D97-AF65-F5344CB8AC3E}">
        <p14:creationId xmlns:p14="http://schemas.microsoft.com/office/powerpoint/2010/main" val="31504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F26FD-81A0-2403-9CC2-9188FAA5BC1E}"/>
              </a:ext>
            </a:extLst>
          </p:cNvPr>
          <p:cNvSpPr>
            <a:spLocks noGrp="1"/>
          </p:cNvSpPr>
          <p:nvPr>
            <p:ph type="title"/>
          </p:nvPr>
        </p:nvSpPr>
        <p:spPr/>
        <p:txBody>
          <a:bodyPr/>
          <a:lstStyle/>
          <a:p>
            <a:r>
              <a:rPr lang="en-US" dirty="0"/>
              <a:t>Introduction to Artificial Neural Networks</a:t>
            </a:r>
            <a:endParaRPr lang="en-IN" dirty="0"/>
          </a:p>
        </p:txBody>
      </p:sp>
      <p:sp>
        <p:nvSpPr>
          <p:cNvPr id="3" name="Content Placeholder 2">
            <a:extLst>
              <a:ext uri="{FF2B5EF4-FFF2-40B4-BE49-F238E27FC236}">
                <a16:creationId xmlns:a16="http://schemas.microsoft.com/office/drawing/2014/main" id="{FD915B0D-9FEF-BFD7-A31E-31DE28726954}"/>
              </a:ext>
            </a:extLst>
          </p:cNvPr>
          <p:cNvSpPr>
            <a:spLocks noGrp="1"/>
          </p:cNvSpPr>
          <p:nvPr>
            <p:ph idx="1"/>
          </p:nvPr>
        </p:nvSpPr>
        <p:spPr/>
        <p:txBody>
          <a:bodyPr>
            <a:normAutofit/>
          </a:bodyPr>
          <a:lstStyle/>
          <a:p>
            <a:r>
              <a:rPr lang="en-US" sz="2400" b="1" dirty="0"/>
              <a:t>Learning in neural networks follows a structured, three-stage process</a:t>
            </a:r>
          </a:p>
          <a:p>
            <a:pPr marL="914400" lvl="1" indent="-457200" fontAlgn="base">
              <a:buFont typeface="+mj-lt"/>
              <a:buAutoNum type="arabicPeriod"/>
            </a:pPr>
            <a:r>
              <a:rPr lang="en-US" sz="2000" b="1" dirty="0"/>
              <a:t>Input Computation</a:t>
            </a:r>
            <a:r>
              <a:rPr lang="en-US" sz="2000" dirty="0"/>
              <a:t>: Data is fed into the network.</a:t>
            </a:r>
          </a:p>
          <a:p>
            <a:pPr marL="914400" lvl="1" indent="-457200" fontAlgn="base">
              <a:buFont typeface="+mj-lt"/>
              <a:buAutoNum type="arabicPeriod"/>
            </a:pPr>
            <a:r>
              <a:rPr lang="en-US" sz="2000" b="1" dirty="0"/>
              <a:t>Output Generation</a:t>
            </a:r>
            <a:r>
              <a:rPr lang="en-US" sz="2000" dirty="0"/>
              <a:t>: Based on the current parameters, the network generates an output.</a:t>
            </a:r>
          </a:p>
          <a:p>
            <a:pPr marL="914400" lvl="1" indent="-457200" fontAlgn="base">
              <a:buFont typeface="+mj-lt"/>
              <a:buAutoNum type="arabicPeriod"/>
            </a:pPr>
            <a:r>
              <a:rPr lang="en-US" sz="2000" b="1" dirty="0"/>
              <a:t>Iterative Refinement</a:t>
            </a:r>
            <a:r>
              <a:rPr lang="en-US" sz="2000" dirty="0"/>
              <a:t>: The network refines its output by adjusting weights and biases, gradually improving its performance on diverse tasks.</a:t>
            </a:r>
          </a:p>
          <a:p>
            <a:pPr fontAlgn="base"/>
            <a:r>
              <a:rPr lang="en-US" sz="2400" b="1" dirty="0"/>
              <a:t>In an adaptive learning environment:</a:t>
            </a:r>
            <a:endParaRPr lang="en-US" sz="2400" dirty="0"/>
          </a:p>
          <a:p>
            <a:pPr lvl="1" fontAlgn="base"/>
            <a:r>
              <a:rPr lang="en-US" sz="2000" dirty="0"/>
              <a:t>The neural network is exposed to a simulated scenario or dataset.</a:t>
            </a:r>
          </a:p>
          <a:p>
            <a:pPr lvl="1" fontAlgn="base"/>
            <a:r>
              <a:rPr lang="en-US" sz="2000" dirty="0"/>
              <a:t>Parameters such as weights and biases are updated in response to new data or conditions.</a:t>
            </a:r>
          </a:p>
          <a:p>
            <a:pPr lvl="1" fontAlgn="base"/>
            <a:r>
              <a:rPr lang="en-US" sz="2000" dirty="0"/>
              <a:t>With each adjustment, the network’s response evolves allowing it to adapt effectively to different tasks or environments.</a:t>
            </a:r>
          </a:p>
          <a:p>
            <a:endParaRPr lang="en-IN" sz="2400" dirty="0"/>
          </a:p>
        </p:txBody>
      </p:sp>
    </p:spTree>
    <p:extLst>
      <p:ext uri="{BB962C8B-B14F-4D97-AF65-F5344CB8AC3E}">
        <p14:creationId xmlns:p14="http://schemas.microsoft.com/office/powerpoint/2010/main" val="2631168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B820-C3C2-719F-9DC9-8E3CF67A1B63}"/>
              </a:ext>
            </a:extLst>
          </p:cNvPr>
          <p:cNvSpPr>
            <a:spLocks noGrp="1"/>
          </p:cNvSpPr>
          <p:nvPr>
            <p:ph type="title"/>
          </p:nvPr>
        </p:nvSpPr>
        <p:spPr/>
        <p:txBody>
          <a:bodyPr/>
          <a:lstStyle/>
          <a:p>
            <a:r>
              <a:rPr lang="en-US" dirty="0"/>
              <a:t>Biological Neuron - Artificial Neural Networks</a:t>
            </a:r>
            <a:endParaRPr lang="en-IN" dirty="0"/>
          </a:p>
        </p:txBody>
      </p:sp>
      <p:pic>
        <p:nvPicPr>
          <p:cNvPr id="5" name="Content Placeholder 4">
            <a:extLst>
              <a:ext uri="{FF2B5EF4-FFF2-40B4-BE49-F238E27FC236}">
                <a16:creationId xmlns:a16="http://schemas.microsoft.com/office/drawing/2014/main" id="{A3AAB3EF-AD29-B211-0E34-16CCD1947811}"/>
              </a:ext>
            </a:extLst>
          </p:cNvPr>
          <p:cNvPicPr>
            <a:picLocks noGrp="1" noChangeAspect="1"/>
          </p:cNvPicPr>
          <p:nvPr>
            <p:ph idx="1"/>
          </p:nvPr>
        </p:nvPicPr>
        <p:blipFill>
          <a:blip r:embed="rId2"/>
          <a:stretch>
            <a:fillRect/>
          </a:stretch>
        </p:blipFill>
        <p:spPr>
          <a:xfrm>
            <a:off x="961308" y="1843580"/>
            <a:ext cx="10269383" cy="4315427"/>
          </a:xfrm>
          <a:prstGeom prst="rect">
            <a:avLst/>
          </a:prstGeom>
        </p:spPr>
      </p:pic>
    </p:spTree>
    <p:extLst>
      <p:ext uri="{BB962C8B-B14F-4D97-AF65-F5344CB8AC3E}">
        <p14:creationId xmlns:p14="http://schemas.microsoft.com/office/powerpoint/2010/main" val="2843658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C2852-99EF-54FC-8844-A0006BF48207}"/>
              </a:ext>
            </a:extLst>
          </p:cNvPr>
          <p:cNvSpPr>
            <a:spLocks noGrp="1"/>
          </p:cNvSpPr>
          <p:nvPr>
            <p:ph type="title"/>
          </p:nvPr>
        </p:nvSpPr>
        <p:spPr/>
        <p:txBody>
          <a:bodyPr/>
          <a:lstStyle/>
          <a:p>
            <a:r>
              <a:rPr lang="en-US" dirty="0"/>
              <a:t>Biological Neuron</a:t>
            </a:r>
            <a:endParaRPr lang="en-IN" dirty="0"/>
          </a:p>
        </p:txBody>
      </p:sp>
      <p:sp>
        <p:nvSpPr>
          <p:cNvPr id="3" name="Content Placeholder 2">
            <a:extLst>
              <a:ext uri="{FF2B5EF4-FFF2-40B4-BE49-F238E27FC236}">
                <a16:creationId xmlns:a16="http://schemas.microsoft.com/office/drawing/2014/main" id="{B051B72F-9AB9-D8A9-0EC5-90E4DDFFD5E1}"/>
              </a:ext>
            </a:extLst>
          </p:cNvPr>
          <p:cNvSpPr>
            <a:spLocks noGrp="1"/>
          </p:cNvSpPr>
          <p:nvPr>
            <p:ph idx="1"/>
          </p:nvPr>
        </p:nvSpPr>
        <p:spPr/>
        <p:txBody>
          <a:bodyPr>
            <a:normAutofit/>
          </a:bodyPr>
          <a:lstStyle/>
          <a:p>
            <a:r>
              <a:rPr lang="en-US" dirty="0"/>
              <a:t>It is composed of a cell body containing </a:t>
            </a:r>
          </a:p>
          <a:p>
            <a:pPr lvl="1"/>
            <a:r>
              <a:rPr lang="en-US" b="1" dirty="0"/>
              <a:t>Nucleus</a:t>
            </a:r>
            <a:r>
              <a:rPr lang="en-US" dirty="0"/>
              <a:t> and most of the cell’s complex components</a:t>
            </a:r>
          </a:p>
          <a:p>
            <a:pPr lvl="1"/>
            <a:r>
              <a:rPr lang="en-US" dirty="0"/>
              <a:t>Many branching extensions called </a:t>
            </a:r>
            <a:r>
              <a:rPr lang="en-US" b="1" dirty="0"/>
              <a:t>dendrites</a:t>
            </a:r>
          </a:p>
          <a:p>
            <a:pPr lvl="1"/>
            <a:r>
              <a:rPr lang="en-US" dirty="0"/>
              <a:t>One very long extension called the </a:t>
            </a:r>
            <a:r>
              <a:rPr lang="en-US" b="1" dirty="0"/>
              <a:t>axon</a:t>
            </a:r>
          </a:p>
          <a:p>
            <a:pPr lvl="2"/>
            <a:r>
              <a:rPr lang="en-US" dirty="0"/>
              <a:t>The axon’s length may be just a few times longer than the cell body, or up to tens of thousands of times longer. </a:t>
            </a:r>
          </a:p>
          <a:p>
            <a:pPr lvl="2"/>
            <a:r>
              <a:rPr lang="en-US" dirty="0"/>
              <a:t>Near its extremity the axon splits off into many branches called </a:t>
            </a:r>
            <a:r>
              <a:rPr lang="en-US" b="1" dirty="0" err="1"/>
              <a:t>telodendria</a:t>
            </a:r>
            <a:endParaRPr lang="en-US" b="1" dirty="0"/>
          </a:p>
          <a:p>
            <a:pPr lvl="2"/>
            <a:r>
              <a:rPr lang="en-US" dirty="0"/>
              <a:t>At the tip of these branches are minuscule structures called synaptic terminals (or simply </a:t>
            </a:r>
            <a:r>
              <a:rPr lang="en-US" b="1" dirty="0"/>
              <a:t>synapses</a:t>
            </a:r>
            <a:r>
              <a:rPr lang="en-US" dirty="0"/>
              <a:t>), which are connected to the </a:t>
            </a:r>
            <a:r>
              <a:rPr lang="en-US" b="1" dirty="0"/>
              <a:t>dendrites or cell bodies </a:t>
            </a:r>
            <a:r>
              <a:rPr lang="en-US" dirty="0"/>
              <a:t>of other neurons.</a:t>
            </a:r>
            <a:endParaRPr lang="en-IN" dirty="0"/>
          </a:p>
        </p:txBody>
      </p:sp>
    </p:spTree>
    <p:extLst>
      <p:ext uri="{BB962C8B-B14F-4D97-AF65-F5344CB8AC3E}">
        <p14:creationId xmlns:p14="http://schemas.microsoft.com/office/powerpoint/2010/main" val="3858423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8534-EC86-AB57-1A40-1899314ED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F522B-FE0F-12BC-1355-4D2C74FDAABB}"/>
              </a:ext>
            </a:extLst>
          </p:cNvPr>
          <p:cNvSpPr>
            <a:spLocks noGrp="1"/>
          </p:cNvSpPr>
          <p:nvPr>
            <p:ph type="title"/>
          </p:nvPr>
        </p:nvSpPr>
        <p:spPr/>
        <p:txBody>
          <a:bodyPr/>
          <a:lstStyle/>
          <a:p>
            <a:r>
              <a:rPr lang="en-US" dirty="0"/>
              <a:t>Biological Neuron</a:t>
            </a:r>
            <a:endParaRPr lang="en-IN" dirty="0"/>
          </a:p>
        </p:txBody>
      </p:sp>
      <p:sp>
        <p:nvSpPr>
          <p:cNvPr id="3" name="Content Placeholder 2">
            <a:extLst>
              <a:ext uri="{FF2B5EF4-FFF2-40B4-BE49-F238E27FC236}">
                <a16:creationId xmlns:a16="http://schemas.microsoft.com/office/drawing/2014/main" id="{4AAAA9F2-B422-5853-613F-CF2E4D5BA43E}"/>
              </a:ext>
            </a:extLst>
          </p:cNvPr>
          <p:cNvSpPr>
            <a:spLocks noGrp="1"/>
          </p:cNvSpPr>
          <p:nvPr>
            <p:ph idx="1"/>
          </p:nvPr>
        </p:nvSpPr>
        <p:spPr/>
        <p:txBody>
          <a:bodyPr>
            <a:normAutofit/>
          </a:bodyPr>
          <a:lstStyle/>
          <a:p>
            <a:r>
              <a:rPr lang="en-US" sz="2400" dirty="0"/>
              <a:t>Biological neurons produce short electrical impulses called action potentials (APs, or just signals) which travel along the axons and make the synapses release chemical signals called neurotransmitters. </a:t>
            </a:r>
          </a:p>
          <a:p>
            <a:r>
              <a:rPr lang="en-US" sz="2400" dirty="0"/>
              <a:t>When a neuron receives a sufficient amount of these neurotransmitters within a few milliseconds, it fires its own electrical impulses (actually, it depends on the neurotransmitters, as some of them inhibit the neuron from firing).</a:t>
            </a:r>
          </a:p>
          <a:p>
            <a:r>
              <a:rPr lang="en-US" sz="2400" dirty="0"/>
              <a:t>They are organized in a vast network of billions, with each neuron typically connected to thousands of other neurons. </a:t>
            </a:r>
          </a:p>
          <a:p>
            <a:r>
              <a:rPr lang="en-US" sz="2400" dirty="0"/>
              <a:t>Highly complex computations can be performed by a network of fairly simple neurons</a:t>
            </a:r>
            <a:endParaRPr lang="en-IN" sz="2400" dirty="0"/>
          </a:p>
        </p:txBody>
      </p:sp>
    </p:spTree>
    <p:extLst>
      <p:ext uri="{BB962C8B-B14F-4D97-AF65-F5344CB8AC3E}">
        <p14:creationId xmlns:p14="http://schemas.microsoft.com/office/powerpoint/2010/main" val="3890923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94802-C8A1-3837-B67B-5B60E3F16AEA}"/>
              </a:ext>
            </a:extLst>
          </p:cNvPr>
          <p:cNvSpPr>
            <a:spLocks noGrp="1"/>
          </p:cNvSpPr>
          <p:nvPr>
            <p:ph type="title"/>
          </p:nvPr>
        </p:nvSpPr>
        <p:spPr/>
        <p:txBody>
          <a:bodyPr/>
          <a:lstStyle/>
          <a:p>
            <a:r>
              <a:rPr lang="en-IN" dirty="0"/>
              <a:t>Perceptron</a:t>
            </a:r>
          </a:p>
        </p:txBody>
      </p:sp>
      <p:pic>
        <p:nvPicPr>
          <p:cNvPr id="5" name="Content Placeholder 4">
            <a:extLst>
              <a:ext uri="{FF2B5EF4-FFF2-40B4-BE49-F238E27FC236}">
                <a16:creationId xmlns:a16="http://schemas.microsoft.com/office/drawing/2014/main" id="{D77F228A-0701-CBA9-86A9-0CF483B9664B}"/>
              </a:ext>
            </a:extLst>
          </p:cNvPr>
          <p:cNvPicPr>
            <a:picLocks noGrp="1" noChangeAspect="1"/>
          </p:cNvPicPr>
          <p:nvPr>
            <p:ph idx="1"/>
          </p:nvPr>
        </p:nvPicPr>
        <p:blipFill>
          <a:blip r:embed="rId2"/>
          <a:stretch>
            <a:fillRect/>
          </a:stretch>
        </p:blipFill>
        <p:spPr>
          <a:xfrm>
            <a:off x="1128465" y="1490392"/>
            <a:ext cx="9497750" cy="3877216"/>
          </a:xfrm>
          <a:prstGeom prst="rect">
            <a:avLst/>
          </a:prstGeom>
        </p:spPr>
      </p:pic>
      <p:sp>
        <p:nvSpPr>
          <p:cNvPr id="7" name="TextBox 6">
            <a:extLst>
              <a:ext uri="{FF2B5EF4-FFF2-40B4-BE49-F238E27FC236}">
                <a16:creationId xmlns:a16="http://schemas.microsoft.com/office/drawing/2014/main" id="{51386CDB-377C-7E3B-DB59-6DB860DDC930}"/>
              </a:ext>
            </a:extLst>
          </p:cNvPr>
          <p:cNvSpPr txBox="1"/>
          <p:nvPr/>
        </p:nvSpPr>
        <p:spPr>
          <a:xfrm>
            <a:off x="1269723" y="5569545"/>
            <a:ext cx="9961493" cy="830997"/>
          </a:xfrm>
          <a:prstGeom prst="rect">
            <a:avLst/>
          </a:prstGeom>
          <a:noFill/>
        </p:spPr>
        <p:txBody>
          <a:bodyPr wrap="square">
            <a:spAutoFit/>
          </a:bodyPr>
          <a:lstStyle/>
          <a:p>
            <a:pPr algn="l"/>
            <a:r>
              <a:rPr lang="en-US" sz="2400" b="0" u="none" strike="noStrike" baseline="0" dirty="0"/>
              <a:t>Threshold logic unit: an artificial neuron which computes a weighted sum of its inputs then applies a step function</a:t>
            </a:r>
            <a:endParaRPr lang="en-IN" sz="2400" dirty="0"/>
          </a:p>
        </p:txBody>
      </p:sp>
      <p:sp>
        <p:nvSpPr>
          <p:cNvPr id="3" name="TextBox 2">
            <a:extLst>
              <a:ext uri="{FF2B5EF4-FFF2-40B4-BE49-F238E27FC236}">
                <a16:creationId xmlns:a16="http://schemas.microsoft.com/office/drawing/2014/main" id="{ABCB1417-7862-AC6E-7374-68BCBE3AB827}"/>
              </a:ext>
            </a:extLst>
          </p:cNvPr>
          <p:cNvSpPr txBox="1"/>
          <p:nvPr/>
        </p:nvSpPr>
        <p:spPr>
          <a:xfrm>
            <a:off x="8816008" y="2521385"/>
            <a:ext cx="566530" cy="400110"/>
          </a:xfrm>
          <a:prstGeom prst="rect">
            <a:avLst/>
          </a:prstGeom>
          <a:solidFill>
            <a:schemeClr val="bg1"/>
          </a:solidFill>
        </p:spPr>
        <p:txBody>
          <a:bodyPr wrap="square" rtlCol="0">
            <a:spAutoFit/>
          </a:bodyPr>
          <a:lstStyle/>
          <a:p>
            <a:r>
              <a:rPr lang="en-IN" sz="2000" dirty="0"/>
              <a:t>(y)</a:t>
            </a:r>
          </a:p>
        </p:txBody>
      </p:sp>
      <p:sp>
        <p:nvSpPr>
          <p:cNvPr id="8" name="TextBox 7">
            <a:extLst>
              <a:ext uri="{FF2B5EF4-FFF2-40B4-BE49-F238E27FC236}">
                <a16:creationId xmlns:a16="http://schemas.microsoft.com/office/drawing/2014/main" id="{C13F2BA2-6A2C-A888-FD9F-BFF6AC007BA1}"/>
              </a:ext>
            </a:extLst>
          </p:cNvPr>
          <p:cNvSpPr txBox="1"/>
          <p:nvPr/>
        </p:nvSpPr>
        <p:spPr>
          <a:xfrm>
            <a:off x="8269355" y="3046887"/>
            <a:ext cx="288236" cy="461665"/>
          </a:xfrm>
          <a:prstGeom prst="rect">
            <a:avLst/>
          </a:prstGeom>
          <a:solidFill>
            <a:schemeClr val="bg1"/>
          </a:solidFill>
        </p:spPr>
        <p:txBody>
          <a:bodyPr wrap="square" rtlCol="0">
            <a:spAutoFit/>
          </a:bodyPr>
          <a:lstStyle/>
          <a:p>
            <a:r>
              <a:rPr lang="en-IN" sz="2400" dirty="0"/>
              <a:t>y</a:t>
            </a:r>
          </a:p>
        </p:txBody>
      </p:sp>
    </p:spTree>
    <p:extLst>
      <p:ext uri="{BB962C8B-B14F-4D97-AF65-F5344CB8AC3E}">
        <p14:creationId xmlns:p14="http://schemas.microsoft.com/office/powerpoint/2010/main" val="239921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253D-710B-8ECA-1060-6EFC15ADB312}"/>
              </a:ext>
            </a:extLst>
          </p:cNvPr>
          <p:cNvSpPr>
            <a:spLocks noGrp="1"/>
          </p:cNvSpPr>
          <p:nvPr>
            <p:ph type="title"/>
          </p:nvPr>
        </p:nvSpPr>
        <p:spPr/>
        <p:txBody>
          <a:bodyPr/>
          <a:lstStyle/>
          <a:p>
            <a:r>
              <a:rPr lang="en-IN" dirty="0"/>
              <a:t>Perceptron</a:t>
            </a:r>
          </a:p>
        </p:txBody>
      </p:sp>
      <p:sp>
        <p:nvSpPr>
          <p:cNvPr id="3" name="Content Placeholder 2">
            <a:extLst>
              <a:ext uri="{FF2B5EF4-FFF2-40B4-BE49-F238E27FC236}">
                <a16:creationId xmlns:a16="http://schemas.microsoft.com/office/drawing/2014/main" id="{30464621-D47D-8B38-2C96-6D6CA5073849}"/>
              </a:ext>
            </a:extLst>
          </p:cNvPr>
          <p:cNvSpPr>
            <a:spLocks noGrp="1"/>
          </p:cNvSpPr>
          <p:nvPr>
            <p:ph idx="1"/>
          </p:nvPr>
        </p:nvSpPr>
        <p:spPr>
          <a:xfrm>
            <a:off x="838200" y="1620078"/>
            <a:ext cx="10515600" cy="4780722"/>
          </a:xfrm>
        </p:spPr>
        <p:txBody>
          <a:bodyPr>
            <a:normAutofit/>
          </a:bodyPr>
          <a:lstStyle/>
          <a:p>
            <a:r>
              <a:rPr lang="en-US" sz="2400" dirty="0"/>
              <a:t>Perceptron is one of the simplest ANN architectures, invented in 1957 by Frank Rosenblatt. </a:t>
            </a:r>
          </a:p>
          <a:p>
            <a:r>
              <a:rPr lang="en-US" sz="2400" dirty="0"/>
              <a:t>It is based on a slightly different artificial neuron called a threshold logic unit (TLU), or sometimes a linear threshold unit (LTU). </a:t>
            </a:r>
          </a:p>
          <a:p>
            <a:r>
              <a:rPr lang="en-US" sz="2400" dirty="0"/>
              <a:t>The inputs and output are numbers, and each input connection is associated with a weight. </a:t>
            </a:r>
          </a:p>
          <a:p>
            <a:r>
              <a:rPr lang="en-US" sz="2400" dirty="0"/>
              <a:t>The TLU computes a weighted sum of its inputs </a:t>
            </a:r>
          </a:p>
          <a:p>
            <a:pPr marL="0" indent="0" algn="ctr">
              <a:buNone/>
            </a:pPr>
            <a:r>
              <a:rPr lang="en-US" sz="2400" dirty="0"/>
              <a:t>Y = w</a:t>
            </a:r>
            <a:r>
              <a:rPr lang="en-US" sz="2400" baseline="-25000" dirty="0"/>
              <a:t>1</a:t>
            </a:r>
            <a:r>
              <a:rPr lang="en-US" sz="2400" dirty="0"/>
              <a:t> x</a:t>
            </a:r>
            <a:r>
              <a:rPr lang="en-US" sz="2400" baseline="-25000" dirty="0"/>
              <a:t>1</a:t>
            </a:r>
            <a:r>
              <a:rPr lang="en-US" sz="2400" dirty="0"/>
              <a:t>+ w</a:t>
            </a:r>
            <a:r>
              <a:rPr lang="en-US" sz="2400" baseline="-25000" dirty="0"/>
              <a:t>2</a:t>
            </a:r>
            <a:r>
              <a:rPr lang="en-US" sz="2400" dirty="0"/>
              <a:t> x</a:t>
            </a:r>
            <a:r>
              <a:rPr lang="en-US" sz="2400" baseline="-25000" dirty="0"/>
              <a:t>2</a:t>
            </a:r>
            <a:r>
              <a:rPr lang="en-US" sz="2400" dirty="0"/>
              <a:t> + ⋯ + </a:t>
            </a:r>
            <a:r>
              <a:rPr lang="en-US" sz="2400" dirty="0" err="1"/>
              <a:t>w</a:t>
            </a:r>
            <a:r>
              <a:rPr lang="en-US" sz="2400" baseline="-25000" dirty="0" err="1"/>
              <a:t>n</a:t>
            </a:r>
            <a:r>
              <a:rPr lang="en-US" sz="2400" dirty="0" err="1"/>
              <a:t>x</a:t>
            </a:r>
            <a:r>
              <a:rPr lang="en-US" sz="2400" baseline="-25000" dirty="0" err="1"/>
              <a:t>n</a:t>
            </a:r>
            <a:r>
              <a:rPr lang="en-US" sz="2400" dirty="0"/>
              <a:t> = </a:t>
            </a:r>
            <a:r>
              <a:rPr lang="en-US" sz="2400" b="1" dirty="0" err="1"/>
              <a:t>x</a:t>
            </a:r>
            <a:r>
              <a:rPr lang="en-US" sz="2400" baseline="30000" dirty="0" err="1"/>
              <a:t>⊺</a:t>
            </a:r>
            <a:r>
              <a:rPr lang="en-US" sz="2400" b="1" dirty="0" err="1"/>
              <a:t>w</a:t>
            </a:r>
            <a:endParaRPr lang="en-US" sz="2400" dirty="0"/>
          </a:p>
          <a:p>
            <a:r>
              <a:rPr lang="en-US" sz="2400" dirty="0"/>
              <a:t>Then applies a step function to that sum and outputs the </a:t>
            </a:r>
            <a:r>
              <a:rPr lang="en-IN" sz="2400" dirty="0"/>
              <a:t>result: </a:t>
            </a:r>
          </a:p>
          <a:p>
            <a:pPr marL="0" indent="0" algn="ctr">
              <a:buNone/>
            </a:pPr>
            <a:r>
              <a:rPr lang="en-IN" sz="2400" dirty="0" err="1"/>
              <a:t>h</a:t>
            </a:r>
            <a:r>
              <a:rPr lang="en-IN" sz="2400" b="1" baseline="-25000" dirty="0" err="1"/>
              <a:t>w</a:t>
            </a:r>
            <a:r>
              <a:rPr lang="en-IN" sz="2400" dirty="0"/>
              <a:t>(</a:t>
            </a:r>
            <a:r>
              <a:rPr lang="en-IN" sz="2400" b="1" dirty="0"/>
              <a:t>x</a:t>
            </a:r>
            <a:r>
              <a:rPr lang="en-IN" sz="2400" dirty="0"/>
              <a:t>) = step(y), where Y = </a:t>
            </a:r>
            <a:r>
              <a:rPr lang="en-IN" sz="2400" b="1" dirty="0" err="1"/>
              <a:t>x</a:t>
            </a:r>
            <a:r>
              <a:rPr lang="en-IN" sz="2400" baseline="30000" dirty="0" err="1"/>
              <a:t>⊺</a:t>
            </a:r>
            <a:r>
              <a:rPr lang="en-IN" sz="2400" b="1" dirty="0" err="1"/>
              <a:t>w</a:t>
            </a:r>
            <a:r>
              <a:rPr lang="en-IN" sz="2400" dirty="0"/>
              <a:t>.</a:t>
            </a:r>
          </a:p>
        </p:txBody>
      </p:sp>
    </p:spTree>
    <p:extLst>
      <p:ext uri="{BB962C8B-B14F-4D97-AF65-F5344CB8AC3E}">
        <p14:creationId xmlns:p14="http://schemas.microsoft.com/office/powerpoint/2010/main" val="3226183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D6E45-336C-409A-0985-1968CF131C15}"/>
              </a:ext>
            </a:extLst>
          </p:cNvPr>
          <p:cNvSpPr>
            <a:spLocks noGrp="1"/>
          </p:cNvSpPr>
          <p:nvPr>
            <p:ph type="title"/>
          </p:nvPr>
        </p:nvSpPr>
        <p:spPr/>
        <p:txBody>
          <a:bodyPr/>
          <a:lstStyle/>
          <a:p>
            <a:r>
              <a:rPr lang="en-IN" dirty="0"/>
              <a:t>Perceptron</a:t>
            </a:r>
          </a:p>
        </p:txBody>
      </p:sp>
      <p:sp>
        <p:nvSpPr>
          <p:cNvPr id="3" name="Content Placeholder 2">
            <a:extLst>
              <a:ext uri="{FF2B5EF4-FFF2-40B4-BE49-F238E27FC236}">
                <a16:creationId xmlns:a16="http://schemas.microsoft.com/office/drawing/2014/main" id="{5ED3B459-FA76-FE07-C173-D95BBC0B6C1C}"/>
              </a:ext>
            </a:extLst>
          </p:cNvPr>
          <p:cNvSpPr>
            <a:spLocks noGrp="1"/>
          </p:cNvSpPr>
          <p:nvPr>
            <p:ph idx="1"/>
          </p:nvPr>
        </p:nvSpPr>
        <p:spPr>
          <a:xfrm>
            <a:off x="768626" y="1425185"/>
            <a:ext cx="10515600" cy="5067689"/>
          </a:xfrm>
        </p:spPr>
        <p:txBody>
          <a:bodyPr>
            <a:noAutofit/>
          </a:bodyPr>
          <a:lstStyle/>
          <a:p>
            <a:r>
              <a:rPr lang="en-US" sz="2400" dirty="0"/>
              <a:t>Common step functions used in Perceptron (assuming threshold =</a:t>
            </a:r>
            <a:r>
              <a:rPr lang="en-IN" sz="2400" dirty="0"/>
              <a:t>0)</a:t>
            </a:r>
          </a:p>
          <a:p>
            <a:endParaRPr lang="en-IN" sz="2400" dirty="0"/>
          </a:p>
          <a:p>
            <a:endParaRPr lang="en-IN" sz="2400" dirty="0"/>
          </a:p>
          <a:p>
            <a:endParaRPr lang="en-IN" sz="2400" dirty="0"/>
          </a:p>
          <a:p>
            <a:endParaRPr lang="en-IN" sz="2400" dirty="0"/>
          </a:p>
          <a:p>
            <a:r>
              <a:rPr lang="en-US" sz="2400" dirty="0"/>
              <a:t>A single TLU can be used for simple linear binary classification. It computes a linear combination of the inputs, and if the result exceeds a threshold, it outputs the positive class. Otherwise, it outputs the negative class (just like a Logistic Regression or </a:t>
            </a:r>
            <a:r>
              <a:rPr lang="en-IN" sz="2400" dirty="0"/>
              <a:t>linear SVM classifier)</a:t>
            </a:r>
          </a:p>
          <a:p>
            <a:r>
              <a:rPr lang="en-US" sz="2400" dirty="0"/>
              <a:t>For example, use a single TLU to classify iris flowers based on petal length and width (also adding an extra bias feature </a:t>
            </a:r>
            <a:r>
              <a:rPr lang="en-US" sz="2400" i="1" dirty="0"/>
              <a:t>x</a:t>
            </a:r>
            <a:r>
              <a:rPr lang="en-US" sz="2400" dirty="0"/>
              <a:t>0 = 1)</a:t>
            </a:r>
          </a:p>
          <a:p>
            <a:r>
              <a:rPr lang="en-US" sz="2400" dirty="0"/>
              <a:t>Training a TLU in this case means finding the right values </a:t>
            </a:r>
            <a:r>
              <a:rPr lang="pl-PL" sz="2400" dirty="0"/>
              <a:t>for </a:t>
            </a:r>
            <a:r>
              <a:rPr lang="pl-PL" sz="2400" i="1" dirty="0"/>
              <a:t>w</a:t>
            </a:r>
            <a:r>
              <a:rPr lang="pl-PL" sz="2400" dirty="0"/>
              <a:t>0, </a:t>
            </a:r>
            <a:r>
              <a:rPr lang="pl-PL" sz="2400" i="1" dirty="0"/>
              <a:t>w</a:t>
            </a:r>
            <a:r>
              <a:rPr lang="pl-PL" sz="2400" dirty="0"/>
              <a:t>1, and </a:t>
            </a:r>
            <a:r>
              <a:rPr lang="pl-PL" sz="2400" i="1" dirty="0"/>
              <a:t>w</a:t>
            </a:r>
            <a:r>
              <a:rPr lang="pl-PL" sz="2400" dirty="0"/>
              <a:t>2</a:t>
            </a:r>
            <a:endParaRPr lang="en-IN" sz="2400" dirty="0"/>
          </a:p>
        </p:txBody>
      </p:sp>
      <p:pic>
        <p:nvPicPr>
          <p:cNvPr id="5" name="Picture 4">
            <a:extLst>
              <a:ext uri="{FF2B5EF4-FFF2-40B4-BE49-F238E27FC236}">
                <a16:creationId xmlns:a16="http://schemas.microsoft.com/office/drawing/2014/main" id="{7AF8EB6D-DDF6-A405-2B74-A1B38C1C63EC}"/>
              </a:ext>
            </a:extLst>
          </p:cNvPr>
          <p:cNvPicPr>
            <a:picLocks noChangeAspect="1"/>
          </p:cNvPicPr>
          <p:nvPr/>
        </p:nvPicPr>
        <p:blipFill>
          <a:blip r:embed="rId2"/>
          <a:stretch>
            <a:fillRect/>
          </a:stretch>
        </p:blipFill>
        <p:spPr>
          <a:xfrm>
            <a:off x="1879201" y="2076261"/>
            <a:ext cx="7678222" cy="1352739"/>
          </a:xfrm>
          <a:prstGeom prst="rect">
            <a:avLst/>
          </a:prstGeom>
        </p:spPr>
      </p:pic>
    </p:spTree>
    <p:extLst>
      <p:ext uri="{BB962C8B-B14F-4D97-AF65-F5344CB8AC3E}">
        <p14:creationId xmlns:p14="http://schemas.microsoft.com/office/powerpoint/2010/main" val="2134598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B340F-A107-3528-9966-7365FA6393C6}"/>
              </a:ext>
            </a:extLst>
          </p:cNvPr>
          <p:cNvSpPr>
            <a:spLocks noGrp="1"/>
          </p:cNvSpPr>
          <p:nvPr>
            <p:ph type="title"/>
          </p:nvPr>
        </p:nvSpPr>
        <p:spPr/>
        <p:txBody>
          <a:bodyPr/>
          <a:lstStyle/>
          <a:p>
            <a:r>
              <a:rPr lang="en-IN" dirty="0"/>
              <a:t>Perceptron</a:t>
            </a:r>
          </a:p>
        </p:txBody>
      </p:sp>
      <p:pic>
        <p:nvPicPr>
          <p:cNvPr id="7" name="Content Placeholder 6">
            <a:extLst>
              <a:ext uri="{FF2B5EF4-FFF2-40B4-BE49-F238E27FC236}">
                <a16:creationId xmlns:a16="http://schemas.microsoft.com/office/drawing/2014/main" id="{92FE7096-4174-AC8A-A04A-7A9965E31B28}"/>
              </a:ext>
            </a:extLst>
          </p:cNvPr>
          <p:cNvPicPr>
            <a:picLocks noGrp="1" noChangeAspect="1"/>
          </p:cNvPicPr>
          <p:nvPr>
            <p:ph idx="1"/>
          </p:nvPr>
        </p:nvPicPr>
        <p:blipFill>
          <a:blip r:embed="rId2"/>
          <a:stretch>
            <a:fillRect/>
          </a:stretch>
        </p:blipFill>
        <p:spPr>
          <a:xfrm>
            <a:off x="3728102" y="494145"/>
            <a:ext cx="8371017" cy="4704020"/>
          </a:xfrm>
          <a:prstGeom prst="rect">
            <a:avLst/>
          </a:prstGeom>
        </p:spPr>
      </p:pic>
      <p:sp>
        <p:nvSpPr>
          <p:cNvPr id="9" name="TextBox 8">
            <a:extLst>
              <a:ext uri="{FF2B5EF4-FFF2-40B4-BE49-F238E27FC236}">
                <a16:creationId xmlns:a16="http://schemas.microsoft.com/office/drawing/2014/main" id="{9A5CE973-92D4-9289-338F-F04C169F2A25}"/>
              </a:ext>
            </a:extLst>
          </p:cNvPr>
          <p:cNvSpPr txBox="1"/>
          <p:nvPr/>
        </p:nvSpPr>
        <p:spPr>
          <a:xfrm>
            <a:off x="2204002" y="5442178"/>
            <a:ext cx="9484416" cy="830997"/>
          </a:xfrm>
          <a:prstGeom prst="rect">
            <a:avLst/>
          </a:prstGeom>
          <a:noFill/>
        </p:spPr>
        <p:txBody>
          <a:bodyPr wrap="square">
            <a:spAutoFit/>
          </a:bodyPr>
          <a:lstStyle/>
          <a:p>
            <a:pPr algn="l"/>
            <a:r>
              <a:rPr lang="en-US" sz="2400" b="0" i="1" u="none" strike="noStrike" baseline="0" dirty="0"/>
              <a:t>Architecture of a Perceptron with two input neurons, one bias neuron, and </a:t>
            </a:r>
            <a:r>
              <a:rPr lang="en-IN" sz="2400" b="0" i="1" u="none" strike="noStrike" baseline="0" dirty="0"/>
              <a:t>three output neurons</a:t>
            </a:r>
            <a:endParaRPr lang="en-IN" sz="2400" dirty="0"/>
          </a:p>
        </p:txBody>
      </p:sp>
    </p:spTree>
    <p:extLst>
      <p:ext uri="{BB962C8B-B14F-4D97-AF65-F5344CB8AC3E}">
        <p14:creationId xmlns:p14="http://schemas.microsoft.com/office/powerpoint/2010/main" val="2750857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C9180-91CE-1E96-5959-E24A6EB2B5C8}"/>
              </a:ext>
            </a:extLst>
          </p:cNvPr>
          <p:cNvSpPr>
            <a:spLocks noGrp="1"/>
          </p:cNvSpPr>
          <p:nvPr>
            <p:ph type="title"/>
          </p:nvPr>
        </p:nvSpPr>
        <p:spPr/>
        <p:txBody>
          <a:bodyPr/>
          <a:lstStyle/>
          <a:p>
            <a:r>
              <a:rPr lang="en-IN" dirty="0"/>
              <a:t>Perceptron</a:t>
            </a:r>
          </a:p>
        </p:txBody>
      </p:sp>
      <p:sp>
        <p:nvSpPr>
          <p:cNvPr id="3" name="Content Placeholder 2">
            <a:extLst>
              <a:ext uri="{FF2B5EF4-FFF2-40B4-BE49-F238E27FC236}">
                <a16:creationId xmlns:a16="http://schemas.microsoft.com/office/drawing/2014/main" id="{209CA652-921C-9C03-2A2A-66401D46FB23}"/>
              </a:ext>
            </a:extLst>
          </p:cNvPr>
          <p:cNvSpPr>
            <a:spLocks noGrp="1"/>
          </p:cNvSpPr>
          <p:nvPr>
            <p:ph idx="1"/>
          </p:nvPr>
        </p:nvSpPr>
        <p:spPr/>
        <p:txBody>
          <a:bodyPr>
            <a:normAutofit lnSpcReduction="10000"/>
          </a:bodyPr>
          <a:lstStyle/>
          <a:p>
            <a:r>
              <a:rPr lang="en-US" sz="2400" dirty="0"/>
              <a:t>A Perceptron is simply composed of a single layer of TLUs, with each TLU connected to all the inputs. </a:t>
            </a:r>
          </a:p>
          <a:p>
            <a:r>
              <a:rPr lang="en-US" sz="2400" dirty="0"/>
              <a:t>When all the neurons in a layer are connected to every neuron in the previous layer (i.e., its input neurons), the layer is called a fully connected layer, or a dense layer. </a:t>
            </a:r>
          </a:p>
          <a:p>
            <a:r>
              <a:rPr lang="en-US" sz="2400" dirty="0"/>
              <a:t>The inputs of the Perceptron are fed to special passthrough neurons called input neurons: they output whatever input they are fed. All the input neurons form the input layer. </a:t>
            </a:r>
          </a:p>
          <a:p>
            <a:r>
              <a:rPr lang="en-US" sz="2400" dirty="0"/>
              <a:t>An extra bias feature is generally added (x0 = 1): it is typically represented using a special type of neuron called a bias neuron, which outputs 1 all the time. </a:t>
            </a:r>
          </a:p>
          <a:p>
            <a:r>
              <a:rPr lang="en-US" sz="2400" dirty="0"/>
              <a:t>This Perceptron can classify instances simultaneously into three different binary classes, which makes it a multioutput classifier.</a:t>
            </a:r>
            <a:endParaRPr lang="en-IN" sz="2400" dirty="0"/>
          </a:p>
        </p:txBody>
      </p:sp>
    </p:spTree>
    <p:extLst>
      <p:ext uri="{BB962C8B-B14F-4D97-AF65-F5344CB8AC3E}">
        <p14:creationId xmlns:p14="http://schemas.microsoft.com/office/powerpoint/2010/main" val="3438758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21B96-B72E-497B-1F0F-C0FBE35C7175}"/>
              </a:ext>
            </a:extLst>
          </p:cNvPr>
          <p:cNvSpPr>
            <a:spLocks noGrp="1"/>
          </p:cNvSpPr>
          <p:nvPr>
            <p:ph type="title"/>
          </p:nvPr>
        </p:nvSpPr>
        <p:spPr/>
        <p:txBody>
          <a:bodyPr/>
          <a:lstStyle/>
          <a:p>
            <a:r>
              <a:rPr lang="en-IN" dirty="0"/>
              <a:t>Perceptron</a:t>
            </a:r>
          </a:p>
        </p:txBody>
      </p:sp>
      <p:sp>
        <p:nvSpPr>
          <p:cNvPr id="3" name="Content Placeholder 2">
            <a:extLst>
              <a:ext uri="{FF2B5EF4-FFF2-40B4-BE49-F238E27FC236}">
                <a16:creationId xmlns:a16="http://schemas.microsoft.com/office/drawing/2014/main" id="{267D781F-4E7D-B00D-B0AD-A451D8A7E884}"/>
              </a:ext>
            </a:extLst>
          </p:cNvPr>
          <p:cNvSpPr>
            <a:spLocks noGrp="1"/>
          </p:cNvSpPr>
          <p:nvPr>
            <p:ph idx="1"/>
          </p:nvPr>
        </p:nvSpPr>
        <p:spPr/>
        <p:txBody>
          <a:bodyPr>
            <a:normAutofit/>
          </a:bodyPr>
          <a:lstStyle/>
          <a:p>
            <a:r>
              <a:rPr lang="en-US" sz="2400" dirty="0"/>
              <a:t>Computing the outputs of a fully connected layer</a:t>
            </a:r>
          </a:p>
          <a:p>
            <a:pPr marL="0" indent="0" algn="ctr">
              <a:buNone/>
            </a:pPr>
            <a:r>
              <a:rPr lang="en-IN" sz="2400" b="1" dirty="0" err="1"/>
              <a:t>h</a:t>
            </a:r>
            <a:r>
              <a:rPr lang="en-IN" sz="2400" b="1" baseline="-25000" dirty="0" err="1"/>
              <a:t>W</a:t>
            </a:r>
            <a:r>
              <a:rPr lang="en-IN" sz="2400" b="1" baseline="-25000" dirty="0"/>
              <a:t>, b</a:t>
            </a:r>
            <a:r>
              <a:rPr lang="en-IN" sz="2400" b="1" dirty="0"/>
              <a:t>(X) = </a:t>
            </a:r>
            <a:r>
              <a:rPr lang="el-GR" sz="2400" b="1" dirty="0"/>
              <a:t>ϕ</a:t>
            </a:r>
            <a:r>
              <a:rPr lang="en-IN" sz="2400" b="1" dirty="0"/>
              <a:t>(XW + b)</a:t>
            </a:r>
          </a:p>
          <a:p>
            <a:r>
              <a:rPr lang="en-US" sz="2400" b="1" dirty="0"/>
              <a:t>X </a:t>
            </a:r>
            <a:r>
              <a:rPr lang="en-US" sz="2400" dirty="0"/>
              <a:t>represents the matrix of input features. It has one row per instance and one column per feature.</a:t>
            </a:r>
          </a:p>
          <a:p>
            <a:r>
              <a:rPr lang="en-US" sz="2400" dirty="0"/>
              <a:t>The weight matrix </a:t>
            </a:r>
            <a:r>
              <a:rPr lang="en-US" sz="2400" b="1" dirty="0"/>
              <a:t>W </a:t>
            </a:r>
            <a:r>
              <a:rPr lang="en-US" sz="2400" dirty="0"/>
              <a:t>contains all the connection weights except for the ones from the bias neuron. It has one row per input neuron and one column per artificial </a:t>
            </a:r>
            <a:r>
              <a:rPr lang="en-IN" sz="2400" dirty="0"/>
              <a:t>neuron in the layer.</a:t>
            </a:r>
          </a:p>
          <a:p>
            <a:r>
              <a:rPr lang="en-US" sz="2400" dirty="0"/>
              <a:t>The bias vector </a:t>
            </a:r>
            <a:r>
              <a:rPr lang="en-US" sz="2400" b="1" dirty="0"/>
              <a:t>b </a:t>
            </a:r>
            <a:r>
              <a:rPr lang="en-US" sz="2400" dirty="0"/>
              <a:t>contains all the connection weights between the bias neuron and the artificial neurons. It has one bias term per artificial neuron.</a:t>
            </a:r>
          </a:p>
          <a:p>
            <a:r>
              <a:rPr lang="en-US" sz="2400" dirty="0"/>
              <a:t>The function ϕ is called the activation function: when the artificial neurons are TLUs, it is a step function.</a:t>
            </a:r>
            <a:endParaRPr lang="en-IN" sz="2400" b="1" dirty="0"/>
          </a:p>
        </p:txBody>
      </p:sp>
    </p:spTree>
    <p:extLst>
      <p:ext uri="{BB962C8B-B14F-4D97-AF65-F5344CB8AC3E}">
        <p14:creationId xmlns:p14="http://schemas.microsoft.com/office/powerpoint/2010/main" val="3014837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9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r>
              <a:rPr lang="en-US"/>
              <a:t>Perceptron</a:t>
            </a:r>
            <a:endParaRPr/>
          </a:p>
        </p:txBody>
      </p:sp>
      <p:sp>
        <p:nvSpPr>
          <p:cNvPr id="732" name="Google Shape;732;p9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a:buClr>
                <a:schemeClr val="dk1"/>
              </a:buClr>
              <a:buSzPct val="100000"/>
            </a:pPr>
            <a:r>
              <a:rPr lang="en-US" sz="2400" dirty="0"/>
              <a:t>A Perceptron is a </a:t>
            </a:r>
            <a:r>
              <a:rPr lang="en-US" sz="2400" b="1" dirty="0"/>
              <a:t>type of artificial neuron</a:t>
            </a:r>
            <a:r>
              <a:rPr lang="en-US" sz="2400" dirty="0"/>
              <a:t>, introduced by Frank Rosenblatt in 1958. </a:t>
            </a:r>
          </a:p>
          <a:p>
            <a:pPr>
              <a:buClr>
                <a:schemeClr val="dk1"/>
              </a:buClr>
              <a:buSzPct val="100000"/>
            </a:pPr>
            <a:r>
              <a:rPr lang="en-US" sz="2400" dirty="0"/>
              <a:t>A perceptron </a:t>
            </a:r>
            <a:r>
              <a:rPr lang="en-US" sz="2400" b="1" dirty="0"/>
              <a:t>takes several inputs</a:t>
            </a:r>
            <a:r>
              <a:rPr lang="en-US" sz="2400" dirty="0"/>
              <a:t>, </a:t>
            </a:r>
            <a:r>
              <a:rPr lang="en-US" sz="2400" b="1" dirty="0"/>
              <a:t>applies weights</a:t>
            </a:r>
            <a:r>
              <a:rPr lang="en-US" sz="2400" dirty="0"/>
              <a:t> to them, </a:t>
            </a:r>
            <a:r>
              <a:rPr lang="en-US" sz="2400" b="1" dirty="0"/>
              <a:t>adds a bias</a:t>
            </a:r>
            <a:r>
              <a:rPr lang="en-US" sz="2400" dirty="0"/>
              <a:t>, and then </a:t>
            </a:r>
            <a:r>
              <a:rPr lang="en-US" sz="2400" b="1" dirty="0"/>
              <a:t>passes the result through an activation function</a:t>
            </a:r>
            <a:r>
              <a:rPr lang="en-US" sz="2400" dirty="0"/>
              <a:t> to produce an</a:t>
            </a:r>
            <a:r>
              <a:rPr lang="en-US" sz="2400" b="1" dirty="0"/>
              <a:t> output</a:t>
            </a:r>
            <a:r>
              <a:rPr lang="en-US" sz="2400" dirty="0"/>
              <a:t>. </a:t>
            </a:r>
          </a:p>
          <a:p>
            <a:pPr>
              <a:buClr>
                <a:schemeClr val="dk1"/>
              </a:buClr>
              <a:buSzPct val="100000"/>
            </a:pPr>
            <a:r>
              <a:rPr lang="en-US" sz="2400" dirty="0"/>
              <a:t>A Perceptron is the most fundamental unit of an artificial neural network, which is widely used in machine learning and artificial intelligence. </a:t>
            </a:r>
          </a:p>
          <a:p>
            <a:pPr>
              <a:buClr>
                <a:schemeClr val="dk1"/>
              </a:buClr>
              <a:buSzPct val="100000"/>
            </a:pPr>
            <a:r>
              <a:rPr lang="en-US" sz="2400" dirty="0"/>
              <a:t>It is inspired by the functioning of a biological neuron and is used to perform binary classification—that is, to decide whether something belongs to one class or another (e.g., yes/no, true/false, safe/unsafe).</a:t>
            </a:r>
            <a:endParaRPr sz="2400" dirty="0"/>
          </a:p>
          <a:p>
            <a:pPr>
              <a:buSzPct val="100000"/>
            </a:pPr>
            <a:endParaRPr sz="2400" dirty="0"/>
          </a:p>
        </p:txBody>
      </p:sp>
    </p:spTree>
    <p:extLst>
      <p:ext uri="{BB962C8B-B14F-4D97-AF65-F5344CB8AC3E}">
        <p14:creationId xmlns:p14="http://schemas.microsoft.com/office/powerpoint/2010/main" val="3839934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94"/>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endParaRPr/>
          </a:p>
        </p:txBody>
      </p:sp>
      <p:pic>
        <p:nvPicPr>
          <p:cNvPr id="738" name="Google Shape;738;p94"/>
          <p:cNvPicPr preferRelativeResize="0">
            <a:picLocks noGrp="1"/>
          </p:cNvPicPr>
          <p:nvPr>
            <p:ph type="body" idx="1"/>
          </p:nvPr>
        </p:nvPicPr>
        <p:blipFill rotWithShape="1">
          <a:blip r:embed="rId3">
            <a:alphaModFix/>
          </a:blip>
          <a:srcRect b="7466"/>
          <a:stretch/>
        </p:blipFill>
        <p:spPr>
          <a:xfrm>
            <a:off x="379680" y="252464"/>
            <a:ext cx="11566500" cy="6240300"/>
          </a:xfrm>
          <a:prstGeom prst="rect">
            <a:avLst/>
          </a:prstGeom>
          <a:noFill/>
          <a:ln>
            <a:noFill/>
          </a:ln>
        </p:spPr>
      </p:pic>
    </p:spTree>
    <p:extLst>
      <p:ext uri="{BB962C8B-B14F-4D97-AF65-F5344CB8AC3E}">
        <p14:creationId xmlns:p14="http://schemas.microsoft.com/office/powerpoint/2010/main" val="268951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5188D-617C-44A3-B7FC-816CEC24A547}"/>
              </a:ext>
            </a:extLst>
          </p:cNvPr>
          <p:cNvSpPr>
            <a:spLocks noGrp="1"/>
          </p:cNvSpPr>
          <p:nvPr>
            <p:ph type="title"/>
          </p:nvPr>
        </p:nvSpPr>
        <p:spPr/>
        <p:txBody>
          <a:bodyPr/>
          <a:lstStyle/>
          <a:p>
            <a:r>
              <a:rPr lang="en-US" dirty="0"/>
              <a:t>Perceptron learning rule (weight update)</a:t>
            </a:r>
            <a:endParaRPr lang="en-IN" dirty="0"/>
          </a:p>
        </p:txBody>
      </p:sp>
      <p:pic>
        <p:nvPicPr>
          <p:cNvPr id="5" name="Content Placeholder 4">
            <a:extLst>
              <a:ext uri="{FF2B5EF4-FFF2-40B4-BE49-F238E27FC236}">
                <a16:creationId xmlns:a16="http://schemas.microsoft.com/office/drawing/2014/main" id="{AF4432BC-63AC-06D7-B26D-C996C4634E86}"/>
              </a:ext>
            </a:extLst>
          </p:cNvPr>
          <p:cNvPicPr>
            <a:picLocks noGrp="1" noChangeAspect="1"/>
          </p:cNvPicPr>
          <p:nvPr>
            <p:ph idx="1"/>
          </p:nvPr>
        </p:nvPicPr>
        <p:blipFill>
          <a:blip r:embed="rId2"/>
          <a:stretch>
            <a:fillRect/>
          </a:stretch>
        </p:blipFill>
        <p:spPr>
          <a:xfrm>
            <a:off x="838200" y="1580117"/>
            <a:ext cx="10515600" cy="4265884"/>
          </a:xfrm>
          <a:prstGeom prst="rect">
            <a:avLst/>
          </a:prstGeom>
        </p:spPr>
      </p:pic>
    </p:spTree>
    <p:extLst>
      <p:ext uri="{BB962C8B-B14F-4D97-AF65-F5344CB8AC3E}">
        <p14:creationId xmlns:p14="http://schemas.microsoft.com/office/powerpoint/2010/main" val="2531799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601D6-EB46-FD38-2DAF-AAF1EF787329}"/>
              </a:ext>
            </a:extLst>
          </p:cNvPr>
          <p:cNvSpPr>
            <a:spLocks noGrp="1"/>
          </p:cNvSpPr>
          <p:nvPr>
            <p:ph type="title"/>
          </p:nvPr>
        </p:nvSpPr>
        <p:spPr/>
        <p:txBody>
          <a:bodyPr/>
          <a:lstStyle/>
          <a:p>
            <a:r>
              <a:rPr lang="en-IN" dirty="0"/>
              <a:t>Single Perceptron</a:t>
            </a:r>
          </a:p>
        </p:txBody>
      </p:sp>
      <p:pic>
        <p:nvPicPr>
          <p:cNvPr id="5" name="Content Placeholder 4">
            <a:extLst>
              <a:ext uri="{FF2B5EF4-FFF2-40B4-BE49-F238E27FC236}">
                <a16:creationId xmlns:a16="http://schemas.microsoft.com/office/drawing/2014/main" id="{B1E741C7-8E74-6948-7F4D-0C98D5652788}"/>
              </a:ext>
            </a:extLst>
          </p:cNvPr>
          <p:cNvPicPr>
            <a:picLocks noGrp="1" noChangeAspect="1"/>
          </p:cNvPicPr>
          <p:nvPr>
            <p:ph idx="1"/>
          </p:nvPr>
        </p:nvPicPr>
        <p:blipFill>
          <a:blip r:embed="rId2"/>
          <a:stretch>
            <a:fillRect/>
          </a:stretch>
        </p:blipFill>
        <p:spPr>
          <a:xfrm>
            <a:off x="838200" y="1583988"/>
            <a:ext cx="8057322" cy="4817923"/>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3F80624-A2EF-E5BF-7F8A-EE15031873A1}"/>
                  </a:ext>
                </a:extLst>
              </p:cNvPr>
              <p:cNvSpPr txBox="1"/>
              <p:nvPr/>
            </p:nvSpPr>
            <p:spPr>
              <a:xfrm>
                <a:off x="5343939" y="4987934"/>
                <a:ext cx="4780722" cy="1413977"/>
              </a:xfrm>
              <a:prstGeom prst="rect">
                <a:avLst/>
              </a:prstGeom>
              <a:solidFill>
                <a:schemeClr val="bg1"/>
              </a:solidFill>
            </p:spPr>
            <p:txBody>
              <a:bodyPr wrap="square" rtlCol="0">
                <a:spAutoFit/>
              </a:bodyPr>
              <a:lstStyle/>
              <a:p>
                <a:pPr>
                  <a:lnSpc>
                    <a:spcPct val="150000"/>
                  </a:lnSpc>
                </a:pPr>
                <a:r>
                  <a:rPr lang="en-IN" sz="2800" dirty="0"/>
                  <a:t>f(y) = </a:t>
                </a:r>
                <a14:m>
                  <m:oMath xmlns:m="http://schemas.openxmlformats.org/officeDocument/2006/math">
                    <m:d>
                      <m:dPr>
                        <m:begChr m:val="{"/>
                        <m:endChr m:val=""/>
                        <m:ctrlPr>
                          <a:rPr lang="en-IN" sz="2800" i="1" smtClean="0">
                            <a:latin typeface="Cambria Math" panose="02040503050406030204" pitchFamily="18" charset="0"/>
                          </a:rPr>
                        </m:ctrlPr>
                      </m:dPr>
                      <m:e>
                        <m:eqArr>
                          <m:eqArrPr>
                            <m:ctrlPr>
                              <a:rPr lang="en-IN" sz="2800" b="0" i="1" smtClean="0">
                                <a:latin typeface="Cambria Math" panose="02040503050406030204" pitchFamily="18" charset="0"/>
                              </a:rPr>
                            </m:ctrlPr>
                          </m:eqArrPr>
                          <m:e>
                            <m:r>
                              <a:rPr lang="en-IN" sz="2800" b="0" i="1" smtClean="0">
                                <a:latin typeface="Cambria Math" panose="02040503050406030204" pitchFamily="18" charset="0"/>
                              </a:rPr>
                              <m:t>1 </m:t>
                            </m:r>
                            <m:r>
                              <a:rPr lang="en-IN" sz="2800" b="0" i="1" smtClean="0">
                                <a:latin typeface="Cambria Math" panose="02040503050406030204" pitchFamily="18" charset="0"/>
                              </a:rPr>
                              <m:t>𝑖𝑓</m:t>
                            </m:r>
                            <m:r>
                              <a:rPr lang="en-IN" sz="2800" b="0" i="1" smtClean="0">
                                <a:latin typeface="Cambria Math" panose="02040503050406030204" pitchFamily="18" charset="0"/>
                              </a:rPr>
                              <m:t> </m:t>
                            </m:r>
                            <m:r>
                              <a:rPr lang="en-IN" sz="2800" b="0" i="1" smtClean="0">
                                <a:latin typeface="Cambria Math" panose="02040503050406030204" pitchFamily="18" charset="0"/>
                              </a:rPr>
                              <m:t>𝑦</m:t>
                            </m:r>
                            <m:r>
                              <a:rPr lang="en-IN" sz="2800" b="0" i="1" smtClean="0">
                                <a:latin typeface="Cambria Math" panose="02040503050406030204" pitchFamily="18" charset="0"/>
                              </a:rPr>
                              <m:t> ≥0</m:t>
                            </m:r>
                          </m:e>
                          <m:e>
                            <m:r>
                              <a:rPr lang="en-IN" sz="2800" b="0" i="1" smtClean="0">
                                <a:latin typeface="Cambria Math" panose="02040503050406030204" pitchFamily="18" charset="0"/>
                                <a:ea typeface="Cambria Math" panose="02040503050406030204" pitchFamily="18" charset="0"/>
                              </a:rPr>
                              <m:t>0 </m:t>
                            </m:r>
                            <m:r>
                              <a:rPr lang="en-IN" sz="2800" b="0" i="1" smtClean="0">
                                <a:latin typeface="Cambria Math" panose="02040503050406030204" pitchFamily="18" charset="0"/>
                                <a:ea typeface="Cambria Math" panose="02040503050406030204" pitchFamily="18" charset="0"/>
                              </a:rPr>
                              <m:t>𝑖𝑓</m:t>
                            </m:r>
                            <m:r>
                              <a:rPr lang="en-IN" sz="2800" b="0" i="1" smtClean="0">
                                <a:latin typeface="Cambria Math" panose="02040503050406030204" pitchFamily="18" charset="0"/>
                                <a:ea typeface="Cambria Math" panose="02040503050406030204" pitchFamily="18" charset="0"/>
                              </a:rPr>
                              <m:t> </m:t>
                            </m:r>
                            <m:r>
                              <a:rPr lang="en-IN" sz="2800" b="0" i="1" smtClean="0">
                                <a:latin typeface="Cambria Math" panose="02040503050406030204" pitchFamily="18" charset="0"/>
                                <a:ea typeface="Cambria Math" panose="02040503050406030204" pitchFamily="18" charset="0"/>
                              </a:rPr>
                              <m:t>𝑦</m:t>
                            </m:r>
                            <m:r>
                              <a:rPr lang="en-IN" sz="2800" b="0" i="1" smtClean="0">
                                <a:latin typeface="Cambria Math" panose="02040503050406030204" pitchFamily="18" charset="0"/>
                                <a:ea typeface="Cambria Math" panose="02040503050406030204" pitchFamily="18" charset="0"/>
                              </a:rPr>
                              <m:t>&lt;0 </m:t>
                            </m:r>
                          </m:e>
                        </m:eqArr>
                      </m:e>
                    </m:d>
                  </m:oMath>
                </a14:m>
                <a:endParaRPr lang="en-IN" sz="2800" dirty="0"/>
              </a:p>
            </p:txBody>
          </p:sp>
        </mc:Choice>
        <mc:Fallback xmlns="">
          <p:sp>
            <p:nvSpPr>
              <p:cNvPr id="3" name="TextBox 2">
                <a:extLst>
                  <a:ext uri="{FF2B5EF4-FFF2-40B4-BE49-F238E27FC236}">
                    <a16:creationId xmlns:a16="http://schemas.microsoft.com/office/drawing/2014/main" id="{33F80624-A2EF-E5BF-7F8A-EE15031873A1}"/>
                  </a:ext>
                </a:extLst>
              </p:cNvPr>
              <p:cNvSpPr txBox="1">
                <a:spLocks noRot="1" noChangeAspect="1" noMove="1" noResize="1" noEditPoints="1" noAdjustHandles="1" noChangeArrowheads="1" noChangeShapeType="1" noTextEdit="1"/>
              </p:cNvSpPr>
              <p:nvPr/>
            </p:nvSpPr>
            <p:spPr>
              <a:xfrm>
                <a:off x="5343939" y="4987934"/>
                <a:ext cx="4780722" cy="1413977"/>
              </a:xfrm>
              <a:prstGeom prst="rect">
                <a:avLst/>
              </a:prstGeom>
              <a:blipFill>
                <a:blip r:embed="rId3"/>
                <a:stretch>
                  <a:fillRect l="-2679"/>
                </a:stretch>
              </a:blipFill>
            </p:spPr>
            <p:txBody>
              <a:bodyPr/>
              <a:lstStyle/>
              <a:p>
                <a:r>
                  <a:rPr lang="en-IN">
                    <a:noFill/>
                  </a:rPr>
                  <a:t> </a:t>
                </a:r>
              </a:p>
            </p:txBody>
          </p:sp>
        </mc:Fallback>
      </mc:AlternateContent>
    </p:spTree>
    <p:extLst>
      <p:ext uri="{BB962C8B-B14F-4D97-AF65-F5344CB8AC3E}">
        <p14:creationId xmlns:p14="http://schemas.microsoft.com/office/powerpoint/2010/main" val="986015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F638D-40CD-9D76-12EB-3DED2AED6C74}"/>
              </a:ext>
            </a:extLst>
          </p:cNvPr>
          <p:cNvSpPr>
            <a:spLocks noGrp="1"/>
          </p:cNvSpPr>
          <p:nvPr>
            <p:ph type="title"/>
          </p:nvPr>
        </p:nvSpPr>
        <p:spPr/>
        <p:txBody>
          <a:bodyPr/>
          <a:lstStyle/>
          <a:p>
            <a:r>
              <a:rPr lang="en-US" dirty="0"/>
              <a:t>Example for </a:t>
            </a:r>
            <a:r>
              <a:rPr lang="en-IN" dirty="0"/>
              <a:t>one layer Perceptron</a:t>
            </a:r>
          </a:p>
        </p:txBody>
      </p:sp>
      <p:pic>
        <p:nvPicPr>
          <p:cNvPr id="5" name="Content Placeholder 4">
            <a:extLst>
              <a:ext uri="{FF2B5EF4-FFF2-40B4-BE49-F238E27FC236}">
                <a16:creationId xmlns:a16="http://schemas.microsoft.com/office/drawing/2014/main" id="{99BCE558-453D-FC4E-21D6-1CD061D36A3F}"/>
              </a:ext>
            </a:extLst>
          </p:cNvPr>
          <p:cNvPicPr>
            <a:picLocks noGrp="1" noChangeAspect="1"/>
          </p:cNvPicPr>
          <p:nvPr>
            <p:ph idx="1"/>
          </p:nvPr>
        </p:nvPicPr>
        <p:blipFill>
          <a:blip r:embed="rId2"/>
          <a:stretch>
            <a:fillRect/>
          </a:stretch>
        </p:blipFill>
        <p:spPr>
          <a:xfrm>
            <a:off x="1842494" y="2086502"/>
            <a:ext cx="8507012" cy="3829584"/>
          </a:xfrm>
          <a:prstGeom prst="rect">
            <a:avLst/>
          </a:prstGeom>
        </p:spPr>
      </p:pic>
      <p:sp>
        <p:nvSpPr>
          <p:cNvPr id="7" name="TextBox 6">
            <a:extLst>
              <a:ext uri="{FF2B5EF4-FFF2-40B4-BE49-F238E27FC236}">
                <a16:creationId xmlns:a16="http://schemas.microsoft.com/office/drawing/2014/main" id="{0F784901-E686-578F-E6FB-6B432FC787A2}"/>
              </a:ext>
            </a:extLst>
          </p:cNvPr>
          <p:cNvSpPr txBox="1"/>
          <p:nvPr/>
        </p:nvSpPr>
        <p:spPr>
          <a:xfrm>
            <a:off x="1100759" y="1717170"/>
            <a:ext cx="6097656" cy="461665"/>
          </a:xfrm>
          <a:prstGeom prst="rect">
            <a:avLst/>
          </a:prstGeom>
          <a:noFill/>
        </p:spPr>
        <p:txBody>
          <a:bodyPr wrap="square">
            <a:spAutoFit/>
          </a:bodyPr>
          <a:lstStyle/>
          <a:p>
            <a:pPr marL="342900" indent="-342900">
              <a:buFont typeface="Arial" panose="020B0604020202020204" pitchFamily="34" charset="0"/>
              <a:buChar char="•"/>
            </a:pPr>
            <a:r>
              <a:rPr lang="en-US" sz="2400" dirty="0"/>
              <a:t>Can Solve Only Linearly Separable Problems</a:t>
            </a:r>
            <a:endParaRPr lang="en-IN" sz="2400" dirty="0"/>
          </a:p>
        </p:txBody>
      </p:sp>
    </p:spTree>
    <p:extLst>
      <p:ext uri="{BB962C8B-B14F-4D97-AF65-F5344CB8AC3E}">
        <p14:creationId xmlns:p14="http://schemas.microsoft.com/office/powerpoint/2010/main" val="2286432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C2A13-84A1-8FC8-57AD-5644A5C88D21}"/>
              </a:ext>
            </a:extLst>
          </p:cNvPr>
          <p:cNvSpPr>
            <a:spLocks noGrp="1"/>
          </p:cNvSpPr>
          <p:nvPr>
            <p:ph type="title"/>
          </p:nvPr>
        </p:nvSpPr>
        <p:spPr/>
        <p:txBody>
          <a:bodyPr/>
          <a:lstStyle/>
          <a:p>
            <a:r>
              <a:rPr lang="en-IN" dirty="0"/>
              <a:t>PYQ: </a:t>
            </a:r>
          </a:p>
        </p:txBody>
      </p:sp>
      <p:sp>
        <p:nvSpPr>
          <p:cNvPr id="4" name="TextBox 3">
            <a:extLst>
              <a:ext uri="{FF2B5EF4-FFF2-40B4-BE49-F238E27FC236}">
                <a16:creationId xmlns:a16="http://schemas.microsoft.com/office/drawing/2014/main" id="{4440AD57-BC75-11CB-665B-373F58F7F3EA}"/>
              </a:ext>
            </a:extLst>
          </p:cNvPr>
          <p:cNvSpPr txBox="1"/>
          <p:nvPr/>
        </p:nvSpPr>
        <p:spPr>
          <a:xfrm>
            <a:off x="838200" y="1572262"/>
            <a:ext cx="10596716" cy="3114379"/>
          </a:xfrm>
          <a:prstGeom prst="rect">
            <a:avLst/>
          </a:prstGeom>
          <a:noFill/>
        </p:spPr>
        <p:txBody>
          <a:bodyPr wrap="square">
            <a:spAutoFit/>
          </a:bodyPr>
          <a:lstStyle/>
          <a:p>
            <a:pPr marL="0" marR="0">
              <a:lnSpc>
                <a:spcPct val="115000"/>
              </a:lnSpc>
              <a:spcBef>
                <a:spcPts val="1200"/>
              </a:spcBef>
              <a:spcAft>
                <a:spcPts val="1200"/>
              </a:spcAft>
              <a:buNone/>
            </a:pPr>
            <a:r>
              <a:rPr lang="en-US" sz="2400" b="1" dirty="0">
                <a:solidFill>
                  <a:srgbClr val="1B365D"/>
                </a:solidFill>
                <a:effectLst/>
                <a:latin typeface="Calibri" panose="020F0502020204030204" pitchFamily="34" charset="0"/>
                <a:ea typeface="MS Mincho" panose="02020609040205080304" pitchFamily="49" charset="-128"/>
                <a:cs typeface="Times New Roman" panose="02020603050405020304" pitchFamily="18" charset="0"/>
              </a:rPr>
              <a:t>Illustrate how the perceptron learning algorithm can be used to solve the two-input AND gate problem. Use the following settings: </a:t>
            </a:r>
            <a:endParaRPr lang="en-IN" sz="1400" dirty="0">
              <a:solidFill>
                <a:srgbClr val="2B2B2B"/>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nSpc>
                <a:spcPct val="115000"/>
              </a:lnSpc>
              <a:spcBef>
                <a:spcPts val="1200"/>
              </a:spcBef>
              <a:spcAft>
                <a:spcPts val="1200"/>
              </a:spcAft>
              <a:buNone/>
            </a:pPr>
            <a:r>
              <a:rPr lang="en-US" sz="2400" b="1" dirty="0" err="1">
                <a:solidFill>
                  <a:srgbClr val="1B365D"/>
                </a:solidFill>
                <a:effectLst/>
                <a:latin typeface="Calibri" panose="020F0502020204030204" pitchFamily="34" charset="0"/>
                <a:ea typeface="MS Mincho" panose="02020609040205080304" pitchFamily="49" charset="-128"/>
                <a:cs typeface="Times New Roman" panose="02020603050405020304" pitchFamily="18" charset="0"/>
              </a:rPr>
              <a:t>i</a:t>
            </a:r>
            <a:r>
              <a:rPr lang="en-US" sz="2400" b="1" dirty="0">
                <a:solidFill>
                  <a:srgbClr val="1B365D"/>
                </a:solidFill>
                <a:effectLst/>
                <a:latin typeface="Calibri" panose="020F0502020204030204" pitchFamily="34" charset="0"/>
                <a:ea typeface="MS Mincho" panose="02020609040205080304" pitchFamily="49" charset="-128"/>
                <a:cs typeface="Times New Roman" panose="02020603050405020304" pitchFamily="18" charset="0"/>
              </a:rPr>
              <a:t>)Learning rate=1</a:t>
            </a:r>
            <a:endParaRPr lang="en-IN" sz="1400" dirty="0">
              <a:solidFill>
                <a:srgbClr val="2B2B2B"/>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nSpc>
                <a:spcPct val="115000"/>
              </a:lnSpc>
              <a:spcBef>
                <a:spcPts val="1200"/>
              </a:spcBef>
              <a:spcAft>
                <a:spcPts val="1200"/>
              </a:spcAft>
              <a:buNone/>
            </a:pPr>
            <a:r>
              <a:rPr lang="en-US" sz="2400" b="1" dirty="0">
                <a:solidFill>
                  <a:srgbClr val="1B365D"/>
                </a:solidFill>
                <a:effectLst/>
                <a:latin typeface="Calibri" panose="020F0502020204030204" pitchFamily="34" charset="0"/>
                <a:ea typeface="MS Mincho" panose="02020609040205080304" pitchFamily="49" charset="-128"/>
                <a:cs typeface="Times New Roman" panose="02020603050405020304" pitchFamily="18" charset="0"/>
              </a:rPr>
              <a:t>ii)All initial weights bias are zero</a:t>
            </a:r>
            <a:endParaRPr lang="en-IN" sz="1400" dirty="0">
              <a:solidFill>
                <a:srgbClr val="2B2B2B"/>
              </a:solidFill>
              <a:effectLst/>
              <a:latin typeface="Calibri" panose="020F0502020204030204" pitchFamily="34" charset="0"/>
              <a:ea typeface="MS Mincho" panose="02020609040205080304" pitchFamily="49" charset="-128"/>
              <a:cs typeface="Times New Roman" panose="02020603050405020304" pitchFamily="18" charset="0"/>
            </a:endParaRPr>
          </a:p>
          <a:p>
            <a:pPr marL="0" marR="0">
              <a:lnSpc>
                <a:spcPct val="115000"/>
              </a:lnSpc>
              <a:spcBef>
                <a:spcPts val="1200"/>
              </a:spcBef>
              <a:spcAft>
                <a:spcPts val="1200"/>
              </a:spcAft>
              <a:buNone/>
            </a:pPr>
            <a:r>
              <a:rPr lang="en-US" sz="2400" b="1" dirty="0">
                <a:solidFill>
                  <a:srgbClr val="1B365D"/>
                </a:solidFill>
                <a:effectLst/>
                <a:latin typeface="Calibri" panose="020F0502020204030204" pitchFamily="34" charset="0"/>
                <a:ea typeface="MS Mincho" panose="02020609040205080304" pitchFamily="49" charset="-128"/>
                <a:cs typeface="Times New Roman" panose="02020603050405020304" pitchFamily="18" charset="0"/>
              </a:rPr>
              <a:t>iii)show calculations for at least two epochs or until the perceptron converges. </a:t>
            </a:r>
            <a:endParaRPr lang="en-IN" sz="1100" dirty="0">
              <a:solidFill>
                <a:srgbClr val="2B2B2B"/>
              </a:solidFill>
              <a:effectLst/>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965947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D85F08A-D7D4-EE92-417E-4556471E87BE}"/>
              </a:ext>
            </a:extLst>
          </p:cNvPr>
          <p:cNvPicPr>
            <a:picLocks noChangeAspect="1"/>
          </p:cNvPicPr>
          <p:nvPr/>
        </p:nvPicPr>
        <p:blipFill>
          <a:blip r:embed="rId2"/>
          <a:stretch>
            <a:fillRect/>
          </a:stretch>
        </p:blipFill>
        <p:spPr>
          <a:xfrm>
            <a:off x="727587" y="381000"/>
            <a:ext cx="7030065" cy="4090219"/>
          </a:xfrm>
          <a:prstGeom prst="rect">
            <a:avLst/>
          </a:prstGeom>
        </p:spPr>
      </p:pic>
      <p:pic>
        <p:nvPicPr>
          <p:cNvPr id="6" name="Picture 5">
            <a:extLst>
              <a:ext uri="{FF2B5EF4-FFF2-40B4-BE49-F238E27FC236}">
                <a16:creationId xmlns:a16="http://schemas.microsoft.com/office/drawing/2014/main" id="{C102066D-AA86-C027-C1F4-1F2EEFD79A44}"/>
              </a:ext>
            </a:extLst>
          </p:cNvPr>
          <p:cNvPicPr>
            <a:picLocks noChangeAspect="1"/>
          </p:cNvPicPr>
          <p:nvPr/>
        </p:nvPicPr>
        <p:blipFill>
          <a:blip r:embed="rId3"/>
          <a:stretch>
            <a:fillRect/>
          </a:stretch>
        </p:blipFill>
        <p:spPr>
          <a:xfrm>
            <a:off x="1421921" y="4484685"/>
            <a:ext cx="3366389" cy="432822"/>
          </a:xfrm>
          <a:prstGeom prst="rect">
            <a:avLst/>
          </a:prstGeom>
        </p:spPr>
      </p:pic>
      <p:pic>
        <p:nvPicPr>
          <p:cNvPr id="8" name="Picture 7">
            <a:extLst>
              <a:ext uri="{FF2B5EF4-FFF2-40B4-BE49-F238E27FC236}">
                <a16:creationId xmlns:a16="http://schemas.microsoft.com/office/drawing/2014/main" id="{CDDA0973-76AB-BE39-7303-3584361CA3B7}"/>
              </a:ext>
            </a:extLst>
          </p:cNvPr>
          <p:cNvPicPr>
            <a:picLocks noChangeAspect="1"/>
          </p:cNvPicPr>
          <p:nvPr/>
        </p:nvPicPr>
        <p:blipFill>
          <a:blip r:embed="rId4"/>
          <a:stretch>
            <a:fillRect/>
          </a:stretch>
        </p:blipFill>
        <p:spPr>
          <a:xfrm>
            <a:off x="727586" y="5135869"/>
            <a:ext cx="7102863" cy="419357"/>
          </a:xfrm>
          <a:prstGeom prst="rect">
            <a:avLst/>
          </a:prstGeom>
        </p:spPr>
      </p:pic>
    </p:spTree>
    <p:extLst>
      <p:ext uri="{BB962C8B-B14F-4D97-AF65-F5344CB8AC3E}">
        <p14:creationId xmlns:p14="http://schemas.microsoft.com/office/powerpoint/2010/main" val="3567329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B5CD13-C618-BEB7-78AF-8E8B81EC182E}"/>
              </a:ext>
            </a:extLst>
          </p:cNvPr>
          <p:cNvPicPr>
            <a:picLocks noChangeAspect="1"/>
          </p:cNvPicPr>
          <p:nvPr/>
        </p:nvPicPr>
        <p:blipFill>
          <a:blip r:embed="rId2"/>
          <a:stretch>
            <a:fillRect/>
          </a:stretch>
        </p:blipFill>
        <p:spPr>
          <a:xfrm>
            <a:off x="565902" y="649732"/>
            <a:ext cx="11074344" cy="4034563"/>
          </a:xfrm>
          <a:prstGeom prst="rect">
            <a:avLst/>
          </a:prstGeom>
        </p:spPr>
      </p:pic>
      <p:pic>
        <p:nvPicPr>
          <p:cNvPr id="7" name="Picture 6">
            <a:extLst>
              <a:ext uri="{FF2B5EF4-FFF2-40B4-BE49-F238E27FC236}">
                <a16:creationId xmlns:a16="http://schemas.microsoft.com/office/drawing/2014/main" id="{A1385553-CFB9-5861-DD9E-79C7FF2770B9}"/>
              </a:ext>
            </a:extLst>
          </p:cNvPr>
          <p:cNvPicPr>
            <a:picLocks noChangeAspect="1"/>
          </p:cNvPicPr>
          <p:nvPr/>
        </p:nvPicPr>
        <p:blipFill>
          <a:blip r:embed="rId3"/>
          <a:stretch>
            <a:fillRect/>
          </a:stretch>
        </p:blipFill>
        <p:spPr>
          <a:xfrm>
            <a:off x="8105086" y="5182526"/>
            <a:ext cx="3139712" cy="1310754"/>
          </a:xfrm>
          <a:prstGeom prst="rect">
            <a:avLst/>
          </a:prstGeom>
        </p:spPr>
      </p:pic>
    </p:spTree>
    <p:extLst>
      <p:ext uri="{BB962C8B-B14F-4D97-AF65-F5344CB8AC3E}">
        <p14:creationId xmlns:p14="http://schemas.microsoft.com/office/powerpoint/2010/main" val="7504555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C76C41-4AF9-2A00-F514-F0FABE349620}"/>
              </a:ext>
            </a:extLst>
          </p:cNvPr>
          <p:cNvPicPr>
            <a:picLocks noChangeAspect="1"/>
          </p:cNvPicPr>
          <p:nvPr/>
        </p:nvPicPr>
        <p:blipFill>
          <a:blip r:embed="rId2"/>
          <a:stretch>
            <a:fillRect/>
          </a:stretch>
        </p:blipFill>
        <p:spPr>
          <a:xfrm>
            <a:off x="657561" y="1155030"/>
            <a:ext cx="10249779" cy="3801979"/>
          </a:xfrm>
          <a:prstGeom prst="rect">
            <a:avLst/>
          </a:prstGeom>
        </p:spPr>
      </p:pic>
    </p:spTree>
    <p:extLst>
      <p:ext uri="{BB962C8B-B14F-4D97-AF65-F5344CB8AC3E}">
        <p14:creationId xmlns:p14="http://schemas.microsoft.com/office/powerpoint/2010/main" val="14124901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4A1D62-BA94-8A03-9029-CAF0BB9500B8}"/>
              </a:ext>
            </a:extLst>
          </p:cNvPr>
          <p:cNvPicPr>
            <a:picLocks noChangeAspect="1"/>
          </p:cNvPicPr>
          <p:nvPr/>
        </p:nvPicPr>
        <p:blipFill>
          <a:blip r:embed="rId2"/>
          <a:stretch>
            <a:fillRect/>
          </a:stretch>
        </p:blipFill>
        <p:spPr>
          <a:xfrm>
            <a:off x="475708" y="994611"/>
            <a:ext cx="11716292" cy="4251157"/>
          </a:xfrm>
          <a:prstGeom prst="rect">
            <a:avLst/>
          </a:prstGeom>
        </p:spPr>
      </p:pic>
    </p:spTree>
    <p:extLst>
      <p:ext uri="{BB962C8B-B14F-4D97-AF65-F5344CB8AC3E}">
        <p14:creationId xmlns:p14="http://schemas.microsoft.com/office/powerpoint/2010/main" val="2321866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3BECB4-E853-648F-0C09-5067B9452A77}"/>
              </a:ext>
            </a:extLst>
          </p:cNvPr>
          <p:cNvPicPr>
            <a:picLocks noChangeAspect="1"/>
          </p:cNvPicPr>
          <p:nvPr/>
        </p:nvPicPr>
        <p:blipFill>
          <a:blip r:embed="rId2"/>
          <a:stretch>
            <a:fillRect/>
          </a:stretch>
        </p:blipFill>
        <p:spPr>
          <a:xfrm>
            <a:off x="445413" y="914399"/>
            <a:ext cx="11587845" cy="4186989"/>
          </a:xfrm>
          <a:prstGeom prst="rect">
            <a:avLst/>
          </a:prstGeom>
        </p:spPr>
      </p:pic>
    </p:spTree>
    <p:extLst>
      <p:ext uri="{BB962C8B-B14F-4D97-AF65-F5344CB8AC3E}">
        <p14:creationId xmlns:p14="http://schemas.microsoft.com/office/powerpoint/2010/main" val="4051802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AEE80B-D695-F3DF-6322-2FA3652C7EB9}"/>
              </a:ext>
            </a:extLst>
          </p:cNvPr>
          <p:cNvPicPr>
            <a:picLocks noChangeAspect="1"/>
          </p:cNvPicPr>
          <p:nvPr/>
        </p:nvPicPr>
        <p:blipFill>
          <a:blip r:embed="rId2"/>
          <a:stretch>
            <a:fillRect/>
          </a:stretch>
        </p:blipFill>
        <p:spPr>
          <a:xfrm>
            <a:off x="484570" y="1347537"/>
            <a:ext cx="11590467" cy="4299284"/>
          </a:xfrm>
          <a:prstGeom prst="rect">
            <a:avLst/>
          </a:prstGeom>
        </p:spPr>
      </p:pic>
    </p:spTree>
    <p:extLst>
      <p:ext uri="{BB962C8B-B14F-4D97-AF65-F5344CB8AC3E}">
        <p14:creationId xmlns:p14="http://schemas.microsoft.com/office/powerpoint/2010/main" val="2368048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1224ED-80D0-4E72-CE50-7DF9309177CD}"/>
              </a:ext>
            </a:extLst>
          </p:cNvPr>
          <p:cNvPicPr>
            <a:picLocks noChangeAspect="1"/>
          </p:cNvPicPr>
          <p:nvPr/>
        </p:nvPicPr>
        <p:blipFill>
          <a:blip r:embed="rId2"/>
          <a:stretch>
            <a:fillRect/>
          </a:stretch>
        </p:blipFill>
        <p:spPr>
          <a:xfrm>
            <a:off x="558014" y="1106905"/>
            <a:ext cx="11312547" cy="4219074"/>
          </a:xfrm>
          <a:prstGeom prst="rect">
            <a:avLst/>
          </a:prstGeom>
        </p:spPr>
      </p:pic>
    </p:spTree>
    <p:extLst>
      <p:ext uri="{BB962C8B-B14F-4D97-AF65-F5344CB8AC3E}">
        <p14:creationId xmlns:p14="http://schemas.microsoft.com/office/powerpoint/2010/main" val="2411606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D579EB-F92C-C61B-6645-3B4463ECC061}"/>
              </a:ext>
            </a:extLst>
          </p:cNvPr>
          <p:cNvPicPr>
            <a:picLocks noChangeAspect="1"/>
          </p:cNvPicPr>
          <p:nvPr/>
        </p:nvPicPr>
        <p:blipFill>
          <a:blip r:embed="rId2"/>
          <a:stretch>
            <a:fillRect/>
          </a:stretch>
        </p:blipFill>
        <p:spPr>
          <a:xfrm>
            <a:off x="287121" y="0"/>
            <a:ext cx="11361955" cy="4748463"/>
          </a:xfrm>
          <a:prstGeom prst="rect">
            <a:avLst/>
          </a:prstGeom>
        </p:spPr>
      </p:pic>
      <p:pic>
        <p:nvPicPr>
          <p:cNvPr id="5" name="Picture 4">
            <a:extLst>
              <a:ext uri="{FF2B5EF4-FFF2-40B4-BE49-F238E27FC236}">
                <a16:creationId xmlns:a16="http://schemas.microsoft.com/office/drawing/2014/main" id="{C9D253CF-158C-AE76-23BC-0E440CE81564}"/>
              </a:ext>
            </a:extLst>
          </p:cNvPr>
          <p:cNvPicPr>
            <a:picLocks noChangeAspect="1"/>
          </p:cNvPicPr>
          <p:nvPr/>
        </p:nvPicPr>
        <p:blipFill>
          <a:blip r:embed="rId3"/>
          <a:stretch>
            <a:fillRect/>
          </a:stretch>
        </p:blipFill>
        <p:spPr>
          <a:xfrm>
            <a:off x="287121" y="4748463"/>
            <a:ext cx="5248549" cy="414700"/>
          </a:xfrm>
          <a:prstGeom prst="rect">
            <a:avLst/>
          </a:prstGeom>
        </p:spPr>
      </p:pic>
      <p:pic>
        <p:nvPicPr>
          <p:cNvPr id="7" name="Picture 6">
            <a:extLst>
              <a:ext uri="{FF2B5EF4-FFF2-40B4-BE49-F238E27FC236}">
                <a16:creationId xmlns:a16="http://schemas.microsoft.com/office/drawing/2014/main" id="{CB591AEF-0334-50A8-E34D-545FB9BDC385}"/>
              </a:ext>
            </a:extLst>
          </p:cNvPr>
          <p:cNvPicPr>
            <a:picLocks noChangeAspect="1"/>
          </p:cNvPicPr>
          <p:nvPr/>
        </p:nvPicPr>
        <p:blipFill>
          <a:blip r:embed="rId4"/>
          <a:stretch>
            <a:fillRect/>
          </a:stretch>
        </p:blipFill>
        <p:spPr>
          <a:xfrm>
            <a:off x="6862096" y="4748463"/>
            <a:ext cx="3773820" cy="1923549"/>
          </a:xfrm>
          <a:prstGeom prst="rect">
            <a:avLst/>
          </a:prstGeom>
        </p:spPr>
      </p:pic>
    </p:spTree>
    <p:extLst>
      <p:ext uri="{BB962C8B-B14F-4D97-AF65-F5344CB8AC3E}">
        <p14:creationId xmlns:p14="http://schemas.microsoft.com/office/powerpoint/2010/main" val="8095213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82D34-68E5-8D50-9419-F42B61F0ADFC}"/>
              </a:ext>
            </a:extLst>
          </p:cNvPr>
          <p:cNvSpPr>
            <a:spLocks noGrp="1"/>
          </p:cNvSpPr>
          <p:nvPr>
            <p:ph type="title"/>
          </p:nvPr>
        </p:nvSpPr>
        <p:spPr/>
        <p:txBody>
          <a:bodyPr/>
          <a:lstStyle/>
          <a:p>
            <a:r>
              <a:rPr lang="en-US" dirty="0"/>
              <a:t>Perceptron Learning Algorithm (Training Method) – AND GATE</a:t>
            </a:r>
            <a:endParaRPr lang="en-IN" dirty="0"/>
          </a:p>
        </p:txBody>
      </p:sp>
      <p:pic>
        <p:nvPicPr>
          <p:cNvPr id="6" name="Picture 5">
            <a:extLst>
              <a:ext uri="{FF2B5EF4-FFF2-40B4-BE49-F238E27FC236}">
                <a16:creationId xmlns:a16="http://schemas.microsoft.com/office/drawing/2014/main" id="{B2E93831-0623-E6AA-56CC-6D60DAE995E5}"/>
              </a:ext>
            </a:extLst>
          </p:cNvPr>
          <p:cNvPicPr>
            <a:picLocks noChangeAspect="1"/>
          </p:cNvPicPr>
          <p:nvPr/>
        </p:nvPicPr>
        <p:blipFill>
          <a:blip r:embed="rId2"/>
          <a:stretch>
            <a:fillRect/>
          </a:stretch>
        </p:blipFill>
        <p:spPr>
          <a:xfrm>
            <a:off x="6095999" y="1591918"/>
            <a:ext cx="4901349" cy="4490830"/>
          </a:xfrm>
          <a:prstGeom prst="rect">
            <a:avLst/>
          </a:prstGeom>
        </p:spPr>
      </p:pic>
      <p:pic>
        <p:nvPicPr>
          <p:cNvPr id="10" name="Picture 9">
            <a:extLst>
              <a:ext uri="{FF2B5EF4-FFF2-40B4-BE49-F238E27FC236}">
                <a16:creationId xmlns:a16="http://schemas.microsoft.com/office/drawing/2014/main" id="{15FB47BE-4CF7-5510-1740-A8DC5069DD8B}"/>
              </a:ext>
            </a:extLst>
          </p:cNvPr>
          <p:cNvPicPr>
            <a:picLocks noChangeAspect="1"/>
          </p:cNvPicPr>
          <p:nvPr/>
        </p:nvPicPr>
        <p:blipFill>
          <a:blip r:embed="rId3"/>
          <a:stretch>
            <a:fillRect/>
          </a:stretch>
        </p:blipFill>
        <p:spPr>
          <a:xfrm>
            <a:off x="1194652" y="2831064"/>
            <a:ext cx="4439419" cy="2012537"/>
          </a:xfrm>
          <a:prstGeom prst="rect">
            <a:avLst/>
          </a:prstGeom>
        </p:spPr>
      </p:pic>
      <p:sp>
        <p:nvSpPr>
          <p:cNvPr id="15" name="TextBox 14">
            <a:extLst>
              <a:ext uri="{FF2B5EF4-FFF2-40B4-BE49-F238E27FC236}">
                <a16:creationId xmlns:a16="http://schemas.microsoft.com/office/drawing/2014/main" id="{948DEABD-0CCA-BF53-66AD-68C64646ADBD}"/>
              </a:ext>
            </a:extLst>
          </p:cNvPr>
          <p:cNvSpPr txBox="1"/>
          <p:nvPr/>
        </p:nvSpPr>
        <p:spPr>
          <a:xfrm>
            <a:off x="838200" y="1690688"/>
            <a:ext cx="4538870" cy="400110"/>
          </a:xfrm>
          <a:prstGeom prst="rect">
            <a:avLst/>
          </a:prstGeom>
          <a:noFill/>
        </p:spPr>
        <p:txBody>
          <a:bodyPr wrap="square" rtlCol="0">
            <a:spAutoFit/>
          </a:bodyPr>
          <a:lstStyle/>
          <a:p>
            <a:r>
              <a:rPr lang="en-IN" sz="2000" dirty="0"/>
              <a:t>Verify for the input </a:t>
            </a:r>
          </a:p>
        </p:txBody>
      </p:sp>
      <p:sp>
        <p:nvSpPr>
          <p:cNvPr id="4" name="TextBox 3">
            <a:extLst>
              <a:ext uri="{FF2B5EF4-FFF2-40B4-BE49-F238E27FC236}">
                <a16:creationId xmlns:a16="http://schemas.microsoft.com/office/drawing/2014/main" id="{59071F3A-5FF3-4745-9F85-DEADE303ED96}"/>
              </a:ext>
            </a:extLst>
          </p:cNvPr>
          <p:cNvSpPr txBox="1"/>
          <p:nvPr/>
        </p:nvSpPr>
        <p:spPr>
          <a:xfrm>
            <a:off x="3434240" y="1690688"/>
            <a:ext cx="6097656" cy="1384995"/>
          </a:xfrm>
          <a:prstGeom prst="rect">
            <a:avLst/>
          </a:prstGeom>
          <a:noFill/>
        </p:spPr>
        <p:txBody>
          <a:bodyPr wrap="square">
            <a:spAutoFit/>
          </a:bodyPr>
          <a:lstStyle/>
          <a:p>
            <a:r>
              <a:rPr lang="en-US" sz="2800" b="1" dirty="0">
                <a:solidFill>
                  <a:srgbClr val="2B2B2B"/>
                </a:solidFill>
                <a:effectLst/>
                <a:latin typeface="Calibri" panose="020F0502020204030204" pitchFamily="34" charset="0"/>
                <a:ea typeface="MS Mincho" panose="02020609040205080304" pitchFamily="49" charset="-128"/>
                <a:cs typeface="Times New Roman" panose="02020603050405020304" pitchFamily="18" charset="0"/>
              </a:rPr>
              <a:t>x1 + x2 - 1.5 = 0</a:t>
            </a:r>
            <a:br>
              <a:rPr lang="en-US" sz="2800" b="1" dirty="0">
                <a:solidFill>
                  <a:srgbClr val="2B2B2B"/>
                </a:solidFill>
                <a:effectLst/>
                <a:latin typeface="Calibri" panose="020F0502020204030204" pitchFamily="34" charset="0"/>
                <a:ea typeface="MS Mincho" panose="02020609040205080304" pitchFamily="49" charset="-128"/>
                <a:cs typeface="Times New Roman" panose="02020603050405020304" pitchFamily="18" charset="0"/>
              </a:rPr>
            </a:br>
            <a:br>
              <a:rPr lang="en-US" sz="2800" b="1" dirty="0">
                <a:solidFill>
                  <a:srgbClr val="2B2B2B"/>
                </a:solidFill>
                <a:effectLst/>
                <a:latin typeface="Calibri" panose="020F0502020204030204" pitchFamily="34" charset="0"/>
                <a:ea typeface="MS Mincho" panose="02020609040205080304" pitchFamily="49" charset="-128"/>
                <a:cs typeface="Times New Roman" panose="02020603050405020304" pitchFamily="18" charset="0"/>
              </a:rPr>
            </a:br>
            <a:endParaRPr lang="en-IN" sz="2800" b="1" dirty="0"/>
          </a:p>
        </p:txBody>
      </p:sp>
    </p:spTree>
    <p:extLst>
      <p:ext uri="{BB962C8B-B14F-4D97-AF65-F5344CB8AC3E}">
        <p14:creationId xmlns:p14="http://schemas.microsoft.com/office/powerpoint/2010/main" val="3864473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60653-8C2C-72EF-2AA7-5BCFAFECC978}"/>
              </a:ext>
            </a:extLst>
          </p:cNvPr>
          <p:cNvSpPr>
            <a:spLocks noGrp="1"/>
          </p:cNvSpPr>
          <p:nvPr>
            <p:ph type="title"/>
          </p:nvPr>
        </p:nvSpPr>
        <p:spPr/>
        <p:txBody>
          <a:bodyPr/>
          <a:lstStyle/>
          <a:p>
            <a:r>
              <a:rPr lang="en-US" dirty="0"/>
              <a:t>OR Gate Using Single Perceptron</a:t>
            </a:r>
            <a:endParaRPr lang="en-IN" dirty="0"/>
          </a:p>
        </p:txBody>
      </p:sp>
      <p:sp>
        <p:nvSpPr>
          <p:cNvPr id="6" name="TextBox 5">
            <a:extLst>
              <a:ext uri="{FF2B5EF4-FFF2-40B4-BE49-F238E27FC236}">
                <a16:creationId xmlns:a16="http://schemas.microsoft.com/office/drawing/2014/main" id="{48DA8695-5210-9922-E77D-58E3092F0C8E}"/>
              </a:ext>
            </a:extLst>
          </p:cNvPr>
          <p:cNvSpPr txBox="1"/>
          <p:nvPr/>
        </p:nvSpPr>
        <p:spPr>
          <a:xfrm>
            <a:off x="673376" y="2204125"/>
            <a:ext cx="6097656" cy="400110"/>
          </a:xfrm>
          <a:prstGeom prst="rect">
            <a:avLst/>
          </a:prstGeom>
          <a:noFill/>
        </p:spPr>
        <p:txBody>
          <a:bodyPr wrap="square">
            <a:spAutoFit/>
          </a:bodyPr>
          <a:lstStyle/>
          <a:p>
            <a:r>
              <a:rPr lang="en-IN" sz="2000" dirty="0"/>
              <a:t>Truth Table</a:t>
            </a:r>
          </a:p>
        </p:txBody>
      </p:sp>
      <p:graphicFrame>
        <p:nvGraphicFramePr>
          <p:cNvPr id="7" name="Content Placeholder 3">
            <a:extLst>
              <a:ext uri="{FF2B5EF4-FFF2-40B4-BE49-F238E27FC236}">
                <a16:creationId xmlns:a16="http://schemas.microsoft.com/office/drawing/2014/main" id="{3E7D19AE-0C65-6737-96FF-E2053ED9F7F2}"/>
              </a:ext>
            </a:extLst>
          </p:cNvPr>
          <p:cNvGraphicFramePr>
            <a:graphicFrameLocks/>
          </p:cNvGraphicFramePr>
          <p:nvPr/>
        </p:nvGraphicFramePr>
        <p:xfrm>
          <a:off x="362027" y="2735849"/>
          <a:ext cx="2644725" cy="1981200"/>
        </p:xfrm>
        <a:graphic>
          <a:graphicData uri="http://schemas.openxmlformats.org/drawingml/2006/table">
            <a:tbl>
              <a:tblPr/>
              <a:tblGrid>
                <a:gridCol w="552684">
                  <a:extLst>
                    <a:ext uri="{9D8B030D-6E8A-4147-A177-3AD203B41FA5}">
                      <a16:colId xmlns:a16="http://schemas.microsoft.com/office/drawing/2014/main" val="1976343300"/>
                    </a:ext>
                  </a:extLst>
                </a:gridCol>
                <a:gridCol w="645417">
                  <a:extLst>
                    <a:ext uri="{9D8B030D-6E8A-4147-A177-3AD203B41FA5}">
                      <a16:colId xmlns:a16="http://schemas.microsoft.com/office/drawing/2014/main" val="2483583611"/>
                    </a:ext>
                  </a:extLst>
                </a:gridCol>
                <a:gridCol w="637326">
                  <a:extLst>
                    <a:ext uri="{9D8B030D-6E8A-4147-A177-3AD203B41FA5}">
                      <a16:colId xmlns:a16="http://schemas.microsoft.com/office/drawing/2014/main" val="2240235814"/>
                    </a:ext>
                  </a:extLst>
                </a:gridCol>
                <a:gridCol w="809298">
                  <a:extLst>
                    <a:ext uri="{9D8B030D-6E8A-4147-A177-3AD203B41FA5}">
                      <a16:colId xmlns:a16="http://schemas.microsoft.com/office/drawing/2014/main" val="911596474"/>
                    </a:ext>
                  </a:extLst>
                </a:gridCol>
              </a:tblGrid>
              <a:tr h="0">
                <a:tc>
                  <a:txBody>
                    <a:bodyPr/>
                    <a:lstStyle/>
                    <a:p>
                      <a:pPr>
                        <a:buNone/>
                      </a:pPr>
                      <a:r>
                        <a:rPr lang="en-IN" sz="2000"/>
                        <a:t>x₁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x₂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1090297"/>
                  </a:ext>
                </a:extLst>
              </a:tr>
              <a:tr h="0">
                <a:tc>
                  <a:txBody>
                    <a:bodyPr/>
                    <a:lstStyle/>
                    <a:p>
                      <a:pPr>
                        <a:buNone/>
                      </a:pPr>
                      <a:r>
                        <a:rPr lang="en-IN" sz="20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3277055"/>
                  </a:ext>
                </a:extLst>
              </a:tr>
              <a:tr h="0">
                <a:tc>
                  <a:txBody>
                    <a:bodyPr/>
                    <a:lstStyle/>
                    <a:p>
                      <a:pPr>
                        <a:buNone/>
                      </a:pPr>
                      <a:r>
                        <a:rPr lang="en-IN" sz="2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8525971"/>
                  </a:ext>
                </a:extLst>
              </a:tr>
              <a:tr h="0">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573046"/>
                  </a:ext>
                </a:extLst>
              </a:tr>
              <a:tr h="0">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dirty="0"/>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8077718"/>
                  </a:ext>
                </a:extLst>
              </a:tr>
            </a:tbl>
          </a:graphicData>
        </a:graphic>
      </p:graphicFrame>
      <p:pic>
        <p:nvPicPr>
          <p:cNvPr id="11" name="Picture 10">
            <a:extLst>
              <a:ext uri="{FF2B5EF4-FFF2-40B4-BE49-F238E27FC236}">
                <a16:creationId xmlns:a16="http://schemas.microsoft.com/office/drawing/2014/main" id="{5C10222E-8828-48CD-3927-5A700007CCC3}"/>
              </a:ext>
            </a:extLst>
          </p:cNvPr>
          <p:cNvPicPr>
            <a:picLocks noChangeAspect="1"/>
          </p:cNvPicPr>
          <p:nvPr/>
        </p:nvPicPr>
        <p:blipFill>
          <a:blip r:embed="rId2"/>
          <a:stretch>
            <a:fillRect/>
          </a:stretch>
        </p:blipFill>
        <p:spPr>
          <a:xfrm>
            <a:off x="3081996" y="1868953"/>
            <a:ext cx="5068091" cy="2603656"/>
          </a:xfrm>
          <a:prstGeom prst="rect">
            <a:avLst/>
          </a:prstGeom>
        </p:spPr>
      </p:pic>
      <p:pic>
        <p:nvPicPr>
          <p:cNvPr id="13" name="Picture 12">
            <a:extLst>
              <a:ext uri="{FF2B5EF4-FFF2-40B4-BE49-F238E27FC236}">
                <a16:creationId xmlns:a16="http://schemas.microsoft.com/office/drawing/2014/main" id="{BD494B78-CB32-60C3-AECB-8ABE65E807A1}"/>
              </a:ext>
            </a:extLst>
          </p:cNvPr>
          <p:cNvPicPr>
            <a:picLocks noChangeAspect="1"/>
          </p:cNvPicPr>
          <p:nvPr/>
        </p:nvPicPr>
        <p:blipFill>
          <a:blip r:embed="rId3"/>
          <a:stretch>
            <a:fillRect/>
          </a:stretch>
        </p:blipFill>
        <p:spPr>
          <a:xfrm>
            <a:off x="3400049" y="4717049"/>
            <a:ext cx="4233203" cy="2049289"/>
          </a:xfrm>
          <a:prstGeom prst="rect">
            <a:avLst/>
          </a:prstGeom>
        </p:spPr>
      </p:pic>
      <p:pic>
        <p:nvPicPr>
          <p:cNvPr id="15" name="Picture 14">
            <a:extLst>
              <a:ext uri="{FF2B5EF4-FFF2-40B4-BE49-F238E27FC236}">
                <a16:creationId xmlns:a16="http://schemas.microsoft.com/office/drawing/2014/main" id="{D6E29D0F-226B-C260-1759-A213370B1CE1}"/>
              </a:ext>
            </a:extLst>
          </p:cNvPr>
          <p:cNvPicPr>
            <a:picLocks noChangeAspect="1"/>
          </p:cNvPicPr>
          <p:nvPr/>
        </p:nvPicPr>
        <p:blipFill>
          <a:blip r:embed="rId4"/>
          <a:stretch>
            <a:fillRect/>
          </a:stretch>
        </p:blipFill>
        <p:spPr>
          <a:xfrm>
            <a:off x="8374588" y="783728"/>
            <a:ext cx="3659887" cy="3458058"/>
          </a:xfrm>
          <a:prstGeom prst="rect">
            <a:avLst/>
          </a:prstGeom>
        </p:spPr>
      </p:pic>
      <p:pic>
        <p:nvPicPr>
          <p:cNvPr id="17" name="Picture 16">
            <a:extLst>
              <a:ext uri="{FF2B5EF4-FFF2-40B4-BE49-F238E27FC236}">
                <a16:creationId xmlns:a16="http://schemas.microsoft.com/office/drawing/2014/main" id="{CA425D52-F627-1B50-E096-1F987FA2998B}"/>
              </a:ext>
            </a:extLst>
          </p:cNvPr>
          <p:cNvPicPr>
            <a:picLocks noChangeAspect="1"/>
          </p:cNvPicPr>
          <p:nvPr/>
        </p:nvPicPr>
        <p:blipFill>
          <a:blip r:embed="rId5"/>
          <a:stretch>
            <a:fillRect/>
          </a:stretch>
        </p:blipFill>
        <p:spPr>
          <a:xfrm>
            <a:off x="8150087" y="4345243"/>
            <a:ext cx="3884388" cy="2283144"/>
          </a:xfrm>
          <a:prstGeom prst="rect">
            <a:avLst/>
          </a:prstGeom>
        </p:spPr>
      </p:pic>
    </p:spTree>
    <p:extLst>
      <p:ext uri="{BB962C8B-B14F-4D97-AF65-F5344CB8AC3E}">
        <p14:creationId xmlns:p14="http://schemas.microsoft.com/office/powerpoint/2010/main" val="2169254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1F1B3-31A8-3458-86B4-0F603CE92428}"/>
              </a:ext>
            </a:extLst>
          </p:cNvPr>
          <p:cNvSpPr>
            <a:spLocks noGrp="1"/>
          </p:cNvSpPr>
          <p:nvPr>
            <p:ph type="title"/>
          </p:nvPr>
        </p:nvSpPr>
        <p:spPr/>
        <p:txBody>
          <a:bodyPr/>
          <a:lstStyle/>
          <a:p>
            <a:r>
              <a:rPr lang="en-IN" dirty="0"/>
              <a:t>Limitations of one layer Perceptron</a:t>
            </a:r>
          </a:p>
        </p:txBody>
      </p:sp>
      <p:sp>
        <p:nvSpPr>
          <p:cNvPr id="3" name="Content Placeholder 2">
            <a:extLst>
              <a:ext uri="{FF2B5EF4-FFF2-40B4-BE49-F238E27FC236}">
                <a16:creationId xmlns:a16="http://schemas.microsoft.com/office/drawing/2014/main" id="{4CDB705A-22C3-10D6-E820-1607F7A6636A}"/>
              </a:ext>
            </a:extLst>
          </p:cNvPr>
          <p:cNvSpPr>
            <a:spLocks noGrp="1"/>
          </p:cNvSpPr>
          <p:nvPr>
            <p:ph idx="1"/>
          </p:nvPr>
        </p:nvSpPr>
        <p:spPr/>
        <p:txBody>
          <a:bodyPr/>
          <a:lstStyle/>
          <a:p>
            <a:pPr marL="514350" indent="-514350">
              <a:buFont typeface="+mj-lt"/>
              <a:buAutoNum type="arabicPeriod"/>
            </a:pPr>
            <a:r>
              <a:rPr lang="en-US" sz="2400" b="1" dirty="0"/>
              <a:t>It cannot solve non-linearly separable problems.</a:t>
            </a:r>
          </a:p>
          <a:p>
            <a:pPr lvl="1"/>
            <a:r>
              <a:rPr lang="en-US" sz="2000" dirty="0"/>
              <a:t>Example (XOR Problem – Does NOT Work)</a:t>
            </a:r>
          </a:p>
          <a:p>
            <a:endParaRPr lang="en-IN" dirty="0"/>
          </a:p>
        </p:txBody>
      </p:sp>
      <p:pic>
        <p:nvPicPr>
          <p:cNvPr id="5" name="Picture 4">
            <a:extLst>
              <a:ext uri="{FF2B5EF4-FFF2-40B4-BE49-F238E27FC236}">
                <a16:creationId xmlns:a16="http://schemas.microsoft.com/office/drawing/2014/main" id="{C71E1BDF-74FD-5F7F-D32F-C5281F6ECC64}"/>
              </a:ext>
            </a:extLst>
          </p:cNvPr>
          <p:cNvPicPr>
            <a:picLocks noChangeAspect="1"/>
          </p:cNvPicPr>
          <p:nvPr/>
        </p:nvPicPr>
        <p:blipFill>
          <a:blip r:embed="rId2"/>
          <a:stretch>
            <a:fillRect/>
          </a:stretch>
        </p:blipFill>
        <p:spPr>
          <a:xfrm>
            <a:off x="511413" y="3218022"/>
            <a:ext cx="3496163" cy="2648320"/>
          </a:xfrm>
          <a:prstGeom prst="rect">
            <a:avLst/>
          </a:prstGeom>
        </p:spPr>
      </p:pic>
      <p:pic>
        <p:nvPicPr>
          <p:cNvPr id="7" name="Picture 6">
            <a:extLst>
              <a:ext uri="{FF2B5EF4-FFF2-40B4-BE49-F238E27FC236}">
                <a16:creationId xmlns:a16="http://schemas.microsoft.com/office/drawing/2014/main" id="{D2A2AF1C-18CA-4B16-8794-668AAD443536}"/>
              </a:ext>
            </a:extLst>
          </p:cNvPr>
          <p:cNvPicPr>
            <a:picLocks noChangeAspect="1"/>
          </p:cNvPicPr>
          <p:nvPr/>
        </p:nvPicPr>
        <p:blipFill>
          <a:blip r:embed="rId3"/>
          <a:stretch>
            <a:fillRect/>
          </a:stretch>
        </p:blipFill>
        <p:spPr>
          <a:xfrm>
            <a:off x="4798219" y="2615196"/>
            <a:ext cx="6772413" cy="4133368"/>
          </a:xfrm>
          <a:prstGeom prst="rect">
            <a:avLst/>
          </a:prstGeom>
        </p:spPr>
      </p:pic>
    </p:spTree>
    <p:extLst>
      <p:ext uri="{BB962C8B-B14F-4D97-AF65-F5344CB8AC3E}">
        <p14:creationId xmlns:p14="http://schemas.microsoft.com/office/powerpoint/2010/main" val="14577786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0A1F-2E42-F5EB-AC51-1754D2C9AEF1}"/>
              </a:ext>
            </a:extLst>
          </p:cNvPr>
          <p:cNvSpPr>
            <a:spLocks noGrp="1"/>
          </p:cNvSpPr>
          <p:nvPr>
            <p:ph type="title"/>
          </p:nvPr>
        </p:nvSpPr>
        <p:spPr/>
        <p:txBody>
          <a:bodyPr/>
          <a:lstStyle/>
          <a:p>
            <a:r>
              <a:rPr lang="en-IN" dirty="0"/>
              <a:t>Limitations of one layer Perceptron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AE342A-ABA5-294F-93E2-CD44BCDA513C}"/>
                  </a:ext>
                </a:extLst>
              </p:cNvPr>
              <p:cNvSpPr>
                <a:spLocks noGrp="1"/>
              </p:cNvSpPr>
              <p:nvPr>
                <p:ph idx="1"/>
              </p:nvPr>
            </p:nvSpPr>
            <p:spPr/>
            <p:txBody>
              <a:bodyPr>
                <a:normAutofit/>
              </a:bodyPr>
              <a:lstStyle/>
              <a:p>
                <a:pPr marL="514350" indent="-514350">
                  <a:buFont typeface="+mj-lt"/>
                  <a:buAutoNum type="arabicPeriod" startAt="2"/>
                </a:pPr>
                <a:r>
                  <a:rPr lang="en-US" sz="2400" b="1" dirty="0"/>
                  <a:t>Only Binary Classification</a:t>
                </a:r>
              </a:p>
              <a:p>
                <a:pPr lvl="1"/>
                <a:r>
                  <a:rPr lang="en-US" sz="2000" dirty="0"/>
                  <a:t>Output is usually 0 or 1</a:t>
                </a:r>
              </a:p>
              <a:p>
                <a:pPr lvl="1"/>
                <a:r>
                  <a:rPr lang="en-US" sz="2000" dirty="0"/>
                  <a:t>Cannot directly handle multi-class classification like regression problems.</a:t>
                </a:r>
              </a:p>
              <a:p>
                <a:pPr marL="514350" indent="-514350">
                  <a:buFont typeface="+mj-lt"/>
                  <a:buAutoNum type="arabicPeriod" startAt="2"/>
                </a:pPr>
                <a:r>
                  <a:rPr lang="en-IN" sz="2400" b="1" dirty="0"/>
                  <a:t>Uses Hard Threshold Activation</a:t>
                </a:r>
              </a:p>
              <a:p>
                <a:pPr lvl="1"/>
                <a:r>
                  <a:rPr lang="en-IN" sz="2000" dirty="0"/>
                  <a:t>The perceptron uses a </a:t>
                </a:r>
                <a:r>
                  <a:rPr lang="en-IN" sz="2000" b="1" dirty="0"/>
                  <a:t>step function</a:t>
                </a:r>
                <a:r>
                  <a:rPr lang="en-IN" sz="2000" dirty="0"/>
                  <a:t>: </a:t>
                </a:r>
              </a:p>
              <a:p>
                <a:pPr marL="457200" lvl="1" indent="0">
                  <a:buNone/>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𝑦</m:t>
                      </m:r>
                      <m:r>
                        <a:rPr lang="en-IN" sz="2000">
                          <a:latin typeface="Cambria Math" panose="02040503050406030204" pitchFamily="18" charset="0"/>
                        </a:rPr>
                        <m:t>=</m:t>
                      </m:r>
                      <m:d>
                        <m:dPr>
                          <m:begChr m:val="{"/>
                          <m:endChr m:val=""/>
                          <m:ctrlPr>
                            <a:rPr lang="ar-AE" sz="2000" i="1">
                              <a:latin typeface="Cambria Math" panose="02040503050406030204" pitchFamily="18" charset="0"/>
                            </a:rPr>
                          </m:ctrlPr>
                        </m:dPr>
                        <m:e>
                          <m:m>
                            <m:mPr>
                              <m:plcHide m:val="on"/>
                              <m:mcs>
                                <m:mc>
                                  <m:mcPr>
                                    <m:count m:val="2"/>
                                    <m:mcJc m:val="center"/>
                                  </m:mcPr>
                                </m:mc>
                              </m:mcs>
                              <m:ctrlPr>
                                <a:rPr lang="ar-AE" sz="2000" i="1">
                                  <a:latin typeface="Cambria Math" panose="02040503050406030204" pitchFamily="18" charset="0"/>
                                </a:rPr>
                              </m:ctrlPr>
                            </m:mPr>
                            <m:mr>
                              <m:e>
                                <m:r>
                                  <a:rPr lang="ar-AE" sz="2000">
                                    <a:latin typeface="Cambria Math" panose="02040503050406030204" pitchFamily="18" charset="0"/>
                                  </a:rPr>
                                  <m:t>1</m:t>
                                </m:r>
                              </m:e>
                              <m:e>
                                <m:r>
                                  <m:rPr>
                                    <m:nor/>
                                  </m:rPr>
                                  <a:rPr lang="en-IN" sz="2000" i="1"/>
                                  <m:t>if</m:t>
                                </m:r>
                                <m:r>
                                  <m:rPr>
                                    <m:nor/>
                                  </m:rPr>
                                  <a:rPr lang="en-IN" sz="2000" i="1"/>
                                  <m:t> </m:t>
                                </m:r>
                                <m:r>
                                  <a:rPr lang="en-IN" sz="2000" i="1">
                                    <a:latin typeface="Cambria Math" panose="02040503050406030204" pitchFamily="18" charset="0"/>
                                  </a:rPr>
                                  <m:t>𝑤</m:t>
                                </m:r>
                                <m:r>
                                  <a:rPr lang="en-IN" sz="2000">
                                    <a:latin typeface="Cambria Math" panose="02040503050406030204" pitchFamily="18" charset="0"/>
                                  </a:rPr>
                                  <m:t>⋅</m:t>
                                </m:r>
                                <m:r>
                                  <a:rPr lang="en-IN" sz="2000" i="1">
                                    <a:latin typeface="Cambria Math" panose="02040503050406030204" pitchFamily="18" charset="0"/>
                                  </a:rPr>
                                  <m:t>𝑥</m:t>
                                </m:r>
                                <m:r>
                                  <a:rPr lang="en-IN" sz="2000">
                                    <a:latin typeface="Cambria Math" panose="02040503050406030204" pitchFamily="18" charset="0"/>
                                  </a:rPr>
                                  <m:t>+</m:t>
                                </m:r>
                                <m:r>
                                  <a:rPr lang="en-IN" sz="2000" i="1">
                                    <a:latin typeface="Cambria Math" panose="02040503050406030204" pitchFamily="18" charset="0"/>
                                  </a:rPr>
                                  <m:t>𝑏</m:t>
                                </m:r>
                                <m:r>
                                  <a:rPr lang="en-IN" sz="2000">
                                    <a:latin typeface="Cambria Math" panose="02040503050406030204" pitchFamily="18" charset="0"/>
                                  </a:rPr>
                                  <m:t>≥</m:t>
                                </m:r>
                                <m:r>
                                  <a:rPr lang="en-IN" sz="2000">
                                    <a:latin typeface="Cambria Math" panose="02040503050406030204" pitchFamily="18" charset="0"/>
                                  </a:rPr>
                                  <m:t>0</m:t>
                                </m:r>
                              </m:e>
                            </m:mr>
                            <m:mr>
                              <m:e>
                                <m:r>
                                  <a:rPr lang="ar-AE" sz="2000">
                                    <a:latin typeface="Cambria Math" panose="02040503050406030204" pitchFamily="18" charset="0"/>
                                  </a:rPr>
                                  <m:t>0</m:t>
                                </m:r>
                              </m:e>
                              <m:e>
                                <m:r>
                                  <m:rPr>
                                    <m:nor/>
                                  </m:rPr>
                                  <a:rPr lang="en-IN" sz="2000" i="1"/>
                                  <m:t>otherwise</m:t>
                                </m:r>
                              </m:e>
                            </m:mr>
                          </m:m>
                        </m:e>
                      </m:d>
                    </m:oMath>
                  </m:oMathPara>
                </a14:m>
                <a:endParaRPr lang="ar-AE" sz="2000" b="0" dirty="0"/>
              </a:p>
              <a:p>
                <a:pPr lvl="1"/>
                <a:r>
                  <a:rPr lang="en-IN" sz="2000" dirty="0"/>
                  <a:t>Problems: Not differentiable</a:t>
                </a:r>
              </a:p>
              <a:p>
                <a:pPr lvl="1"/>
                <a:r>
                  <a:rPr lang="en-IN" sz="2000" dirty="0"/>
                  <a:t>Cannot use gradient-based optimization effectively</a:t>
                </a:r>
              </a:p>
              <a:p>
                <a:pPr lvl="1"/>
                <a:r>
                  <a:rPr lang="en-IN" sz="2000" dirty="0"/>
                  <a:t>No probability output (unlike logistic regression)</a:t>
                </a:r>
              </a:p>
            </p:txBody>
          </p:sp>
        </mc:Choice>
        <mc:Fallback xmlns="">
          <p:sp>
            <p:nvSpPr>
              <p:cNvPr id="3" name="Content Placeholder 2">
                <a:extLst>
                  <a:ext uri="{FF2B5EF4-FFF2-40B4-BE49-F238E27FC236}">
                    <a16:creationId xmlns:a16="http://schemas.microsoft.com/office/drawing/2014/main" id="{AEAE342A-ABA5-294F-93E2-CD44BCDA513C}"/>
                  </a:ext>
                </a:extLst>
              </p:cNvPr>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IN">
                    <a:noFill/>
                  </a:rPr>
                  <a:t> </a:t>
                </a:r>
              </a:p>
            </p:txBody>
          </p:sp>
        </mc:Fallback>
      </mc:AlternateContent>
    </p:spTree>
    <p:extLst>
      <p:ext uri="{BB962C8B-B14F-4D97-AF65-F5344CB8AC3E}">
        <p14:creationId xmlns:p14="http://schemas.microsoft.com/office/powerpoint/2010/main" val="23378662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0C90-92C9-2967-808B-6CD9EBC299F6}"/>
              </a:ext>
            </a:extLst>
          </p:cNvPr>
          <p:cNvSpPr>
            <a:spLocks noGrp="1"/>
          </p:cNvSpPr>
          <p:nvPr>
            <p:ph type="title"/>
          </p:nvPr>
        </p:nvSpPr>
        <p:spPr/>
        <p:txBody>
          <a:bodyPr/>
          <a:lstStyle/>
          <a:p>
            <a:r>
              <a:rPr lang="en-IN" dirty="0"/>
              <a:t>Limitations of one layer Perceptron</a:t>
            </a:r>
          </a:p>
        </p:txBody>
      </p:sp>
      <p:sp>
        <p:nvSpPr>
          <p:cNvPr id="3" name="Content Placeholder 2">
            <a:extLst>
              <a:ext uri="{FF2B5EF4-FFF2-40B4-BE49-F238E27FC236}">
                <a16:creationId xmlns:a16="http://schemas.microsoft.com/office/drawing/2014/main" id="{CEEF1645-9881-288A-BD75-7E57F19AC4B0}"/>
              </a:ext>
            </a:extLst>
          </p:cNvPr>
          <p:cNvSpPr>
            <a:spLocks noGrp="1"/>
          </p:cNvSpPr>
          <p:nvPr>
            <p:ph idx="1"/>
          </p:nvPr>
        </p:nvSpPr>
        <p:spPr>
          <a:xfrm>
            <a:off x="838200" y="1825625"/>
            <a:ext cx="10515600" cy="4883288"/>
          </a:xfrm>
        </p:spPr>
        <p:txBody>
          <a:bodyPr>
            <a:normAutofit/>
          </a:bodyPr>
          <a:lstStyle/>
          <a:p>
            <a:pPr marL="514350" indent="-514350">
              <a:buFont typeface="+mj-lt"/>
              <a:buAutoNum type="arabicPeriod" startAt="4"/>
            </a:pPr>
            <a:r>
              <a:rPr lang="en-US" sz="2400" b="1" dirty="0"/>
              <a:t>No Hidden Layer (Limited Learning Capacity)</a:t>
            </a:r>
          </a:p>
          <a:p>
            <a:pPr lvl="1"/>
            <a:r>
              <a:rPr lang="en-US" sz="2000" dirty="0"/>
              <a:t>No nonlinear activation in between/ It cannot learn complex patterns or feature interactions.</a:t>
            </a:r>
          </a:p>
          <a:p>
            <a:pPr marL="514350" indent="-514350">
              <a:buFont typeface="+mj-lt"/>
              <a:buAutoNum type="arabicPeriod" startAt="5"/>
            </a:pPr>
            <a:r>
              <a:rPr lang="en-US" sz="2400" b="1" dirty="0"/>
              <a:t>Sensitive to Learning Rate and Initialization</a:t>
            </a:r>
          </a:p>
          <a:p>
            <a:pPr lvl="1"/>
            <a:r>
              <a:rPr lang="en-US" sz="2000" dirty="0"/>
              <a:t>If data is not linearly separable → training may never converge.</a:t>
            </a:r>
          </a:p>
          <a:p>
            <a:pPr lvl="1"/>
            <a:r>
              <a:rPr lang="en-US" sz="2000" dirty="0"/>
              <a:t>If learning rate is too high → unstable updates.</a:t>
            </a:r>
          </a:p>
          <a:p>
            <a:pPr lvl="1"/>
            <a:r>
              <a:rPr lang="en-US" sz="2000" dirty="0"/>
              <a:t>If too low → very slow convergence.</a:t>
            </a:r>
          </a:p>
          <a:p>
            <a:pPr marL="514350" indent="-514350">
              <a:buFont typeface="+mj-lt"/>
              <a:buAutoNum type="arabicPeriod" startAt="6"/>
            </a:pPr>
            <a:r>
              <a:rPr lang="en-US" sz="2400" b="1" dirty="0"/>
              <a:t>No Feature Learning</a:t>
            </a:r>
          </a:p>
          <a:p>
            <a:pPr lvl="1"/>
            <a:r>
              <a:rPr lang="en-US" sz="2000" dirty="0"/>
              <a:t>It cannot automatically extract new features.</a:t>
            </a:r>
          </a:p>
          <a:p>
            <a:pPr lvl="1"/>
            <a:r>
              <a:rPr lang="en-US" sz="2000" dirty="0"/>
              <a:t>Works only with manually engineered input features.</a:t>
            </a:r>
          </a:p>
          <a:p>
            <a:pPr marL="514350" indent="-514350">
              <a:buFont typeface="+mj-lt"/>
              <a:buAutoNum type="arabicPeriod" startAt="7"/>
            </a:pPr>
            <a:r>
              <a:rPr lang="en-US" sz="2400" b="1" dirty="0"/>
              <a:t>Cannot Model Complex Decision Boundaries</a:t>
            </a:r>
          </a:p>
          <a:p>
            <a:pPr lvl="1"/>
            <a:r>
              <a:rPr lang="en-US" sz="2000" dirty="0"/>
              <a:t>Real-world problems often require curved boundaries, multiple regions and hierarchical feature learning</a:t>
            </a:r>
          </a:p>
          <a:p>
            <a:pPr lvl="1"/>
            <a:r>
              <a:rPr lang="en-US" sz="2000" dirty="0"/>
              <a:t>Single-layer perceptron cannot handle these.</a:t>
            </a:r>
            <a:endParaRPr lang="en-IN" sz="2000" dirty="0"/>
          </a:p>
        </p:txBody>
      </p:sp>
    </p:spTree>
    <p:extLst>
      <p:ext uri="{BB962C8B-B14F-4D97-AF65-F5344CB8AC3E}">
        <p14:creationId xmlns:p14="http://schemas.microsoft.com/office/powerpoint/2010/main" val="1525755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E621-2AEE-0CDA-2C82-6B47BCA22AD5}"/>
              </a:ext>
            </a:extLst>
          </p:cNvPr>
          <p:cNvSpPr>
            <a:spLocks noGrp="1"/>
          </p:cNvSpPr>
          <p:nvPr>
            <p:ph type="title"/>
          </p:nvPr>
        </p:nvSpPr>
        <p:spPr/>
        <p:txBody>
          <a:bodyPr/>
          <a:lstStyle/>
          <a:p>
            <a:r>
              <a:rPr lang="en-IN" dirty="0"/>
              <a:t>Limitations of one layer Perceptron were overcome by </a:t>
            </a:r>
          </a:p>
        </p:txBody>
      </p:sp>
      <p:sp>
        <p:nvSpPr>
          <p:cNvPr id="3" name="Content Placeholder 2">
            <a:extLst>
              <a:ext uri="{FF2B5EF4-FFF2-40B4-BE49-F238E27FC236}">
                <a16:creationId xmlns:a16="http://schemas.microsoft.com/office/drawing/2014/main" id="{ED4451A0-C284-356A-56B5-1BE38DD9D320}"/>
              </a:ext>
            </a:extLst>
          </p:cNvPr>
          <p:cNvSpPr>
            <a:spLocks noGrp="1"/>
          </p:cNvSpPr>
          <p:nvPr>
            <p:ph idx="1"/>
          </p:nvPr>
        </p:nvSpPr>
        <p:spPr/>
        <p:txBody>
          <a:bodyPr/>
          <a:lstStyle/>
          <a:p>
            <a:r>
              <a:rPr lang="en-IN" dirty="0"/>
              <a:t>Multi-Layer Perceptron (MLP)</a:t>
            </a:r>
          </a:p>
          <a:p>
            <a:r>
              <a:rPr lang="en-IN" dirty="0"/>
              <a:t>Hidden layers</a:t>
            </a:r>
          </a:p>
          <a:p>
            <a:r>
              <a:rPr lang="en-IN" dirty="0"/>
              <a:t>Non-linear activation functions (ReLU, Sigmoid, Tanh)</a:t>
            </a:r>
          </a:p>
          <a:p>
            <a:r>
              <a:rPr lang="en-IN" dirty="0"/>
              <a:t>Backpropagation algorithm</a:t>
            </a:r>
          </a:p>
          <a:p>
            <a:endParaRPr lang="en-IN" dirty="0"/>
          </a:p>
        </p:txBody>
      </p:sp>
    </p:spTree>
    <p:extLst>
      <p:ext uri="{BB962C8B-B14F-4D97-AF65-F5344CB8AC3E}">
        <p14:creationId xmlns:p14="http://schemas.microsoft.com/office/powerpoint/2010/main" val="2763852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6A094-4502-9E10-4264-44CF0F621E10}"/>
              </a:ext>
            </a:extLst>
          </p:cNvPr>
          <p:cNvSpPr>
            <a:spLocks noGrp="1"/>
          </p:cNvSpPr>
          <p:nvPr>
            <p:ph type="title"/>
          </p:nvPr>
        </p:nvSpPr>
        <p:spPr/>
        <p:txBody>
          <a:bodyPr/>
          <a:lstStyle/>
          <a:p>
            <a:r>
              <a:rPr lang="en-IN" dirty="0"/>
              <a:t>Universal Approximation Theorem (UAT)</a:t>
            </a:r>
          </a:p>
        </p:txBody>
      </p:sp>
      <p:sp>
        <p:nvSpPr>
          <p:cNvPr id="3" name="Content Placeholder 2">
            <a:extLst>
              <a:ext uri="{FF2B5EF4-FFF2-40B4-BE49-F238E27FC236}">
                <a16:creationId xmlns:a16="http://schemas.microsoft.com/office/drawing/2014/main" id="{8B1DC71F-1F79-2B1F-5DD8-55C596707E05}"/>
              </a:ext>
            </a:extLst>
          </p:cNvPr>
          <p:cNvSpPr>
            <a:spLocks noGrp="1"/>
          </p:cNvSpPr>
          <p:nvPr>
            <p:ph idx="1"/>
          </p:nvPr>
        </p:nvSpPr>
        <p:spPr/>
        <p:txBody>
          <a:bodyPr>
            <a:normAutofit/>
          </a:bodyPr>
          <a:lstStyle/>
          <a:p>
            <a:r>
              <a:rPr lang="en-US" dirty="0"/>
              <a:t>The </a:t>
            </a:r>
            <a:r>
              <a:rPr lang="en-US" b="1" dirty="0"/>
              <a:t>Universal Approximation Theorem</a:t>
            </a:r>
            <a:r>
              <a:rPr lang="en-US" dirty="0"/>
              <a:t> states:</a:t>
            </a:r>
          </a:p>
          <a:p>
            <a:pPr lvl="1"/>
            <a:r>
              <a:rPr lang="en-US" dirty="0"/>
              <a:t>A feedforward neural network with </a:t>
            </a:r>
            <a:r>
              <a:rPr lang="en-US" b="1" dirty="0"/>
              <a:t>at least one hidden layer</a:t>
            </a:r>
            <a:r>
              <a:rPr lang="en-US" dirty="0"/>
              <a:t> containing a sufficient number of neurons and using a nonlinear activation function can approximate </a:t>
            </a:r>
            <a:r>
              <a:rPr lang="en-US" b="1" dirty="0"/>
              <a:t>any continuous function</a:t>
            </a:r>
            <a:r>
              <a:rPr lang="en-US" dirty="0"/>
              <a:t> on a bounded domain to any desired level of accuracy.</a:t>
            </a:r>
          </a:p>
          <a:p>
            <a:r>
              <a:rPr lang="en-US" dirty="0"/>
              <a:t>If enough hidden neurons are available, a neural network can learn almost any complex relationship between inputs and outputs.</a:t>
            </a:r>
          </a:p>
          <a:p>
            <a:r>
              <a:rPr lang="en-US" dirty="0"/>
              <a:t>Examples: Image recognition, Speech recognition, Weather prediction, Stock prediction, Medical diagnosis, Language translation </a:t>
            </a:r>
          </a:p>
          <a:p>
            <a:endParaRPr lang="en-IN" dirty="0"/>
          </a:p>
        </p:txBody>
      </p:sp>
    </p:spTree>
    <p:extLst>
      <p:ext uri="{BB962C8B-B14F-4D97-AF65-F5344CB8AC3E}">
        <p14:creationId xmlns:p14="http://schemas.microsoft.com/office/powerpoint/2010/main" val="2641528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41920-A284-233D-4C3F-672A039A05A5}"/>
              </a:ext>
            </a:extLst>
          </p:cNvPr>
          <p:cNvSpPr>
            <a:spLocks noGrp="1"/>
          </p:cNvSpPr>
          <p:nvPr>
            <p:ph type="title"/>
          </p:nvPr>
        </p:nvSpPr>
        <p:spPr/>
        <p:txBody>
          <a:bodyPr/>
          <a:lstStyle/>
          <a:p>
            <a:r>
              <a:rPr lang="en-IN" b="1" dirty="0"/>
              <a:t>XOR problem - TWO-LAYER PERCEPTRON</a:t>
            </a:r>
            <a:endParaRPr lang="en-IN" dirty="0"/>
          </a:p>
        </p:txBody>
      </p:sp>
      <p:pic>
        <p:nvPicPr>
          <p:cNvPr id="6" name="Picture 5">
            <a:extLst>
              <a:ext uri="{FF2B5EF4-FFF2-40B4-BE49-F238E27FC236}">
                <a16:creationId xmlns:a16="http://schemas.microsoft.com/office/drawing/2014/main" id="{BBA6CD6C-534F-A762-D535-6D8E6AECB2BC}"/>
              </a:ext>
            </a:extLst>
          </p:cNvPr>
          <p:cNvPicPr>
            <a:picLocks noChangeAspect="1"/>
          </p:cNvPicPr>
          <p:nvPr/>
        </p:nvPicPr>
        <p:blipFill>
          <a:blip r:embed="rId2"/>
          <a:stretch>
            <a:fillRect/>
          </a:stretch>
        </p:blipFill>
        <p:spPr>
          <a:xfrm>
            <a:off x="245681" y="1690688"/>
            <a:ext cx="5340110" cy="5037458"/>
          </a:xfrm>
          <a:prstGeom prst="rect">
            <a:avLst/>
          </a:prstGeom>
        </p:spPr>
      </p:pic>
      <p:pic>
        <p:nvPicPr>
          <p:cNvPr id="10" name="Picture 9">
            <a:extLst>
              <a:ext uri="{FF2B5EF4-FFF2-40B4-BE49-F238E27FC236}">
                <a16:creationId xmlns:a16="http://schemas.microsoft.com/office/drawing/2014/main" id="{5F1FA00C-47D5-B749-50A3-61AA86CAC02E}"/>
              </a:ext>
            </a:extLst>
          </p:cNvPr>
          <p:cNvPicPr>
            <a:picLocks noChangeAspect="1"/>
          </p:cNvPicPr>
          <p:nvPr/>
        </p:nvPicPr>
        <p:blipFill>
          <a:blip r:embed="rId3"/>
          <a:stretch>
            <a:fillRect/>
          </a:stretch>
        </p:blipFill>
        <p:spPr>
          <a:xfrm>
            <a:off x="5585790" y="2061750"/>
            <a:ext cx="5867591" cy="3742702"/>
          </a:xfrm>
          <a:prstGeom prst="rect">
            <a:avLst/>
          </a:prstGeom>
        </p:spPr>
      </p:pic>
    </p:spTree>
    <p:extLst>
      <p:ext uri="{BB962C8B-B14F-4D97-AF65-F5344CB8AC3E}">
        <p14:creationId xmlns:p14="http://schemas.microsoft.com/office/powerpoint/2010/main" val="1555414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3BDDE-E98F-B5E1-2A50-0CAE704081BD}"/>
              </a:ext>
            </a:extLst>
          </p:cNvPr>
          <p:cNvSpPr>
            <a:spLocks noGrp="1"/>
          </p:cNvSpPr>
          <p:nvPr>
            <p:ph type="title"/>
          </p:nvPr>
        </p:nvSpPr>
        <p:spPr/>
        <p:txBody>
          <a:bodyPr/>
          <a:lstStyle/>
          <a:p>
            <a:r>
              <a:rPr lang="en-IN" b="1" dirty="0"/>
              <a:t>XOR problem - TWO-LAYER PERCEPTRON</a:t>
            </a:r>
          </a:p>
        </p:txBody>
      </p:sp>
      <p:sp>
        <p:nvSpPr>
          <p:cNvPr id="3" name="Content Placeholder 2">
            <a:extLst>
              <a:ext uri="{FF2B5EF4-FFF2-40B4-BE49-F238E27FC236}">
                <a16:creationId xmlns:a16="http://schemas.microsoft.com/office/drawing/2014/main" id="{CDDFEF1E-B92B-3F33-6F8B-3DF9CD0A3BAE}"/>
              </a:ext>
            </a:extLst>
          </p:cNvPr>
          <p:cNvSpPr>
            <a:spLocks noGrp="1"/>
          </p:cNvSpPr>
          <p:nvPr>
            <p:ph idx="1"/>
          </p:nvPr>
        </p:nvSpPr>
        <p:spPr/>
        <p:txBody>
          <a:bodyPr/>
          <a:lstStyle/>
          <a:p>
            <a:pPr marL="0" indent="0">
              <a:buNone/>
            </a:pPr>
            <a:r>
              <a:rPr lang="en-IN" dirty="0"/>
              <a:t>Two phase of decision</a:t>
            </a:r>
            <a:endParaRPr lang="en-US" dirty="0"/>
          </a:p>
          <a:p>
            <a:pPr marL="514350" indent="-514350">
              <a:buFont typeface="+mj-lt"/>
              <a:buAutoNum type="arabicPeriod"/>
            </a:pPr>
            <a:r>
              <a:rPr lang="en-US" dirty="0"/>
              <a:t>Perform a mapping of the input vector </a:t>
            </a:r>
            <a:r>
              <a:rPr lang="en-US" b="1" dirty="0"/>
              <a:t>x </a:t>
            </a:r>
            <a:r>
              <a:rPr lang="en-US" dirty="0"/>
              <a:t>to a new </a:t>
            </a:r>
            <a:r>
              <a:rPr lang="es-ES" dirty="0" err="1"/>
              <a:t>one</a:t>
            </a:r>
            <a:r>
              <a:rPr lang="es-ES" dirty="0"/>
              <a:t> </a:t>
            </a:r>
            <a:r>
              <a:rPr lang="es-ES" b="1" dirty="0"/>
              <a:t>y </a:t>
            </a:r>
            <a:r>
              <a:rPr lang="es-ES" dirty="0"/>
              <a:t>[ y1, y2]</a:t>
            </a:r>
            <a:r>
              <a:rPr lang="es-ES" baseline="30000" dirty="0"/>
              <a:t>T</a:t>
            </a:r>
            <a:r>
              <a:rPr lang="es-ES" dirty="0"/>
              <a:t>.</a:t>
            </a:r>
          </a:p>
          <a:p>
            <a:pPr marL="514350" indent="-514350">
              <a:buFont typeface="+mj-lt"/>
              <a:buAutoNum type="arabicPeriod"/>
            </a:pPr>
            <a:r>
              <a:rPr lang="en-US" dirty="0"/>
              <a:t>Transformed data  </a:t>
            </a:r>
          </a:p>
          <a:p>
            <a:pPr lvl="1"/>
            <a:r>
              <a:rPr lang="en-US" dirty="0"/>
              <a:t>[ </a:t>
            </a:r>
            <a:r>
              <a:rPr lang="en-US" i="1" dirty="0"/>
              <a:t>y</a:t>
            </a:r>
            <a:r>
              <a:rPr lang="en-US" dirty="0"/>
              <a:t>1, </a:t>
            </a:r>
            <a:r>
              <a:rPr lang="en-US" i="1" dirty="0"/>
              <a:t>y</a:t>
            </a:r>
            <a:r>
              <a:rPr lang="en-US" dirty="0"/>
              <a:t>2][0, 0] and [ </a:t>
            </a:r>
            <a:r>
              <a:rPr lang="en-US" i="1" dirty="0"/>
              <a:t>y</a:t>
            </a:r>
            <a:r>
              <a:rPr lang="en-US" dirty="0"/>
              <a:t>1, </a:t>
            </a:r>
            <a:r>
              <a:rPr lang="en-US" i="1" dirty="0"/>
              <a:t>y</a:t>
            </a:r>
            <a:r>
              <a:rPr lang="en-US" dirty="0"/>
              <a:t>2][1, 1], which correspond to class </a:t>
            </a:r>
            <a:r>
              <a:rPr lang="en-US" i="1" dirty="0"/>
              <a:t>B </a:t>
            </a:r>
            <a:r>
              <a:rPr lang="en-US" dirty="0"/>
              <a:t>vectors, </a:t>
            </a:r>
          </a:p>
          <a:p>
            <a:pPr lvl="1"/>
            <a:r>
              <a:rPr lang="en-US" dirty="0"/>
              <a:t>[ </a:t>
            </a:r>
            <a:r>
              <a:rPr lang="en-US" i="1" dirty="0"/>
              <a:t>y</a:t>
            </a:r>
            <a:r>
              <a:rPr lang="en-US" dirty="0"/>
              <a:t>1, </a:t>
            </a:r>
            <a:r>
              <a:rPr lang="en-US" i="1" dirty="0"/>
              <a:t>y</a:t>
            </a:r>
            <a:r>
              <a:rPr lang="en-US" dirty="0"/>
              <a:t>2][1, 0], which corresponds</a:t>
            </a:r>
            <a:r>
              <a:rPr lang="en-IN" dirty="0"/>
              <a:t>to class </a:t>
            </a:r>
            <a:r>
              <a:rPr lang="en-IN" i="1" dirty="0"/>
              <a:t>A </a:t>
            </a:r>
            <a:r>
              <a:rPr lang="en-IN" dirty="0"/>
              <a:t>vectors.</a:t>
            </a:r>
          </a:p>
          <a:p>
            <a:r>
              <a:rPr lang="en-IN" dirty="0"/>
              <a:t>Mapping </a:t>
            </a:r>
            <a:r>
              <a:rPr lang="en-US" dirty="0"/>
              <a:t>of the first phase transforms the nonlinearly separable problem to a linearly </a:t>
            </a:r>
            <a:r>
              <a:rPr lang="en-IN" dirty="0"/>
              <a:t>separable one.</a:t>
            </a:r>
          </a:p>
        </p:txBody>
      </p:sp>
    </p:spTree>
    <p:extLst>
      <p:ext uri="{BB962C8B-B14F-4D97-AF65-F5344CB8AC3E}">
        <p14:creationId xmlns:p14="http://schemas.microsoft.com/office/powerpoint/2010/main" val="37025535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2E042-2F30-0FBC-CCA2-C6BC79EE16A1}"/>
              </a:ext>
            </a:extLst>
          </p:cNvPr>
          <p:cNvSpPr>
            <a:spLocks noGrp="1"/>
          </p:cNvSpPr>
          <p:nvPr>
            <p:ph type="title"/>
          </p:nvPr>
        </p:nvSpPr>
        <p:spPr>
          <a:xfrm>
            <a:off x="838200" y="365125"/>
            <a:ext cx="10515600" cy="917023"/>
          </a:xfrm>
        </p:spPr>
        <p:txBody>
          <a:bodyPr/>
          <a:lstStyle/>
          <a:p>
            <a:r>
              <a:rPr lang="en-IN" b="1" dirty="0"/>
              <a:t>XOR problem - TWO-LAYER PERCEPTRON</a:t>
            </a:r>
            <a:endParaRPr lang="en-IN" dirty="0"/>
          </a:p>
        </p:txBody>
      </p:sp>
      <p:pic>
        <p:nvPicPr>
          <p:cNvPr id="9" name="Content Placeholder 8">
            <a:extLst>
              <a:ext uri="{FF2B5EF4-FFF2-40B4-BE49-F238E27FC236}">
                <a16:creationId xmlns:a16="http://schemas.microsoft.com/office/drawing/2014/main" id="{27859CF8-3548-C638-DC6C-1395684EE2D2}"/>
              </a:ext>
            </a:extLst>
          </p:cNvPr>
          <p:cNvPicPr>
            <a:picLocks noGrp="1" noChangeAspect="1"/>
          </p:cNvPicPr>
          <p:nvPr>
            <p:ph idx="1"/>
          </p:nvPr>
        </p:nvPicPr>
        <p:blipFill>
          <a:blip r:embed="rId2"/>
          <a:stretch>
            <a:fillRect/>
          </a:stretch>
        </p:blipFill>
        <p:spPr>
          <a:xfrm>
            <a:off x="255445" y="1855442"/>
            <a:ext cx="5419458" cy="4351338"/>
          </a:xfrm>
          <a:prstGeom prst="rect">
            <a:avLst/>
          </a:prstGeom>
        </p:spPr>
      </p:pic>
      <p:pic>
        <p:nvPicPr>
          <p:cNvPr id="11" name="Picture 10">
            <a:extLst>
              <a:ext uri="{FF2B5EF4-FFF2-40B4-BE49-F238E27FC236}">
                <a16:creationId xmlns:a16="http://schemas.microsoft.com/office/drawing/2014/main" id="{C217BC4A-D588-46A2-2E8A-FD8F0E6070F7}"/>
              </a:ext>
            </a:extLst>
          </p:cNvPr>
          <p:cNvPicPr>
            <a:picLocks noChangeAspect="1"/>
          </p:cNvPicPr>
          <p:nvPr/>
        </p:nvPicPr>
        <p:blipFill>
          <a:blip r:embed="rId3"/>
          <a:stretch>
            <a:fillRect/>
          </a:stretch>
        </p:blipFill>
        <p:spPr>
          <a:xfrm>
            <a:off x="5058545" y="1062819"/>
            <a:ext cx="6878010" cy="3499242"/>
          </a:xfrm>
          <a:prstGeom prst="rect">
            <a:avLst/>
          </a:prstGeom>
        </p:spPr>
      </p:pic>
      <p:sp>
        <p:nvSpPr>
          <p:cNvPr id="13" name="TextBox 12">
            <a:extLst>
              <a:ext uri="{FF2B5EF4-FFF2-40B4-BE49-F238E27FC236}">
                <a16:creationId xmlns:a16="http://schemas.microsoft.com/office/drawing/2014/main" id="{A77E90E1-BF72-D75A-EC2D-66757694ADF8}"/>
              </a:ext>
            </a:extLst>
          </p:cNvPr>
          <p:cNvSpPr txBox="1"/>
          <p:nvPr/>
        </p:nvSpPr>
        <p:spPr>
          <a:xfrm>
            <a:off x="4957977" y="4362006"/>
            <a:ext cx="7079145" cy="400110"/>
          </a:xfrm>
          <a:prstGeom prst="rect">
            <a:avLst/>
          </a:prstGeom>
          <a:noFill/>
        </p:spPr>
        <p:txBody>
          <a:bodyPr wrap="square">
            <a:spAutoFit/>
          </a:bodyPr>
          <a:lstStyle/>
          <a:p>
            <a:r>
              <a:rPr lang="en-IN" sz="2000" i="1" dirty="0"/>
              <a:t>Two-layer perceptron </a:t>
            </a:r>
            <a:r>
              <a:rPr lang="en-IN" sz="2000" b="0" i="1" u="none" strike="noStrike" baseline="0" dirty="0"/>
              <a:t>two-layer feedforward</a:t>
            </a:r>
            <a:r>
              <a:rPr lang="en-IN" sz="2000" b="0" i="0" u="none" strike="noStrike" baseline="0" dirty="0"/>
              <a:t> </a:t>
            </a:r>
            <a:r>
              <a:rPr lang="en-IN" sz="2000" b="0" i="1" u="none" strike="noStrike" baseline="0" dirty="0"/>
              <a:t>neural network</a:t>
            </a:r>
            <a:endParaRPr lang="en-IN" sz="2000" dirty="0"/>
          </a:p>
        </p:txBody>
      </p:sp>
      <p:pic>
        <p:nvPicPr>
          <p:cNvPr id="4" name="Picture 3">
            <a:extLst>
              <a:ext uri="{FF2B5EF4-FFF2-40B4-BE49-F238E27FC236}">
                <a16:creationId xmlns:a16="http://schemas.microsoft.com/office/drawing/2014/main" id="{69B99C7E-38A0-6138-59B6-5A70755BE68C}"/>
              </a:ext>
            </a:extLst>
          </p:cNvPr>
          <p:cNvPicPr>
            <a:picLocks noChangeAspect="1"/>
          </p:cNvPicPr>
          <p:nvPr/>
        </p:nvPicPr>
        <p:blipFill>
          <a:blip r:embed="rId4"/>
          <a:stretch>
            <a:fillRect/>
          </a:stretch>
        </p:blipFill>
        <p:spPr>
          <a:xfrm>
            <a:off x="6812735" y="4762116"/>
            <a:ext cx="3369628" cy="2000345"/>
          </a:xfrm>
          <a:prstGeom prst="rect">
            <a:avLst/>
          </a:prstGeom>
        </p:spPr>
      </p:pic>
    </p:spTree>
    <p:extLst>
      <p:ext uri="{BB962C8B-B14F-4D97-AF65-F5344CB8AC3E}">
        <p14:creationId xmlns:p14="http://schemas.microsoft.com/office/powerpoint/2010/main" val="30761216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0A0A-C092-E1D8-69FB-B4556B8B235B}"/>
              </a:ext>
            </a:extLst>
          </p:cNvPr>
          <p:cNvSpPr>
            <a:spLocks noGrp="1"/>
          </p:cNvSpPr>
          <p:nvPr>
            <p:ph type="title"/>
          </p:nvPr>
        </p:nvSpPr>
        <p:spPr/>
        <p:txBody>
          <a:bodyPr/>
          <a:lstStyle/>
          <a:p>
            <a:r>
              <a:rPr lang="en-IN" b="1" dirty="0"/>
              <a:t>XOR problem - TWO-LAYER PERCEPTRON</a:t>
            </a:r>
            <a:endParaRPr lang="en-IN" dirty="0"/>
          </a:p>
        </p:txBody>
      </p:sp>
      <p:sp>
        <p:nvSpPr>
          <p:cNvPr id="3" name="Content Placeholder 2">
            <a:extLst>
              <a:ext uri="{FF2B5EF4-FFF2-40B4-BE49-F238E27FC236}">
                <a16:creationId xmlns:a16="http://schemas.microsoft.com/office/drawing/2014/main" id="{DFE89D95-8D51-30B5-9001-55CE001378A0}"/>
              </a:ext>
            </a:extLst>
          </p:cNvPr>
          <p:cNvSpPr>
            <a:spLocks noGrp="1"/>
          </p:cNvSpPr>
          <p:nvPr>
            <p:ph idx="1"/>
          </p:nvPr>
        </p:nvSpPr>
        <p:spPr/>
        <p:txBody>
          <a:bodyPr>
            <a:normAutofit/>
          </a:bodyPr>
          <a:lstStyle/>
          <a:p>
            <a:r>
              <a:rPr lang="en-US" sz="2400" dirty="0"/>
              <a:t>The two neurons (nodes) of the first layer perform computations of the first phase and they constitute the so-called hidden layer. </a:t>
            </a:r>
          </a:p>
          <a:p>
            <a:r>
              <a:rPr lang="en-US" sz="2400" dirty="0"/>
              <a:t>The single neuron of the second layer performs the computations of the final phase and constitutes the output layer.</a:t>
            </a:r>
          </a:p>
          <a:p>
            <a:r>
              <a:rPr lang="en-IN" sz="2400" dirty="0"/>
              <a:t>Input layer corresponds </a:t>
            </a:r>
            <a:r>
              <a:rPr lang="en-US" sz="2400" dirty="0"/>
              <a:t>to the (</a:t>
            </a:r>
            <a:r>
              <a:rPr lang="en-US" sz="2400" dirty="0" err="1"/>
              <a:t>nonprocessing</a:t>
            </a:r>
            <a:r>
              <a:rPr lang="en-US" sz="2400" dirty="0"/>
              <a:t>) nodes where input data are applied. Thus, the number of input layer nodes equals the dimension of the input space.</a:t>
            </a:r>
          </a:p>
          <a:p>
            <a:r>
              <a:rPr lang="en-US" sz="2400" dirty="0"/>
              <a:t>The lines that are realized by the </a:t>
            </a:r>
            <a:r>
              <a:rPr lang="en-IN" sz="2400" dirty="0"/>
              <a:t>two-layer perceptron</a:t>
            </a:r>
          </a:p>
        </p:txBody>
      </p:sp>
    </p:spTree>
    <p:extLst>
      <p:ext uri="{BB962C8B-B14F-4D97-AF65-F5344CB8AC3E}">
        <p14:creationId xmlns:p14="http://schemas.microsoft.com/office/powerpoint/2010/main" val="1558317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8BEE9-610C-8EBB-D6C6-BD1B817A890D}"/>
              </a:ext>
            </a:extLst>
          </p:cNvPr>
          <p:cNvSpPr>
            <a:spLocks noGrp="1"/>
          </p:cNvSpPr>
          <p:nvPr>
            <p:ph type="title"/>
          </p:nvPr>
        </p:nvSpPr>
        <p:spPr/>
        <p:txBody>
          <a:bodyPr/>
          <a:lstStyle/>
          <a:p>
            <a:r>
              <a:rPr lang="en-IN" dirty="0"/>
              <a:t>A two-layer perceptron</a:t>
            </a:r>
          </a:p>
        </p:txBody>
      </p:sp>
      <p:pic>
        <p:nvPicPr>
          <p:cNvPr id="5" name="Content Placeholder 4">
            <a:extLst>
              <a:ext uri="{FF2B5EF4-FFF2-40B4-BE49-F238E27FC236}">
                <a16:creationId xmlns:a16="http://schemas.microsoft.com/office/drawing/2014/main" id="{CECA4C7A-BC2D-1905-30DE-C0D3D298DFAA}"/>
              </a:ext>
            </a:extLst>
          </p:cNvPr>
          <p:cNvPicPr>
            <a:picLocks noGrp="1" noChangeAspect="1"/>
          </p:cNvPicPr>
          <p:nvPr>
            <p:ph idx="1"/>
          </p:nvPr>
        </p:nvPicPr>
        <p:blipFill>
          <a:blip r:embed="rId2"/>
          <a:stretch>
            <a:fillRect/>
          </a:stretch>
        </p:blipFill>
        <p:spPr>
          <a:xfrm>
            <a:off x="1254941" y="1690688"/>
            <a:ext cx="8823337" cy="4797615"/>
          </a:xfrm>
          <a:prstGeom prst="rect">
            <a:avLst/>
          </a:prstGeom>
        </p:spPr>
      </p:pic>
    </p:spTree>
    <p:extLst>
      <p:ext uri="{BB962C8B-B14F-4D97-AF65-F5344CB8AC3E}">
        <p14:creationId xmlns:p14="http://schemas.microsoft.com/office/powerpoint/2010/main" val="3558461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50CE82-5595-D8C1-FEB6-91B572EDA594}"/>
              </a:ext>
            </a:extLst>
          </p:cNvPr>
          <p:cNvSpPr>
            <a:spLocks noGrp="1"/>
          </p:cNvSpPr>
          <p:nvPr>
            <p:ph type="title"/>
          </p:nvPr>
        </p:nvSpPr>
        <p:spPr/>
        <p:txBody>
          <a:bodyPr/>
          <a:lstStyle/>
          <a:p>
            <a:r>
              <a:rPr lang="en-IN" dirty="0"/>
              <a:t>A two-layer perceptron</a:t>
            </a:r>
          </a:p>
        </p:txBody>
      </p:sp>
      <p:sp>
        <p:nvSpPr>
          <p:cNvPr id="6" name="Content Placeholder 5">
            <a:extLst>
              <a:ext uri="{FF2B5EF4-FFF2-40B4-BE49-F238E27FC236}">
                <a16:creationId xmlns:a16="http://schemas.microsoft.com/office/drawing/2014/main" id="{4D77E174-3578-D025-A41A-BC49346C4947}"/>
              </a:ext>
            </a:extLst>
          </p:cNvPr>
          <p:cNvSpPr>
            <a:spLocks noGrp="1"/>
          </p:cNvSpPr>
          <p:nvPr>
            <p:ph idx="1"/>
          </p:nvPr>
        </p:nvSpPr>
        <p:spPr>
          <a:xfrm>
            <a:off x="838200" y="1567207"/>
            <a:ext cx="10959548" cy="4575175"/>
          </a:xfrm>
        </p:spPr>
        <p:txBody>
          <a:bodyPr>
            <a:noAutofit/>
          </a:bodyPr>
          <a:lstStyle/>
          <a:p>
            <a:r>
              <a:rPr lang="en-US" sz="2400" dirty="0"/>
              <a:t>Input vectors in the </a:t>
            </a:r>
            <a:r>
              <a:rPr lang="en-US" sz="2400" i="1" dirty="0"/>
              <a:t>l</a:t>
            </a:r>
            <a:r>
              <a:rPr lang="en-US" sz="2400" dirty="0"/>
              <a:t>-dimensional space, that is, </a:t>
            </a:r>
            <a:r>
              <a:rPr lang="en-US" sz="2400" b="1" i="1" dirty="0"/>
              <a:t>x </a:t>
            </a:r>
            <a:r>
              <a:rPr lang="en-US" sz="2400" dirty="0"/>
              <a:t>∈ </a:t>
            </a:r>
            <a:r>
              <a:rPr lang="en-US" sz="2400" i="1" dirty="0" err="1"/>
              <a:t>R</a:t>
            </a:r>
            <a:r>
              <a:rPr lang="en-US" sz="2400" i="1" baseline="30000" dirty="0" err="1"/>
              <a:t>l</a:t>
            </a:r>
            <a:r>
              <a:rPr lang="en-US" sz="2400" i="1" dirty="0"/>
              <a:t> </a:t>
            </a:r>
            <a:r>
              <a:rPr lang="en-US" sz="2400" dirty="0"/>
              <a:t>, and </a:t>
            </a:r>
            <a:r>
              <a:rPr lang="en-US" sz="2400" i="1" dirty="0"/>
              <a:t>p </a:t>
            </a:r>
            <a:r>
              <a:rPr lang="en-US" sz="2400" dirty="0"/>
              <a:t>neurons in the hidden layer</a:t>
            </a:r>
          </a:p>
          <a:p>
            <a:r>
              <a:rPr lang="en-IN" sz="2400" dirty="0"/>
              <a:t>Hypercube of </a:t>
            </a:r>
            <a:r>
              <a:rPr lang="en-US" sz="2400" dirty="0"/>
              <a:t>unit side length in the </a:t>
            </a:r>
            <a:r>
              <a:rPr lang="en-US" sz="2400" i="1" dirty="0"/>
              <a:t>p</a:t>
            </a:r>
            <a:r>
              <a:rPr lang="en-US" sz="2400" dirty="0"/>
              <a:t>-dimensional space, denoted by </a:t>
            </a:r>
            <a:r>
              <a:rPr lang="en-US" sz="2400" i="1" dirty="0"/>
              <a:t>Hp</a:t>
            </a:r>
            <a:r>
              <a:rPr lang="en-US" sz="2400" dirty="0"/>
              <a:t>.</a:t>
            </a:r>
          </a:p>
          <a:p>
            <a:endParaRPr lang="en-US" sz="2400" dirty="0"/>
          </a:p>
          <a:p>
            <a:endParaRPr lang="en-US" sz="2400" dirty="0"/>
          </a:p>
          <a:p>
            <a:endParaRPr lang="en-US" sz="2400" dirty="0"/>
          </a:p>
          <a:p>
            <a:endParaRPr lang="en-US" sz="2400" dirty="0"/>
          </a:p>
          <a:p>
            <a:r>
              <a:rPr lang="en-US" sz="2400" dirty="0"/>
              <a:t>The mapping of the input space onto the vertices of the hypercube is achieved  via the creation of </a:t>
            </a:r>
            <a:r>
              <a:rPr lang="en-US" sz="2400" i="1" dirty="0"/>
              <a:t>p </a:t>
            </a:r>
            <a:r>
              <a:rPr lang="en-US" sz="2400" dirty="0"/>
              <a:t>hyperplanes. Each of the hyperplanes is created by a neuron  in the hidden layer, and the output of each neuron is 0 or 1, depending on the relevant position of the input vector with respect to the corresponding hyperplane.</a:t>
            </a:r>
            <a:endParaRPr lang="en-IN" sz="2400" dirty="0"/>
          </a:p>
          <a:p>
            <a:endParaRPr lang="en-IN" sz="2400" dirty="0"/>
          </a:p>
        </p:txBody>
      </p:sp>
      <p:pic>
        <p:nvPicPr>
          <p:cNvPr id="8" name="Picture 7">
            <a:extLst>
              <a:ext uri="{FF2B5EF4-FFF2-40B4-BE49-F238E27FC236}">
                <a16:creationId xmlns:a16="http://schemas.microsoft.com/office/drawing/2014/main" id="{96D60CCE-1D5F-1977-AE59-094597F9319D}"/>
              </a:ext>
            </a:extLst>
          </p:cNvPr>
          <p:cNvPicPr>
            <a:picLocks noChangeAspect="1"/>
          </p:cNvPicPr>
          <p:nvPr/>
        </p:nvPicPr>
        <p:blipFill>
          <a:blip r:embed="rId2"/>
          <a:stretch>
            <a:fillRect/>
          </a:stretch>
        </p:blipFill>
        <p:spPr>
          <a:xfrm>
            <a:off x="1027044" y="2892771"/>
            <a:ext cx="9776792" cy="1524213"/>
          </a:xfrm>
          <a:prstGeom prst="rect">
            <a:avLst/>
          </a:prstGeom>
        </p:spPr>
      </p:pic>
    </p:spTree>
    <p:extLst>
      <p:ext uri="{BB962C8B-B14F-4D97-AF65-F5344CB8AC3E}">
        <p14:creationId xmlns:p14="http://schemas.microsoft.com/office/powerpoint/2010/main" val="3020624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AB52B-ED31-81BE-AB07-8FBB13B39BC5}"/>
              </a:ext>
            </a:extLst>
          </p:cNvPr>
          <p:cNvSpPr>
            <a:spLocks noGrp="1"/>
          </p:cNvSpPr>
          <p:nvPr>
            <p:ph type="title"/>
          </p:nvPr>
        </p:nvSpPr>
        <p:spPr/>
        <p:txBody>
          <a:bodyPr/>
          <a:lstStyle/>
          <a:p>
            <a:r>
              <a:rPr lang="en-IN" b="1" dirty="0"/>
              <a:t>THREE-LAYER PERCEPTRONS</a:t>
            </a:r>
            <a:endParaRPr lang="en-IN" dirty="0"/>
          </a:p>
        </p:txBody>
      </p:sp>
      <p:sp>
        <p:nvSpPr>
          <p:cNvPr id="3" name="Content Placeholder 2">
            <a:extLst>
              <a:ext uri="{FF2B5EF4-FFF2-40B4-BE49-F238E27FC236}">
                <a16:creationId xmlns:a16="http://schemas.microsoft.com/office/drawing/2014/main" id="{FC7350B2-3C06-29C0-0C6F-0DF637424581}"/>
              </a:ext>
            </a:extLst>
          </p:cNvPr>
          <p:cNvSpPr>
            <a:spLocks noGrp="1"/>
          </p:cNvSpPr>
          <p:nvPr>
            <p:ph idx="1"/>
          </p:nvPr>
        </p:nvSpPr>
        <p:spPr>
          <a:xfrm>
            <a:off x="838200" y="1480930"/>
            <a:ext cx="10515600" cy="4696033"/>
          </a:xfrm>
        </p:spPr>
        <p:txBody>
          <a:bodyPr>
            <a:normAutofit/>
          </a:bodyPr>
          <a:lstStyle/>
          <a:p>
            <a:r>
              <a:rPr lang="en-US" sz="2400" dirty="0"/>
              <a:t>The inability of the two-layer perceptron to separate classes resulting from any union of polyhedral regions springs from the fact that the output neuron can realize only a single hyperplane. The difficulty was overcome by constructing two lines instead of one.</a:t>
            </a:r>
            <a:endParaRPr lang="en-IN" sz="2400" dirty="0"/>
          </a:p>
        </p:txBody>
      </p:sp>
      <p:pic>
        <p:nvPicPr>
          <p:cNvPr id="5" name="Content Placeholder 4">
            <a:extLst>
              <a:ext uri="{FF2B5EF4-FFF2-40B4-BE49-F238E27FC236}">
                <a16:creationId xmlns:a16="http://schemas.microsoft.com/office/drawing/2014/main" id="{2EC483EF-5328-9610-D33C-493301745E9D}"/>
              </a:ext>
            </a:extLst>
          </p:cNvPr>
          <p:cNvPicPr>
            <a:picLocks noChangeAspect="1"/>
          </p:cNvPicPr>
          <p:nvPr/>
        </p:nvPicPr>
        <p:blipFill>
          <a:blip r:embed="rId2"/>
          <a:stretch>
            <a:fillRect/>
          </a:stretch>
        </p:blipFill>
        <p:spPr>
          <a:xfrm>
            <a:off x="1104425" y="2930028"/>
            <a:ext cx="9764488" cy="3562847"/>
          </a:xfrm>
          <a:prstGeom prst="rect">
            <a:avLst/>
          </a:prstGeom>
        </p:spPr>
      </p:pic>
    </p:spTree>
    <p:extLst>
      <p:ext uri="{BB962C8B-B14F-4D97-AF65-F5344CB8AC3E}">
        <p14:creationId xmlns:p14="http://schemas.microsoft.com/office/powerpoint/2010/main" val="26023101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D00F-6A97-98F6-1839-88B88E7BEFBE}"/>
              </a:ext>
            </a:extLst>
          </p:cNvPr>
          <p:cNvSpPr>
            <a:spLocks noGrp="1"/>
          </p:cNvSpPr>
          <p:nvPr>
            <p:ph type="title"/>
          </p:nvPr>
        </p:nvSpPr>
        <p:spPr/>
        <p:txBody>
          <a:bodyPr/>
          <a:lstStyle/>
          <a:p>
            <a:r>
              <a:rPr lang="en-IN" b="1" dirty="0"/>
              <a:t>THREE-LAYER PERCEPTRONS</a:t>
            </a:r>
            <a:endParaRPr lang="en-IN" dirty="0"/>
          </a:p>
        </p:txBody>
      </p:sp>
      <p:sp>
        <p:nvSpPr>
          <p:cNvPr id="7" name="Content Placeholder 6">
            <a:extLst>
              <a:ext uri="{FF2B5EF4-FFF2-40B4-BE49-F238E27FC236}">
                <a16:creationId xmlns:a16="http://schemas.microsoft.com/office/drawing/2014/main" id="{9C4D82F1-1821-5884-C919-36F549A9B235}"/>
              </a:ext>
            </a:extLst>
          </p:cNvPr>
          <p:cNvSpPr>
            <a:spLocks noGrp="1"/>
          </p:cNvSpPr>
          <p:nvPr>
            <p:ph idx="1"/>
          </p:nvPr>
        </p:nvSpPr>
        <p:spPr>
          <a:xfrm>
            <a:off x="838200" y="1520686"/>
            <a:ext cx="10681252" cy="5227983"/>
          </a:xfrm>
        </p:spPr>
        <p:txBody>
          <a:bodyPr>
            <a:normAutofit fontScale="92500" lnSpcReduction="20000"/>
          </a:bodyPr>
          <a:lstStyle/>
          <a:p>
            <a:r>
              <a:rPr lang="en-US" dirty="0"/>
              <a:t>Three-layer perceptron architecture with two layers of hidden neurons and one output layer.</a:t>
            </a:r>
          </a:p>
          <a:p>
            <a:r>
              <a:rPr lang="en-US" dirty="0"/>
              <a:t>P</a:t>
            </a:r>
            <a:r>
              <a:rPr lang="en-US" i="1" dirty="0"/>
              <a:t> </a:t>
            </a:r>
            <a:r>
              <a:rPr lang="en-US" dirty="0"/>
              <a:t>neurons of the first hidden layer, which perform the mapping of the input space onto the vertices of the </a:t>
            </a:r>
            <a:r>
              <a:rPr lang="en-US" i="1" dirty="0"/>
              <a:t>Hp </a:t>
            </a:r>
            <a:r>
              <a:rPr lang="en-US" dirty="0"/>
              <a:t>hypercube of unit side length</a:t>
            </a:r>
          </a:p>
          <a:p>
            <a:pPr lvl="1"/>
            <a:r>
              <a:rPr lang="en-US" dirty="0"/>
              <a:t>Class </a:t>
            </a:r>
            <a:r>
              <a:rPr lang="en-US" i="1" dirty="0"/>
              <a:t>A </a:t>
            </a:r>
            <a:r>
              <a:rPr lang="en-US" dirty="0"/>
              <a:t>consists of the union of </a:t>
            </a:r>
            <a:r>
              <a:rPr lang="en-US" i="1" dirty="0"/>
              <a:t>K </a:t>
            </a:r>
            <a:r>
              <a:rPr lang="en-US" dirty="0"/>
              <a:t>of the resulting </a:t>
            </a:r>
            <a:r>
              <a:rPr lang="en-US" dirty="0" err="1"/>
              <a:t>polyhedra</a:t>
            </a:r>
            <a:r>
              <a:rPr lang="en-US" dirty="0"/>
              <a:t> and class </a:t>
            </a:r>
            <a:r>
              <a:rPr lang="en-US" i="1" dirty="0"/>
              <a:t>B </a:t>
            </a:r>
            <a:r>
              <a:rPr lang="en-US" dirty="0"/>
              <a:t>of the rest</a:t>
            </a:r>
          </a:p>
          <a:p>
            <a:r>
              <a:rPr lang="en-US" dirty="0"/>
              <a:t>Use </a:t>
            </a:r>
            <a:r>
              <a:rPr lang="en-US" i="1" dirty="0"/>
              <a:t>K </a:t>
            </a:r>
            <a:r>
              <a:rPr lang="en-US" dirty="0"/>
              <a:t>neurons in the second hidden layer. Each of these neurons realizes a hyperplane in the </a:t>
            </a:r>
            <a:r>
              <a:rPr lang="en-US" i="1" dirty="0"/>
              <a:t>p</a:t>
            </a:r>
            <a:r>
              <a:rPr lang="en-US" dirty="0"/>
              <a:t>-dimensional space. The synaptic weights for each of the second-layer neurons are chosen so that the realized hyperplane leaves only one of the </a:t>
            </a:r>
            <a:r>
              <a:rPr lang="en-US" i="1" dirty="0"/>
              <a:t>Hp </a:t>
            </a:r>
            <a:r>
              <a:rPr lang="en-US" dirty="0"/>
              <a:t>vertices on one side and </a:t>
            </a:r>
            <a:r>
              <a:rPr lang="en-US" i="1" dirty="0"/>
              <a:t>all </a:t>
            </a:r>
            <a:r>
              <a:rPr lang="en-US" dirty="0"/>
              <a:t>the rest on the other. </a:t>
            </a:r>
          </a:p>
          <a:p>
            <a:r>
              <a:rPr lang="en-US" dirty="0"/>
              <a:t>For each neuron a different vertex is isolated, that is, one of the </a:t>
            </a:r>
            <a:r>
              <a:rPr lang="en-US" i="1" dirty="0"/>
              <a:t>K A </a:t>
            </a:r>
            <a:r>
              <a:rPr lang="en-US" dirty="0"/>
              <a:t>class vertices </a:t>
            </a:r>
          </a:p>
          <a:p>
            <a:pPr lvl="1"/>
            <a:r>
              <a:rPr lang="en-US" dirty="0"/>
              <a:t>Each time an input vector from class </a:t>
            </a:r>
            <a:r>
              <a:rPr lang="en-US" i="1" dirty="0"/>
              <a:t>A </a:t>
            </a:r>
            <a:r>
              <a:rPr lang="en-US" dirty="0"/>
              <a:t>enters the network, one of the </a:t>
            </a:r>
            <a:r>
              <a:rPr lang="en-US" i="1" dirty="0"/>
              <a:t>K </a:t>
            </a:r>
            <a:r>
              <a:rPr lang="en-US" dirty="0"/>
              <a:t>neurons of the second layer results in a 1 and the remaining </a:t>
            </a:r>
            <a:r>
              <a:rPr lang="en-US" i="1" dirty="0"/>
              <a:t>K -</a:t>
            </a:r>
            <a:r>
              <a:rPr lang="en-US" dirty="0"/>
              <a:t>1 give 0</a:t>
            </a:r>
          </a:p>
          <a:p>
            <a:pPr lvl="1"/>
            <a:r>
              <a:rPr lang="en-US" dirty="0"/>
              <a:t>For class </a:t>
            </a:r>
            <a:r>
              <a:rPr lang="en-US" i="1" dirty="0"/>
              <a:t>B </a:t>
            </a:r>
            <a:r>
              <a:rPr lang="en-US" dirty="0"/>
              <a:t>vectors all neurons in the second layer output a 0.</a:t>
            </a:r>
          </a:p>
          <a:p>
            <a:r>
              <a:rPr lang="en-US" dirty="0"/>
              <a:t>Choose the output layer neuron to realize an OR gate. Its output will be 1 for class </a:t>
            </a:r>
            <a:r>
              <a:rPr lang="en-US" i="1" dirty="0"/>
              <a:t>A </a:t>
            </a:r>
            <a:r>
              <a:rPr lang="en-US" dirty="0"/>
              <a:t>and 0 for class </a:t>
            </a:r>
            <a:r>
              <a:rPr lang="en-US" i="1" dirty="0"/>
              <a:t>B </a:t>
            </a:r>
            <a:r>
              <a:rPr lang="en-US" dirty="0"/>
              <a:t>vectors.</a:t>
            </a:r>
            <a:endParaRPr lang="en-IN" dirty="0"/>
          </a:p>
        </p:txBody>
      </p:sp>
    </p:spTree>
    <p:extLst>
      <p:ext uri="{BB962C8B-B14F-4D97-AF65-F5344CB8AC3E}">
        <p14:creationId xmlns:p14="http://schemas.microsoft.com/office/powerpoint/2010/main" val="856361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AB516-0E72-FB2A-D309-4F678005B9CF}"/>
              </a:ext>
            </a:extLst>
          </p:cNvPr>
          <p:cNvSpPr>
            <a:spLocks noGrp="1"/>
          </p:cNvSpPr>
          <p:nvPr>
            <p:ph type="title"/>
          </p:nvPr>
        </p:nvSpPr>
        <p:spPr/>
        <p:txBody>
          <a:bodyPr/>
          <a:lstStyle/>
          <a:p>
            <a:r>
              <a:rPr lang="en-IN" b="1" dirty="0"/>
              <a:t>THREE-LAYER PERCEPTRONS</a:t>
            </a:r>
            <a:endParaRPr lang="en-IN" dirty="0"/>
          </a:p>
        </p:txBody>
      </p:sp>
      <p:pic>
        <p:nvPicPr>
          <p:cNvPr id="5" name="Content Placeholder 4">
            <a:extLst>
              <a:ext uri="{FF2B5EF4-FFF2-40B4-BE49-F238E27FC236}">
                <a16:creationId xmlns:a16="http://schemas.microsoft.com/office/drawing/2014/main" id="{73A9A353-9872-0636-648B-810D04631D7B}"/>
              </a:ext>
            </a:extLst>
          </p:cNvPr>
          <p:cNvPicPr>
            <a:picLocks noGrp="1" noChangeAspect="1"/>
          </p:cNvPicPr>
          <p:nvPr>
            <p:ph idx="1"/>
          </p:nvPr>
        </p:nvPicPr>
        <p:blipFill>
          <a:blip r:embed="rId2"/>
          <a:stretch>
            <a:fillRect/>
          </a:stretch>
        </p:blipFill>
        <p:spPr>
          <a:xfrm>
            <a:off x="1078917" y="1381759"/>
            <a:ext cx="7970607" cy="4363058"/>
          </a:xfrm>
          <a:prstGeom prst="rect">
            <a:avLst/>
          </a:prstGeom>
        </p:spPr>
      </p:pic>
      <p:sp>
        <p:nvSpPr>
          <p:cNvPr id="7" name="TextBox 6">
            <a:extLst>
              <a:ext uri="{FF2B5EF4-FFF2-40B4-BE49-F238E27FC236}">
                <a16:creationId xmlns:a16="http://schemas.microsoft.com/office/drawing/2014/main" id="{C6DAF3A4-EB97-70A1-AE1A-DBB0F394A657}"/>
              </a:ext>
            </a:extLst>
          </p:cNvPr>
          <p:cNvSpPr txBox="1"/>
          <p:nvPr/>
        </p:nvSpPr>
        <p:spPr>
          <a:xfrm>
            <a:off x="0" y="6022787"/>
            <a:ext cx="12324522" cy="646331"/>
          </a:xfrm>
          <a:prstGeom prst="rect">
            <a:avLst/>
          </a:prstGeom>
          <a:noFill/>
        </p:spPr>
        <p:txBody>
          <a:bodyPr wrap="square">
            <a:spAutoFit/>
          </a:bodyPr>
          <a:lstStyle/>
          <a:p>
            <a:pPr algn="l"/>
            <a:r>
              <a:rPr lang="en-US" sz="1800" b="0" i="0" u="none" strike="noStrike" baseline="0" dirty="0">
                <a:latin typeface="TradeGothic-Light"/>
              </a:rPr>
              <a:t>The neurons of the first hidden layer map an input vector onto one of the vertices of a unit (hyper)cube. The output neuron realizes a (hyper)plane to separate vertices according to their </a:t>
            </a:r>
            <a:r>
              <a:rPr lang="en-IN" sz="1800" b="0" i="0" u="none" strike="noStrike" baseline="0" dirty="0">
                <a:latin typeface="TradeGothic-Light"/>
              </a:rPr>
              <a:t>class label.</a:t>
            </a:r>
            <a:endParaRPr lang="en-IN" dirty="0"/>
          </a:p>
        </p:txBody>
      </p:sp>
      <p:sp>
        <p:nvSpPr>
          <p:cNvPr id="9" name="TextBox 8">
            <a:extLst>
              <a:ext uri="{FF2B5EF4-FFF2-40B4-BE49-F238E27FC236}">
                <a16:creationId xmlns:a16="http://schemas.microsoft.com/office/drawing/2014/main" id="{09868AD9-49C2-ECEE-50ED-9916DC3C37A8}"/>
              </a:ext>
            </a:extLst>
          </p:cNvPr>
          <p:cNvSpPr txBox="1"/>
          <p:nvPr/>
        </p:nvSpPr>
        <p:spPr>
          <a:xfrm>
            <a:off x="7814641" y="1793869"/>
            <a:ext cx="3834020" cy="1938992"/>
          </a:xfrm>
          <a:prstGeom prst="rect">
            <a:avLst/>
          </a:prstGeom>
          <a:noFill/>
        </p:spPr>
        <p:txBody>
          <a:bodyPr wrap="square">
            <a:spAutoFit/>
          </a:bodyPr>
          <a:lstStyle/>
          <a:p>
            <a:pPr marL="342900" indent="-342900" algn="l">
              <a:buFont typeface="Arial" panose="020B0604020202020204" pitchFamily="34" charset="0"/>
              <a:buChar char="•"/>
            </a:pPr>
            <a:r>
              <a:rPr lang="en-US" sz="2400" b="0" i="0" u="none" strike="noStrike" baseline="0" dirty="0"/>
              <a:t>class </a:t>
            </a:r>
            <a:r>
              <a:rPr lang="en-US" sz="2400" b="0" i="1" u="none" strike="noStrike" baseline="0" dirty="0"/>
              <a:t>A </a:t>
            </a:r>
            <a:r>
              <a:rPr lang="en-US" sz="2400" b="0" i="0" u="none" strike="noStrike" baseline="0" dirty="0"/>
              <a:t>consists of the union of the regions mapped onto vertices 000, 001, 011 </a:t>
            </a:r>
          </a:p>
          <a:p>
            <a:pPr marL="342900" indent="-342900" algn="l">
              <a:buFont typeface="Arial" panose="020B0604020202020204" pitchFamily="34" charset="0"/>
              <a:buChar char="•"/>
            </a:pPr>
            <a:r>
              <a:rPr lang="en-US" sz="2400" b="0" i="0" u="none" strike="noStrike" baseline="0" dirty="0"/>
              <a:t>class </a:t>
            </a:r>
            <a:r>
              <a:rPr lang="en-US" sz="2400" b="0" i="1" u="none" strike="noStrike" baseline="0" dirty="0"/>
              <a:t>B </a:t>
            </a:r>
            <a:r>
              <a:rPr lang="en-US" sz="2400" b="0" i="0" u="none" strike="noStrike" baseline="0" dirty="0"/>
              <a:t>consists of the rest</a:t>
            </a:r>
            <a:endParaRPr lang="en-IN" sz="2400" dirty="0"/>
          </a:p>
        </p:txBody>
      </p:sp>
    </p:spTree>
    <p:extLst>
      <p:ext uri="{BB962C8B-B14F-4D97-AF65-F5344CB8AC3E}">
        <p14:creationId xmlns:p14="http://schemas.microsoft.com/office/powerpoint/2010/main" val="28352146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C4C1-560B-60AB-597B-E99872B4D449}"/>
              </a:ext>
            </a:extLst>
          </p:cNvPr>
          <p:cNvSpPr>
            <a:spLocks noGrp="1"/>
          </p:cNvSpPr>
          <p:nvPr>
            <p:ph type="title"/>
          </p:nvPr>
        </p:nvSpPr>
        <p:spPr/>
        <p:txBody>
          <a:bodyPr/>
          <a:lstStyle/>
          <a:p>
            <a:r>
              <a:rPr lang="en-IN" b="1" dirty="0"/>
              <a:t>Multilayer perceptron (MLPs)</a:t>
            </a:r>
          </a:p>
        </p:txBody>
      </p:sp>
      <p:sp>
        <p:nvSpPr>
          <p:cNvPr id="3" name="Content Placeholder 2">
            <a:extLst>
              <a:ext uri="{FF2B5EF4-FFF2-40B4-BE49-F238E27FC236}">
                <a16:creationId xmlns:a16="http://schemas.microsoft.com/office/drawing/2014/main" id="{7435BB68-0D49-39F6-224A-3E26C6C93D50}"/>
              </a:ext>
            </a:extLst>
          </p:cNvPr>
          <p:cNvSpPr>
            <a:spLocks noGrp="1"/>
          </p:cNvSpPr>
          <p:nvPr>
            <p:ph idx="1"/>
          </p:nvPr>
        </p:nvSpPr>
        <p:spPr>
          <a:xfrm>
            <a:off x="907774" y="1577147"/>
            <a:ext cx="10515600" cy="4351338"/>
          </a:xfrm>
        </p:spPr>
        <p:txBody>
          <a:bodyPr>
            <a:normAutofit/>
          </a:bodyPr>
          <a:lstStyle/>
          <a:p>
            <a:pPr fontAlgn="base"/>
            <a:r>
              <a:rPr lang="en-US" sz="2400" dirty="0"/>
              <a:t>A Multi-Layer Perceptron (MLP) consists of:</a:t>
            </a:r>
          </a:p>
          <a:p>
            <a:pPr lvl="1" fontAlgn="base"/>
            <a:r>
              <a:rPr lang="en-US" sz="2000" b="1" dirty="0"/>
              <a:t>Input Layer</a:t>
            </a:r>
            <a:r>
              <a:rPr lang="en-US" sz="2000" dirty="0"/>
              <a:t>: receives raw data</a:t>
            </a:r>
          </a:p>
          <a:p>
            <a:pPr lvl="1" fontAlgn="base"/>
            <a:r>
              <a:rPr lang="en-US" sz="2000" b="1" dirty="0"/>
              <a:t>One or more Hidden Layers: </a:t>
            </a:r>
            <a:r>
              <a:rPr lang="en-US" sz="2000" dirty="0"/>
              <a:t>extracts features</a:t>
            </a:r>
          </a:p>
          <a:p>
            <a:pPr lvl="1" fontAlgn="base"/>
            <a:r>
              <a:rPr lang="en-US" sz="2000" b="1" dirty="0"/>
              <a:t>Output Layer:</a:t>
            </a:r>
            <a:r>
              <a:rPr lang="en-US" sz="2000" dirty="0"/>
              <a:t> produces final predictions</a:t>
            </a:r>
          </a:p>
          <a:p>
            <a:endParaRPr lang="en-IN" sz="2400" dirty="0"/>
          </a:p>
        </p:txBody>
      </p:sp>
      <p:pic>
        <p:nvPicPr>
          <p:cNvPr id="5" name="Picture 4">
            <a:extLst>
              <a:ext uri="{FF2B5EF4-FFF2-40B4-BE49-F238E27FC236}">
                <a16:creationId xmlns:a16="http://schemas.microsoft.com/office/drawing/2014/main" id="{83BDA9A9-2B45-6B79-5A53-ECD684ED06D2}"/>
              </a:ext>
            </a:extLst>
          </p:cNvPr>
          <p:cNvPicPr>
            <a:picLocks noChangeAspect="1"/>
          </p:cNvPicPr>
          <p:nvPr/>
        </p:nvPicPr>
        <p:blipFill>
          <a:blip r:embed="rId2"/>
          <a:stretch>
            <a:fillRect/>
          </a:stretch>
        </p:blipFill>
        <p:spPr>
          <a:xfrm>
            <a:off x="2294042" y="3132513"/>
            <a:ext cx="8002898" cy="3725487"/>
          </a:xfrm>
          <a:prstGeom prst="rect">
            <a:avLst/>
          </a:prstGeom>
        </p:spPr>
      </p:pic>
    </p:spTree>
    <p:extLst>
      <p:ext uri="{BB962C8B-B14F-4D97-AF65-F5344CB8AC3E}">
        <p14:creationId xmlns:p14="http://schemas.microsoft.com/office/powerpoint/2010/main" val="4194274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5363D-780D-BF00-D57C-EA28AA633D25}"/>
              </a:ext>
            </a:extLst>
          </p:cNvPr>
          <p:cNvSpPr>
            <a:spLocks noGrp="1"/>
          </p:cNvSpPr>
          <p:nvPr>
            <p:ph type="title"/>
          </p:nvPr>
        </p:nvSpPr>
        <p:spPr/>
        <p:txBody>
          <a:bodyPr/>
          <a:lstStyle/>
          <a:p>
            <a:r>
              <a:rPr lang="en-US" dirty="0"/>
              <a:t>DEEP NEURAL NETWORKS</a:t>
            </a:r>
            <a:endParaRPr lang="en-IN" dirty="0"/>
          </a:p>
        </p:txBody>
      </p:sp>
      <p:pic>
        <p:nvPicPr>
          <p:cNvPr id="5" name="Content Placeholder 4">
            <a:extLst>
              <a:ext uri="{FF2B5EF4-FFF2-40B4-BE49-F238E27FC236}">
                <a16:creationId xmlns:a16="http://schemas.microsoft.com/office/drawing/2014/main" id="{3B407C41-4C9A-3283-73E2-C4F2B1FEDAD9}"/>
              </a:ext>
            </a:extLst>
          </p:cNvPr>
          <p:cNvPicPr>
            <a:picLocks noGrp="1" noChangeAspect="1"/>
          </p:cNvPicPr>
          <p:nvPr>
            <p:ph idx="1"/>
          </p:nvPr>
        </p:nvPicPr>
        <p:blipFill>
          <a:blip r:embed="rId2"/>
          <a:stretch>
            <a:fillRect/>
          </a:stretch>
        </p:blipFill>
        <p:spPr>
          <a:xfrm>
            <a:off x="838200" y="1816983"/>
            <a:ext cx="11357427" cy="1194574"/>
          </a:xfrm>
          <a:prstGeom prst="rect">
            <a:avLst/>
          </a:prstGeom>
        </p:spPr>
      </p:pic>
      <p:pic>
        <p:nvPicPr>
          <p:cNvPr id="6" name="Picture 5" descr="A diagram depicting the layers of a deep neural network">
            <a:extLst>
              <a:ext uri="{FF2B5EF4-FFF2-40B4-BE49-F238E27FC236}">
                <a16:creationId xmlns:a16="http://schemas.microsoft.com/office/drawing/2014/main" id="{FC8B6464-BA79-C48C-B0E2-A430250904DB}"/>
              </a:ext>
            </a:extLst>
          </p:cNvPr>
          <p:cNvPicPr>
            <a:picLocks noGrp="1"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429889" y="3157729"/>
            <a:ext cx="7425876" cy="3657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1175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10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1800"/>
              <a:buNone/>
            </a:pPr>
            <a:endParaRPr/>
          </a:p>
        </p:txBody>
      </p:sp>
      <p:sp>
        <p:nvSpPr>
          <p:cNvPr id="819" name="Google Shape;819;p10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SzPts val="1800"/>
              <a:buNone/>
            </a:pPr>
            <a:endParaRPr/>
          </a:p>
        </p:txBody>
      </p:sp>
      <p:pic>
        <p:nvPicPr>
          <p:cNvPr id="820" name="Google Shape;820;p107"/>
          <p:cNvPicPr preferRelativeResize="0"/>
          <p:nvPr/>
        </p:nvPicPr>
        <p:blipFill rotWithShape="1">
          <a:blip r:embed="rId3">
            <a:alphaModFix/>
          </a:blip>
          <a:srcRect/>
          <a:stretch/>
        </p:blipFill>
        <p:spPr>
          <a:xfrm>
            <a:off x="692625" y="287150"/>
            <a:ext cx="10716824" cy="6074775"/>
          </a:xfrm>
          <a:prstGeom prst="rect">
            <a:avLst/>
          </a:prstGeom>
          <a:noFill/>
          <a:ln>
            <a:noFill/>
          </a:ln>
        </p:spPr>
      </p:pic>
    </p:spTree>
    <p:extLst>
      <p:ext uri="{BB962C8B-B14F-4D97-AF65-F5344CB8AC3E}">
        <p14:creationId xmlns:p14="http://schemas.microsoft.com/office/powerpoint/2010/main" val="3771467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756125" y="4778067"/>
            <a:ext cx="230504" cy="167639"/>
          </a:xfrm>
          <a:prstGeom prst="rect">
            <a:avLst/>
          </a:prstGeom>
        </p:spPr>
        <p:txBody>
          <a:bodyPr vert="horz" wrap="square" lIns="0" tIns="0" rIns="0" bIns="0" rtlCol="0">
            <a:spAutoFit/>
          </a:bodyPr>
          <a:lstStyle>
            <a:defPPr>
              <a:defRPr kern="0"/>
            </a:defPPr>
            <a:lvl1pPr>
              <a:defRPr sz="1000" b="0" i="0">
                <a:solidFill>
                  <a:srgbClr val="595959"/>
                </a:solidFill>
                <a:latin typeface="Arial MT"/>
                <a:cs typeface="Arial MT"/>
              </a:defRPr>
            </a:lvl1pPr>
          </a:lstStyle>
          <a:p>
            <a:pPr marL="38100">
              <a:spcBef>
                <a:spcPts val="5"/>
              </a:spcBef>
            </a:pPr>
            <a:fld id="{81D60167-4931-47E6-BA6A-407CBD079E47}" type="slidenum">
              <a:rPr lang="en-IN" spc="-25" smtClean="0"/>
              <a:pPr marL="38100">
                <a:spcBef>
                  <a:spcPts val="5"/>
                </a:spcBef>
              </a:pPr>
              <a:t>47</a:t>
            </a:fld>
            <a:endParaRPr spc="-33" dirty="0"/>
          </a:p>
        </p:txBody>
      </p:sp>
      <p:sp>
        <p:nvSpPr>
          <p:cNvPr id="2" name="object 2"/>
          <p:cNvSpPr txBox="1">
            <a:spLocks noGrp="1"/>
          </p:cNvSpPr>
          <p:nvPr>
            <p:ph type="title"/>
          </p:nvPr>
        </p:nvSpPr>
        <p:spPr>
          <a:xfrm>
            <a:off x="3735003" y="159811"/>
            <a:ext cx="4717627" cy="694207"/>
          </a:xfrm>
          <a:prstGeom prst="rect">
            <a:avLst/>
          </a:prstGeom>
        </p:spPr>
        <p:txBody>
          <a:bodyPr vert="horz" wrap="square" lIns="0" tIns="16933" rIns="0" bIns="0" rtlCol="0" anchor="ctr">
            <a:spAutoFit/>
          </a:bodyPr>
          <a:lstStyle/>
          <a:p>
            <a:pPr marL="16933">
              <a:lnSpc>
                <a:spcPct val="100000"/>
              </a:lnSpc>
              <a:spcBef>
                <a:spcPts val="133"/>
              </a:spcBef>
            </a:pPr>
            <a:r>
              <a:rPr dirty="0"/>
              <a:t>Activation</a:t>
            </a:r>
            <a:r>
              <a:rPr spc="-253" dirty="0"/>
              <a:t> </a:t>
            </a:r>
            <a:r>
              <a:rPr spc="-13" dirty="0"/>
              <a:t>Functions</a:t>
            </a:r>
          </a:p>
        </p:txBody>
      </p:sp>
      <p:sp>
        <p:nvSpPr>
          <p:cNvPr id="3" name="object 3"/>
          <p:cNvSpPr txBox="1"/>
          <p:nvPr/>
        </p:nvSpPr>
        <p:spPr>
          <a:xfrm>
            <a:off x="613290" y="1241220"/>
            <a:ext cx="10516445" cy="3819678"/>
          </a:xfrm>
          <a:prstGeom prst="rect">
            <a:avLst/>
          </a:prstGeom>
        </p:spPr>
        <p:txBody>
          <a:bodyPr vert="horz" wrap="square" lIns="0" tIns="16933" rIns="0" bIns="0" rtlCol="0">
            <a:spAutoFit/>
          </a:bodyPr>
          <a:lstStyle/>
          <a:p>
            <a:pPr marL="525767" marR="6773" indent="-509681">
              <a:lnSpc>
                <a:spcPct val="115599"/>
              </a:lnSpc>
              <a:spcBef>
                <a:spcPts val="133"/>
              </a:spcBef>
              <a:buFont typeface="Arial"/>
              <a:buChar char="●"/>
              <a:tabLst>
                <a:tab pos="525767" algn="l"/>
              </a:tabLst>
            </a:pPr>
            <a:r>
              <a:rPr sz="2667" dirty="0">
                <a:latin typeface="Arial MT"/>
                <a:cs typeface="Arial MT"/>
              </a:rPr>
              <a:t>Activation</a:t>
            </a:r>
            <a:r>
              <a:rPr sz="2667" spc="-73" dirty="0">
                <a:latin typeface="Arial MT"/>
                <a:cs typeface="Arial MT"/>
              </a:rPr>
              <a:t> </a:t>
            </a:r>
            <a:r>
              <a:rPr sz="2667" dirty="0">
                <a:latin typeface="Arial MT"/>
                <a:cs typeface="Arial MT"/>
              </a:rPr>
              <a:t>function</a:t>
            </a:r>
            <a:r>
              <a:rPr sz="2667" spc="-73" dirty="0">
                <a:latin typeface="Arial MT"/>
                <a:cs typeface="Arial MT"/>
              </a:rPr>
              <a:t> </a:t>
            </a:r>
            <a:r>
              <a:rPr sz="2667" dirty="0">
                <a:latin typeface="Arial MT"/>
                <a:cs typeface="Arial MT"/>
              </a:rPr>
              <a:t>decide</a:t>
            </a:r>
            <a:r>
              <a:rPr sz="2667" spc="-73" dirty="0">
                <a:latin typeface="Arial MT"/>
                <a:cs typeface="Arial MT"/>
              </a:rPr>
              <a:t> </a:t>
            </a:r>
            <a:r>
              <a:rPr sz="2667" dirty="0">
                <a:latin typeface="Arial MT"/>
                <a:cs typeface="Arial MT"/>
              </a:rPr>
              <a:t>whether</a:t>
            </a:r>
            <a:r>
              <a:rPr sz="2667" spc="-67" dirty="0">
                <a:latin typeface="Arial MT"/>
                <a:cs typeface="Arial MT"/>
              </a:rPr>
              <a:t> </a:t>
            </a:r>
            <a:r>
              <a:rPr sz="2667" dirty="0">
                <a:latin typeface="Arial MT"/>
                <a:cs typeface="Arial MT"/>
              </a:rPr>
              <a:t>a</a:t>
            </a:r>
            <a:r>
              <a:rPr sz="2667" spc="-73" dirty="0">
                <a:latin typeface="Arial MT"/>
                <a:cs typeface="Arial MT"/>
              </a:rPr>
              <a:t> </a:t>
            </a:r>
            <a:r>
              <a:rPr sz="2667" dirty="0">
                <a:latin typeface="Arial MT"/>
                <a:cs typeface="Arial MT"/>
              </a:rPr>
              <a:t>neuron</a:t>
            </a:r>
            <a:r>
              <a:rPr sz="2667" spc="-73" dirty="0">
                <a:latin typeface="Arial MT"/>
                <a:cs typeface="Arial MT"/>
              </a:rPr>
              <a:t> </a:t>
            </a:r>
            <a:r>
              <a:rPr sz="2667" dirty="0">
                <a:latin typeface="Arial MT"/>
                <a:cs typeface="Arial MT"/>
              </a:rPr>
              <a:t>should</a:t>
            </a:r>
            <a:r>
              <a:rPr sz="2667" spc="-73" dirty="0">
                <a:latin typeface="Arial MT"/>
                <a:cs typeface="Arial MT"/>
              </a:rPr>
              <a:t> </a:t>
            </a:r>
            <a:r>
              <a:rPr sz="2667" dirty="0">
                <a:latin typeface="Arial MT"/>
                <a:cs typeface="Arial MT"/>
              </a:rPr>
              <a:t>be</a:t>
            </a:r>
            <a:r>
              <a:rPr sz="2667" spc="-67" dirty="0">
                <a:latin typeface="Arial MT"/>
                <a:cs typeface="Arial MT"/>
              </a:rPr>
              <a:t> </a:t>
            </a:r>
            <a:r>
              <a:rPr sz="2667" dirty="0">
                <a:latin typeface="Arial MT"/>
                <a:cs typeface="Arial MT"/>
              </a:rPr>
              <a:t>activated</a:t>
            </a:r>
            <a:r>
              <a:rPr sz="2667" spc="-73" dirty="0">
                <a:latin typeface="Arial MT"/>
                <a:cs typeface="Arial MT"/>
              </a:rPr>
              <a:t> </a:t>
            </a:r>
            <a:r>
              <a:rPr sz="2667" spc="-33" dirty="0">
                <a:latin typeface="Arial MT"/>
                <a:cs typeface="Arial MT"/>
              </a:rPr>
              <a:t>or </a:t>
            </a:r>
            <a:r>
              <a:rPr sz="2667" spc="-27" dirty="0">
                <a:latin typeface="Arial MT"/>
                <a:cs typeface="Arial MT"/>
              </a:rPr>
              <a:t>not.</a:t>
            </a:r>
            <a:endParaRPr sz="2667">
              <a:latin typeface="Arial MT"/>
              <a:cs typeface="Arial MT"/>
            </a:endParaRPr>
          </a:p>
          <a:p>
            <a:pPr marL="525767" marR="7620" indent="-509681">
              <a:lnSpc>
                <a:spcPct val="115599"/>
              </a:lnSpc>
              <a:buFont typeface="Arial"/>
              <a:buChar char="●"/>
              <a:tabLst>
                <a:tab pos="525767" algn="l"/>
              </a:tabLst>
            </a:pPr>
            <a:r>
              <a:rPr sz="2667" dirty="0">
                <a:latin typeface="Arial MT"/>
                <a:cs typeface="Arial MT"/>
              </a:rPr>
              <a:t>It</a:t>
            </a:r>
            <a:r>
              <a:rPr sz="2667" spc="-47" dirty="0">
                <a:latin typeface="Arial MT"/>
                <a:cs typeface="Arial MT"/>
              </a:rPr>
              <a:t> </a:t>
            </a:r>
            <a:r>
              <a:rPr sz="2667" dirty="0">
                <a:latin typeface="Arial MT"/>
                <a:cs typeface="Arial MT"/>
              </a:rPr>
              <a:t>helps</a:t>
            </a:r>
            <a:r>
              <a:rPr sz="2667" spc="-40" dirty="0">
                <a:latin typeface="Arial MT"/>
                <a:cs typeface="Arial MT"/>
              </a:rPr>
              <a:t> </a:t>
            </a:r>
            <a:r>
              <a:rPr sz="2667" dirty="0">
                <a:latin typeface="Arial MT"/>
                <a:cs typeface="Arial MT"/>
              </a:rPr>
              <a:t>the</a:t>
            </a:r>
            <a:r>
              <a:rPr sz="2667" spc="-40" dirty="0">
                <a:latin typeface="Arial MT"/>
                <a:cs typeface="Arial MT"/>
              </a:rPr>
              <a:t> </a:t>
            </a:r>
            <a:r>
              <a:rPr sz="2667" dirty="0">
                <a:latin typeface="Arial MT"/>
                <a:cs typeface="Arial MT"/>
              </a:rPr>
              <a:t>network</a:t>
            </a:r>
            <a:r>
              <a:rPr sz="2667" spc="-40" dirty="0">
                <a:latin typeface="Arial MT"/>
                <a:cs typeface="Arial MT"/>
              </a:rPr>
              <a:t> </a:t>
            </a:r>
            <a:r>
              <a:rPr sz="2667" dirty="0">
                <a:latin typeface="Arial MT"/>
                <a:cs typeface="Arial MT"/>
              </a:rPr>
              <a:t>to</a:t>
            </a:r>
            <a:r>
              <a:rPr sz="2667" spc="-40" dirty="0">
                <a:latin typeface="Arial MT"/>
                <a:cs typeface="Arial MT"/>
              </a:rPr>
              <a:t> </a:t>
            </a:r>
            <a:r>
              <a:rPr sz="2667" dirty="0">
                <a:latin typeface="Arial MT"/>
                <a:cs typeface="Arial MT"/>
              </a:rPr>
              <a:t>use</a:t>
            </a:r>
            <a:r>
              <a:rPr sz="2667" spc="-40" dirty="0">
                <a:latin typeface="Arial MT"/>
                <a:cs typeface="Arial MT"/>
              </a:rPr>
              <a:t> </a:t>
            </a:r>
            <a:r>
              <a:rPr sz="2667" dirty="0">
                <a:latin typeface="Arial MT"/>
                <a:cs typeface="Arial MT"/>
              </a:rPr>
              <a:t>the</a:t>
            </a:r>
            <a:r>
              <a:rPr sz="2667" spc="-40" dirty="0">
                <a:latin typeface="Arial MT"/>
                <a:cs typeface="Arial MT"/>
              </a:rPr>
              <a:t> </a:t>
            </a:r>
            <a:r>
              <a:rPr sz="2667" dirty="0">
                <a:latin typeface="Arial MT"/>
                <a:cs typeface="Arial MT"/>
              </a:rPr>
              <a:t>useful</a:t>
            </a:r>
            <a:r>
              <a:rPr sz="2667" spc="-40" dirty="0">
                <a:latin typeface="Arial MT"/>
                <a:cs typeface="Arial MT"/>
              </a:rPr>
              <a:t> </a:t>
            </a:r>
            <a:r>
              <a:rPr sz="2667" dirty="0">
                <a:latin typeface="Arial MT"/>
                <a:cs typeface="Arial MT"/>
              </a:rPr>
              <a:t>information</a:t>
            </a:r>
            <a:r>
              <a:rPr sz="2667" spc="-40" dirty="0">
                <a:latin typeface="Arial MT"/>
                <a:cs typeface="Arial MT"/>
              </a:rPr>
              <a:t> </a:t>
            </a:r>
            <a:r>
              <a:rPr sz="2667" dirty="0">
                <a:latin typeface="Arial MT"/>
                <a:cs typeface="Arial MT"/>
              </a:rPr>
              <a:t>and</a:t>
            </a:r>
            <a:r>
              <a:rPr sz="2667" spc="-47" dirty="0">
                <a:latin typeface="Arial MT"/>
                <a:cs typeface="Arial MT"/>
              </a:rPr>
              <a:t> </a:t>
            </a:r>
            <a:r>
              <a:rPr sz="2667" dirty="0">
                <a:latin typeface="Arial MT"/>
                <a:cs typeface="Arial MT"/>
              </a:rPr>
              <a:t>suppress</a:t>
            </a:r>
            <a:r>
              <a:rPr sz="2667" spc="-40" dirty="0">
                <a:latin typeface="Arial MT"/>
                <a:cs typeface="Arial MT"/>
              </a:rPr>
              <a:t> </a:t>
            </a:r>
            <a:r>
              <a:rPr sz="2667" spc="-33" dirty="0">
                <a:latin typeface="Arial MT"/>
                <a:cs typeface="Arial MT"/>
              </a:rPr>
              <a:t>the </a:t>
            </a:r>
            <a:r>
              <a:rPr sz="2667" dirty="0">
                <a:latin typeface="Arial MT"/>
                <a:cs typeface="Arial MT"/>
              </a:rPr>
              <a:t>irrelevant</a:t>
            </a:r>
            <a:r>
              <a:rPr sz="2667" spc="-67" dirty="0">
                <a:latin typeface="Arial MT"/>
                <a:cs typeface="Arial MT"/>
              </a:rPr>
              <a:t> </a:t>
            </a:r>
            <a:r>
              <a:rPr sz="2667" spc="-13" dirty="0">
                <a:latin typeface="Arial MT"/>
                <a:cs typeface="Arial MT"/>
              </a:rPr>
              <a:t>information.</a:t>
            </a:r>
            <a:endParaRPr sz="2667">
              <a:latin typeface="Arial MT"/>
              <a:cs typeface="Arial MT"/>
            </a:endParaRPr>
          </a:p>
          <a:p>
            <a:pPr marL="525767" indent="-508834">
              <a:spcBef>
                <a:spcPts val="500"/>
              </a:spcBef>
              <a:buChar char="●"/>
              <a:tabLst>
                <a:tab pos="525767" algn="l"/>
              </a:tabLst>
            </a:pPr>
            <a:r>
              <a:rPr sz="2667" dirty="0">
                <a:latin typeface="Arial MT"/>
                <a:cs typeface="Arial MT"/>
              </a:rPr>
              <a:t>Usually</a:t>
            </a:r>
            <a:r>
              <a:rPr sz="2667" spc="-80" dirty="0">
                <a:latin typeface="Arial MT"/>
                <a:cs typeface="Arial MT"/>
              </a:rPr>
              <a:t> </a:t>
            </a:r>
            <a:r>
              <a:rPr sz="2667" dirty="0">
                <a:latin typeface="Arial MT"/>
                <a:cs typeface="Arial MT"/>
              </a:rPr>
              <a:t>a</a:t>
            </a:r>
            <a:r>
              <a:rPr sz="2667" spc="-80" dirty="0">
                <a:latin typeface="Arial MT"/>
                <a:cs typeface="Arial MT"/>
              </a:rPr>
              <a:t> </a:t>
            </a:r>
            <a:r>
              <a:rPr sz="2667" dirty="0">
                <a:latin typeface="Arial MT"/>
                <a:cs typeface="Arial MT"/>
              </a:rPr>
              <a:t>nonlinear</a:t>
            </a:r>
            <a:r>
              <a:rPr sz="2667" spc="-73" dirty="0">
                <a:latin typeface="Arial MT"/>
                <a:cs typeface="Arial MT"/>
              </a:rPr>
              <a:t> </a:t>
            </a:r>
            <a:r>
              <a:rPr sz="2667" spc="-13" dirty="0">
                <a:latin typeface="Arial MT"/>
                <a:cs typeface="Arial MT"/>
              </a:rPr>
              <a:t>function.</a:t>
            </a:r>
            <a:endParaRPr sz="2667">
              <a:latin typeface="Arial MT"/>
              <a:cs typeface="Arial MT"/>
            </a:endParaRPr>
          </a:p>
          <a:p>
            <a:pPr marL="1744936" lvl="1" indent="-508834">
              <a:spcBef>
                <a:spcPts val="500"/>
              </a:spcBef>
              <a:buChar char="○"/>
              <a:tabLst>
                <a:tab pos="1744936" algn="l"/>
              </a:tabLst>
            </a:pPr>
            <a:r>
              <a:rPr sz="2667" dirty="0">
                <a:latin typeface="Arial MT"/>
                <a:cs typeface="Arial MT"/>
              </a:rPr>
              <a:t>What</a:t>
            </a:r>
            <a:r>
              <a:rPr sz="2667" spc="-53" dirty="0">
                <a:latin typeface="Arial MT"/>
                <a:cs typeface="Arial MT"/>
              </a:rPr>
              <a:t> </a:t>
            </a:r>
            <a:r>
              <a:rPr sz="2667" dirty="0">
                <a:latin typeface="Arial MT"/>
                <a:cs typeface="Arial MT"/>
              </a:rPr>
              <a:t>if</a:t>
            </a:r>
            <a:r>
              <a:rPr sz="2667" spc="-47" dirty="0">
                <a:latin typeface="Arial MT"/>
                <a:cs typeface="Arial MT"/>
              </a:rPr>
              <a:t> </a:t>
            </a:r>
            <a:r>
              <a:rPr sz="2667" dirty="0">
                <a:latin typeface="Arial MT"/>
                <a:cs typeface="Arial MT"/>
              </a:rPr>
              <a:t>we</a:t>
            </a:r>
            <a:r>
              <a:rPr sz="2667" spc="-47" dirty="0">
                <a:latin typeface="Arial MT"/>
                <a:cs typeface="Arial MT"/>
              </a:rPr>
              <a:t> </a:t>
            </a:r>
            <a:r>
              <a:rPr sz="2667" dirty="0">
                <a:latin typeface="Arial MT"/>
                <a:cs typeface="Arial MT"/>
              </a:rPr>
              <a:t>choose</a:t>
            </a:r>
            <a:r>
              <a:rPr sz="2667" spc="-47" dirty="0">
                <a:latin typeface="Arial MT"/>
                <a:cs typeface="Arial MT"/>
              </a:rPr>
              <a:t> </a:t>
            </a:r>
            <a:r>
              <a:rPr sz="2667" dirty="0">
                <a:latin typeface="Arial MT"/>
                <a:cs typeface="Arial MT"/>
              </a:rPr>
              <a:t>a</a:t>
            </a:r>
            <a:r>
              <a:rPr sz="2667" spc="-47" dirty="0">
                <a:latin typeface="Arial MT"/>
                <a:cs typeface="Arial MT"/>
              </a:rPr>
              <a:t> </a:t>
            </a:r>
            <a:r>
              <a:rPr sz="2667" spc="-13" dirty="0">
                <a:latin typeface="Arial MT"/>
                <a:cs typeface="Arial MT"/>
              </a:rPr>
              <a:t>linear?</a:t>
            </a:r>
            <a:endParaRPr sz="2667">
              <a:latin typeface="Arial MT"/>
              <a:cs typeface="Arial MT"/>
            </a:endParaRPr>
          </a:p>
          <a:p>
            <a:pPr marL="1838914" lvl="1" indent="-602812">
              <a:spcBef>
                <a:spcPts val="500"/>
              </a:spcBef>
              <a:buClr>
                <a:srgbClr val="000000"/>
              </a:buClr>
              <a:buChar char="○"/>
              <a:tabLst>
                <a:tab pos="1838914" algn="l"/>
              </a:tabLst>
            </a:pPr>
            <a:r>
              <a:rPr sz="2667" dirty="0">
                <a:solidFill>
                  <a:srgbClr val="980000"/>
                </a:solidFill>
                <a:latin typeface="Arial MT"/>
                <a:cs typeface="Arial MT"/>
              </a:rPr>
              <a:t>Linear</a:t>
            </a:r>
            <a:r>
              <a:rPr sz="2667" spc="-87" dirty="0">
                <a:solidFill>
                  <a:srgbClr val="980000"/>
                </a:solidFill>
                <a:latin typeface="Arial MT"/>
                <a:cs typeface="Arial MT"/>
              </a:rPr>
              <a:t> </a:t>
            </a:r>
            <a:r>
              <a:rPr sz="2667" spc="-13" dirty="0">
                <a:solidFill>
                  <a:srgbClr val="980000"/>
                </a:solidFill>
                <a:latin typeface="Arial MT"/>
                <a:cs typeface="Arial MT"/>
              </a:rPr>
              <a:t>classifier</a:t>
            </a:r>
            <a:endParaRPr sz="2667">
              <a:latin typeface="Arial MT"/>
              <a:cs typeface="Arial MT"/>
            </a:endParaRPr>
          </a:p>
          <a:p>
            <a:pPr marL="1838914" lvl="1" indent="-602812">
              <a:spcBef>
                <a:spcPts val="500"/>
              </a:spcBef>
              <a:buChar char="○"/>
              <a:tabLst>
                <a:tab pos="1838914" algn="l"/>
              </a:tabLst>
            </a:pPr>
            <a:r>
              <a:rPr sz="2667" dirty="0">
                <a:latin typeface="Arial MT"/>
                <a:cs typeface="Arial MT"/>
              </a:rPr>
              <a:t>Limited</a:t>
            </a:r>
            <a:r>
              <a:rPr sz="2667" spc="-73" dirty="0">
                <a:latin typeface="Arial MT"/>
                <a:cs typeface="Arial MT"/>
              </a:rPr>
              <a:t> </a:t>
            </a:r>
            <a:r>
              <a:rPr sz="2667" dirty="0">
                <a:latin typeface="Arial MT"/>
                <a:cs typeface="Arial MT"/>
              </a:rPr>
              <a:t>capacity</a:t>
            </a:r>
            <a:r>
              <a:rPr sz="2667" spc="-73" dirty="0">
                <a:latin typeface="Arial MT"/>
                <a:cs typeface="Arial MT"/>
              </a:rPr>
              <a:t> </a:t>
            </a:r>
            <a:r>
              <a:rPr sz="2667" dirty="0">
                <a:latin typeface="Arial MT"/>
                <a:cs typeface="Arial MT"/>
              </a:rPr>
              <a:t>to</a:t>
            </a:r>
            <a:r>
              <a:rPr sz="2667" spc="-67" dirty="0">
                <a:latin typeface="Arial MT"/>
                <a:cs typeface="Arial MT"/>
              </a:rPr>
              <a:t> </a:t>
            </a:r>
            <a:r>
              <a:rPr sz="2667" dirty="0">
                <a:latin typeface="Arial MT"/>
                <a:cs typeface="Arial MT"/>
              </a:rPr>
              <a:t>solve</a:t>
            </a:r>
            <a:r>
              <a:rPr sz="2667" spc="-73" dirty="0">
                <a:latin typeface="Arial MT"/>
                <a:cs typeface="Arial MT"/>
              </a:rPr>
              <a:t> </a:t>
            </a:r>
            <a:r>
              <a:rPr sz="2667" dirty="0">
                <a:latin typeface="Arial MT"/>
                <a:cs typeface="Arial MT"/>
              </a:rPr>
              <a:t>complex</a:t>
            </a:r>
            <a:r>
              <a:rPr sz="2667" spc="-73" dirty="0">
                <a:latin typeface="Arial MT"/>
                <a:cs typeface="Arial MT"/>
              </a:rPr>
              <a:t> </a:t>
            </a:r>
            <a:r>
              <a:rPr sz="2667" spc="-13" dirty="0">
                <a:latin typeface="Arial MT"/>
                <a:cs typeface="Arial MT"/>
              </a:rPr>
              <a:t>problems.</a:t>
            </a:r>
            <a:endParaRPr sz="2667">
              <a:latin typeface="Arial MT"/>
              <a:cs typeface="Arial MT"/>
            </a:endParaRPr>
          </a:p>
        </p:txBody>
      </p:sp>
    </p:spTree>
    <p:extLst>
      <p:ext uri="{BB962C8B-B14F-4D97-AF65-F5344CB8AC3E}">
        <p14:creationId xmlns:p14="http://schemas.microsoft.com/office/powerpoint/2010/main" val="3371386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0293" y="7544"/>
            <a:ext cx="6587067" cy="694207"/>
          </a:xfrm>
          <a:prstGeom prst="rect">
            <a:avLst/>
          </a:prstGeom>
        </p:spPr>
        <p:txBody>
          <a:bodyPr vert="horz" wrap="square" lIns="0" tIns="16933" rIns="0" bIns="0" rtlCol="0" anchor="ctr">
            <a:spAutoFit/>
          </a:bodyPr>
          <a:lstStyle/>
          <a:p>
            <a:pPr marL="16933">
              <a:lnSpc>
                <a:spcPct val="100000"/>
              </a:lnSpc>
              <a:spcBef>
                <a:spcPts val="133"/>
              </a:spcBef>
            </a:pPr>
            <a:r>
              <a:rPr dirty="0"/>
              <a:t>Activation</a:t>
            </a:r>
            <a:r>
              <a:rPr spc="-247" dirty="0"/>
              <a:t> </a:t>
            </a:r>
            <a:r>
              <a:rPr dirty="0"/>
              <a:t>Functions</a:t>
            </a:r>
            <a:r>
              <a:rPr spc="-240" dirty="0"/>
              <a:t> </a:t>
            </a:r>
            <a:endParaRPr spc="-13" dirty="0"/>
          </a:p>
        </p:txBody>
      </p:sp>
      <p:sp>
        <p:nvSpPr>
          <p:cNvPr id="3" name="object 3"/>
          <p:cNvSpPr txBox="1"/>
          <p:nvPr/>
        </p:nvSpPr>
        <p:spPr>
          <a:xfrm>
            <a:off x="613290" y="991319"/>
            <a:ext cx="1877060" cy="427532"/>
          </a:xfrm>
          <a:prstGeom prst="rect">
            <a:avLst/>
          </a:prstGeom>
        </p:spPr>
        <p:txBody>
          <a:bodyPr vert="horz" wrap="square" lIns="0" tIns="16933" rIns="0" bIns="0" rtlCol="0">
            <a:spAutoFit/>
          </a:bodyPr>
          <a:lstStyle/>
          <a:p>
            <a:pPr marL="525767" indent="-508834">
              <a:spcBef>
                <a:spcPts val="133"/>
              </a:spcBef>
              <a:buChar char="●"/>
              <a:tabLst>
                <a:tab pos="525767" algn="l"/>
              </a:tabLst>
            </a:pPr>
            <a:r>
              <a:rPr sz="2667" b="1" spc="-13" dirty="0">
                <a:latin typeface="Arial"/>
                <a:cs typeface="Arial"/>
              </a:rPr>
              <a:t>Sigmoid</a:t>
            </a:r>
            <a:endParaRPr sz="2667">
              <a:latin typeface="Arial"/>
              <a:cs typeface="Arial"/>
            </a:endParaRPr>
          </a:p>
        </p:txBody>
      </p:sp>
      <p:sp>
        <p:nvSpPr>
          <p:cNvPr id="4" name="object 4"/>
          <p:cNvSpPr txBox="1"/>
          <p:nvPr/>
        </p:nvSpPr>
        <p:spPr>
          <a:xfrm>
            <a:off x="613289" y="2422865"/>
            <a:ext cx="4785360" cy="3454514"/>
          </a:xfrm>
          <a:prstGeom prst="rect">
            <a:avLst/>
          </a:prstGeom>
        </p:spPr>
        <p:txBody>
          <a:bodyPr vert="horz" wrap="square" lIns="0" tIns="62653" rIns="0" bIns="0" rtlCol="0">
            <a:spAutoFit/>
          </a:bodyPr>
          <a:lstStyle/>
          <a:p>
            <a:pPr marL="1135352" indent="-447875">
              <a:spcBef>
                <a:spcPts val="493"/>
              </a:spcBef>
              <a:buChar char="○"/>
              <a:tabLst>
                <a:tab pos="1135352" algn="l"/>
              </a:tabLst>
            </a:pPr>
            <a:r>
              <a:rPr sz="1867" b="1" dirty="0">
                <a:solidFill>
                  <a:srgbClr val="274E13"/>
                </a:solidFill>
                <a:latin typeface="Arial"/>
                <a:cs typeface="Arial"/>
              </a:rPr>
              <a:t>continuously</a:t>
            </a:r>
            <a:r>
              <a:rPr sz="1867" b="1" spc="-80" dirty="0">
                <a:solidFill>
                  <a:srgbClr val="274E13"/>
                </a:solidFill>
                <a:latin typeface="Arial"/>
                <a:cs typeface="Arial"/>
              </a:rPr>
              <a:t> </a:t>
            </a:r>
            <a:r>
              <a:rPr sz="1867" b="1" spc="-13" dirty="0">
                <a:solidFill>
                  <a:srgbClr val="274E13"/>
                </a:solidFill>
                <a:latin typeface="Arial"/>
                <a:cs typeface="Arial"/>
              </a:rPr>
              <a:t>differentiable</a:t>
            </a:r>
            <a:endParaRPr sz="1867">
              <a:latin typeface="Arial"/>
              <a:cs typeface="Arial"/>
            </a:endParaRPr>
          </a:p>
          <a:p>
            <a:pPr marL="1135352" indent="-447875">
              <a:spcBef>
                <a:spcPts val="360"/>
              </a:spcBef>
              <a:buChar char="○"/>
              <a:tabLst>
                <a:tab pos="1135352" algn="l"/>
              </a:tabLst>
            </a:pPr>
            <a:r>
              <a:rPr sz="1867" b="1" dirty="0">
                <a:solidFill>
                  <a:srgbClr val="274E13"/>
                </a:solidFill>
                <a:latin typeface="Arial"/>
                <a:cs typeface="Arial"/>
              </a:rPr>
              <a:t>ranges</a:t>
            </a:r>
            <a:r>
              <a:rPr sz="1867" b="1" spc="-53" dirty="0">
                <a:solidFill>
                  <a:srgbClr val="274E13"/>
                </a:solidFill>
                <a:latin typeface="Arial"/>
                <a:cs typeface="Arial"/>
              </a:rPr>
              <a:t> </a:t>
            </a:r>
            <a:r>
              <a:rPr sz="1867" b="1" dirty="0">
                <a:solidFill>
                  <a:srgbClr val="274E13"/>
                </a:solidFill>
                <a:latin typeface="Arial"/>
                <a:cs typeface="Arial"/>
              </a:rPr>
              <a:t>from</a:t>
            </a:r>
            <a:r>
              <a:rPr sz="1867" b="1" spc="-47" dirty="0">
                <a:solidFill>
                  <a:srgbClr val="274E13"/>
                </a:solidFill>
                <a:latin typeface="Arial"/>
                <a:cs typeface="Arial"/>
              </a:rPr>
              <a:t> </a:t>
            </a:r>
            <a:r>
              <a:rPr sz="1867" b="1" spc="-13" dirty="0">
                <a:solidFill>
                  <a:srgbClr val="274E13"/>
                </a:solidFill>
                <a:latin typeface="Arial"/>
                <a:cs typeface="Arial"/>
              </a:rPr>
              <a:t>0-</a:t>
            </a:r>
            <a:r>
              <a:rPr sz="1867" b="1" spc="-67" dirty="0">
                <a:solidFill>
                  <a:srgbClr val="274E13"/>
                </a:solidFill>
                <a:latin typeface="Arial"/>
                <a:cs typeface="Arial"/>
              </a:rPr>
              <a:t>1</a:t>
            </a:r>
            <a:endParaRPr sz="1867">
              <a:latin typeface="Arial"/>
              <a:cs typeface="Arial"/>
            </a:endParaRPr>
          </a:p>
          <a:p>
            <a:pPr marL="1135352" indent="-447875">
              <a:spcBef>
                <a:spcPts val="360"/>
              </a:spcBef>
              <a:buChar char="○"/>
              <a:tabLst>
                <a:tab pos="1135352" algn="l"/>
              </a:tabLst>
            </a:pPr>
            <a:r>
              <a:rPr sz="1867" b="1" dirty="0">
                <a:solidFill>
                  <a:srgbClr val="FF0000"/>
                </a:solidFill>
                <a:latin typeface="Arial"/>
                <a:cs typeface="Arial"/>
              </a:rPr>
              <a:t>not</a:t>
            </a:r>
            <a:r>
              <a:rPr sz="1867" b="1" spc="-47" dirty="0">
                <a:solidFill>
                  <a:srgbClr val="FF0000"/>
                </a:solidFill>
                <a:latin typeface="Arial"/>
                <a:cs typeface="Arial"/>
              </a:rPr>
              <a:t> </a:t>
            </a:r>
            <a:r>
              <a:rPr sz="1867" b="1" dirty="0">
                <a:solidFill>
                  <a:srgbClr val="FF0000"/>
                </a:solidFill>
                <a:latin typeface="Arial"/>
                <a:cs typeface="Arial"/>
              </a:rPr>
              <a:t>symmetric</a:t>
            </a:r>
            <a:r>
              <a:rPr sz="1867" b="1" spc="-33" dirty="0">
                <a:solidFill>
                  <a:srgbClr val="FF0000"/>
                </a:solidFill>
                <a:latin typeface="Arial"/>
                <a:cs typeface="Arial"/>
              </a:rPr>
              <a:t> </a:t>
            </a:r>
            <a:r>
              <a:rPr sz="1867" b="1" dirty="0">
                <a:solidFill>
                  <a:srgbClr val="FF0000"/>
                </a:solidFill>
                <a:latin typeface="Arial"/>
                <a:cs typeface="Arial"/>
              </a:rPr>
              <a:t>around</a:t>
            </a:r>
            <a:r>
              <a:rPr sz="1867" b="1" spc="-33" dirty="0">
                <a:solidFill>
                  <a:srgbClr val="FF0000"/>
                </a:solidFill>
                <a:latin typeface="Arial"/>
                <a:cs typeface="Arial"/>
              </a:rPr>
              <a:t> </a:t>
            </a:r>
            <a:r>
              <a:rPr sz="1867" b="1" dirty="0">
                <a:solidFill>
                  <a:srgbClr val="FF0000"/>
                </a:solidFill>
                <a:latin typeface="Arial"/>
                <a:cs typeface="Arial"/>
              </a:rPr>
              <a:t>the</a:t>
            </a:r>
            <a:r>
              <a:rPr sz="1867" b="1" spc="-27" dirty="0">
                <a:solidFill>
                  <a:srgbClr val="FF0000"/>
                </a:solidFill>
                <a:latin typeface="Arial"/>
                <a:cs typeface="Arial"/>
              </a:rPr>
              <a:t> </a:t>
            </a:r>
            <a:r>
              <a:rPr sz="1867" b="1" spc="-13" dirty="0">
                <a:solidFill>
                  <a:srgbClr val="FF0000"/>
                </a:solidFill>
                <a:latin typeface="Arial"/>
                <a:cs typeface="Arial"/>
              </a:rPr>
              <a:t>origin</a:t>
            </a:r>
            <a:endParaRPr sz="1867">
              <a:latin typeface="Arial"/>
              <a:cs typeface="Arial"/>
            </a:endParaRPr>
          </a:p>
          <a:p>
            <a:pPr marL="525767" indent="-508834">
              <a:spcBef>
                <a:spcPts val="327"/>
              </a:spcBef>
              <a:buChar char="●"/>
              <a:tabLst>
                <a:tab pos="525767" algn="l"/>
              </a:tabLst>
            </a:pPr>
            <a:r>
              <a:rPr sz="2667" b="1" spc="-27" dirty="0">
                <a:latin typeface="Arial"/>
                <a:cs typeface="Arial"/>
              </a:rPr>
              <a:t>Tanh</a:t>
            </a:r>
            <a:endParaRPr sz="2667">
              <a:latin typeface="Arial"/>
              <a:cs typeface="Arial"/>
            </a:endParaRPr>
          </a:p>
          <a:p>
            <a:pPr marL="626518">
              <a:spcBef>
                <a:spcPts val="500"/>
              </a:spcBef>
            </a:pPr>
            <a:r>
              <a:rPr sz="2667" b="1" spc="-67" dirty="0">
                <a:latin typeface="Arial"/>
                <a:cs typeface="Arial"/>
              </a:rPr>
              <a:t>○</a:t>
            </a:r>
            <a:endParaRPr sz="2667">
              <a:latin typeface="Arial"/>
              <a:cs typeface="Arial"/>
            </a:endParaRPr>
          </a:p>
          <a:p>
            <a:pPr marL="626518">
              <a:spcBef>
                <a:spcPts val="500"/>
              </a:spcBef>
            </a:pPr>
            <a:r>
              <a:rPr sz="2667" b="1" spc="-67" dirty="0">
                <a:latin typeface="Arial"/>
                <a:cs typeface="Arial"/>
              </a:rPr>
              <a:t>○</a:t>
            </a:r>
            <a:endParaRPr sz="2667">
              <a:latin typeface="Arial"/>
              <a:cs typeface="Arial"/>
            </a:endParaRPr>
          </a:p>
          <a:p>
            <a:pPr marL="1135352" lvl="1" indent="-447875">
              <a:spcBef>
                <a:spcPts val="533"/>
              </a:spcBef>
              <a:buChar char="○"/>
              <a:tabLst>
                <a:tab pos="1135352" algn="l"/>
              </a:tabLst>
            </a:pPr>
            <a:r>
              <a:rPr sz="1867" b="1" dirty="0">
                <a:latin typeface="Arial"/>
                <a:cs typeface="Arial"/>
              </a:rPr>
              <a:t>scaled</a:t>
            </a:r>
            <a:r>
              <a:rPr sz="1867" b="1" spc="-33" dirty="0">
                <a:latin typeface="Arial"/>
                <a:cs typeface="Arial"/>
              </a:rPr>
              <a:t> </a:t>
            </a:r>
            <a:r>
              <a:rPr sz="1867" b="1" dirty="0">
                <a:latin typeface="Arial"/>
                <a:cs typeface="Arial"/>
              </a:rPr>
              <a:t>version</a:t>
            </a:r>
            <a:r>
              <a:rPr sz="1867" b="1" spc="-27" dirty="0">
                <a:latin typeface="Arial"/>
                <a:cs typeface="Arial"/>
              </a:rPr>
              <a:t> </a:t>
            </a:r>
            <a:r>
              <a:rPr sz="1867" b="1" dirty="0">
                <a:latin typeface="Arial"/>
                <a:cs typeface="Arial"/>
              </a:rPr>
              <a:t>of</a:t>
            </a:r>
            <a:r>
              <a:rPr sz="1867" b="1" spc="-27" dirty="0">
                <a:latin typeface="Arial"/>
                <a:cs typeface="Arial"/>
              </a:rPr>
              <a:t> </a:t>
            </a:r>
            <a:r>
              <a:rPr sz="1867" b="1" dirty="0">
                <a:latin typeface="Arial"/>
                <a:cs typeface="Arial"/>
              </a:rPr>
              <a:t>the</a:t>
            </a:r>
            <a:r>
              <a:rPr sz="1867" b="1" spc="-27" dirty="0">
                <a:latin typeface="Arial"/>
                <a:cs typeface="Arial"/>
              </a:rPr>
              <a:t> </a:t>
            </a:r>
            <a:r>
              <a:rPr sz="1867" b="1" spc="-13" dirty="0">
                <a:latin typeface="Arial"/>
                <a:cs typeface="Arial"/>
              </a:rPr>
              <a:t>sigmoid</a:t>
            </a:r>
            <a:endParaRPr sz="1867">
              <a:latin typeface="Arial"/>
              <a:cs typeface="Arial"/>
            </a:endParaRPr>
          </a:p>
          <a:p>
            <a:pPr marL="1135352" lvl="1" indent="-447875">
              <a:spcBef>
                <a:spcPts val="360"/>
              </a:spcBef>
              <a:buClr>
                <a:srgbClr val="000000"/>
              </a:buClr>
              <a:buChar char="○"/>
              <a:tabLst>
                <a:tab pos="1135352" algn="l"/>
              </a:tabLst>
            </a:pPr>
            <a:r>
              <a:rPr sz="1867" b="1" dirty="0">
                <a:solidFill>
                  <a:srgbClr val="274E13"/>
                </a:solidFill>
                <a:latin typeface="Arial"/>
                <a:cs typeface="Arial"/>
              </a:rPr>
              <a:t>symmetric</a:t>
            </a:r>
            <a:r>
              <a:rPr sz="1867" b="1" spc="-40" dirty="0">
                <a:solidFill>
                  <a:srgbClr val="274E13"/>
                </a:solidFill>
                <a:latin typeface="Arial"/>
                <a:cs typeface="Arial"/>
              </a:rPr>
              <a:t> </a:t>
            </a:r>
            <a:r>
              <a:rPr sz="1867" b="1" dirty="0">
                <a:solidFill>
                  <a:srgbClr val="274E13"/>
                </a:solidFill>
                <a:latin typeface="Arial"/>
                <a:cs typeface="Arial"/>
              </a:rPr>
              <a:t>around</a:t>
            </a:r>
            <a:r>
              <a:rPr sz="1867" b="1" spc="-40" dirty="0">
                <a:solidFill>
                  <a:srgbClr val="274E13"/>
                </a:solidFill>
                <a:latin typeface="Arial"/>
                <a:cs typeface="Arial"/>
              </a:rPr>
              <a:t> </a:t>
            </a:r>
            <a:r>
              <a:rPr sz="1867" b="1" dirty="0">
                <a:solidFill>
                  <a:srgbClr val="274E13"/>
                </a:solidFill>
                <a:latin typeface="Arial"/>
                <a:cs typeface="Arial"/>
              </a:rPr>
              <a:t>the</a:t>
            </a:r>
            <a:r>
              <a:rPr sz="1867" b="1" spc="-40" dirty="0">
                <a:solidFill>
                  <a:srgbClr val="274E13"/>
                </a:solidFill>
                <a:latin typeface="Arial"/>
                <a:cs typeface="Arial"/>
              </a:rPr>
              <a:t> </a:t>
            </a:r>
            <a:r>
              <a:rPr sz="1867" b="1" spc="-13" dirty="0">
                <a:solidFill>
                  <a:srgbClr val="274E13"/>
                </a:solidFill>
                <a:latin typeface="Arial"/>
                <a:cs typeface="Arial"/>
              </a:rPr>
              <a:t>origin</a:t>
            </a:r>
            <a:endParaRPr sz="1867">
              <a:latin typeface="Arial"/>
              <a:cs typeface="Arial"/>
            </a:endParaRPr>
          </a:p>
          <a:p>
            <a:pPr marL="1135352" lvl="1" indent="-447875">
              <a:spcBef>
                <a:spcPts val="360"/>
              </a:spcBef>
              <a:buClr>
                <a:srgbClr val="000000"/>
              </a:buClr>
              <a:buChar char="○"/>
              <a:tabLst>
                <a:tab pos="1135352" algn="l"/>
              </a:tabLst>
            </a:pPr>
            <a:r>
              <a:rPr sz="1867" b="1" dirty="0">
                <a:solidFill>
                  <a:srgbClr val="FF0000"/>
                </a:solidFill>
                <a:latin typeface="Arial"/>
                <a:cs typeface="Arial"/>
              </a:rPr>
              <a:t>vanishing</a:t>
            </a:r>
            <a:r>
              <a:rPr sz="1867" b="1" spc="-60" dirty="0">
                <a:solidFill>
                  <a:srgbClr val="FF0000"/>
                </a:solidFill>
                <a:latin typeface="Arial"/>
                <a:cs typeface="Arial"/>
              </a:rPr>
              <a:t> </a:t>
            </a:r>
            <a:r>
              <a:rPr sz="1867" b="1" spc="-13" dirty="0">
                <a:solidFill>
                  <a:srgbClr val="FF0000"/>
                </a:solidFill>
                <a:latin typeface="Arial"/>
                <a:cs typeface="Arial"/>
              </a:rPr>
              <a:t>gradient</a:t>
            </a:r>
            <a:endParaRPr sz="1867">
              <a:latin typeface="Arial"/>
              <a:cs typeface="Arial"/>
            </a:endParaRPr>
          </a:p>
        </p:txBody>
      </p:sp>
      <p:pic>
        <p:nvPicPr>
          <p:cNvPr id="5" name="object 5"/>
          <p:cNvPicPr/>
          <p:nvPr/>
        </p:nvPicPr>
        <p:blipFill>
          <a:blip r:embed="rId2" cstate="print"/>
          <a:stretch>
            <a:fillRect/>
          </a:stretch>
        </p:blipFill>
        <p:spPr>
          <a:xfrm>
            <a:off x="1690601" y="1577934"/>
            <a:ext cx="2946399" cy="609599"/>
          </a:xfrm>
          <a:prstGeom prst="rect">
            <a:avLst/>
          </a:prstGeom>
        </p:spPr>
      </p:pic>
      <p:pic>
        <p:nvPicPr>
          <p:cNvPr id="6" name="object 6"/>
          <p:cNvPicPr/>
          <p:nvPr/>
        </p:nvPicPr>
        <p:blipFill>
          <a:blip r:embed="rId3" cstate="print"/>
          <a:stretch>
            <a:fillRect/>
          </a:stretch>
        </p:blipFill>
        <p:spPr>
          <a:xfrm>
            <a:off x="1093701" y="3973517"/>
            <a:ext cx="4241799" cy="838199"/>
          </a:xfrm>
          <a:prstGeom prst="rect">
            <a:avLst/>
          </a:prstGeom>
        </p:spPr>
      </p:pic>
      <p:pic>
        <p:nvPicPr>
          <p:cNvPr id="7" name="object 7"/>
          <p:cNvPicPr/>
          <p:nvPr/>
        </p:nvPicPr>
        <p:blipFill>
          <a:blip r:embed="rId4" cstate="print"/>
          <a:stretch>
            <a:fillRect/>
          </a:stretch>
        </p:blipFill>
        <p:spPr>
          <a:xfrm>
            <a:off x="6815446" y="822860"/>
            <a:ext cx="3630469" cy="2955009"/>
          </a:xfrm>
          <a:prstGeom prst="rect">
            <a:avLst/>
          </a:prstGeom>
        </p:spPr>
      </p:pic>
      <p:pic>
        <p:nvPicPr>
          <p:cNvPr id="8" name="object 8"/>
          <p:cNvPicPr/>
          <p:nvPr/>
        </p:nvPicPr>
        <p:blipFill>
          <a:blip r:embed="rId5" cstate="print"/>
          <a:stretch>
            <a:fillRect/>
          </a:stretch>
        </p:blipFill>
        <p:spPr>
          <a:xfrm>
            <a:off x="6915416" y="3925912"/>
            <a:ext cx="3559680" cy="2897424"/>
          </a:xfrm>
          <a:prstGeom prst="rect">
            <a:avLst/>
          </a:prstGeom>
        </p:spPr>
      </p:pic>
    </p:spTree>
    <p:extLst>
      <p:ext uri="{BB962C8B-B14F-4D97-AF65-F5344CB8AC3E}">
        <p14:creationId xmlns:p14="http://schemas.microsoft.com/office/powerpoint/2010/main" val="21224541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0293" y="109144"/>
            <a:ext cx="6587067" cy="694207"/>
          </a:xfrm>
          <a:prstGeom prst="rect">
            <a:avLst/>
          </a:prstGeom>
        </p:spPr>
        <p:txBody>
          <a:bodyPr vert="horz" wrap="square" lIns="0" tIns="16933" rIns="0" bIns="0" rtlCol="0" anchor="ctr">
            <a:spAutoFit/>
          </a:bodyPr>
          <a:lstStyle/>
          <a:p>
            <a:pPr marL="16933">
              <a:lnSpc>
                <a:spcPct val="100000"/>
              </a:lnSpc>
              <a:spcBef>
                <a:spcPts val="133"/>
              </a:spcBef>
            </a:pPr>
            <a:r>
              <a:rPr dirty="0"/>
              <a:t>Activation</a:t>
            </a:r>
            <a:r>
              <a:rPr spc="-247" dirty="0"/>
              <a:t> </a:t>
            </a:r>
            <a:r>
              <a:rPr dirty="0"/>
              <a:t>Functions</a:t>
            </a:r>
            <a:r>
              <a:rPr spc="-240" dirty="0"/>
              <a:t> </a:t>
            </a:r>
            <a:r>
              <a:rPr spc="-13" dirty="0"/>
              <a:t>(cont’d)</a:t>
            </a:r>
          </a:p>
        </p:txBody>
      </p:sp>
      <p:sp>
        <p:nvSpPr>
          <p:cNvPr id="3" name="object 3"/>
          <p:cNvSpPr txBox="1"/>
          <p:nvPr/>
        </p:nvSpPr>
        <p:spPr>
          <a:xfrm>
            <a:off x="613290" y="991319"/>
            <a:ext cx="1408853" cy="427532"/>
          </a:xfrm>
          <a:prstGeom prst="rect">
            <a:avLst/>
          </a:prstGeom>
        </p:spPr>
        <p:txBody>
          <a:bodyPr vert="horz" wrap="square" lIns="0" tIns="16933" rIns="0" bIns="0" rtlCol="0">
            <a:spAutoFit/>
          </a:bodyPr>
          <a:lstStyle/>
          <a:p>
            <a:pPr marL="525767" indent="-508834">
              <a:spcBef>
                <a:spcPts val="133"/>
              </a:spcBef>
              <a:buChar char="●"/>
              <a:tabLst>
                <a:tab pos="525767" algn="l"/>
              </a:tabLst>
            </a:pPr>
            <a:r>
              <a:rPr sz="2667" spc="-27" dirty="0">
                <a:latin typeface="Arial MT"/>
                <a:cs typeface="Arial MT"/>
              </a:rPr>
              <a:t>ReLU</a:t>
            </a:r>
            <a:endParaRPr sz="2667">
              <a:latin typeface="Arial MT"/>
              <a:cs typeface="Arial MT"/>
            </a:endParaRPr>
          </a:p>
        </p:txBody>
      </p:sp>
      <p:sp>
        <p:nvSpPr>
          <p:cNvPr id="4" name="object 4"/>
          <p:cNvSpPr txBox="1"/>
          <p:nvPr/>
        </p:nvSpPr>
        <p:spPr>
          <a:xfrm>
            <a:off x="1284257" y="2422864"/>
            <a:ext cx="5237480" cy="2371461"/>
          </a:xfrm>
          <a:prstGeom prst="rect">
            <a:avLst/>
          </a:prstGeom>
        </p:spPr>
        <p:txBody>
          <a:bodyPr vert="horz" wrap="square" lIns="0" tIns="16933" rIns="0" bIns="0" rtlCol="0">
            <a:spAutoFit/>
          </a:bodyPr>
          <a:lstStyle/>
          <a:p>
            <a:pPr marL="464808" marR="6773" indent="-448722">
              <a:lnSpc>
                <a:spcPct val="116100"/>
              </a:lnSpc>
              <a:spcBef>
                <a:spcPts val="133"/>
              </a:spcBef>
              <a:buChar char="○"/>
              <a:tabLst>
                <a:tab pos="464808" algn="l"/>
              </a:tabLst>
            </a:pPr>
            <a:r>
              <a:rPr sz="1867" dirty="0">
                <a:latin typeface="Arial MT"/>
                <a:cs typeface="Arial MT"/>
              </a:rPr>
              <a:t>Also</a:t>
            </a:r>
            <a:r>
              <a:rPr sz="1867" spc="-47" dirty="0">
                <a:latin typeface="Arial MT"/>
                <a:cs typeface="Arial MT"/>
              </a:rPr>
              <a:t> </a:t>
            </a:r>
            <a:r>
              <a:rPr sz="1867" dirty="0">
                <a:latin typeface="Arial MT"/>
                <a:cs typeface="Arial MT"/>
              </a:rPr>
              <a:t>called</a:t>
            </a:r>
            <a:r>
              <a:rPr sz="1867" spc="-47" dirty="0">
                <a:latin typeface="Arial MT"/>
                <a:cs typeface="Arial MT"/>
              </a:rPr>
              <a:t> </a:t>
            </a:r>
            <a:r>
              <a:rPr sz="1867" dirty="0">
                <a:latin typeface="Arial MT"/>
                <a:cs typeface="Arial MT"/>
              </a:rPr>
              <a:t>piecewise</a:t>
            </a:r>
            <a:r>
              <a:rPr sz="1867" spc="-47" dirty="0">
                <a:latin typeface="Arial MT"/>
                <a:cs typeface="Arial MT"/>
              </a:rPr>
              <a:t> </a:t>
            </a:r>
            <a:r>
              <a:rPr sz="1867" dirty="0">
                <a:latin typeface="Arial MT"/>
                <a:cs typeface="Arial MT"/>
              </a:rPr>
              <a:t>linear</a:t>
            </a:r>
            <a:r>
              <a:rPr sz="1867" spc="-40" dirty="0">
                <a:latin typeface="Arial MT"/>
                <a:cs typeface="Arial MT"/>
              </a:rPr>
              <a:t> </a:t>
            </a:r>
            <a:r>
              <a:rPr sz="1867" dirty="0">
                <a:latin typeface="Arial MT"/>
                <a:cs typeface="Arial MT"/>
              </a:rPr>
              <a:t>function</a:t>
            </a:r>
            <a:r>
              <a:rPr sz="1867" spc="-47" dirty="0">
                <a:latin typeface="Arial MT"/>
                <a:cs typeface="Arial MT"/>
              </a:rPr>
              <a:t> </a:t>
            </a:r>
            <a:r>
              <a:rPr sz="1867" spc="-13" dirty="0">
                <a:latin typeface="Arial MT"/>
                <a:cs typeface="Arial MT"/>
              </a:rPr>
              <a:t>because </a:t>
            </a:r>
            <a:r>
              <a:rPr sz="1867" dirty="0">
                <a:latin typeface="Arial MT"/>
                <a:cs typeface="Arial MT"/>
              </a:rPr>
              <a:t>rectified</a:t>
            </a:r>
            <a:r>
              <a:rPr sz="1867" spc="-27" dirty="0">
                <a:latin typeface="Arial MT"/>
                <a:cs typeface="Arial MT"/>
              </a:rPr>
              <a:t> </a:t>
            </a:r>
            <a:r>
              <a:rPr sz="1867" dirty="0">
                <a:latin typeface="Arial MT"/>
                <a:cs typeface="Arial MT"/>
              </a:rPr>
              <a:t>function</a:t>
            </a:r>
            <a:r>
              <a:rPr sz="1867" spc="-27" dirty="0">
                <a:latin typeface="Arial MT"/>
                <a:cs typeface="Arial MT"/>
              </a:rPr>
              <a:t> </a:t>
            </a:r>
            <a:r>
              <a:rPr sz="1867" dirty="0">
                <a:latin typeface="Arial MT"/>
                <a:cs typeface="Arial MT"/>
              </a:rPr>
              <a:t>is</a:t>
            </a:r>
            <a:r>
              <a:rPr sz="1867" spc="-27" dirty="0">
                <a:latin typeface="Arial MT"/>
                <a:cs typeface="Arial MT"/>
              </a:rPr>
              <a:t> </a:t>
            </a:r>
            <a:r>
              <a:rPr sz="1867" dirty="0">
                <a:latin typeface="Arial MT"/>
                <a:cs typeface="Arial MT"/>
              </a:rPr>
              <a:t>linear</a:t>
            </a:r>
            <a:r>
              <a:rPr sz="1867" spc="-27" dirty="0">
                <a:latin typeface="Arial MT"/>
                <a:cs typeface="Arial MT"/>
              </a:rPr>
              <a:t> </a:t>
            </a:r>
            <a:r>
              <a:rPr sz="1867" dirty="0">
                <a:latin typeface="Arial MT"/>
                <a:cs typeface="Arial MT"/>
              </a:rPr>
              <a:t>for</a:t>
            </a:r>
            <a:r>
              <a:rPr sz="1867" spc="-27" dirty="0">
                <a:latin typeface="Arial MT"/>
                <a:cs typeface="Arial MT"/>
              </a:rPr>
              <a:t> </a:t>
            </a:r>
            <a:r>
              <a:rPr sz="1867" dirty="0">
                <a:latin typeface="Arial MT"/>
                <a:cs typeface="Arial MT"/>
              </a:rPr>
              <a:t>half</a:t>
            </a:r>
            <a:r>
              <a:rPr sz="1867" spc="-27" dirty="0">
                <a:latin typeface="Arial MT"/>
                <a:cs typeface="Arial MT"/>
              </a:rPr>
              <a:t> </a:t>
            </a:r>
            <a:r>
              <a:rPr sz="1867" dirty="0">
                <a:latin typeface="Arial MT"/>
                <a:cs typeface="Arial MT"/>
              </a:rPr>
              <a:t>of</a:t>
            </a:r>
            <a:r>
              <a:rPr sz="1867" spc="-27" dirty="0">
                <a:latin typeface="Arial MT"/>
                <a:cs typeface="Arial MT"/>
              </a:rPr>
              <a:t> </a:t>
            </a:r>
            <a:r>
              <a:rPr sz="1867" dirty="0">
                <a:latin typeface="Arial MT"/>
                <a:cs typeface="Arial MT"/>
              </a:rPr>
              <a:t>the</a:t>
            </a:r>
            <a:r>
              <a:rPr sz="1867" spc="-27" dirty="0">
                <a:latin typeface="Arial MT"/>
                <a:cs typeface="Arial MT"/>
              </a:rPr>
              <a:t> input </a:t>
            </a:r>
            <a:r>
              <a:rPr sz="1867" dirty="0">
                <a:latin typeface="Arial MT"/>
                <a:cs typeface="Arial MT"/>
              </a:rPr>
              <a:t>domain</a:t>
            </a:r>
            <a:r>
              <a:rPr sz="1867" spc="-33" dirty="0">
                <a:latin typeface="Arial MT"/>
                <a:cs typeface="Arial MT"/>
              </a:rPr>
              <a:t> </a:t>
            </a:r>
            <a:r>
              <a:rPr sz="1867" dirty="0">
                <a:latin typeface="Arial MT"/>
                <a:cs typeface="Arial MT"/>
              </a:rPr>
              <a:t>and</a:t>
            </a:r>
            <a:r>
              <a:rPr sz="1867" spc="-13" dirty="0">
                <a:latin typeface="Arial MT"/>
                <a:cs typeface="Arial MT"/>
              </a:rPr>
              <a:t> </a:t>
            </a:r>
            <a:r>
              <a:rPr sz="1867" dirty="0">
                <a:latin typeface="Arial MT"/>
                <a:cs typeface="Arial MT"/>
              </a:rPr>
              <a:t>nonlinear</a:t>
            </a:r>
            <a:r>
              <a:rPr sz="1867" spc="-20" dirty="0">
                <a:latin typeface="Arial MT"/>
                <a:cs typeface="Arial MT"/>
              </a:rPr>
              <a:t> </a:t>
            </a:r>
            <a:r>
              <a:rPr sz="1867" dirty="0">
                <a:latin typeface="Arial MT"/>
                <a:cs typeface="Arial MT"/>
              </a:rPr>
              <a:t>for</a:t>
            </a:r>
            <a:r>
              <a:rPr sz="1867" spc="-13" dirty="0">
                <a:latin typeface="Arial MT"/>
                <a:cs typeface="Arial MT"/>
              </a:rPr>
              <a:t> </a:t>
            </a:r>
            <a:r>
              <a:rPr sz="1867" dirty="0">
                <a:latin typeface="Arial MT"/>
                <a:cs typeface="Arial MT"/>
              </a:rPr>
              <a:t>the</a:t>
            </a:r>
            <a:r>
              <a:rPr sz="1867" spc="-20" dirty="0">
                <a:latin typeface="Arial MT"/>
                <a:cs typeface="Arial MT"/>
              </a:rPr>
              <a:t> </a:t>
            </a:r>
            <a:r>
              <a:rPr sz="1867" dirty="0">
                <a:latin typeface="Arial MT"/>
                <a:cs typeface="Arial MT"/>
              </a:rPr>
              <a:t>other</a:t>
            </a:r>
            <a:r>
              <a:rPr sz="1867" spc="-13" dirty="0">
                <a:latin typeface="Arial MT"/>
                <a:cs typeface="Arial MT"/>
              </a:rPr>
              <a:t> half.</a:t>
            </a:r>
            <a:endParaRPr sz="1867">
              <a:latin typeface="Arial MT"/>
              <a:cs typeface="Arial MT"/>
            </a:endParaRPr>
          </a:p>
          <a:p>
            <a:pPr marL="463962" indent="-447029">
              <a:spcBef>
                <a:spcPts val="360"/>
              </a:spcBef>
              <a:buChar char="○"/>
              <a:tabLst>
                <a:tab pos="463962" algn="l"/>
              </a:tabLst>
            </a:pPr>
            <a:r>
              <a:rPr sz="1867" dirty="0">
                <a:solidFill>
                  <a:srgbClr val="274E13"/>
                </a:solidFill>
                <a:latin typeface="Arial MT"/>
                <a:cs typeface="Arial MT"/>
              </a:rPr>
              <a:t>trivial</a:t>
            </a:r>
            <a:r>
              <a:rPr sz="1867" spc="-33" dirty="0">
                <a:solidFill>
                  <a:srgbClr val="274E13"/>
                </a:solidFill>
                <a:latin typeface="Arial MT"/>
                <a:cs typeface="Arial MT"/>
              </a:rPr>
              <a:t> </a:t>
            </a:r>
            <a:r>
              <a:rPr sz="1867" dirty="0">
                <a:solidFill>
                  <a:srgbClr val="274E13"/>
                </a:solidFill>
                <a:latin typeface="Arial MT"/>
                <a:cs typeface="Arial MT"/>
              </a:rPr>
              <a:t>to</a:t>
            </a:r>
            <a:r>
              <a:rPr sz="1867" spc="-27" dirty="0">
                <a:solidFill>
                  <a:srgbClr val="274E13"/>
                </a:solidFill>
                <a:latin typeface="Arial MT"/>
                <a:cs typeface="Arial MT"/>
              </a:rPr>
              <a:t> </a:t>
            </a:r>
            <a:r>
              <a:rPr sz="1867" spc="-13" dirty="0">
                <a:solidFill>
                  <a:srgbClr val="274E13"/>
                </a:solidFill>
                <a:latin typeface="Arial MT"/>
                <a:cs typeface="Arial MT"/>
              </a:rPr>
              <a:t>implement</a:t>
            </a:r>
            <a:endParaRPr sz="1867">
              <a:latin typeface="Arial MT"/>
              <a:cs typeface="Arial MT"/>
            </a:endParaRPr>
          </a:p>
          <a:p>
            <a:pPr marL="463962" indent="-447029">
              <a:spcBef>
                <a:spcPts val="360"/>
              </a:spcBef>
              <a:buChar char="○"/>
              <a:tabLst>
                <a:tab pos="463962" algn="l"/>
              </a:tabLst>
            </a:pPr>
            <a:r>
              <a:rPr sz="1867" dirty="0">
                <a:solidFill>
                  <a:srgbClr val="274E13"/>
                </a:solidFill>
                <a:latin typeface="Arial MT"/>
                <a:cs typeface="Arial MT"/>
              </a:rPr>
              <a:t>sparse</a:t>
            </a:r>
            <a:r>
              <a:rPr sz="1867" spc="-40" dirty="0">
                <a:solidFill>
                  <a:srgbClr val="274E13"/>
                </a:solidFill>
                <a:latin typeface="Arial MT"/>
                <a:cs typeface="Arial MT"/>
              </a:rPr>
              <a:t> </a:t>
            </a:r>
            <a:r>
              <a:rPr sz="1867" spc="-13" dirty="0">
                <a:solidFill>
                  <a:srgbClr val="274E13"/>
                </a:solidFill>
                <a:latin typeface="Arial MT"/>
                <a:cs typeface="Arial MT"/>
              </a:rPr>
              <a:t>representation</a:t>
            </a:r>
            <a:endParaRPr sz="1867">
              <a:latin typeface="Arial MT"/>
              <a:cs typeface="Arial MT"/>
            </a:endParaRPr>
          </a:p>
          <a:p>
            <a:pPr marL="463962" indent="-447029">
              <a:spcBef>
                <a:spcPts val="360"/>
              </a:spcBef>
              <a:buChar char="○"/>
              <a:tabLst>
                <a:tab pos="463962" algn="l"/>
              </a:tabLst>
            </a:pPr>
            <a:r>
              <a:rPr sz="1867" dirty="0">
                <a:solidFill>
                  <a:srgbClr val="274E13"/>
                </a:solidFill>
                <a:latin typeface="Arial MT"/>
                <a:cs typeface="Arial MT"/>
              </a:rPr>
              <a:t>avoid</a:t>
            </a:r>
            <a:r>
              <a:rPr sz="1867" spc="-27" dirty="0">
                <a:solidFill>
                  <a:srgbClr val="274E13"/>
                </a:solidFill>
                <a:latin typeface="Arial MT"/>
                <a:cs typeface="Arial MT"/>
              </a:rPr>
              <a:t> </a:t>
            </a:r>
            <a:r>
              <a:rPr sz="1867" dirty="0">
                <a:solidFill>
                  <a:srgbClr val="274E13"/>
                </a:solidFill>
                <a:latin typeface="Arial MT"/>
                <a:cs typeface="Arial MT"/>
              </a:rPr>
              <a:t>the</a:t>
            </a:r>
            <a:r>
              <a:rPr sz="1867" spc="-27" dirty="0">
                <a:solidFill>
                  <a:srgbClr val="274E13"/>
                </a:solidFill>
                <a:latin typeface="Arial MT"/>
                <a:cs typeface="Arial MT"/>
              </a:rPr>
              <a:t> </a:t>
            </a:r>
            <a:r>
              <a:rPr sz="1867" dirty="0">
                <a:solidFill>
                  <a:srgbClr val="274E13"/>
                </a:solidFill>
                <a:latin typeface="Arial MT"/>
                <a:cs typeface="Arial MT"/>
              </a:rPr>
              <a:t>problem</a:t>
            </a:r>
            <a:r>
              <a:rPr sz="1867" spc="-27" dirty="0">
                <a:solidFill>
                  <a:srgbClr val="274E13"/>
                </a:solidFill>
                <a:latin typeface="Arial MT"/>
                <a:cs typeface="Arial MT"/>
              </a:rPr>
              <a:t> </a:t>
            </a:r>
            <a:r>
              <a:rPr sz="1867" dirty="0">
                <a:solidFill>
                  <a:srgbClr val="274E13"/>
                </a:solidFill>
                <a:latin typeface="Arial MT"/>
                <a:cs typeface="Arial MT"/>
              </a:rPr>
              <a:t>of</a:t>
            </a:r>
            <a:r>
              <a:rPr sz="1867" spc="-27" dirty="0">
                <a:solidFill>
                  <a:srgbClr val="274E13"/>
                </a:solidFill>
                <a:latin typeface="Arial MT"/>
                <a:cs typeface="Arial MT"/>
              </a:rPr>
              <a:t> </a:t>
            </a:r>
            <a:r>
              <a:rPr sz="1867" dirty="0">
                <a:solidFill>
                  <a:srgbClr val="274E13"/>
                </a:solidFill>
                <a:latin typeface="Arial MT"/>
                <a:cs typeface="Arial MT"/>
              </a:rPr>
              <a:t>vanishing</a:t>
            </a:r>
            <a:r>
              <a:rPr sz="1867" spc="-27" dirty="0">
                <a:solidFill>
                  <a:srgbClr val="274E13"/>
                </a:solidFill>
                <a:latin typeface="Arial MT"/>
                <a:cs typeface="Arial MT"/>
              </a:rPr>
              <a:t> </a:t>
            </a:r>
            <a:r>
              <a:rPr sz="1867" spc="-13" dirty="0">
                <a:solidFill>
                  <a:srgbClr val="274E13"/>
                </a:solidFill>
                <a:latin typeface="Arial MT"/>
                <a:cs typeface="Arial MT"/>
              </a:rPr>
              <a:t>gradients</a:t>
            </a:r>
            <a:endParaRPr sz="1867">
              <a:latin typeface="Arial MT"/>
              <a:cs typeface="Arial MT"/>
            </a:endParaRPr>
          </a:p>
          <a:p>
            <a:pPr marL="463962" indent="-447029">
              <a:spcBef>
                <a:spcPts val="360"/>
              </a:spcBef>
              <a:buChar char="○"/>
              <a:tabLst>
                <a:tab pos="463962" algn="l"/>
              </a:tabLst>
            </a:pPr>
            <a:r>
              <a:rPr sz="1867" dirty="0">
                <a:solidFill>
                  <a:srgbClr val="FF0000"/>
                </a:solidFill>
                <a:latin typeface="Arial MT"/>
                <a:cs typeface="Arial MT"/>
              </a:rPr>
              <a:t>dead</a:t>
            </a:r>
            <a:r>
              <a:rPr sz="1867" spc="-27" dirty="0">
                <a:solidFill>
                  <a:srgbClr val="FF0000"/>
                </a:solidFill>
                <a:latin typeface="Arial MT"/>
                <a:cs typeface="Arial MT"/>
              </a:rPr>
              <a:t> </a:t>
            </a:r>
            <a:r>
              <a:rPr sz="1867" spc="-13" dirty="0">
                <a:solidFill>
                  <a:srgbClr val="FF0000"/>
                </a:solidFill>
                <a:latin typeface="Arial MT"/>
                <a:cs typeface="Arial MT"/>
              </a:rPr>
              <a:t>neurons</a:t>
            </a:r>
            <a:endParaRPr sz="1867">
              <a:latin typeface="Arial MT"/>
              <a:cs typeface="Arial MT"/>
            </a:endParaRPr>
          </a:p>
        </p:txBody>
      </p:sp>
      <p:pic>
        <p:nvPicPr>
          <p:cNvPr id="5" name="object 5"/>
          <p:cNvPicPr/>
          <p:nvPr/>
        </p:nvPicPr>
        <p:blipFill>
          <a:blip r:embed="rId2" cstate="print"/>
          <a:stretch>
            <a:fillRect/>
          </a:stretch>
        </p:blipFill>
        <p:spPr>
          <a:xfrm>
            <a:off x="973250" y="1703217"/>
            <a:ext cx="3759199" cy="507999"/>
          </a:xfrm>
          <a:prstGeom prst="rect">
            <a:avLst/>
          </a:prstGeom>
        </p:spPr>
      </p:pic>
      <p:pic>
        <p:nvPicPr>
          <p:cNvPr id="6" name="object 6"/>
          <p:cNvPicPr/>
          <p:nvPr/>
        </p:nvPicPr>
        <p:blipFill>
          <a:blip r:embed="rId3" cstate="print"/>
          <a:stretch>
            <a:fillRect/>
          </a:stretch>
        </p:blipFill>
        <p:spPr>
          <a:xfrm>
            <a:off x="6874433" y="1016001"/>
            <a:ext cx="4127499" cy="4775199"/>
          </a:xfrm>
          <a:prstGeom prst="rect">
            <a:avLst/>
          </a:prstGeom>
        </p:spPr>
      </p:pic>
      <p:sp>
        <p:nvSpPr>
          <p:cNvPr id="7" name="object 7"/>
          <p:cNvSpPr txBox="1">
            <a:spLocks noGrp="1"/>
          </p:cNvSpPr>
          <p:nvPr>
            <p:ph type="sldNum" sz="quarter" idx="7"/>
          </p:nvPr>
        </p:nvSpPr>
        <p:spPr>
          <a:xfrm>
            <a:off x="8756125" y="4778067"/>
            <a:ext cx="230504" cy="167639"/>
          </a:xfrm>
          <a:prstGeom prst="rect">
            <a:avLst/>
          </a:prstGeom>
        </p:spPr>
        <p:txBody>
          <a:bodyPr vert="horz" wrap="square" lIns="0" tIns="0" rIns="0" bIns="0" rtlCol="0">
            <a:spAutoFit/>
          </a:bodyPr>
          <a:lstStyle>
            <a:defPPr>
              <a:defRPr kern="0"/>
            </a:defPPr>
            <a:lvl1pPr>
              <a:defRPr sz="1000" b="0" i="0">
                <a:solidFill>
                  <a:srgbClr val="595959"/>
                </a:solidFill>
                <a:latin typeface="Arial MT"/>
                <a:cs typeface="Arial MT"/>
              </a:defRPr>
            </a:lvl1pPr>
          </a:lstStyle>
          <a:p>
            <a:pPr marL="38100">
              <a:spcBef>
                <a:spcPts val="5"/>
              </a:spcBef>
            </a:pPr>
            <a:fld id="{81D60167-4931-47E6-BA6A-407CBD079E47}" type="slidenum">
              <a:rPr lang="en-IN" spc="-25" smtClean="0"/>
              <a:pPr marL="38100">
                <a:spcBef>
                  <a:spcPts val="5"/>
                </a:spcBef>
              </a:pPr>
              <a:t>49</a:t>
            </a:fld>
            <a:endParaRPr spc="-33" dirty="0"/>
          </a:p>
        </p:txBody>
      </p:sp>
    </p:spTree>
    <p:extLst>
      <p:ext uri="{BB962C8B-B14F-4D97-AF65-F5344CB8AC3E}">
        <p14:creationId xmlns:p14="http://schemas.microsoft.com/office/powerpoint/2010/main" val="958614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0D498B-E754-F915-9F2E-48AC2EA102D1}"/>
              </a:ext>
            </a:extLst>
          </p:cNvPr>
          <p:cNvSpPr txBox="1"/>
          <p:nvPr/>
        </p:nvSpPr>
        <p:spPr>
          <a:xfrm>
            <a:off x="2949436" y="272534"/>
            <a:ext cx="6097656" cy="646331"/>
          </a:xfrm>
          <a:prstGeom prst="rect">
            <a:avLst/>
          </a:prstGeom>
          <a:noFill/>
        </p:spPr>
        <p:txBody>
          <a:bodyPr wrap="square">
            <a:spAutoFit/>
          </a:bodyPr>
          <a:lstStyle/>
          <a:p>
            <a:pPr algn="ctr"/>
            <a:r>
              <a:rPr lang="en-IN" sz="3600" dirty="0"/>
              <a:t>Activation</a:t>
            </a:r>
            <a:r>
              <a:rPr lang="en-IN" sz="3600" spc="-247" dirty="0"/>
              <a:t> </a:t>
            </a:r>
            <a:r>
              <a:rPr lang="en-IN" sz="3600" dirty="0"/>
              <a:t>Functions</a:t>
            </a:r>
            <a:r>
              <a:rPr lang="en-IN" sz="3600" spc="-240" dirty="0"/>
              <a:t> </a:t>
            </a:r>
            <a:endParaRPr lang="en-IN" sz="3600" dirty="0"/>
          </a:p>
        </p:txBody>
      </p:sp>
      <p:pic>
        <p:nvPicPr>
          <p:cNvPr id="7" name="Picture 6">
            <a:extLst>
              <a:ext uri="{FF2B5EF4-FFF2-40B4-BE49-F238E27FC236}">
                <a16:creationId xmlns:a16="http://schemas.microsoft.com/office/drawing/2014/main" id="{2878ACDD-E224-64C6-232D-49FE3B2BD3E7}"/>
              </a:ext>
            </a:extLst>
          </p:cNvPr>
          <p:cNvPicPr>
            <a:picLocks noChangeAspect="1"/>
          </p:cNvPicPr>
          <p:nvPr/>
        </p:nvPicPr>
        <p:blipFill>
          <a:blip r:embed="rId2"/>
          <a:stretch>
            <a:fillRect/>
          </a:stretch>
        </p:blipFill>
        <p:spPr>
          <a:xfrm>
            <a:off x="594969" y="1102058"/>
            <a:ext cx="10835031" cy="5426840"/>
          </a:xfrm>
          <a:prstGeom prst="rect">
            <a:avLst/>
          </a:prstGeom>
        </p:spPr>
      </p:pic>
    </p:spTree>
    <p:extLst>
      <p:ext uri="{BB962C8B-B14F-4D97-AF65-F5344CB8AC3E}">
        <p14:creationId xmlns:p14="http://schemas.microsoft.com/office/powerpoint/2010/main" val="2183386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07A3A9-5618-60F3-73EA-F8A046F657BF}"/>
              </a:ext>
            </a:extLst>
          </p:cNvPr>
          <p:cNvPicPr>
            <a:picLocks noChangeAspect="1"/>
          </p:cNvPicPr>
          <p:nvPr/>
        </p:nvPicPr>
        <p:blipFill>
          <a:blip r:embed="rId2"/>
          <a:stretch>
            <a:fillRect/>
          </a:stretch>
        </p:blipFill>
        <p:spPr>
          <a:xfrm>
            <a:off x="520172" y="918865"/>
            <a:ext cx="10512263" cy="5712558"/>
          </a:xfrm>
          <a:prstGeom prst="rect">
            <a:avLst/>
          </a:prstGeom>
        </p:spPr>
      </p:pic>
      <p:sp>
        <p:nvSpPr>
          <p:cNvPr id="4" name="TextBox 3">
            <a:extLst>
              <a:ext uri="{FF2B5EF4-FFF2-40B4-BE49-F238E27FC236}">
                <a16:creationId xmlns:a16="http://schemas.microsoft.com/office/drawing/2014/main" id="{B48BF58B-244B-E6D3-16B7-2EFE36C46BFA}"/>
              </a:ext>
            </a:extLst>
          </p:cNvPr>
          <p:cNvSpPr txBox="1"/>
          <p:nvPr/>
        </p:nvSpPr>
        <p:spPr>
          <a:xfrm>
            <a:off x="2949436" y="272534"/>
            <a:ext cx="6097656" cy="646331"/>
          </a:xfrm>
          <a:prstGeom prst="rect">
            <a:avLst/>
          </a:prstGeom>
          <a:noFill/>
        </p:spPr>
        <p:txBody>
          <a:bodyPr wrap="square">
            <a:spAutoFit/>
          </a:bodyPr>
          <a:lstStyle/>
          <a:p>
            <a:pPr algn="ctr"/>
            <a:r>
              <a:rPr lang="en-IN" sz="3600" dirty="0"/>
              <a:t>Activation</a:t>
            </a:r>
            <a:r>
              <a:rPr lang="en-IN" sz="3600" spc="-247" dirty="0"/>
              <a:t> </a:t>
            </a:r>
            <a:r>
              <a:rPr lang="en-IN" sz="3600" dirty="0"/>
              <a:t>Functions</a:t>
            </a:r>
            <a:r>
              <a:rPr lang="en-IN" sz="3600" spc="-240" dirty="0"/>
              <a:t> </a:t>
            </a:r>
            <a:endParaRPr lang="en-IN" sz="3600" dirty="0"/>
          </a:p>
        </p:txBody>
      </p:sp>
    </p:spTree>
    <p:extLst>
      <p:ext uri="{BB962C8B-B14F-4D97-AF65-F5344CB8AC3E}">
        <p14:creationId xmlns:p14="http://schemas.microsoft.com/office/powerpoint/2010/main" val="37087022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0F62B-199F-9F6C-F431-AC8751F7C9BB}"/>
              </a:ext>
            </a:extLst>
          </p:cNvPr>
          <p:cNvSpPr>
            <a:spLocks noGrp="1"/>
          </p:cNvSpPr>
          <p:nvPr>
            <p:ph type="title"/>
          </p:nvPr>
        </p:nvSpPr>
        <p:spPr/>
        <p:txBody>
          <a:bodyPr/>
          <a:lstStyle/>
          <a:p>
            <a:r>
              <a:rPr lang="en-IN" b="1" dirty="0"/>
              <a:t>Artificial Neural Networks Algorithm</a:t>
            </a:r>
            <a:endParaRPr lang="en-IN" dirty="0"/>
          </a:p>
        </p:txBody>
      </p:sp>
      <p:sp>
        <p:nvSpPr>
          <p:cNvPr id="3" name="Content Placeholder 2">
            <a:extLst>
              <a:ext uri="{FF2B5EF4-FFF2-40B4-BE49-F238E27FC236}">
                <a16:creationId xmlns:a16="http://schemas.microsoft.com/office/drawing/2014/main" id="{F42AC6B5-F4E6-5DEB-7CC7-A7540A1700A6}"/>
              </a:ext>
            </a:extLst>
          </p:cNvPr>
          <p:cNvSpPr>
            <a:spLocks noGrp="1"/>
          </p:cNvSpPr>
          <p:nvPr>
            <p:ph idx="1"/>
          </p:nvPr>
        </p:nvSpPr>
        <p:spPr/>
        <p:txBody>
          <a:bodyPr>
            <a:normAutofit/>
          </a:bodyPr>
          <a:lstStyle/>
          <a:p>
            <a:pPr marL="0" indent="0" fontAlgn="base">
              <a:buNone/>
            </a:pPr>
            <a:r>
              <a:rPr lang="en-US" sz="2400" b="1" dirty="0"/>
              <a:t>1. Initialize Weights and Bias</a:t>
            </a:r>
          </a:p>
          <a:p>
            <a:pPr lvl="1" fontAlgn="base"/>
            <a:r>
              <a:rPr lang="en-US" sz="2000" dirty="0"/>
              <a:t>The algorithm starts by initializing the weights </a:t>
            </a:r>
            <a:r>
              <a:rPr lang="en-US" sz="2000" dirty="0" err="1"/>
              <a:t>i.e</a:t>
            </a:r>
            <a:r>
              <a:rPr lang="en-US" sz="2000" dirty="0"/>
              <a:t> the strength of connections between neurons and biases which is additional parameters that help to adjust output. These values are usually initialized randomly.</a:t>
            </a:r>
          </a:p>
          <a:p>
            <a:pPr lvl="1" fontAlgn="base"/>
            <a:r>
              <a:rPr lang="en-US" sz="2000" dirty="0"/>
              <a:t>Set the learning rate (α) which controls how much the weights should be adjusted during training.</a:t>
            </a:r>
          </a:p>
          <a:p>
            <a:pPr marL="0" indent="0" fontAlgn="base">
              <a:buNone/>
            </a:pPr>
            <a:r>
              <a:rPr lang="en-US" sz="2400" b="1" dirty="0"/>
              <a:t>2. Feed Input Data</a:t>
            </a:r>
          </a:p>
          <a:p>
            <a:pPr lvl="1" fontAlgn="base"/>
            <a:r>
              <a:rPr lang="en-US" sz="2000" dirty="0"/>
              <a:t>The input data is fed into the input layer of the network. Each input is a feature like an image pixel, a value from a dataset, etc.</a:t>
            </a:r>
          </a:p>
        </p:txBody>
      </p:sp>
    </p:spTree>
    <p:extLst>
      <p:ext uri="{BB962C8B-B14F-4D97-AF65-F5344CB8AC3E}">
        <p14:creationId xmlns:p14="http://schemas.microsoft.com/office/powerpoint/2010/main" val="28701537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8F897-92B8-3432-4E0A-886D6132E96A}"/>
              </a:ext>
            </a:extLst>
          </p:cNvPr>
          <p:cNvSpPr>
            <a:spLocks noGrp="1"/>
          </p:cNvSpPr>
          <p:nvPr>
            <p:ph type="title"/>
          </p:nvPr>
        </p:nvSpPr>
        <p:spPr/>
        <p:txBody>
          <a:bodyPr/>
          <a:lstStyle/>
          <a:p>
            <a:r>
              <a:rPr lang="en-IN" b="1" dirty="0"/>
              <a:t>Artificial Neural Networks Algorithm</a:t>
            </a:r>
            <a:endParaRPr lang="en-IN" dirty="0"/>
          </a:p>
        </p:txBody>
      </p:sp>
      <p:sp>
        <p:nvSpPr>
          <p:cNvPr id="3" name="Content Placeholder 2">
            <a:extLst>
              <a:ext uri="{FF2B5EF4-FFF2-40B4-BE49-F238E27FC236}">
                <a16:creationId xmlns:a16="http://schemas.microsoft.com/office/drawing/2014/main" id="{11EDFA1B-1A9A-A812-3BCF-A1EE4E0717C1}"/>
              </a:ext>
            </a:extLst>
          </p:cNvPr>
          <p:cNvSpPr>
            <a:spLocks noGrp="1"/>
          </p:cNvSpPr>
          <p:nvPr>
            <p:ph idx="1"/>
          </p:nvPr>
        </p:nvSpPr>
        <p:spPr/>
        <p:txBody>
          <a:bodyPr/>
          <a:lstStyle/>
          <a:p>
            <a:pPr marL="0" indent="0" fontAlgn="base">
              <a:buNone/>
            </a:pPr>
            <a:r>
              <a:rPr lang="en-US" sz="2400" b="1" dirty="0"/>
              <a:t>3. Forward Propagation (Calculate Output)</a:t>
            </a:r>
          </a:p>
          <a:p>
            <a:pPr lvl="1" fontAlgn="base"/>
            <a:r>
              <a:rPr lang="en-US" sz="2000" dirty="0"/>
              <a:t>The data is passed through the network from the input layer to the hidden layers and finally to the output layer. At each layer the input is multiplied by the weights and passed through an activation function like sigmoid, ReLU, </a:t>
            </a:r>
            <a:r>
              <a:rPr lang="en-US" sz="2000" dirty="0" err="1"/>
              <a:t>etc</a:t>
            </a:r>
            <a:r>
              <a:rPr lang="en-US" sz="2000" dirty="0"/>
              <a:t> to produce the output of that layer. The result is a prediction or an output that is compared to the actual target value.</a:t>
            </a:r>
            <a:endParaRPr lang="en-IN" dirty="0"/>
          </a:p>
          <a:p>
            <a:endParaRPr lang="en-IN" dirty="0"/>
          </a:p>
        </p:txBody>
      </p:sp>
      <p:pic>
        <p:nvPicPr>
          <p:cNvPr id="5" name="Picture 4">
            <a:extLst>
              <a:ext uri="{FF2B5EF4-FFF2-40B4-BE49-F238E27FC236}">
                <a16:creationId xmlns:a16="http://schemas.microsoft.com/office/drawing/2014/main" id="{49999A53-AB23-BEE4-9DFB-31980451D4F3}"/>
              </a:ext>
            </a:extLst>
          </p:cNvPr>
          <p:cNvPicPr>
            <a:picLocks noChangeAspect="1"/>
          </p:cNvPicPr>
          <p:nvPr/>
        </p:nvPicPr>
        <p:blipFill>
          <a:blip r:embed="rId2"/>
          <a:stretch>
            <a:fillRect/>
          </a:stretch>
        </p:blipFill>
        <p:spPr>
          <a:xfrm>
            <a:off x="1536949" y="3429000"/>
            <a:ext cx="9704208" cy="3227704"/>
          </a:xfrm>
          <a:prstGeom prst="rect">
            <a:avLst/>
          </a:prstGeom>
        </p:spPr>
      </p:pic>
    </p:spTree>
    <p:extLst>
      <p:ext uri="{BB962C8B-B14F-4D97-AF65-F5344CB8AC3E}">
        <p14:creationId xmlns:p14="http://schemas.microsoft.com/office/powerpoint/2010/main" val="2137120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A05E-EFBA-2E61-4D95-9C1C260D63D1}"/>
              </a:ext>
            </a:extLst>
          </p:cNvPr>
          <p:cNvSpPr>
            <a:spLocks noGrp="1"/>
          </p:cNvSpPr>
          <p:nvPr>
            <p:ph type="title"/>
          </p:nvPr>
        </p:nvSpPr>
        <p:spPr/>
        <p:txBody>
          <a:bodyPr/>
          <a:lstStyle/>
          <a:p>
            <a:r>
              <a:rPr lang="en-IN" b="1" dirty="0"/>
              <a:t>Artificial Neural Networks Algorithm</a:t>
            </a:r>
            <a:endParaRPr lang="en-IN" dirty="0"/>
          </a:p>
        </p:txBody>
      </p:sp>
      <p:sp>
        <p:nvSpPr>
          <p:cNvPr id="3" name="Content Placeholder 2">
            <a:extLst>
              <a:ext uri="{FF2B5EF4-FFF2-40B4-BE49-F238E27FC236}">
                <a16:creationId xmlns:a16="http://schemas.microsoft.com/office/drawing/2014/main" id="{503D151B-4DB5-734E-4EEE-BCAEE334916C}"/>
              </a:ext>
            </a:extLst>
          </p:cNvPr>
          <p:cNvSpPr>
            <a:spLocks noGrp="1"/>
          </p:cNvSpPr>
          <p:nvPr>
            <p:ph idx="1"/>
          </p:nvPr>
        </p:nvSpPr>
        <p:spPr/>
        <p:txBody>
          <a:bodyPr>
            <a:normAutofit/>
          </a:bodyPr>
          <a:lstStyle/>
          <a:p>
            <a:pPr marL="0" indent="0" fontAlgn="base">
              <a:buNone/>
            </a:pPr>
            <a:r>
              <a:rPr lang="en-US" sz="2400" b="1" dirty="0"/>
              <a:t>4. Calculate Error</a:t>
            </a:r>
          </a:p>
          <a:p>
            <a:pPr lvl="1" fontAlgn="base"/>
            <a:r>
              <a:rPr lang="en-US" sz="2000" dirty="0"/>
              <a:t>Once the network has made a prediction the next step is to calculate the error </a:t>
            </a:r>
            <a:r>
              <a:rPr lang="en-US" sz="2000" dirty="0" err="1"/>
              <a:t>i.e</a:t>
            </a:r>
            <a:r>
              <a:rPr lang="en-US" sz="2000" dirty="0"/>
              <a:t> the difference between the predicted output and the actual target. </a:t>
            </a:r>
          </a:p>
          <a:p>
            <a:pPr lvl="1" fontAlgn="base"/>
            <a:r>
              <a:rPr lang="en-US" sz="2000" dirty="0"/>
              <a:t>This error is often measured using a loss function like Mean Squared Error or Cross-Entropy.</a:t>
            </a:r>
          </a:p>
          <a:p>
            <a:pPr lvl="1" fontAlgn="base"/>
            <a:r>
              <a:rPr lang="en-US" sz="2000" dirty="0"/>
              <a:t>Error = t – y where the target output and y is the predicted output</a:t>
            </a:r>
          </a:p>
          <a:p>
            <a:pPr marL="0" indent="0" fontAlgn="base">
              <a:buNone/>
            </a:pPr>
            <a:r>
              <a:rPr lang="en-IN" sz="2400" b="1" dirty="0"/>
              <a:t>5. Backpropagation (Update Weights)</a:t>
            </a:r>
          </a:p>
          <a:p>
            <a:pPr lvl="1" fontAlgn="base"/>
            <a:r>
              <a:rPr lang="en-IN" sz="2000" dirty="0"/>
              <a:t>Backpropagation computes the gradients </a:t>
            </a:r>
            <a:r>
              <a:rPr lang="en-IN" sz="2000" dirty="0" err="1"/>
              <a:t>i.e</a:t>
            </a:r>
            <a:r>
              <a:rPr lang="en-IN" sz="2000" dirty="0"/>
              <a:t> how much change in weights would reduce the error by using the chain rule of calculus. </a:t>
            </a:r>
          </a:p>
          <a:p>
            <a:pPr lvl="1" fontAlgn="base"/>
            <a:r>
              <a:rPr lang="en-IN" sz="2000" dirty="0"/>
              <a:t>The weights and biases are then updated to minimize the error. The update is done using an optimization algorithm like </a:t>
            </a:r>
            <a:r>
              <a:rPr lang="en-IN" sz="2000" b="1" dirty="0"/>
              <a:t>Gradient Descent</a:t>
            </a:r>
          </a:p>
          <a:p>
            <a:pPr lvl="1" fontAlgn="base"/>
            <a:endParaRPr lang="en-IN" sz="2000" dirty="0"/>
          </a:p>
          <a:p>
            <a:pPr marL="0" indent="0">
              <a:buNone/>
            </a:pPr>
            <a:endParaRPr lang="en-IN" sz="2400" dirty="0"/>
          </a:p>
        </p:txBody>
      </p:sp>
      <p:pic>
        <p:nvPicPr>
          <p:cNvPr id="4" name="Picture 3">
            <a:extLst>
              <a:ext uri="{FF2B5EF4-FFF2-40B4-BE49-F238E27FC236}">
                <a16:creationId xmlns:a16="http://schemas.microsoft.com/office/drawing/2014/main" id="{8294F0F8-ADA2-B4BB-E191-80814FD04B04}"/>
              </a:ext>
            </a:extLst>
          </p:cNvPr>
          <p:cNvPicPr>
            <a:picLocks noChangeAspect="1"/>
          </p:cNvPicPr>
          <p:nvPr/>
        </p:nvPicPr>
        <p:blipFill>
          <a:blip r:embed="rId2"/>
          <a:stretch>
            <a:fillRect/>
          </a:stretch>
        </p:blipFill>
        <p:spPr>
          <a:xfrm>
            <a:off x="7329834" y="5271978"/>
            <a:ext cx="3139712" cy="1310754"/>
          </a:xfrm>
          <a:prstGeom prst="rect">
            <a:avLst/>
          </a:prstGeom>
        </p:spPr>
      </p:pic>
    </p:spTree>
    <p:extLst>
      <p:ext uri="{BB962C8B-B14F-4D97-AF65-F5344CB8AC3E}">
        <p14:creationId xmlns:p14="http://schemas.microsoft.com/office/powerpoint/2010/main" val="398473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DBC2A-2FD2-5722-DF01-FB340B2A8A3F}"/>
              </a:ext>
            </a:extLst>
          </p:cNvPr>
          <p:cNvSpPr>
            <a:spLocks noGrp="1"/>
          </p:cNvSpPr>
          <p:nvPr>
            <p:ph type="title"/>
          </p:nvPr>
        </p:nvSpPr>
        <p:spPr/>
        <p:txBody>
          <a:bodyPr/>
          <a:lstStyle/>
          <a:p>
            <a:r>
              <a:rPr lang="en-IN" b="1" dirty="0"/>
              <a:t>Artificial Neural Networks Algorithm</a:t>
            </a:r>
            <a:endParaRPr lang="en-IN" dirty="0"/>
          </a:p>
        </p:txBody>
      </p:sp>
      <p:sp>
        <p:nvSpPr>
          <p:cNvPr id="3" name="Content Placeholder 2">
            <a:extLst>
              <a:ext uri="{FF2B5EF4-FFF2-40B4-BE49-F238E27FC236}">
                <a16:creationId xmlns:a16="http://schemas.microsoft.com/office/drawing/2014/main" id="{A142C4CF-7CF7-52B4-B681-7E6CFF950270}"/>
              </a:ext>
            </a:extLst>
          </p:cNvPr>
          <p:cNvSpPr>
            <a:spLocks noGrp="1"/>
          </p:cNvSpPr>
          <p:nvPr>
            <p:ph idx="1"/>
          </p:nvPr>
        </p:nvSpPr>
        <p:spPr/>
        <p:txBody>
          <a:bodyPr/>
          <a:lstStyle/>
          <a:p>
            <a:pPr marL="0" indent="0" fontAlgn="base">
              <a:buNone/>
            </a:pPr>
            <a:r>
              <a:rPr lang="en-IN" b="1" dirty="0"/>
              <a:t>6. Repeat (Epochs)</a:t>
            </a:r>
          </a:p>
          <a:p>
            <a:pPr lvl="1" fontAlgn="base"/>
            <a:r>
              <a:rPr lang="en-IN" dirty="0"/>
              <a:t>Steps 2 to 5 are repeated for multiple epochs which is iterations over the entire training dataset. During each epoch the weights are adjusted to reduce the error gradually.</a:t>
            </a:r>
          </a:p>
          <a:p>
            <a:pPr marL="0" indent="0" fontAlgn="base">
              <a:buNone/>
            </a:pPr>
            <a:r>
              <a:rPr lang="en-IN" b="1" dirty="0"/>
              <a:t>7. Test the Network</a:t>
            </a:r>
          </a:p>
          <a:p>
            <a:pPr lvl="1" fontAlgn="base"/>
            <a:r>
              <a:rPr lang="en-IN" dirty="0"/>
              <a:t>After training, the network is tested with new data to evaluate its performance. If the accuracy is good, the training is considered complete. If not more training or adjustments may be needed.</a:t>
            </a:r>
          </a:p>
          <a:p>
            <a:endParaRPr lang="en-IN" dirty="0"/>
          </a:p>
        </p:txBody>
      </p:sp>
    </p:spTree>
    <p:extLst>
      <p:ext uri="{BB962C8B-B14F-4D97-AF65-F5344CB8AC3E}">
        <p14:creationId xmlns:p14="http://schemas.microsoft.com/office/powerpoint/2010/main" val="3755959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F8A3FB8-ECF9-8C96-566B-5C9BBD6B4D9B}"/>
              </a:ext>
            </a:extLst>
          </p:cNvPr>
          <p:cNvSpPr>
            <a:spLocks noGrp="1"/>
          </p:cNvSpPr>
          <p:nvPr>
            <p:ph type="title"/>
          </p:nvPr>
        </p:nvSpPr>
        <p:spPr/>
        <p:txBody>
          <a:bodyPr>
            <a:normAutofit fontScale="90000"/>
          </a:bodyPr>
          <a:lstStyle/>
          <a:p>
            <a:r>
              <a:rPr lang="en-US" b="1" dirty="0"/>
              <a:t>Demonstration of Regression and Classification Problems using MLP</a:t>
            </a:r>
            <a:br>
              <a:rPr lang="en-IN" b="1" dirty="0"/>
            </a:br>
            <a:endParaRPr lang="en-IN" dirty="0"/>
          </a:p>
        </p:txBody>
      </p:sp>
      <p:sp>
        <p:nvSpPr>
          <p:cNvPr id="8" name="Content Placeholder 7">
            <a:extLst>
              <a:ext uri="{FF2B5EF4-FFF2-40B4-BE49-F238E27FC236}">
                <a16:creationId xmlns:a16="http://schemas.microsoft.com/office/drawing/2014/main" id="{7210CED9-47FB-5BDB-0EA0-DB4E019A0F6A}"/>
              </a:ext>
            </a:extLst>
          </p:cNvPr>
          <p:cNvSpPr>
            <a:spLocks noGrp="1"/>
          </p:cNvSpPr>
          <p:nvPr>
            <p:ph idx="1"/>
          </p:nvPr>
        </p:nvSpPr>
        <p:spPr>
          <a:xfrm>
            <a:off x="838200" y="1381539"/>
            <a:ext cx="10515600" cy="4795424"/>
          </a:xfrm>
        </p:spPr>
        <p:txBody>
          <a:bodyPr>
            <a:normAutofit lnSpcReduction="10000"/>
          </a:bodyPr>
          <a:lstStyle/>
          <a:p>
            <a:pPr lvl="0"/>
            <a:r>
              <a:rPr lang="en-US" b="1" dirty="0"/>
              <a:t>Regression using MLP</a:t>
            </a:r>
            <a:r>
              <a:rPr lang="en-US" dirty="0"/>
              <a:t>:</a:t>
            </a:r>
            <a:endParaRPr lang="en-IN" b="1" dirty="0"/>
          </a:p>
          <a:p>
            <a:pPr lvl="1" algn="just"/>
            <a:r>
              <a:rPr lang="en-US" b="1" dirty="0"/>
              <a:t>Objective</a:t>
            </a:r>
            <a:r>
              <a:rPr lang="en-US" dirty="0"/>
              <a:t>: To predict a continuous numerical value.</a:t>
            </a:r>
            <a:endParaRPr lang="en-IN" sz="2000" dirty="0"/>
          </a:p>
          <a:p>
            <a:pPr lvl="1" algn="just"/>
            <a:r>
              <a:rPr lang="en-US" b="1" dirty="0"/>
              <a:t>Output Layer Configuration</a:t>
            </a:r>
            <a:r>
              <a:rPr lang="en-US" dirty="0"/>
              <a:t>: For regression tasks, the MLP's output layer typically consists of </a:t>
            </a:r>
            <a:r>
              <a:rPr lang="en-US" b="1" dirty="0"/>
              <a:t>a single neuron</a:t>
            </a:r>
            <a:r>
              <a:rPr lang="en-US" dirty="0"/>
              <a:t>. This neuron is generally equipped with a </a:t>
            </a:r>
            <a:r>
              <a:rPr lang="en-US" b="1" dirty="0"/>
              <a:t>linear activation function </a:t>
            </a:r>
            <a:r>
              <a:rPr lang="en-US" dirty="0"/>
              <a:t>(or sometimes no explicit activation function, simply outputting the raw weighted sum). A linear activation allows the neuron to output any real number, which is necessary for predicting continuous values.</a:t>
            </a:r>
          </a:p>
          <a:p>
            <a:pPr lvl="1"/>
            <a:r>
              <a:rPr lang="en-US" b="1" dirty="0"/>
              <a:t>Loss Function</a:t>
            </a:r>
            <a:r>
              <a:rPr lang="en-US" dirty="0"/>
              <a:t>: Common loss functions for regression problems quantify the difference between the predicted continuous value and the actual target value. Examples include:</a:t>
            </a:r>
            <a:endParaRPr lang="en-IN" sz="2000" dirty="0"/>
          </a:p>
          <a:p>
            <a:pPr lvl="2"/>
            <a:r>
              <a:rPr lang="en-US" b="1" dirty="0"/>
              <a:t>Mean Squared Error (MSE)</a:t>
            </a:r>
            <a:r>
              <a:rPr lang="en-US" dirty="0"/>
              <a:t>: Calculates the average of the squared differences between predicted and actual values. It heavily penalizes larger errors.</a:t>
            </a:r>
            <a:endParaRPr lang="en-IN" sz="1800" dirty="0"/>
          </a:p>
          <a:p>
            <a:pPr lvl="2"/>
            <a:r>
              <a:rPr lang="en-US" b="1" dirty="0"/>
              <a:t>Mean Absolute Error (MAE)</a:t>
            </a:r>
            <a:r>
              <a:rPr lang="en-US" dirty="0"/>
              <a:t>: Calculates the average of the absolute differences between predicted and actual values. It is less sensitive to outliers than MSE.</a:t>
            </a:r>
            <a:endParaRPr lang="en-IN" sz="1800" dirty="0"/>
          </a:p>
          <a:p>
            <a:pPr lvl="1" algn="just"/>
            <a:endParaRPr lang="en-IN" dirty="0"/>
          </a:p>
          <a:p>
            <a:pPr lvl="1"/>
            <a:endParaRPr lang="en-IN" sz="2000" dirty="0"/>
          </a:p>
          <a:p>
            <a:endParaRPr lang="en-IN" dirty="0"/>
          </a:p>
        </p:txBody>
      </p:sp>
    </p:spTree>
    <p:extLst>
      <p:ext uri="{BB962C8B-B14F-4D97-AF65-F5344CB8AC3E}">
        <p14:creationId xmlns:p14="http://schemas.microsoft.com/office/powerpoint/2010/main" val="28978438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D6EEF-87AF-A358-1002-4B8576DD25B9}"/>
              </a:ext>
            </a:extLst>
          </p:cNvPr>
          <p:cNvSpPr>
            <a:spLocks noGrp="1"/>
          </p:cNvSpPr>
          <p:nvPr>
            <p:ph type="title"/>
          </p:nvPr>
        </p:nvSpPr>
        <p:spPr/>
        <p:txBody>
          <a:bodyPr/>
          <a:lstStyle/>
          <a:p>
            <a:r>
              <a:rPr lang="en-US" b="1" dirty="0"/>
              <a:t>Demonstration of Regression Problems using MLP</a:t>
            </a:r>
            <a:endParaRPr lang="en-IN" dirty="0"/>
          </a:p>
        </p:txBody>
      </p:sp>
      <p:pic>
        <p:nvPicPr>
          <p:cNvPr id="4" name="Content Placeholder 4">
            <a:extLst>
              <a:ext uri="{FF2B5EF4-FFF2-40B4-BE49-F238E27FC236}">
                <a16:creationId xmlns:a16="http://schemas.microsoft.com/office/drawing/2014/main" id="{F8A8B758-5833-FD41-E424-AB80D45C4FFF}"/>
              </a:ext>
            </a:extLst>
          </p:cNvPr>
          <p:cNvPicPr>
            <a:picLocks noGrp="1" noChangeAspect="1"/>
          </p:cNvPicPr>
          <p:nvPr>
            <p:ph idx="1"/>
          </p:nvPr>
        </p:nvPicPr>
        <p:blipFill>
          <a:blip r:embed="rId2"/>
          <a:stretch>
            <a:fillRect/>
          </a:stretch>
        </p:blipFill>
        <p:spPr>
          <a:xfrm>
            <a:off x="1618625" y="1938843"/>
            <a:ext cx="8954750" cy="4124901"/>
          </a:xfrm>
          <a:prstGeom prst="rect">
            <a:avLst/>
          </a:prstGeom>
        </p:spPr>
      </p:pic>
    </p:spTree>
    <p:extLst>
      <p:ext uri="{BB962C8B-B14F-4D97-AF65-F5344CB8AC3E}">
        <p14:creationId xmlns:p14="http://schemas.microsoft.com/office/powerpoint/2010/main" val="11339976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CFFB-B743-C297-C767-4E63C35D9B64}"/>
              </a:ext>
            </a:extLst>
          </p:cNvPr>
          <p:cNvSpPr>
            <a:spLocks noGrp="1"/>
          </p:cNvSpPr>
          <p:nvPr>
            <p:ph type="title"/>
          </p:nvPr>
        </p:nvSpPr>
        <p:spPr/>
        <p:txBody>
          <a:bodyPr/>
          <a:lstStyle/>
          <a:p>
            <a:r>
              <a:rPr lang="en-US" b="1" dirty="0"/>
              <a:t>Demonstration of Regression Problems using MLP</a:t>
            </a:r>
            <a:endParaRPr lang="en-IN" dirty="0"/>
          </a:p>
        </p:txBody>
      </p:sp>
      <p:sp>
        <p:nvSpPr>
          <p:cNvPr id="3" name="Content Placeholder 2">
            <a:extLst>
              <a:ext uri="{FF2B5EF4-FFF2-40B4-BE49-F238E27FC236}">
                <a16:creationId xmlns:a16="http://schemas.microsoft.com/office/drawing/2014/main" id="{63B15904-184D-EF87-B55D-774A3C224D75}"/>
              </a:ext>
            </a:extLst>
          </p:cNvPr>
          <p:cNvSpPr>
            <a:spLocks noGrp="1"/>
          </p:cNvSpPr>
          <p:nvPr>
            <p:ph idx="1"/>
          </p:nvPr>
        </p:nvSpPr>
        <p:spPr/>
        <p:txBody>
          <a:bodyPr/>
          <a:lstStyle/>
          <a:p>
            <a:r>
              <a:rPr lang="en-IN" dirty="0"/>
              <a:t>The Forward Pass Walkthrough</a:t>
            </a:r>
          </a:p>
        </p:txBody>
      </p:sp>
      <p:pic>
        <p:nvPicPr>
          <p:cNvPr id="5" name="Picture 4">
            <a:extLst>
              <a:ext uri="{FF2B5EF4-FFF2-40B4-BE49-F238E27FC236}">
                <a16:creationId xmlns:a16="http://schemas.microsoft.com/office/drawing/2014/main" id="{51BBCD16-ACCC-20E0-76BD-D72F0495ABB8}"/>
              </a:ext>
            </a:extLst>
          </p:cNvPr>
          <p:cNvPicPr>
            <a:picLocks noChangeAspect="1"/>
          </p:cNvPicPr>
          <p:nvPr/>
        </p:nvPicPr>
        <p:blipFill>
          <a:blip r:embed="rId2"/>
          <a:stretch>
            <a:fillRect/>
          </a:stretch>
        </p:blipFill>
        <p:spPr>
          <a:xfrm>
            <a:off x="1711818" y="2470650"/>
            <a:ext cx="9020307" cy="2349827"/>
          </a:xfrm>
          <a:prstGeom prst="rect">
            <a:avLst/>
          </a:prstGeom>
        </p:spPr>
      </p:pic>
    </p:spTree>
    <p:extLst>
      <p:ext uri="{BB962C8B-B14F-4D97-AF65-F5344CB8AC3E}">
        <p14:creationId xmlns:p14="http://schemas.microsoft.com/office/powerpoint/2010/main" val="2633733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F5B18-5E91-6EC3-F4AC-4174CFCD9C3B}"/>
              </a:ext>
            </a:extLst>
          </p:cNvPr>
          <p:cNvSpPr>
            <a:spLocks noGrp="1"/>
          </p:cNvSpPr>
          <p:nvPr>
            <p:ph type="title"/>
          </p:nvPr>
        </p:nvSpPr>
        <p:spPr/>
        <p:txBody>
          <a:bodyPr/>
          <a:lstStyle/>
          <a:p>
            <a:r>
              <a:rPr lang="en-US" b="1" dirty="0"/>
              <a:t>Classification using MLP</a:t>
            </a:r>
            <a:r>
              <a:rPr lang="en-US" dirty="0"/>
              <a:t>:</a:t>
            </a:r>
            <a:br>
              <a:rPr lang="en-IN" b="1" dirty="0"/>
            </a:br>
            <a:endParaRPr lang="en-IN" dirty="0"/>
          </a:p>
        </p:txBody>
      </p:sp>
      <p:sp>
        <p:nvSpPr>
          <p:cNvPr id="3" name="Content Placeholder 2">
            <a:extLst>
              <a:ext uri="{FF2B5EF4-FFF2-40B4-BE49-F238E27FC236}">
                <a16:creationId xmlns:a16="http://schemas.microsoft.com/office/drawing/2014/main" id="{5D61A174-84A5-8C80-6297-7750E4F5720B}"/>
              </a:ext>
            </a:extLst>
          </p:cNvPr>
          <p:cNvSpPr>
            <a:spLocks noGrp="1"/>
          </p:cNvSpPr>
          <p:nvPr>
            <p:ph idx="1"/>
          </p:nvPr>
        </p:nvSpPr>
        <p:spPr/>
        <p:txBody>
          <a:bodyPr/>
          <a:lstStyle/>
          <a:p>
            <a:pPr algn="just"/>
            <a:r>
              <a:rPr lang="en-US" b="1" dirty="0"/>
              <a:t>Example</a:t>
            </a:r>
            <a:r>
              <a:rPr lang="en-US" dirty="0"/>
              <a:t>: An MLP could be trained to predict whether a credit card transaction is fraudulent or legitimate. The single output neuron, with a sigmoid activation, would output a probability (e.g., 0.98 for fraudulent, meaning a 98% chance of being fraudulent).</a:t>
            </a:r>
          </a:p>
          <a:p>
            <a:pPr algn="just"/>
            <a:r>
              <a:rPr lang="en-US" b="1" dirty="0"/>
              <a:t>Example</a:t>
            </a:r>
            <a:r>
              <a:rPr lang="en-US" dirty="0"/>
              <a:t>: An MLP trained to classify images of different types of flowers (e.g., rose, tulip, daisy). If there are three types, the output layer would have three neurons, and their </a:t>
            </a:r>
            <a:r>
              <a:rPr lang="en-US" dirty="0" err="1"/>
              <a:t>softmax</a:t>
            </a:r>
            <a:r>
              <a:rPr lang="en-US" dirty="0"/>
              <a:t> outputs might be [0.1, 0.8, 0.1], indicating an 80% probability of being a tulip.</a:t>
            </a:r>
            <a:endParaRPr lang="en-IN" dirty="0"/>
          </a:p>
          <a:p>
            <a:endParaRPr lang="en-IN" dirty="0"/>
          </a:p>
          <a:p>
            <a:endParaRPr lang="en-IN" dirty="0"/>
          </a:p>
        </p:txBody>
      </p:sp>
    </p:spTree>
    <p:extLst>
      <p:ext uri="{BB962C8B-B14F-4D97-AF65-F5344CB8AC3E}">
        <p14:creationId xmlns:p14="http://schemas.microsoft.com/office/powerpoint/2010/main" val="2738158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753</TotalTime>
  <Words>3059</Words>
  <Application>Microsoft Office PowerPoint</Application>
  <PresentationFormat>Widescreen</PresentationFormat>
  <Paragraphs>257</Paragraphs>
  <Slides>59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Arial MT</vt:lpstr>
      <vt:lpstr>Calibri</vt:lpstr>
      <vt:lpstr>Calibri Light</vt:lpstr>
      <vt:lpstr>Cambria Math</vt:lpstr>
      <vt:lpstr>TradeGothic-Light</vt:lpstr>
      <vt:lpstr>Office Theme</vt:lpstr>
      <vt:lpstr>Introduction to Artificial Neural Networks</vt:lpstr>
      <vt:lpstr>Introduction to Artificial Neural Networks</vt:lpstr>
      <vt:lpstr>Neural networks: key components</vt:lpstr>
      <vt:lpstr>Introduction to Artificial Neural Networks</vt:lpstr>
      <vt:lpstr>Biological Neuron - Artificial Neural Networks</vt:lpstr>
      <vt:lpstr>Biological Neuron</vt:lpstr>
      <vt:lpstr>Biological Neuron</vt:lpstr>
      <vt:lpstr>Perceptron</vt:lpstr>
      <vt:lpstr>Perceptron</vt:lpstr>
      <vt:lpstr>Perceptron</vt:lpstr>
      <vt:lpstr>Perceptron</vt:lpstr>
      <vt:lpstr>Perceptron</vt:lpstr>
      <vt:lpstr>Perceptron</vt:lpstr>
      <vt:lpstr>Perceptron</vt:lpstr>
      <vt:lpstr>PowerPoint Presentation</vt:lpstr>
      <vt:lpstr>Perceptron learning rule (weight update)</vt:lpstr>
      <vt:lpstr>Single Perceptron</vt:lpstr>
      <vt:lpstr>Example for one layer Perceptron</vt:lpstr>
      <vt:lpstr>PYQ: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Perceptron Learning Algorithm (Training Method) – AND GATE</vt:lpstr>
      <vt:lpstr>OR Gate Using Single Perceptron</vt:lpstr>
      <vt:lpstr>Limitations of one layer Perceptron</vt:lpstr>
      <vt:lpstr>Limitations of one layer Perceptron</vt:lpstr>
      <vt:lpstr>Limitations of one layer Perceptron</vt:lpstr>
      <vt:lpstr>Limitations of one layer Perceptron were overcome by </vt:lpstr>
      <vt:lpstr>Universal Approximation Theorem (UAT)</vt:lpstr>
      <vt:lpstr>XOR problem - TWO-LAYER PERCEPTRON</vt:lpstr>
      <vt:lpstr>XOR problem - TWO-LAYER PERCEPTRON</vt:lpstr>
      <vt:lpstr>XOR problem - TWO-LAYER PERCEPTRON</vt:lpstr>
      <vt:lpstr>XOR problem - TWO-LAYER PERCEPTRON</vt:lpstr>
      <vt:lpstr>A two-layer perceptron</vt:lpstr>
      <vt:lpstr>A two-layer perceptron</vt:lpstr>
      <vt:lpstr>THREE-LAYER PERCEPTRONS</vt:lpstr>
      <vt:lpstr>THREE-LAYER PERCEPTRONS</vt:lpstr>
      <vt:lpstr>THREE-LAYER PERCEPTRONS</vt:lpstr>
      <vt:lpstr>Multilayer perceptron (MLPs)</vt:lpstr>
      <vt:lpstr>DEEP NEURAL NETWORKS</vt:lpstr>
      <vt:lpstr>PowerPoint Presentation</vt:lpstr>
      <vt:lpstr>Activation Functions</vt:lpstr>
      <vt:lpstr>Activation Functions </vt:lpstr>
      <vt:lpstr>Activation Functions (cont’d)</vt:lpstr>
      <vt:lpstr>PowerPoint Presentation</vt:lpstr>
      <vt:lpstr>PowerPoint Presentation</vt:lpstr>
      <vt:lpstr>Artificial Neural Networks Algorithm</vt:lpstr>
      <vt:lpstr>Artificial Neural Networks Algorithm</vt:lpstr>
      <vt:lpstr>Artificial Neural Networks Algorithm</vt:lpstr>
      <vt:lpstr>Artificial Neural Networks Algorithm</vt:lpstr>
      <vt:lpstr>Demonstration of Regression and Classification Problems using MLP </vt:lpstr>
      <vt:lpstr>Demonstration of Regression Problems using MLP</vt:lpstr>
      <vt:lpstr>Demonstration of Regression Problems using MLP</vt:lpstr>
      <vt:lpstr>Classification using MLP: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9</cp:revision>
  <dcterms:created xsi:type="dcterms:W3CDTF">2026-07-08T04:50:43Z</dcterms:created>
  <dcterms:modified xsi:type="dcterms:W3CDTF">2026-07-18T09:16:28Z</dcterms:modified>
</cp:coreProperties>
</file>