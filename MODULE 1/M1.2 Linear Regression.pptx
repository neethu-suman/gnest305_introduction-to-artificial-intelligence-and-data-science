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77" r:id="rId2"/>
    <p:sldId id="404" r:id="rId3"/>
    <p:sldId id="405" r:id="rId4"/>
    <p:sldId id="286" r:id="rId5"/>
    <p:sldId id="406" r:id="rId6"/>
    <p:sldId id="407" r:id="rId7"/>
    <p:sldId id="408" r:id="rId8"/>
    <p:sldId id="409" r:id="rId9"/>
    <p:sldId id="410" r:id="rId10"/>
    <p:sldId id="411" r:id="rId11"/>
    <p:sldId id="412" r:id="rId12"/>
    <p:sldId id="267" r:id="rId13"/>
    <p:sldId id="413" r:id="rId14"/>
    <p:sldId id="414" r:id="rId15"/>
    <p:sldId id="415" r:id="rId16"/>
    <p:sldId id="280" r:id="rId17"/>
    <p:sldId id="416" r:id="rId18"/>
    <p:sldId id="417" r:id="rId19"/>
    <p:sldId id="432" r:id="rId20"/>
    <p:sldId id="433" r:id="rId21"/>
    <p:sldId id="434" r:id="rId22"/>
    <p:sldId id="435" r:id="rId23"/>
    <p:sldId id="443" r:id="rId24"/>
    <p:sldId id="444" r:id="rId25"/>
    <p:sldId id="445" r:id="rId26"/>
    <p:sldId id="273" r:id="rId27"/>
    <p:sldId id="348" r:id="rId28"/>
    <p:sldId id="349" r:id="rId29"/>
    <p:sldId id="456" r:id="rId30"/>
    <p:sldId id="350" r:id="rId31"/>
    <p:sldId id="446" r:id="rId32"/>
    <p:sldId id="447" r:id="rId33"/>
    <p:sldId id="448" r:id="rId34"/>
    <p:sldId id="393" r:id="rId35"/>
    <p:sldId id="39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BB0EEC-7E86-4B63-AE17-E692B4EE3630}" type="datetimeFigureOut">
              <a:rPr lang="en-IN" smtClean="0"/>
              <a:t>07-07-2026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E475EB-ADB6-4F89-AD76-DFEE503088DC}" type="slidenum">
              <a:rPr lang="en-IN" smtClean="0"/>
              <a:t>‹#›</a:t>
            </a:fld>
            <a:endParaRPr lang="en-IN"/>
          </a:p>
        </p:txBody>
      </p:sp>
    </p:spTree>
    <p:extLst>
      <p:ext uri="{BB962C8B-B14F-4D97-AF65-F5344CB8AC3E}">
        <p14:creationId xmlns:p14="http://schemas.microsoft.com/office/powerpoint/2010/main" val="4253073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BDC54-FB2B-2A55-136E-D1260BD92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B3CFF-7E1A-727E-A31E-DB188AAFB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83C0C5-A040-1F36-2DE2-440078DE93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F5417C-5AE4-C885-0CDC-663E725509E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67420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D5A88-DE9A-DB82-1BFD-BE861DAFC6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DEF21F-04C4-C7DA-13FA-635D1D3E3D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7807CC-25B0-7177-A43B-B8574F91E716}"/>
              </a:ext>
            </a:extLst>
          </p:cNvPr>
          <p:cNvSpPr>
            <a:spLocks noGrp="1"/>
          </p:cNvSpPr>
          <p:nvPr>
            <p:ph type="dt" sz="half" idx="10"/>
          </p:nvPr>
        </p:nvSpPr>
        <p:spPr/>
        <p:txBody>
          <a:bodyPr/>
          <a:lstStyle/>
          <a:p>
            <a:fld id="{CB3CA445-80F4-406A-A0AE-21795D32F079}" type="datetimeFigureOut">
              <a:rPr lang="en-IN" smtClean="0"/>
              <a:t>07-07-2026</a:t>
            </a:fld>
            <a:endParaRPr lang="en-IN"/>
          </a:p>
        </p:txBody>
      </p:sp>
      <p:sp>
        <p:nvSpPr>
          <p:cNvPr id="5" name="Footer Placeholder 4">
            <a:extLst>
              <a:ext uri="{FF2B5EF4-FFF2-40B4-BE49-F238E27FC236}">
                <a16:creationId xmlns:a16="http://schemas.microsoft.com/office/drawing/2014/main" id="{0BD93977-7187-256F-7490-78C57E9A17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33711-0193-94FF-8CB3-86D384491174}"/>
              </a:ext>
            </a:extLst>
          </p:cNvPr>
          <p:cNvSpPr>
            <a:spLocks noGrp="1"/>
          </p:cNvSpPr>
          <p:nvPr>
            <p:ph type="sldNum" sz="quarter" idx="12"/>
          </p:nvPr>
        </p:nvSpPr>
        <p:spPr/>
        <p:txBody>
          <a:bodyPr/>
          <a:lstStyle/>
          <a:p>
            <a:fld id="{BFE08EA0-6062-45B0-9B58-6983095FFF74}" type="slidenum">
              <a:rPr lang="en-IN" smtClean="0"/>
              <a:t>‹#›</a:t>
            </a:fld>
            <a:endParaRPr lang="en-IN"/>
          </a:p>
        </p:txBody>
      </p:sp>
    </p:spTree>
    <p:extLst>
      <p:ext uri="{BB962C8B-B14F-4D97-AF65-F5344CB8AC3E}">
        <p14:creationId xmlns:p14="http://schemas.microsoft.com/office/powerpoint/2010/main" val="250149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3EE5F-ACA8-AC85-4BD4-FC82FF5C8F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E9265A2-C5EC-E6E9-2D40-83E3A8BAB3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7CE488-BE03-23BD-E17C-B02A644B4E89}"/>
              </a:ext>
            </a:extLst>
          </p:cNvPr>
          <p:cNvSpPr>
            <a:spLocks noGrp="1"/>
          </p:cNvSpPr>
          <p:nvPr>
            <p:ph type="dt" sz="half" idx="10"/>
          </p:nvPr>
        </p:nvSpPr>
        <p:spPr/>
        <p:txBody>
          <a:bodyPr/>
          <a:lstStyle/>
          <a:p>
            <a:fld id="{CB3CA445-80F4-406A-A0AE-21795D32F079}" type="datetimeFigureOut">
              <a:rPr lang="en-IN" smtClean="0"/>
              <a:t>07-07-2026</a:t>
            </a:fld>
            <a:endParaRPr lang="en-IN"/>
          </a:p>
        </p:txBody>
      </p:sp>
      <p:sp>
        <p:nvSpPr>
          <p:cNvPr id="5" name="Footer Placeholder 4">
            <a:extLst>
              <a:ext uri="{FF2B5EF4-FFF2-40B4-BE49-F238E27FC236}">
                <a16:creationId xmlns:a16="http://schemas.microsoft.com/office/drawing/2014/main" id="{CE88831C-B719-6413-79BC-B76A9627BB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FD28B4-A63A-9D19-5531-4C54164BF096}"/>
              </a:ext>
            </a:extLst>
          </p:cNvPr>
          <p:cNvSpPr>
            <a:spLocks noGrp="1"/>
          </p:cNvSpPr>
          <p:nvPr>
            <p:ph type="sldNum" sz="quarter" idx="12"/>
          </p:nvPr>
        </p:nvSpPr>
        <p:spPr/>
        <p:txBody>
          <a:bodyPr/>
          <a:lstStyle/>
          <a:p>
            <a:fld id="{BFE08EA0-6062-45B0-9B58-6983095FFF74}" type="slidenum">
              <a:rPr lang="en-IN" smtClean="0"/>
              <a:t>‹#›</a:t>
            </a:fld>
            <a:endParaRPr lang="en-IN"/>
          </a:p>
        </p:txBody>
      </p:sp>
    </p:spTree>
    <p:extLst>
      <p:ext uri="{BB962C8B-B14F-4D97-AF65-F5344CB8AC3E}">
        <p14:creationId xmlns:p14="http://schemas.microsoft.com/office/powerpoint/2010/main" val="2089880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7381E-F567-3BBD-5199-8C7A060C04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381E01D-9953-7E88-5D21-B92623A2D1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9A01F6-9A69-18D3-37F3-2B5B836EEE98}"/>
              </a:ext>
            </a:extLst>
          </p:cNvPr>
          <p:cNvSpPr>
            <a:spLocks noGrp="1"/>
          </p:cNvSpPr>
          <p:nvPr>
            <p:ph type="dt" sz="half" idx="10"/>
          </p:nvPr>
        </p:nvSpPr>
        <p:spPr/>
        <p:txBody>
          <a:bodyPr/>
          <a:lstStyle/>
          <a:p>
            <a:fld id="{CB3CA445-80F4-406A-A0AE-21795D32F079}" type="datetimeFigureOut">
              <a:rPr lang="en-IN" smtClean="0"/>
              <a:t>07-07-2026</a:t>
            </a:fld>
            <a:endParaRPr lang="en-IN"/>
          </a:p>
        </p:txBody>
      </p:sp>
      <p:sp>
        <p:nvSpPr>
          <p:cNvPr id="5" name="Footer Placeholder 4">
            <a:extLst>
              <a:ext uri="{FF2B5EF4-FFF2-40B4-BE49-F238E27FC236}">
                <a16:creationId xmlns:a16="http://schemas.microsoft.com/office/drawing/2014/main" id="{5FF7DA04-43E1-8255-0A67-F8221047F3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39C563-44D1-B9B3-8387-1FED0DDCF70C}"/>
              </a:ext>
            </a:extLst>
          </p:cNvPr>
          <p:cNvSpPr>
            <a:spLocks noGrp="1"/>
          </p:cNvSpPr>
          <p:nvPr>
            <p:ph type="sldNum" sz="quarter" idx="12"/>
          </p:nvPr>
        </p:nvSpPr>
        <p:spPr/>
        <p:txBody>
          <a:bodyPr/>
          <a:lstStyle/>
          <a:p>
            <a:fld id="{BFE08EA0-6062-45B0-9B58-6983095FFF74}" type="slidenum">
              <a:rPr lang="en-IN" smtClean="0"/>
              <a:t>‹#›</a:t>
            </a:fld>
            <a:endParaRPr lang="en-IN"/>
          </a:p>
        </p:txBody>
      </p:sp>
    </p:spTree>
    <p:extLst>
      <p:ext uri="{BB962C8B-B14F-4D97-AF65-F5344CB8AC3E}">
        <p14:creationId xmlns:p14="http://schemas.microsoft.com/office/powerpoint/2010/main" val="2638381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0203-E88D-88AD-4388-AF6089A92F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6365A0-A984-A53F-8133-FFAEF0F411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2C83C0-890E-DCD5-36DC-B741A8D5B1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F176912-26CB-4B71-FDE5-818EFBD70424}"/>
              </a:ext>
            </a:extLst>
          </p:cNvPr>
          <p:cNvSpPr>
            <a:spLocks noGrp="1"/>
          </p:cNvSpPr>
          <p:nvPr>
            <p:ph type="dt" sz="half" idx="10"/>
          </p:nvPr>
        </p:nvSpPr>
        <p:spPr/>
        <p:txBody>
          <a:bodyPr/>
          <a:lstStyle/>
          <a:p>
            <a:fld id="{CB3CA445-80F4-406A-A0AE-21795D32F079}" type="datetimeFigureOut">
              <a:rPr lang="en-IN" smtClean="0"/>
              <a:t>07-07-2026</a:t>
            </a:fld>
            <a:endParaRPr lang="en-IN"/>
          </a:p>
        </p:txBody>
      </p:sp>
      <p:sp>
        <p:nvSpPr>
          <p:cNvPr id="6" name="Footer Placeholder 5">
            <a:extLst>
              <a:ext uri="{FF2B5EF4-FFF2-40B4-BE49-F238E27FC236}">
                <a16:creationId xmlns:a16="http://schemas.microsoft.com/office/drawing/2014/main" id="{E5075D11-98BF-6A43-FFEF-E589AC24CD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EAED2A-63AD-1C4B-4DDC-B09F9D90D926}"/>
              </a:ext>
            </a:extLst>
          </p:cNvPr>
          <p:cNvSpPr>
            <a:spLocks noGrp="1"/>
          </p:cNvSpPr>
          <p:nvPr>
            <p:ph type="sldNum" sz="quarter" idx="12"/>
          </p:nvPr>
        </p:nvSpPr>
        <p:spPr/>
        <p:txBody>
          <a:bodyPr/>
          <a:lstStyle/>
          <a:p>
            <a:fld id="{BFE08EA0-6062-45B0-9B58-6983095FFF74}" type="slidenum">
              <a:rPr lang="en-IN" smtClean="0"/>
              <a:t>‹#›</a:t>
            </a:fld>
            <a:endParaRPr lang="en-IN"/>
          </a:p>
        </p:txBody>
      </p:sp>
    </p:spTree>
    <p:extLst>
      <p:ext uri="{BB962C8B-B14F-4D97-AF65-F5344CB8AC3E}">
        <p14:creationId xmlns:p14="http://schemas.microsoft.com/office/powerpoint/2010/main" val="2201366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6AF00-19B0-436D-88C7-5098BBDB473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9846C7-8F8E-CEE6-53CD-5740AD4C25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F256FC-7D89-0493-35CD-0EEBB2CB05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E022F78-A249-E6F7-2841-D65DCA1CB6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AD1A07-3707-1CE8-D45C-DE9F5C8A27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CFFC2D7-A75A-0DED-233D-3E9435351539}"/>
              </a:ext>
            </a:extLst>
          </p:cNvPr>
          <p:cNvSpPr>
            <a:spLocks noGrp="1"/>
          </p:cNvSpPr>
          <p:nvPr>
            <p:ph type="dt" sz="half" idx="10"/>
          </p:nvPr>
        </p:nvSpPr>
        <p:spPr/>
        <p:txBody>
          <a:bodyPr/>
          <a:lstStyle/>
          <a:p>
            <a:fld id="{CB3CA445-80F4-406A-A0AE-21795D32F079}" type="datetimeFigureOut">
              <a:rPr lang="en-IN" smtClean="0"/>
              <a:t>07-07-2026</a:t>
            </a:fld>
            <a:endParaRPr lang="en-IN"/>
          </a:p>
        </p:txBody>
      </p:sp>
      <p:sp>
        <p:nvSpPr>
          <p:cNvPr id="8" name="Footer Placeholder 7">
            <a:extLst>
              <a:ext uri="{FF2B5EF4-FFF2-40B4-BE49-F238E27FC236}">
                <a16:creationId xmlns:a16="http://schemas.microsoft.com/office/drawing/2014/main" id="{80D2F468-9D42-EE00-B983-03BAFB5ECD8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EB6065E-C596-57BB-C66A-F428F1E1D473}"/>
              </a:ext>
            </a:extLst>
          </p:cNvPr>
          <p:cNvSpPr>
            <a:spLocks noGrp="1"/>
          </p:cNvSpPr>
          <p:nvPr>
            <p:ph type="sldNum" sz="quarter" idx="12"/>
          </p:nvPr>
        </p:nvSpPr>
        <p:spPr/>
        <p:txBody>
          <a:bodyPr/>
          <a:lstStyle/>
          <a:p>
            <a:fld id="{BFE08EA0-6062-45B0-9B58-6983095FFF74}" type="slidenum">
              <a:rPr lang="en-IN" smtClean="0"/>
              <a:t>‹#›</a:t>
            </a:fld>
            <a:endParaRPr lang="en-IN"/>
          </a:p>
        </p:txBody>
      </p:sp>
    </p:spTree>
    <p:extLst>
      <p:ext uri="{BB962C8B-B14F-4D97-AF65-F5344CB8AC3E}">
        <p14:creationId xmlns:p14="http://schemas.microsoft.com/office/powerpoint/2010/main" val="1964153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73877-8AB5-C8ED-24FD-B6515102F90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B3D7EB3-963E-75BA-2768-2689C23EE2EB}"/>
              </a:ext>
            </a:extLst>
          </p:cNvPr>
          <p:cNvSpPr>
            <a:spLocks noGrp="1"/>
          </p:cNvSpPr>
          <p:nvPr>
            <p:ph type="dt" sz="half" idx="10"/>
          </p:nvPr>
        </p:nvSpPr>
        <p:spPr/>
        <p:txBody>
          <a:bodyPr/>
          <a:lstStyle/>
          <a:p>
            <a:fld id="{CB3CA445-80F4-406A-A0AE-21795D32F079}" type="datetimeFigureOut">
              <a:rPr lang="en-IN" smtClean="0"/>
              <a:t>07-07-2026</a:t>
            </a:fld>
            <a:endParaRPr lang="en-IN"/>
          </a:p>
        </p:txBody>
      </p:sp>
      <p:sp>
        <p:nvSpPr>
          <p:cNvPr id="4" name="Footer Placeholder 3">
            <a:extLst>
              <a:ext uri="{FF2B5EF4-FFF2-40B4-BE49-F238E27FC236}">
                <a16:creationId xmlns:a16="http://schemas.microsoft.com/office/drawing/2014/main" id="{A249ABAE-7AC9-262D-5663-99C9F0E5E4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EF26CF-AB82-83F9-0FA1-C5E60B643BE6}"/>
              </a:ext>
            </a:extLst>
          </p:cNvPr>
          <p:cNvSpPr>
            <a:spLocks noGrp="1"/>
          </p:cNvSpPr>
          <p:nvPr>
            <p:ph type="sldNum" sz="quarter" idx="12"/>
          </p:nvPr>
        </p:nvSpPr>
        <p:spPr/>
        <p:txBody>
          <a:bodyPr/>
          <a:lstStyle/>
          <a:p>
            <a:fld id="{BFE08EA0-6062-45B0-9B58-6983095FFF74}" type="slidenum">
              <a:rPr lang="en-IN" smtClean="0"/>
              <a:t>‹#›</a:t>
            </a:fld>
            <a:endParaRPr lang="en-IN"/>
          </a:p>
        </p:txBody>
      </p:sp>
    </p:spTree>
    <p:extLst>
      <p:ext uri="{BB962C8B-B14F-4D97-AF65-F5344CB8AC3E}">
        <p14:creationId xmlns:p14="http://schemas.microsoft.com/office/powerpoint/2010/main" val="4119496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650AE6-02D9-C865-3D18-CFFF4D9DF4AF}"/>
              </a:ext>
            </a:extLst>
          </p:cNvPr>
          <p:cNvSpPr>
            <a:spLocks noGrp="1"/>
          </p:cNvSpPr>
          <p:nvPr>
            <p:ph type="dt" sz="half" idx="10"/>
          </p:nvPr>
        </p:nvSpPr>
        <p:spPr/>
        <p:txBody>
          <a:bodyPr/>
          <a:lstStyle/>
          <a:p>
            <a:fld id="{CB3CA445-80F4-406A-A0AE-21795D32F079}" type="datetimeFigureOut">
              <a:rPr lang="en-IN" smtClean="0"/>
              <a:t>07-07-2026</a:t>
            </a:fld>
            <a:endParaRPr lang="en-IN"/>
          </a:p>
        </p:txBody>
      </p:sp>
      <p:sp>
        <p:nvSpPr>
          <p:cNvPr id="3" name="Footer Placeholder 2">
            <a:extLst>
              <a:ext uri="{FF2B5EF4-FFF2-40B4-BE49-F238E27FC236}">
                <a16:creationId xmlns:a16="http://schemas.microsoft.com/office/drawing/2014/main" id="{91EBFDCB-28AE-3903-289D-8C04DF9DB59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B964F1-BCD2-7DC6-2BF2-FAC02204E5FE}"/>
              </a:ext>
            </a:extLst>
          </p:cNvPr>
          <p:cNvSpPr>
            <a:spLocks noGrp="1"/>
          </p:cNvSpPr>
          <p:nvPr>
            <p:ph type="sldNum" sz="quarter" idx="12"/>
          </p:nvPr>
        </p:nvSpPr>
        <p:spPr/>
        <p:txBody>
          <a:bodyPr/>
          <a:lstStyle/>
          <a:p>
            <a:fld id="{BFE08EA0-6062-45B0-9B58-6983095FFF74}" type="slidenum">
              <a:rPr lang="en-IN" smtClean="0"/>
              <a:t>‹#›</a:t>
            </a:fld>
            <a:endParaRPr lang="en-IN"/>
          </a:p>
        </p:txBody>
      </p:sp>
    </p:spTree>
    <p:extLst>
      <p:ext uri="{BB962C8B-B14F-4D97-AF65-F5344CB8AC3E}">
        <p14:creationId xmlns:p14="http://schemas.microsoft.com/office/powerpoint/2010/main" val="489931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A00FD-7D4B-C39B-09EA-1BEDDDC92D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FFE6B8-3E91-95BF-F85D-2100F85135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ABF75E-0F1F-7A4C-1ADF-D30F8AB633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6F20F7-B35C-90BD-5762-D5C9C1F8ABA2}"/>
              </a:ext>
            </a:extLst>
          </p:cNvPr>
          <p:cNvSpPr>
            <a:spLocks noGrp="1"/>
          </p:cNvSpPr>
          <p:nvPr>
            <p:ph type="dt" sz="half" idx="10"/>
          </p:nvPr>
        </p:nvSpPr>
        <p:spPr/>
        <p:txBody>
          <a:bodyPr/>
          <a:lstStyle/>
          <a:p>
            <a:fld id="{CB3CA445-80F4-406A-A0AE-21795D32F079}" type="datetimeFigureOut">
              <a:rPr lang="en-IN" smtClean="0"/>
              <a:t>07-07-2026</a:t>
            </a:fld>
            <a:endParaRPr lang="en-IN"/>
          </a:p>
        </p:txBody>
      </p:sp>
      <p:sp>
        <p:nvSpPr>
          <p:cNvPr id="6" name="Footer Placeholder 5">
            <a:extLst>
              <a:ext uri="{FF2B5EF4-FFF2-40B4-BE49-F238E27FC236}">
                <a16:creationId xmlns:a16="http://schemas.microsoft.com/office/drawing/2014/main" id="{FF75D8A1-B169-09C9-36F8-4564FC7BB8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B37904-91C1-E833-6C93-2508F2F49952}"/>
              </a:ext>
            </a:extLst>
          </p:cNvPr>
          <p:cNvSpPr>
            <a:spLocks noGrp="1"/>
          </p:cNvSpPr>
          <p:nvPr>
            <p:ph type="sldNum" sz="quarter" idx="12"/>
          </p:nvPr>
        </p:nvSpPr>
        <p:spPr/>
        <p:txBody>
          <a:bodyPr/>
          <a:lstStyle/>
          <a:p>
            <a:fld id="{BFE08EA0-6062-45B0-9B58-6983095FFF74}" type="slidenum">
              <a:rPr lang="en-IN" smtClean="0"/>
              <a:t>‹#›</a:t>
            </a:fld>
            <a:endParaRPr lang="en-IN"/>
          </a:p>
        </p:txBody>
      </p:sp>
    </p:spTree>
    <p:extLst>
      <p:ext uri="{BB962C8B-B14F-4D97-AF65-F5344CB8AC3E}">
        <p14:creationId xmlns:p14="http://schemas.microsoft.com/office/powerpoint/2010/main" val="484334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1AE7-3C48-1616-C9CB-093B5811E5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ABA2FE1-7892-7A61-C25C-F42353055D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B44C88A-E223-07A3-B3EE-44452187FF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E143B5-AB59-421C-1FF7-6239A5B0CC07}"/>
              </a:ext>
            </a:extLst>
          </p:cNvPr>
          <p:cNvSpPr>
            <a:spLocks noGrp="1"/>
          </p:cNvSpPr>
          <p:nvPr>
            <p:ph type="dt" sz="half" idx="10"/>
          </p:nvPr>
        </p:nvSpPr>
        <p:spPr/>
        <p:txBody>
          <a:bodyPr/>
          <a:lstStyle/>
          <a:p>
            <a:fld id="{CB3CA445-80F4-406A-A0AE-21795D32F079}" type="datetimeFigureOut">
              <a:rPr lang="en-IN" smtClean="0"/>
              <a:t>07-07-2026</a:t>
            </a:fld>
            <a:endParaRPr lang="en-IN"/>
          </a:p>
        </p:txBody>
      </p:sp>
      <p:sp>
        <p:nvSpPr>
          <p:cNvPr id="6" name="Footer Placeholder 5">
            <a:extLst>
              <a:ext uri="{FF2B5EF4-FFF2-40B4-BE49-F238E27FC236}">
                <a16:creationId xmlns:a16="http://schemas.microsoft.com/office/drawing/2014/main" id="{A0E2292E-0084-AD86-A51C-575E7D995E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ADED18-23B7-2BE0-4AD0-D4DD0F43D866}"/>
              </a:ext>
            </a:extLst>
          </p:cNvPr>
          <p:cNvSpPr>
            <a:spLocks noGrp="1"/>
          </p:cNvSpPr>
          <p:nvPr>
            <p:ph type="sldNum" sz="quarter" idx="12"/>
          </p:nvPr>
        </p:nvSpPr>
        <p:spPr/>
        <p:txBody>
          <a:bodyPr/>
          <a:lstStyle/>
          <a:p>
            <a:fld id="{BFE08EA0-6062-45B0-9B58-6983095FFF74}" type="slidenum">
              <a:rPr lang="en-IN" smtClean="0"/>
              <a:t>‹#›</a:t>
            </a:fld>
            <a:endParaRPr lang="en-IN"/>
          </a:p>
        </p:txBody>
      </p:sp>
    </p:spTree>
    <p:extLst>
      <p:ext uri="{BB962C8B-B14F-4D97-AF65-F5344CB8AC3E}">
        <p14:creationId xmlns:p14="http://schemas.microsoft.com/office/powerpoint/2010/main" val="3855285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267F4-4B86-6B83-153F-53EFF93175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508313-8905-349C-6E8E-631E483F96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CAF4B7-53A4-8428-E3B7-E26D119D9638}"/>
              </a:ext>
            </a:extLst>
          </p:cNvPr>
          <p:cNvSpPr>
            <a:spLocks noGrp="1"/>
          </p:cNvSpPr>
          <p:nvPr>
            <p:ph type="dt" sz="half" idx="10"/>
          </p:nvPr>
        </p:nvSpPr>
        <p:spPr/>
        <p:txBody>
          <a:bodyPr/>
          <a:lstStyle/>
          <a:p>
            <a:fld id="{CB3CA445-80F4-406A-A0AE-21795D32F079}" type="datetimeFigureOut">
              <a:rPr lang="en-IN" smtClean="0"/>
              <a:t>07-07-2026</a:t>
            </a:fld>
            <a:endParaRPr lang="en-IN"/>
          </a:p>
        </p:txBody>
      </p:sp>
      <p:sp>
        <p:nvSpPr>
          <p:cNvPr id="5" name="Footer Placeholder 4">
            <a:extLst>
              <a:ext uri="{FF2B5EF4-FFF2-40B4-BE49-F238E27FC236}">
                <a16:creationId xmlns:a16="http://schemas.microsoft.com/office/drawing/2014/main" id="{8A2BEB5D-BDB3-59B0-311A-5AB48A4D0D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6BC40B-6E99-5C8A-8E27-5C7700BC1A1C}"/>
              </a:ext>
            </a:extLst>
          </p:cNvPr>
          <p:cNvSpPr>
            <a:spLocks noGrp="1"/>
          </p:cNvSpPr>
          <p:nvPr>
            <p:ph type="sldNum" sz="quarter" idx="12"/>
          </p:nvPr>
        </p:nvSpPr>
        <p:spPr/>
        <p:txBody>
          <a:bodyPr/>
          <a:lstStyle/>
          <a:p>
            <a:fld id="{BFE08EA0-6062-45B0-9B58-6983095FFF74}" type="slidenum">
              <a:rPr lang="en-IN" smtClean="0"/>
              <a:t>‹#›</a:t>
            </a:fld>
            <a:endParaRPr lang="en-IN"/>
          </a:p>
        </p:txBody>
      </p:sp>
    </p:spTree>
    <p:extLst>
      <p:ext uri="{BB962C8B-B14F-4D97-AF65-F5344CB8AC3E}">
        <p14:creationId xmlns:p14="http://schemas.microsoft.com/office/powerpoint/2010/main" val="515888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12C138-B874-D2FA-C3A1-366BE94865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63187D-7997-2816-06D4-FA736534CA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D2E325-5420-CE34-FDDC-105233005FAA}"/>
              </a:ext>
            </a:extLst>
          </p:cNvPr>
          <p:cNvSpPr>
            <a:spLocks noGrp="1"/>
          </p:cNvSpPr>
          <p:nvPr>
            <p:ph type="dt" sz="half" idx="10"/>
          </p:nvPr>
        </p:nvSpPr>
        <p:spPr/>
        <p:txBody>
          <a:bodyPr/>
          <a:lstStyle/>
          <a:p>
            <a:fld id="{CB3CA445-80F4-406A-A0AE-21795D32F079}" type="datetimeFigureOut">
              <a:rPr lang="en-IN" smtClean="0"/>
              <a:t>07-07-2026</a:t>
            </a:fld>
            <a:endParaRPr lang="en-IN"/>
          </a:p>
        </p:txBody>
      </p:sp>
      <p:sp>
        <p:nvSpPr>
          <p:cNvPr id="5" name="Footer Placeholder 4">
            <a:extLst>
              <a:ext uri="{FF2B5EF4-FFF2-40B4-BE49-F238E27FC236}">
                <a16:creationId xmlns:a16="http://schemas.microsoft.com/office/drawing/2014/main" id="{40D596A2-936B-0C13-516D-9F41E39D8A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E7F5F8-56FF-C232-C7E3-259E221CEE7E}"/>
              </a:ext>
            </a:extLst>
          </p:cNvPr>
          <p:cNvSpPr>
            <a:spLocks noGrp="1"/>
          </p:cNvSpPr>
          <p:nvPr>
            <p:ph type="sldNum" sz="quarter" idx="12"/>
          </p:nvPr>
        </p:nvSpPr>
        <p:spPr/>
        <p:txBody>
          <a:bodyPr/>
          <a:lstStyle/>
          <a:p>
            <a:fld id="{BFE08EA0-6062-45B0-9B58-6983095FFF74}" type="slidenum">
              <a:rPr lang="en-IN" smtClean="0"/>
              <a:t>‹#›</a:t>
            </a:fld>
            <a:endParaRPr lang="en-IN"/>
          </a:p>
        </p:txBody>
      </p:sp>
    </p:spTree>
    <p:extLst>
      <p:ext uri="{BB962C8B-B14F-4D97-AF65-F5344CB8AC3E}">
        <p14:creationId xmlns:p14="http://schemas.microsoft.com/office/powerpoint/2010/main" val="16093708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8625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12DA0F-33B5-8B0F-52E8-19024310CA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EE4C0F-34F6-F4AA-E7EF-BCA191A500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D6F850-A89B-2FD9-3BA2-53B4B74057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3CA445-80F4-406A-A0AE-21795D32F079}" type="datetimeFigureOut">
              <a:rPr lang="en-IN" smtClean="0"/>
              <a:t>07-07-2026</a:t>
            </a:fld>
            <a:endParaRPr lang="en-IN"/>
          </a:p>
        </p:txBody>
      </p:sp>
      <p:sp>
        <p:nvSpPr>
          <p:cNvPr id="5" name="Footer Placeholder 4">
            <a:extLst>
              <a:ext uri="{FF2B5EF4-FFF2-40B4-BE49-F238E27FC236}">
                <a16:creationId xmlns:a16="http://schemas.microsoft.com/office/drawing/2014/main" id="{B4DF4FE0-6795-386D-3929-7B42919D59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A25279-1733-53F7-DD1A-B9104436A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E08EA0-6062-45B0-9B58-6983095FFF74}" type="slidenum">
              <a:rPr lang="en-IN" smtClean="0"/>
              <a:t>‹#›</a:t>
            </a:fld>
            <a:endParaRPr lang="en-IN"/>
          </a:p>
        </p:txBody>
      </p:sp>
    </p:spTree>
    <p:extLst>
      <p:ext uri="{BB962C8B-B14F-4D97-AF65-F5344CB8AC3E}">
        <p14:creationId xmlns:p14="http://schemas.microsoft.com/office/powerpoint/2010/main" val="753072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A6F6C-F6F6-9C65-2B1B-3F88E63789C8}"/>
              </a:ext>
            </a:extLst>
          </p:cNvPr>
          <p:cNvSpPr>
            <a:spLocks noGrp="1"/>
          </p:cNvSpPr>
          <p:nvPr>
            <p:ph type="title"/>
          </p:nvPr>
        </p:nvSpPr>
        <p:spPr/>
        <p:txBody>
          <a:bodyPr/>
          <a:lstStyle/>
          <a:p>
            <a:r>
              <a:rPr lang="en-US" b="1" dirty="0">
                <a:latin typeface="+mn-lt"/>
                <a:ea typeface="Arial" pitchFamily="34" charset="-122"/>
                <a:cs typeface="Arial" pitchFamily="34" charset="-120"/>
              </a:rPr>
              <a:t>Linear Regression</a:t>
            </a:r>
            <a:endParaRPr lang="en-IN" b="1" dirty="0">
              <a:latin typeface="+mn-lt"/>
            </a:endParaRPr>
          </a:p>
        </p:txBody>
      </p:sp>
      <p:sp>
        <p:nvSpPr>
          <p:cNvPr id="3" name="Content Placeholder 2">
            <a:extLst>
              <a:ext uri="{FF2B5EF4-FFF2-40B4-BE49-F238E27FC236}">
                <a16:creationId xmlns:a16="http://schemas.microsoft.com/office/drawing/2014/main" id="{313A7FD3-C5D8-B35D-50CF-2B40E4CDF8F7}"/>
              </a:ext>
            </a:extLst>
          </p:cNvPr>
          <p:cNvSpPr>
            <a:spLocks noGrp="1"/>
          </p:cNvSpPr>
          <p:nvPr>
            <p:ph idx="1"/>
          </p:nvPr>
        </p:nvSpPr>
        <p:spPr>
          <a:xfrm>
            <a:off x="838200" y="1580322"/>
            <a:ext cx="10515600" cy="4840356"/>
          </a:xfrm>
        </p:spPr>
        <p:txBody>
          <a:bodyPr>
            <a:normAutofit/>
          </a:bodyPr>
          <a:lstStyle/>
          <a:p>
            <a:pPr marL="457189" indent="-457189">
              <a:lnSpc>
                <a:spcPts val="3240"/>
              </a:lnSpc>
              <a:buSzPct val="100000"/>
            </a:pPr>
            <a:r>
              <a:rPr lang="en-US" sz="2000" dirty="0"/>
              <a:t>Linear regression is a type of supervised machine-learning algorithm that learns from the labelled datasets and maps the data points with most optimized linear functions which can be used for prediction on new datasets. </a:t>
            </a:r>
          </a:p>
          <a:p>
            <a:pPr marL="457189" indent="-457189">
              <a:lnSpc>
                <a:spcPts val="3240"/>
              </a:lnSpc>
              <a:buSzPct val="100000"/>
            </a:pPr>
            <a:r>
              <a:rPr lang="en-US" sz="2000" dirty="0"/>
              <a:t>It assumes that there is a linear relationship between the input and output, meaning the output changes at a constant rate as the input changes. This relationship is represented by a straight line.</a:t>
            </a:r>
            <a:endParaRPr lang="en-US" sz="2000" dirty="0">
              <a:ea typeface="Arial" pitchFamily="34" charset="-122"/>
              <a:cs typeface="Arial" pitchFamily="34" charset="-120"/>
            </a:endParaRPr>
          </a:p>
          <a:p>
            <a:pPr marL="457189" indent="-457189">
              <a:lnSpc>
                <a:spcPts val="3240"/>
              </a:lnSpc>
              <a:buSzPct val="100000"/>
            </a:pPr>
            <a:r>
              <a:rPr lang="en-US" sz="2000" dirty="0">
                <a:ea typeface="Arial" pitchFamily="34" charset="-122"/>
                <a:cs typeface="Arial" pitchFamily="34" charset="-120"/>
              </a:rPr>
              <a:t>Models relationship between dependent variable (Y) and independent variable(s) (X)</a:t>
            </a:r>
            <a:endParaRPr lang="en-US" sz="2000" dirty="0"/>
          </a:p>
          <a:p>
            <a:pPr marL="457189" indent="-457189">
              <a:lnSpc>
                <a:spcPts val="3240"/>
              </a:lnSpc>
              <a:buSzPct val="100000"/>
            </a:pPr>
            <a:r>
              <a:rPr lang="en-US" sz="2000" dirty="0">
                <a:ea typeface="Arial" pitchFamily="34" charset="-122"/>
                <a:cs typeface="Arial" pitchFamily="34" charset="-120"/>
              </a:rPr>
              <a:t>Goal: minimize the error between observed and predicted values</a:t>
            </a:r>
            <a:endParaRPr lang="en-US" sz="2000" dirty="0"/>
          </a:p>
          <a:p>
            <a:pPr marL="457189" indent="-457189">
              <a:lnSpc>
                <a:spcPts val="3240"/>
              </a:lnSpc>
              <a:buSzPct val="100000"/>
            </a:pPr>
            <a:r>
              <a:rPr lang="en-US" sz="2000" dirty="0">
                <a:ea typeface="Arial" pitchFamily="34" charset="-122"/>
                <a:cs typeface="Arial" pitchFamily="34" charset="-120"/>
              </a:rPr>
              <a:t>Foundation for understanding advanced machine learning models</a:t>
            </a:r>
            <a:endParaRPr lang="en-US" sz="2000" dirty="0"/>
          </a:p>
          <a:p>
            <a:endParaRPr lang="en-IN" sz="2000" dirty="0"/>
          </a:p>
        </p:txBody>
      </p:sp>
    </p:spTree>
    <p:extLst>
      <p:ext uri="{BB962C8B-B14F-4D97-AF65-F5344CB8AC3E}">
        <p14:creationId xmlns:p14="http://schemas.microsoft.com/office/powerpoint/2010/main" val="1966656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58458-F7FB-C6F8-E3B0-F27FF86002C4}"/>
              </a:ext>
            </a:extLst>
          </p:cNvPr>
          <p:cNvSpPr>
            <a:spLocks noGrp="1"/>
          </p:cNvSpPr>
          <p:nvPr>
            <p:ph type="title"/>
          </p:nvPr>
        </p:nvSpPr>
        <p:spPr/>
        <p:txBody>
          <a:bodyPr/>
          <a:lstStyle/>
          <a:p>
            <a:r>
              <a:rPr lang="en-US" b="1" dirty="0">
                <a:ea typeface="Arial" pitchFamily="34" charset="-122"/>
                <a:cs typeface="Arial" pitchFamily="34" charset="-120"/>
              </a:rPr>
              <a:t>Linear Regression</a:t>
            </a:r>
            <a:endParaRPr lang="en-IN" b="1" dirty="0"/>
          </a:p>
        </p:txBody>
      </p:sp>
      <p:sp>
        <p:nvSpPr>
          <p:cNvPr id="3" name="Content Placeholder 2">
            <a:extLst>
              <a:ext uri="{FF2B5EF4-FFF2-40B4-BE49-F238E27FC236}">
                <a16:creationId xmlns:a16="http://schemas.microsoft.com/office/drawing/2014/main" id="{400F88EF-4F61-8144-B3C6-CDE7BC39C803}"/>
              </a:ext>
            </a:extLst>
          </p:cNvPr>
          <p:cNvSpPr>
            <a:spLocks noGrp="1"/>
          </p:cNvSpPr>
          <p:nvPr>
            <p:ph idx="1"/>
          </p:nvPr>
        </p:nvSpPr>
        <p:spPr/>
        <p:txBody>
          <a:bodyPr>
            <a:normAutofit/>
          </a:bodyPr>
          <a:lstStyle/>
          <a:p>
            <a:pPr fontAlgn="base"/>
            <a:r>
              <a:rPr lang="en-US" sz="2400" b="1" dirty="0"/>
              <a:t>For example,</a:t>
            </a:r>
            <a:r>
              <a:rPr lang="en-US" sz="2400" dirty="0"/>
              <a:t> we want to predict a student's exam score based on how many hours they studied. </a:t>
            </a:r>
          </a:p>
          <a:p>
            <a:pPr lvl="1" fontAlgn="base"/>
            <a:r>
              <a:rPr lang="en-US" sz="2000" dirty="0"/>
              <a:t>We observe that as students study more hours, their scores go up. </a:t>
            </a:r>
          </a:p>
          <a:p>
            <a:pPr lvl="1" fontAlgn="base"/>
            <a:r>
              <a:rPr lang="en-US" sz="2000" dirty="0"/>
              <a:t>In the example of predicting exam scores based on hours studied. </a:t>
            </a:r>
          </a:p>
          <a:p>
            <a:pPr lvl="1" fontAlgn="base"/>
            <a:r>
              <a:rPr lang="en-US" sz="2000" b="1" dirty="0"/>
              <a:t>Independent variable (input):</a:t>
            </a:r>
            <a:r>
              <a:rPr lang="en-US" sz="2000" dirty="0"/>
              <a:t> Hours studied because it's the factor we control or observe.</a:t>
            </a:r>
          </a:p>
          <a:p>
            <a:pPr lvl="1" fontAlgn="base"/>
            <a:r>
              <a:rPr lang="en-US" sz="2000" b="1" dirty="0"/>
              <a:t>Dependent variable (output): </a:t>
            </a:r>
            <a:r>
              <a:rPr lang="en-US" sz="2000" dirty="0"/>
              <a:t>Exam score because it depends on how many hours were studied.</a:t>
            </a:r>
          </a:p>
          <a:p>
            <a:pPr fontAlgn="base"/>
            <a:r>
              <a:rPr lang="en-US" sz="2400" dirty="0"/>
              <a:t>We use the independent variable to predict the dependent variable.</a:t>
            </a:r>
          </a:p>
          <a:p>
            <a:endParaRPr lang="en-IN" sz="2400" dirty="0"/>
          </a:p>
        </p:txBody>
      </p:sp>
    </p:spTree>
    <p:extLst>
      <p:ext uri="{BB962C8B-B14F-4D97-AF65-F5344CB8AC3E}">
        <p14:creationId xmlns:p14="http://schemas.microsoft.com/office/powerpoint/2010/main" val="2188791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51262-FCEC-ECC4-BE9A-B8885DBAC104}"/>
              </a:ext>
            </a:extLst>
          </p:cNvPr>
          <p:cNvSpPr>
            <a:spLocks noGrp="1"/>
          </p:cNvSpPr>
          <p:nvPr>
            <p:ph type="title"/>
          </p:nvPr>
        </p:nvSpPr>
        <p:spPr/>
        <p:txBody>
          <a:bodyPr/>
          <a:lstStyle/>
          <a:p>
            <a:r>
              <a:rPr lang="en-US" b="1" dirty="0"/>
              <a:t>Best Fit Line in Linear Regression</a:t>
            </a:r>
            <a:endParaRPr lang="en-IN" dirty="0"/>
          </a:p>
        </p:txBody>
      </p:sp>
      <p:sp>
        <p:nvSpPr>
          <p:cNvPr id="3" name="Content Placeholder 2">
            <a:extLst>
              <a:ext uri="{FF2B5EF4-FFF2-40B4-BE49-F238E27FC236}">
                <a16:creationId xmlns:a16="http://schemas.microsoft.com/office/drawing/2014/main" id="{624B6D9C-10C8-6FAB-75A8-65B2ABBCB478}"/>
              </a:ext>
            </a:extLst>
          </p:cNvPr>
          <p:cNvSpPr>
            <a:spLocks noGrp="1"/>
          </p:cNvSpPr>
          <p:nvPr>
            <p:ph idx="1"/>
          </p:nvPr>
        </p:nvSpPr>
        <p:spPr/>
        <p:txBody>
          <a:bodyPr/>
          <a:lstStyle/>
          <a:p>
            <a:r>
              <a:rPr lang="en-US" dirty="0"/>
              <a:t>In linear regression, the best-fit line is the straight line that most accurately represents the relationship between the independent variable (input) and the dependent variable (output). </a:t>
            </a:r>
          </a:p>
          <a:p>
            <a:r>
              <a:rPr lang="en-US" dirty="0"/>
              <a:t>It is the line that minimizes the difference between the actual data points and the predicted values from the model.</a:t>
            </a:r>
          </a:p>
          <a:p>
            <a:pPr fontAlgn="base"/>
            <a:r>
              <a:rPr lang="en-US" b="1" dirty="0"/>
              <a:t>Goal of the Best-Fit Line</a:t>
            </a:r>
          </a:p>
          <a:p>
            <a:pPr lvl="1" fontAlgn="base"/>
            <a:r>
              <a:rPr lang="en-US" dirty="0"/>
              <a:t>The goal of linear regression is to find a straight line that minimizes the error (the difference) between the observed data points and the predicted values. This line helps us predict the dependent variable for new, unseen data.</a:t>
            </a:r>
          </a:p>
          <a:p>
            <a:endParaRPr lang="en-IN" dirty="0"/>
          </a:p>
        </p:txBody>
      </p:sp>
    </p:spTree>
    <p:extLst>
      <p:ext uri="{BB962C8B-B14F-4D97-AF65-F5344CB8AC3E}">
        <p14:creationId xmlns:p14="http://schemas.microsoft.com/office/powerpoint/2010/main" val="1442948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222C8-6F0E-A9F3-C699-EEC987742D46}"/>
              </a:ext>
            </a:extLst>
          </p:cNvPr>
          <p:cNvSpPr>
            <a:spLocks noGrp="1"/>
          </p:cNvSpPr>
          <p:nvPr>
            <p:ph type="title"/>
          </p:nvPr>
        </p:nvSpPr>
        <p:spPr/>
        <p:txBody>
          <a:bodyPr/>
          <a:lstStyle/>
          <a:p>
            <a:r>
              <a:rPr lang="en-US" b="1" dirty="0"/>
              <a:t>Best Fit Line in Linear Regression</a:t>
            </a:r>
            <a:endParaRPr lang="en-IN" dirty="0"/>
          </a:p>
        </p:txBody>
      </p:sp>
      <p:pic>
        <p:nvPicPr>
          <p:cNvPr id="8" name="Content Placeholder 7">
            <a:extLst>
              <a:ext uri="{FF2B5EF4-FFF2-40B4-BE49-F238E27FC236}">
                <a16:creationId xmlns:a16="http://schemas.microsoft.com/office/drawing/2014/main" id="{B5F38C48-CD1F-8246-AB4F-4C5A8966B058}"/>
              </a:ext>
            </a:extLst>
          </p:cNvPr>
          <p:cNvPicPr>
            <a:picLocks noGrp="1" noChangeAspect="1"/>
          </p:cNvPicPr>
          <p:nvPr>
            <p:ph idx="1"/>
          </p:nvPr>
        </p:nvPicPr>
        <p:blipFill>
          <a:blip r:embed="rId2"/>
          <a:stretch>
            <a:fillRect/>
          </a:stretch>
        </p:blipFill>
        <p:spPr bwMode="auto">
          <a:xfrm>
            <a:off x="1037336" y="1398241"/>
            <a:ext cx="8812342" cy="497274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0CCB3BC-DA8C-A41B-E2D1-750DB8614F2E}"/>
                  </a:ext>
                </a:extLst>
              </p:cNvPr>
              <p:cNvSpPr/>
              <p:nvPr/>
            </p:nvSpPr>
            <p:spPr>
              <a:xfrm>
                <a:off x="8905461" y="4065104"/>
                <a:ext cx="407504" cy="4572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en-US" i="1">
                              <a:latin typeface="Cambria Math" panose="02040503050406030204" pitchFamily="18" charset="0"/>
                            </a:rPr>
                            <m:t>2</m:t>
                          </m:r>
                        </m:sub>
                      </m:sSub>
                    </m:oMath>
                  </m:oMathPara>
                </a14:m>
                <a:endParaRPr lang="en-IN" dirty="0"/>
              </a:p>
            </p:txBody>
          </p:sp>
        </mc:Choice>
        <mc:Fallback xmlns="">
          <p:sp>
            <p:nvSpPr>
              <p:cNvPr id="3" name="Rectangle 2">
                <a:extLst>
                  <a:ext uri="{FF2B5EF4-FFF2-40B4-BE49-F238E27FC236}">
                    <a16:creationId xmlns:a16="http://schemas.microsoft.com/office/drawing/2014/main" id="{90CCB3BC-DA8C-A41B-E2D1-750DB8614F2E}"/>
                  </a:ext>
                </a:extLst>
              </p:cNvPr>
              <p:cNvSpPr>
                <a:spLocks noRot="1" noChangeAspect="1" noMove="1" noResize="1" noEditPoints="1" noAdjustHandles="1" noChangeArrowheads="1" noChangeShapeType="1" noTextEdit="1"/>
              </p:cNvSpPr>
              <p:nvPr/>
            </p:nvSpPr>
            <p:spPr>
              <a:xfrm>
                <a:off x="8905461" y="4065104"/>
                <a:ext cx="407504" cy="457200"/>
              </a:xfrm>
              <a:prstGeom prst="rect">
                <a:avLst/>
              </a:prstGeom>
              <a:blipFill>
                <a:blip r:embed="rId3"/>
                <a:stretch>
                  <a:fillRect l="-4478"/>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2276312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8D94A-EAE7-0058-5CFF-1F434CA2C69E}"/>
              </a:ext>
            </a:extLst>
          </p:cNvPr>
          <p:cNvSpPr>
            <a:spLocks noGrp="1"/>
          </p:cNvSpPr>
          <p:nvPr>
            <p:ph type="title"/>
          </p:nvPr>
        </p:nvSpPr>
        <p:spPr/>
        <p:txBody>
          <a:bodyPr/>
          <a:lstStyle/>
          <a:p>
            <a:r>
              <a:rPr lang="en-US" b="1" dirty="0"/>
              <a:t>Best Fit Line in Linear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5591BB-DF94-6507-4BF5-3C3147E382B3}"/>
                  </a:ext>
                </a:extLst>
              </p:cNvPr>
              <p:cNvSpPr>
                <a:spLocks noGrp="1"/>
              </p:cNvSpPr>
              <p:nvPr>
                <p:ph idx="1"/>
              </p:nvPr>
            </p:nvSpPr>
            <p:spPr>
              <a:xfrm>
                <a:off x="838200" y="1590260"/>
                <a:ext cx="10515600" cy="4810539"/>
              </a:xfrm>
            </p:spPr>
            <p:txBody>
              <a:bodyPr>
                <a:normAutofit/>
              </a:bodyPr>
              <a:lstStyle/>
              <a:p>
                <a:r>
                  <a:rPr lang="en-IN" dirty="0"/>
                  <a:t>Main equation</a:t>
                </a:r>
              </a:p>
              <a:p>
                <a:pPr lvl="1"/>
                <a:r>
                  <a:rPr lang="en-IN" dirty="0"/>
                  <a:t>The straight line is written as </a:t>
                </a:r>
                <a14:m>
                  <m:oMath xmlns:m="http://schemas.openxmlformats.org/officeDocument/2006/math">
                    <m:r>
                      <a:rPr lang="en-IN" b="1" i="1">
                        <a:latin typeface="Cambria Math" panose="02040503050406030204" pitchFamily="18" charset="0"/>
                      </a:rPr>
                      <m:t>𝒚</m:t>
                    </m:r>
                    <m:r>
                      <a:rPr lang="en-IN"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𝟏</m:t>
                        </m:r>
                      </m:sub>
                    </m:sSub>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𝟐</m:t>
                        </m:r>
                      </m:sub>
                    </m:sSub>
                    <m:r>
                      <a:rPr lang="ar-AE" b="1" i="1">
                        <a:latin typeface="Cambria Math" panose="02040503050406030204" pitchFamily="18" charset="0"/>
                      </a:rPr>
                      <m:t>𝒙</m:t>
                    </m:r>
                  </m:oMath>
                </a14:m>
                <a:endParaRPr lang="ar-AE" b="1" dirty="0"/>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oMath>
                </a14:m>
                <a:r>
                  <a:rPr lang="ar-AE" dirty="0"/>
                  <a:t> </a:t>
                </a:r>
                <a:r>
                  <a:rPr lang="en-IN" dirty="0"/>
                  <a:t>is the intercept where the line cuts the y‑axis, 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2</m:t>
                        </m:r>
                      </m:sub>
                    </m:sSub>
                  </m:oMath>
                </a14:m>
                <a:r>
                  <a:rPr lang="ar-AE" dirty="0"/>
                  <a:t> </a:t>
                </a:r>
                <a:r>
                  <a:rPr lang="en-IN" dirty="0"/>
                  <a:t>is the slope of the line.</a:t>
                </a:r>
              </a:p>
              <a:p>
                <a:r>
                  <a:rPr lang="en-IN" b="1" dirty="0"/>
                  <a:t>Intercept and slope</a:t>
                </a:r>
              </a:p>
              <a:p>
                <a:pPr lvl="1"/>
                <a:r>
                  <a:rPr lang="en-IN" dirty="0"/>
                  <a:t>The </a:t>
                </a:r>
                <a:r>
                  <a:rPr lang="en-IN" b="1" dirty="0"/>
                  <a:t>intercept</a:t>
                </a:r>
                <a:r>
                  <a:rPr lang="en-IN"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1</m:t>
                        </m:r>
                      </m:sub>
                    </m:sSub>
                  </m:oMath>
                </a14:m>
                <a:r>
                  <a:rPr lang="ar-AE" dirty="0"/>
                  <a:t> </a:t>
                </a:r>
                <a:r>
                  <a:rPr lang="en-IN" dirty="0"/>
                  <a:t>is marked at the point where the regression line crosses the vertical axis when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a:latin typeface="Cambria Math" panose="02040503050406030204" pitchFamily="18" charset="0"/>
                      </a:rPr>
                      <m:t>0</m:t>
                    </m:r>
                  </m:oMath>
                </a14:m>
                <a:r>
                  <a:rPr lang="en-IN" dirty="0"/>
                  <a:t>.</a:t>
                </a:r>
              </a:p>
              <a:p>
                <a:pPr lvl="1"/>
                <a:r>
                  <a:rPr lang="en-IN" dirty="0"/>
                  <a:t>The </a:t>
                </a:r>
                <a:r>
                  <a:rPr lang="en-IN" b="1" dirty="0"/>
                  <a:t>slope</a:t>
                </a:r>
                <a:r>
                  <a:rPr lang="en-IN" dirty="0"/>
                  <a:t> is shown as </a:t>
                </a:r>
                <a14:m>
                  <m:oMath xmlns:m="http://schemas.openxmlformats.org/officeDocument/2006/math">
                    <m:r>
                      <m:rPr>
                        <m:nor/>
                      </m:rPr>
                      <a:rPr lang="en-IN" b="0"/>
                      <m:t>slope</m:t>
                    </m:r>
                    <m:r>
                      <a:rPr lang="en-IN">
                        <a:latin typeface="Cambria Math" panose="02040503050406030204" pitchFamily="18" charset="0"/>
                      </a:rPr>
                      <m:t>=</m:t>
                    </m:r>
                    <m:func>
                      <m:funcPr>
                        <m:ctrlPr>
                          <a:rPr lang="ar-AE" i="1">
                            <a:latin typeface="Cambria Math" panose="02040503050406030204" pitchFamily="18" charset="0"/>
                          </a:rPr>
                        </m:ctrlPr>
                      </m:funcPr>
                      <m:fName>
                        <m:r>
                          <m:rPr>
                            <m:sty m:val="p"/>
                          </m:rPr>
                          <a:rPr lang="en-IN">
                            <a:latin typeface="Cambria Math" panose="02040503050406030204" pitchFamily="18" charset="0"/>
                          </a:rPr>
                          <m:t>tan</m:t>
                        </m:r>
                      </m:fName>
                      <m:e>
                        <m:r>
                          <a:rPr lang="ar-AE" i="1">
                            <a:latin typeface="Cambria Math" panose="02040503050406030204" pitchFamily="18" charset="0"/>
                          </a:rPr>
                          <m:t>𝜃</m:t>
                        </m:r>
                      </m:e>
                    </m:func>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en-US" b="0" i="1" smtClean="0">
                            <a:latin typeface="Cambria Math" panose="02040503050406030204" pitchFamily="18" charset="0"/>
                          </a:rPr>
                          <m:t>2</m:t>
                        </m:r>
                      </m:sub>
                    </m:sSub>
                  </m:oMath>
                </a14:m>
                <a:r>
                  <a:rPr lang="ar-AE" dirty="0"/>
                  <a:t> </a:t>
                </a:r>
                <a:r>
                  <a:rPr lang="en-IN" dirty="0"/>
                  <a:t>in the figure’s label, but conceptually it represents how much </a:t>
                </a:r>
                <a14:m>
                  <m:oMath xmlns:m="http://schemas.openxmlformats.org/officeDocument/2006/math">
                    <m:r>
                      <a:rPr lang="en-IN" i="1">
                        <a:latin typeface="Cambria Math" panose="02040503050406030204" pitchFamily="18" charset="0"/>
                      </a:rPr>
                      <m:t>𝑦</m:t>
                    </m:r>
                  </m:oMath>
                </a14:m>
                <a:r>
                  <a:rPr lang="en-IN" dirty="0"/>
                  <a:t> changes when </a:t>
                </a:r>
                <a14:m>
                  <m:oMath xmlns:m="http://schemas.openxmlformats.org/officeDocument/2006/math">
                    <m:r>
                      <a:rPr lang="en-IN" i="1">
                        <a:latin typeface="Cambria Math" panose="02040503050406030204" pitchFamily="18" charset="0"/>
                      </a:rPr>
                      <m:t>𝑥</m:t>
                    </m:r>
                  </m:oMath>
                </a14:m>
                <a:r>
                  <a:rPr lang="en-IN" dirty="0"/>
                  <a:t> increases by 1 unit (usually denoted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ar-AE">
                            <a:latin typeface="Cambria Math" panose="02040503050406030204" pitchFamily="18" charset="0"/>
                          </a:rPr>
                          <m:t>2</m:t>
                        </m:r>
                      </m:sub>
                    </m:sSub>
                  </m:oMath>
                </a14:m>
                <a:r>
                  <a:rPr lang="en-IN" dirty="0"/>
                  <a:t>)</a:t>
                </a:r>
              </a:p>
              <a:p>
                <a:pPr lvl="1" fontAlgn="base"/>
                <a:r>
                  <a:rPr lang="en-US" dirty="0"/>
                  <a:t>For example, if the slope is 5, it means that for every 1-unit increase in x, the value of y increases by 5 units.</a:t>
                </a:r>
              </a:p>
              <a:p>
                <a:pPr lvl="1"/>
                <a:endParaRPr lang="ar-AE" dirty="0"/>
              </a:p>
            </p:txBody>
          </p:sp>
        </mc:Choice>
        <mc:Fallback xmlns="">
          <p:sp>
            <p:nvSpPr>
              <p:cNvPr id="3" name="Content Placeholder 2">
                <a:extLst>
                  <a:ext uri="{FF2B5EF4-FFF2-40B4-BE49-F238E27FC236}">
                    <a16:creationId xmlns:a16="http://schemas.microsoft.com/office/drawing/2014/main" id="{695591BB-DF94-6507-4BF5-3C3147E382B3}"/>
                  </a:ext>
                </a:extLst>
              </p:cNvPr>
              <p:cNvSpPr>
                <a:spLocks noGrp="1" noRot="1" noChangeAspect="1" noMove="1" noResize="1" noEditPoints="1" noAdjustHandles="1" noChangeArrowheads="1" noChangeShapeType="1" noTextEdit="1"/>
              </p:cNvSpPr>
              <p:nvPr>
                <p:ph idx="1"/>
              </p:nvPr>
            </p:nvSpPr>
            <p:spPr>
              <a:xfrm>
                <a:off x="838200" y="1590260"/>
                <a:ext cx="10515600" cy="4810539"/>
              </a:xfrm>
              <a:blipFill>
                <a:blip r:embed="rId2"/>
                <a:stretch>
                  <a:fillRect l="-1043" t="-2155"/>
                </a:stretch>
              </a:blipFill>
            </p:spPr>
            <p:txBody>
              <a:bodyPr/>
              <a:lstStyle/>
              <a:p>
                <a:r>
                  <a:rPr lang="en-IN">
                    <a:noFill/>
                  </a:rPr>
                  <a:t> </a:t>
                </a:r>
              </a:p>
            </p:txBody>
          </p:sp>
        </mc:Fallback>
      </mc:AlternateContent>
    </p:spTree>
    <p:extLst>
      <p:ext uri="{BB962C8B-B14F-4D97-AF65-F5344CB8AC3E}">
        <p14:creationId xmlns:p14="http://schemas.microsoft.com/office/powerpoint/2010/main" val="2906554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8D94A-EAE7-0058-5CFF-1F434CA2C69E}"/>
              </a:ext>
            </a:extLst>
          </p:cNvPr>
          <p:cNvSpPr>
            <a:spLocks noGrp="1"/>
          </p:cNvSpPr>
          <p:nvPr>
            <p:ph type="title"/>
          </p:nvPr>
        </p:nvSpPr>
        <p:spPr/>
        <p:txBody>
          <a:bodyPr/>
          <a:lstStyle/>
          <a:p>
            <a:r>
              <a:rPr lang="en-US" b="1" dirty="0"/>
              <a:t>Best Fit Line in Linear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5591BB-DF94-6507-4BF5-3C3147E382B3}"/>
                  </a:ext>
                </a:extLst>
              </p:cNvPr>
              <p:cNvSpPr>
                <a:spLocks noGrp="1"/>
              </p:cNvSpPr>
              <p:nvPr>
                <p:ph idx="1"/>
              </p:nvPr>
            </p:nvSpPr>
            <p:spPr>
              <a:xfrm>
                <a:off x="838200" y="1825625"/>
                <a:ext cx="10515600" cy="4667250"/>
              </a:xfrm>
            </p:spPr>
            <p:txBody>
              <a:bodyPr>
                <a:normAutofit/>
              </a:bodyPr>
              <a:lstStyle/>
              <a:p>
                <a:r>
                  <a:rPr lang="en-IN" b="1" dirty="0"/>
                  <a:t>Observed vs predicted value</a:t>
                </a:r>
              </a:p>
              <a:p>
                <a:pPr lvl="1"/>
                <a:r>
                  <a:rPr lang="en-IN" dirty="0"/>
                  <a:t>Each green dot represents an observed data point </a:t>
                </a:r>
                <a14:m>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e>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e>
                    </m:d>
                  </m:oMath>
                </a14:m>
                <a:r>
                  <a:rPr lang="ar-AE" dirty="0"/>
                  <a:t>, </a:t>
                </a:r>
                <a:r>
                  <a:rPr lang="en-IN" dirty="0"/>
                  <a:t>where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oMath>
                </a14:m>
                <a:r>
                  <a:rPr lang="ar-AE" dirty="0"/>
                  <a:t> </a:t>
                </a:r>
                <a:r>
                  <a:rPr lang="en-IN" dirty="0"/>
                  <a:t>is the actual (observed) value for a given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oMath>
                </a14:m>
                <a:r>
                  <a:rPr lang="ar-AE" dirty="0"/>
                  <a:t>.</a:t>
                </a:r>
              </a:p>
              <a:p>
                <a:pPr lvl="1"/>
                <a:r>
                  <a:rPr lang="en-IN" dirty="0"/>
                  <a:t>The black point on the line at the same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oMath>
                </a14:m>
                <a:r>
                  <a:rPr lang="ar-AE" dirty="0"/>
                  <a:t> </a:t>
                </a:r>
                <a:r>
                  <a:rPr lang="en-IN" dirty="0"/>
                  <a:t>is the predicted value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𝑖</m:t>
                            </m:r>
                          </m:sub>
                        </m:sSub>
                      </m:sub>
                    </m:sSub>
                  </m:oMath>
                </a14:m>
                <a:r>
                  <a:rPr lang="ar-AE" dirty="0"/>
                  <a:t> </a:t>
                </a:r>
                <a:r>
                  <a:rPr lang="en-IN" dirty="0"/>
                  <a:t>given by the regression line.</a:t>
                </a:r>
              </a:p>
              <a:p>
                <a:r>
                  <a:rPr lang="en-IN" b="1" dirty="0"/>
                  <a:t>Random error</a:t>
                </a:r>
              </a:p>
              <a:p>
                <a:pPr lvl="1"/>
                <a:r>
                  <a:rPr lang="en-IN" dirty="0"/>
                  <a:t>The vertical distance between the observed value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oMath>
                </a14:m>
                <a:r>
                  <a:rPr lang="ar-AE" dirty="0"/>
                  <a:t> </a:t>
                </a:r>
                <a:r>
                  <a:rPr lang="en-IN" dirty="0"/>
                  <a:t>(green dot) and the predicted value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𝑖</m:t>
                            </m:r>
                          </m:sub>
                        </m:sSub>
                      </m:sub>
                    </m:sSub>
                  </m:oMath>
                </a14:m>
                <a:r>
                  <a:rPr lang="ar-AE" dirty="0"/>
                  <a:t> </a:t>
                </a:r>
                <a:r>
                  <a:rPr lang="en-IN" dirty="0"/>
                  <a:t>(black point on the line) is the random error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𝜖</m:t>
                        </m:r>
                      </m:e>
                      <m:sub>
                        <m:r>
                          <a:rPr lang="ar-AE" i="1">
                            <a:latin typeface="Cambria Math" panose="02040503050406030204" pitchFamily="18" charset="0"/>
                          </a:rPr>
                          <m:t>𝑖</m:t>
                        </m:r>
                      </m:sub>
                    </m:sSub>
                  </m:oMath>
                </a14:m>
                <a:r>
                  <a:rPr lang="ar-AE" dirty="0"/>
                  <a:t>.</a:t>
                </a:r>
              </a:p>
              <a:p>
                <a:r>
                  <a:rPr lang="en-IN" dirty="0"/>
                  <a:t>Linear regression chooses the line so that these vertical errors are as small as possible overall (least squares), giving the best‑fit line for prediction.</a:t>
                </a:r>
              </a:p>
            </p:txBody>
          </p:sp>
        </mc:Choice>
        <mc:Fallback xmlns="">
          <p:sp>
            <p:nvSpPr>
              <p:cNvPr id="3" name="Content Placeholder 2">
                <a:extLst>
                  <a:ext uri="{FF2B5EF4-FFF2-40B4-BE49-F238E27FC236}">
                    <a16:creationId xmlns:a16="http://schemas.microsoft.com/office/drawing/2014/main" id="{695591BB-DF94-6507-4BF5-3C3147E382B3}"/>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043" t="-2089"/>
                </a:stretch>
              </a:blipFill>
            </p:spPr>
            <p:txBody>
              <a:bodyPr/>
              <a:lstStyle/>
              <a:p>
                <a:r>
                  <a:rPr lang="en-IN">
                    <a:noFill/>
                  </a:rPr>
                  <a:t> </a:t>
                </a:r>
              </a:p>
            </p:txBody>
          </p:sp>
        </mc:Fallback>
      </mc:AlternateContent>
    </p:spTree>
    <p:extLst>
      <p:ext uri="{BB962C8B-B14F-4D97-AF65-F5344CB8AC3E}">
        <p14:creationId xmlns:p14="http://schemas.microsoft.com/office/powerpoint/2010/main" val="267652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46A26-4733-3E3F-E24E-2DBAD87E3272}"/>
              </a:ext>
            </a:extLst>
          </p:cNvPr>
          <p:cNvSpPr>
            <a:spLocks noGrp="1"/>
          </p:cNvSpPr>
          <p:nvPr>
            <p:ph type="title"/>
          </p:nvPr>
        </p:nvSpPr>
        <p:spPr/>
        <p:txBody>
          <a:bodyPr/>
          <a:lstStyle/>
          <a:p>
            <a:r>
              <a:rPr lang="en-US" b="1"/>
              <a:t>Best Fit Line in Linear Regression</a:t>
            </a:r>
            <a:endParaRPr lang="en-IN"/>
          </a:p>
        </p:txBody>
      </p:sp>
      <p:sp>
        <p:nvSpPr>
          <p:cNvPr id="3" name="Content Placeholder 2">
            <a:extLst>
              <a:ext uri="{FF2B5EF4-FFF2-40B4-BE49-F238E27FC236}">
                <a16:creationId xmlns:a16="http://schemas.microsoft.com/office/drawing/2014/main" id="{D20FFEFC-3303-5E02-F17E-233CD70FC9F9}"/>
              </a:ext>
            </a:extLst>
          </p:cNvPr>
          <p:cNvSpPr>
            <a:spLocks noGrp="1"/>
          </p:cNvSpPr>
          <p:nvPr>
            <p:ph idx="1"/>
          </p:nvPr>
        </p:nvSpPr>
        <p:spPr/>
        <p:txBody>
          <a:bodyPr/>
          <a:lstStyle/>
          <a:p>
            <a:r>
              <a:rPr lang="en-US" dirty="0"/>
              <a:t>Y is called a dependent or target variable </a:t>
            </a:r>
          </a:p>
          <a:p>
            <a:r>
              <a:rPr lang="en-US" dirty="0"/>
              <a:t>X is called an independent variable also known as the predictor of Y. </a:t>
            </a:r>
          </a:p>
          <a:p>
            <a:r>
              <a:rPr lang="en-US" dirty="0"/>
              <a:t>There are many types of functions or modules that can be used for regression. </a:t>
            </a:r>
          </a:p>
          <a:p>
            <a:r>
              <a:rPr lang="en-US" dirty="0"/>
              <a:t>A linear function is the simplest type of function. Here, X may be a single feature or multiple features representing the problem.</a:t>
            </a:r>
            <a:endParaRPr lang="en-IN" dirty="0"/>
          </a:p>
        </p:txBody>
      </p:sp>
    </p:spTree>
    <p:extLst>
      <p:ext uri="{BB962C8B-B14F-4D97-AF65-F5344CB8AC3E}">
        <p14:creationId xmlns:p14="http://schemas.microsoft.com/office/powerpoint/2010/main" val="2301523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F471B-50DC-F77D-53BC-95C5D11E667A}"/>
              </a:ext>
            </a:extLst>
          </p:cNvPr>
          <p:cNvSpPr>
            <a:spLocks noGrp="1"/>
          </p:cNvSpPr>
          <p:nvPr>
            <p:ph type="title"/>
          </p:nvPr>
        </p:nvSpPr>
        <p:spPr/>
        <p:txBody>
          <a:bodyPr/>
          <a:lstStyle/>
          <a:p>
            <a:r>
              <a:rPr lang="en-US" b="1" dirty="0"/>
              <a:t>Equation of the Best-Fit Line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5CA371-DFE3-3ED7-3B7A-B4112C8A7923}"/>
                  </a:ext>
                </a:extLst>
              </p:cNvPr>
              <p:cNvSpPr>
                <a:spLocks noGrp="1"/>
              </p:cNvSpPr>
              <p:nvPr>
                <p:ph idx="1"/>
              </p:nvPr>
            </p:nvSpPr>
            <p:spPr>
              <a:xfrm>
                <a:off x="838200" y="1825625"/>
                <a:ext cx="10515600" cy="4667250"/>
              </a:xfrm>
            </p:spPr>
            <p:txBody>
              <a:bodyPr>
                <a:normAutofit lnSpcReduction="10000"/>
              </a:bodyPr>
              <a:lstStyle/>
              <a:p>
                <a:pPr fontAlgn="base"/>
                <a:r>
                  <a:rPr lang="en-US" dirty="0"/>
                  <a:t>For simple linear regression (with one independent variable), the best-fit line is represented by the equation</a:t>
                </a:r>
              </a:p>
              <a:p>
                <a:pPr marL="0" indent="0" fontAlgn="base">
                  <a:buNone/>
                </a:pPr>
                <a14:m>
                  <m:oMathPara xmlns:m="http://schemas.openxmlformats.org/officeDocument/2006/math">
                    <m:oMathParaPr>
                      <m:jc m:val="centerGroup"/>
                    </m:oMathParaPr>
                    <m:oMath xmlns:m="http://schemas.openxmlformats.org/officeDocument/2006/math">
                      <m:r>
                        <a:rPr lang="en-IN" b="1" i="1">
                          <a:latin typeface="Cambria Math" panose="02040503050406030204" pitchFamily="18" charset="0"/>
                        </a:rPr>
                        <m:t>𝒚</m:t>
                      </m:r>
                      <m:r>
                        <a:rPr lang="en-IN"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𝟏</m:t>
                          </m:r>
                        </m:sub>
                      </m:sSub>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𝟐</m:t>
                          </m:r>
                        </m:sub>
                      </m:sSub>
                      <m:r>
                        <a:rPr lang="ar-AE" b="1" i="1">
                          <a:latin typeface="Cambria Math" panose="02040503050406030204" pitchFamily="18" charset="0"/>
                        </a:rPr>
                        <m:t>𝒙</m:t>
                      </m:r>
                    </m:oMath>
                  </m:oMathPara>
                </a14:m>
                <a:endParaRPr lang="ar-AE" b="1" dirty="0"/>
              </a:p>
              <a:p>
                <a:pPr fontAlgn="base"/>
                <a:r>
                  <a:rPr lang="en-US" dirty="0"/>
                  <a:t>Where:</a:t>
                </a:r>
              </a:p>
              <a:p>
                <a:pPr lvl="1" fontAlgn="base"/>
                <a:r>
                  <a:rPr lang="en-US" b="1" dirty="0"/>
                  <a:t>y</a:t>
                </a:r>
                <a:r>
                  <a:rPr lang="en-US" dirty="0"/>
                  <a:t> is the predicted value (dependent variable)</a:t>
                </a:r>
              </a:p>
              <a:p>
                <a:pPr lvl="1" fontAlgn="base"/>
                <a:r>
                  <a:rPr lang="en-US" b="1" dirty="0"/>
                  <a:t>x</a:t>
                </a:r>
                <a:r>
                  <a:rPr lang="en-US" dirty="0"/>
                  <a:t> is </a:t>
                </a:r>
                <a:r>
                  <a:rPr lang="en-US" dirty="0" err="1"/>
                  <a:t>th</a:t>
                </a:r>
                <a:endParaRPr lang="en-US" dirty="0"/>
              </a:p>
              <a:p>
                <a:pPr lvl="1" fontAlgn="base"/>
                <a:r>
                  <a:rPr lang="en-US" dirty="0"/>
                  <a:t>e input (independent variable)</a:t>
                </a:r>
              </a:p>
              <a:p>
                <a:pPr lvl="1" fontAlgn="base"/>
                <a14:m>
                  <m:oMath xmlns:m="http://schemas.openxmlformats.org/officeDocument/2006/math">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𝟐</m:t>
                        </m:r>
                      </m:sub>
                    </m:sSub>
                    <m:r>
                      <a:rPr lang="ar-AE" b="1" i="1">
                        <a:latin typeface="Cambria Math" panose="02040503050406030204" pitchFamily="18" charset="0"/>
                      </a:rPr>
                      <m:t> </m:t>
                    </m:r>
                  </m:oMath>
                </a14:m>
                <a:r>
                  <a:rPr lang="en-US" dirty="0"/>
                  <a:t> is the slope of the line (how much y changes when x changes)</a:t>
                </a:r>
              </a:p>
              <a:p>
                <a:pPr lvl="1" fontAlgn="base"/>
                <a14:m>
                  <m:oMath xmlns:m="http://schemas.openxmlformats.org/officeDocument/2006/math">
                    <m:sSub>
                      <m:sSubPr>
                        <m:ctrlPr>
                          <a:rPr lang="ar-AE" b="1" i="1">
                            <a:latin typeface="Cambria Math" panose="02040503050406030204" pitchFamily="18" charset="0"/>
                          </a:rPr>
                        </m:ctrlPr>
                      </m:sSubPr>
                      <m:e>
                        <m:r>
                          <a:rPr lang="ar-AE" b="1" i="1">
                            <a:latin typeface="Cambria Math" panose="02040503050406030204" pitchFamily="18" charset="0"/>
                          </a:rPr>
                          <m:t>𝜽</m:t>
                        </m:r>
                      </m:e>
                      <m:sub>
                        <m:r>
                          <a:rPr lang="ar-AE" b="1" i="1">
                            <a:latin typeface="Cambria Math" panose="02040503050406030204" pitchFamily="18" charset="0"/>
                          </a:rPr>
                          <m:t>𝟏</m:t>
                        </m:r>
                      </m:sub>
                    </m:sSub>
                    <m:r>
                      <a:rPr lang="ar-AE" b="1" i="1">
                        <a:latin typeface="Cambria Math" panose="02040503050406030204" pitchFamily="18" charset="0"/>
                      </a:rPr>
                      <m:t> </m:t>
                    </m:r>
                  </m:oMath>
                </a14:m>
                <a:r>
                  <a:rPr lang="en-US" dirty="0"/>
                  <a:t> is the intercept (the value of y when x = 0)</a:t>
                </a:r>
              </a:p>
              <a:p>
                <a:r>
                  <a:rPr lang="en-US" dirty="0"/>
                  <a:t>The best-fit line will be the one that optimizes the values of slope and intercept so that the predicted y values are as close as possible to the actual data points.</a:t>
                </a:r>
                <a:endParaRPr lang="en-IN" dirty="0"/>
              </a:p>
            </p:txBody>
          </p:sp>
        </mc:Choice>
        <mc:Fallback xmlns="">
          <p:sp>
            <p:nvSpPr>
              <p:cNvPr id="3" name="Content Placeholder 2">
                <a:extLst>
                  <a:ext uri="{FF2B5EF4-FFF2-40B4-BE49-F238E27FC236}">
                    <a16:creationId xmlns:a16="http://schemas.microsoft.com/office/drawing/2014/main" id="{755CA371-DFE3-3ED7-3B7A-B4112C8A7923}"/>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043" t="-2872" r="-1217" b="-1567"/>
                </a:stretch>
              </a:blipFill>
            </p:spPr>
            <p:txBody>
              <a:bodyPr/>
              <a:lstStyle/>
              <a:p>
                <a:r>
                  <a:rPr lang="en-IN">
                    <a:noFill/>
                  </a:rPr>
                  <a:t> </a:t>
                </a:r>
              </a:p>
            </p:txBody>
          </p:sp>
        </mc:Fallback>
      </mc:AlternateContent>
    </p:spTree>
    <p:extLst>
      <p:ext uri="{BB962C8B-B14F-4D97-AF65-F5344CB8AC3E}">
        <p14:creationId xmlns:p14="http://schemas.microsoft.com/office/powerpoint/2010/main" val="683240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4AD1D-B7EE-A2EE-A5AF-326D0EA93C14}"/>
              </a:ext>
            </a:extLst>
          </p:cNvPr>
          <p:cNvSpPr>
            <a:spLocks noGrp="1"/>
          </p:cNvSpPr>
          <p:nvPr>
            <p:ph type="title"/>
          </p:nvPr>
        </p:nvSpPr>
        <p:spPr/>
        <p:txBody>
          <a:bodyPr/>
          <a:lstStyle/>
          <a:p>
            <a:r>
              <a:rPr lang="en-US" b="1" dirty="0"/>
              <a:t>Assumptions of the Linear Regression</a:t>
            </a:r>
            <a:endParaRPr lang="en-IN" dirty="0"/>
          </a:p>
        </p:txBody>
      </p:sp>
      <p:sp>
        <p:nvSpPr>
          <p:cNvPr id="3" name="Content Placeholder 2">
            <a:extLst>
              <a:ext uri="{FF2B5EF4-FFF2-40B4-BE49-F238E27FC236}">
                <a16:creationId xmlns:a16="http://schemas.microsoft.com/office/drawing/2014/main" id="{6E58F679-C621-1A04-3836-ED8DCC42515B}"/>
              </a:ext>
            </a:extLst>
          </p:cNvPr>
          <p:cNvSpPr>
            <a:spLocks noGrp="1"/>
          </p:cNvSpPr>
          <p:nvPr>
            <p:ph idx="1"/>
          </p:nvPr>
        </p:nvSpPr>
        <p:spPr>
          <a:xfrm>
            <a:off x="838200" y="1690688"/>
            <a:ext cx="10515600" cy="4802187"/>
          </a:xfrm>
        </p:spPr>
        <p:txBody>
          <a:bodyPr>
            <a:normAutofit fontScale="85000" lnSpcReduction="20000"/>
          </a:bodyPr>
          <a:lstStyle/>
          <a:p>
            <a:pPr marL="514350" indent="-514350">
              <a:buFont typeface="+mj-lt"/>
              <a:buAutoNum type="arabicPeriod"/>
            </a:pPr>
            <a:r>
              <a:rPr lang="en-US" b="1" dirty="0"/>
              <a:t>Linearity</a:t>
            </a:r>
            <a:r>
              <a:rPr lang="en-US" dirty="0"/>
              <a:t>: The relationship between inputs (X) and the output (Y) is a straight line.</a:t>
            </a:r>
          </a:p>
          <a:p>
            <a:pPr marL="514350" indent="-514350" fontAlgn="base">
              <a:buFont typeface="+mj-lt"/>
              <a:buAutoNum type="arabicPeriod"/>
            </a:pPr>
            <a:r>
              <a:rPr lang="en-US" b="1" dirty="0"/>
              <a:t>Independence of Errors</a:t>
            </a:r>
            <a:r>
              <a:rPr lang="en-US" dirty="0"/>
              <a:t>: The errors in predictions should not affect each other.</a:t>
            </a:r>
          </a:p>
          <a:p>
            <a:pPr marL="514350" indent="-514350" fontAlgn="base">
              <a:buFont typeface="+mj-lt"/>
              <a:buAutoNum type="arabicPeriod"/>
            </a:pPr>
            <a:r>
              <a:rPr lang="en-US" b="1" dirty="0"/>
              <a:t>Constant Variance (Homoscedasticity): </a:t>
            </a:r>
            <a:r>
              <a:rPr lang="en-US" dirty="0"/>
              <a:t>The errors should have equal spread across all values of the input. If the spread changes (like fans out or shrinks), it's called heteroscedasticity and it's a problem for the model.</a:t>
            </a:r>
          </a:p>
          <a:p>
            <a:pPr marL="514350" indent="-514350" fontAlgn="base">
              <a:buFont typeface="+mj-lt"/>
              <a:buAutoNum type="arabicPeriod"/>
            </a:pPr>
            <a:r>
              <a:rPr lang="en-US" b="1" dirty="0"/>
              <a:t>Normality of Errors</a:t>
            </a:r>
            <a:r>
              <a:rPr lang="en-US" dirty="0"/>
              <a:t>: The errors should follow a normal (bell-shaped) distribution.</a:t>
            </a:r>
          </a:p>
          <a:p>
            <a:pPr marL="514350" indent="-514350" fontAlgn="base">
              <a:buFont typeface="+mj-lt"/>
              <a:buAutoNum type="arabicPeriod"/>
            </a:pPr>
            <a:r>
              <a:rPr lang="en-US" b="1" dirty="0"/>
              <a:t>No Multicollinearity</a:t>
            </a:r>
            <a:r>
              <a:rPr lang="en-US" b="1" i="1" dirty="0"/>
              <a:t>(</a:t>
            </a:r>
            <a:r>
              <a:rPr lang="en-US" b="1" dirty="0"/>
              <a:t>for multiple regression)</a:t>
            </a:r>
            <a:r>
              <a:rPr lang="en-US" dirty="0"/>
              <a:t>: Input variables shouldn’t be too closely related to each other.</a:t>
            </a:r>
          </a:p>
          <a:p>
            <a:pPr marL="514350" indent="-514350" fontAlgn="base">
              <a:buFont typeface="+mj-lt"/>
              <a:buAutoNum type="arabicPeriod"/>
            </a:pPr>
            <a:r>
              <a:rPr lang="en-US" b="1" dirty="0"/>
              <a:t>No Autocorrelation</a:t>
            </a:r>
            <a:r>
              <a:rPr lang="en-US" dirty="0"/>
              <a:t>: Errors shouldn't show repeating patterns, especially in time-based data.</a:t>
            </a:r>
          </a:p>
          <a:p>
            <a:pPr marL="514350" indent="-514350" fontAlgn="base">
              <a:buFont typeface="+mj-lt"/>
              <a:buAutoNum type="arabicPeriod"/>
            </a:pPr>
            <a:r>
              <a:rPr lang="en-US" b="1" dirty="0"/>
              <a:t>Additivity</a:t>
            </a:r>
            <a:r>
              <a:rPr lang="en-US" dirty="0"/>
              <a:t>: The total effect on Y is just the sum of effects from each X, no mixing or interaction between them.</a:t>
            </a:r>
          </a:p>
          <a:p>
            <a:pPr marL="514350" indent="-514350" fontAlgn="base">
              <a:buFont typeface="+mj-lt"/>
              <a:buAutoNum type="arabicPeriod"/>
            </a:pPr>
            <a:endParaRPr lang="en-US" dirty="0"/>
          </a:p>
          <a:p>
            <a:pPr marL="514350" indent="-514350">
              <a:buFont typeface="+mj-lt"/>
              <a:buAutoNum type="arabicPeriod"/>
            </a:pPr>
            <a:endParaRPr lang="en-IN" dirty="0"/>
          </a:p>
        </p:txBody>
      </p:sp>
    </p:spTree>
    <p:extLst>
      <p:ext uri="{BB962C8B-B14F-4D97-AF65-F5344CB8AC3E}">
        <p14:creationId xmlns:p14="http://schemas.microsoft.com/office/powerpoint/2010/main" val="3474875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5BE5C-235E-2C49-9182-254E83D031F9}"/>
              </a:ext>
            </a:extLst>
          </p:cNvPr>
          <p:cNvSpPr>
            <a:spLocks noGrp="1"/>
          </p:cNvSpPr>
          <p:nvPr>
            <p:ph type="title"/>
          </p:nvPr>
        </p:nvSpPr>
        <p:spPr/>
        <p:txBody>
          <a:bodyPr/>
          <a:lstStyle/>
          <a:p>
            <a:r>
              <a:rPr lang="en-US" b="1" dirty="0"/>
              <a:t>Assumptions of the Linear Regression</a:t>
            </a:r>
            <a:endParaRPr lang="en-IN" dirty="0"/>
          </a:p>
        </p:txBody>
      </p:sp>
      <p:pic>
        <p:nvPicPr>
          <p:cNvPr id="5" name="Content Placeholder 4">
            <a:extLst>
              <a:ext uri="{FF2B5EF4-FFF2-40B4-BE49-F238E27FC236}">
                <a16:creationId xmlns:a16="http://schemas.microsoft.com/office/drawing/2014/main" id="{7B2E7525-1AD6-8C69-1BF4-5473083180ED}"/>
              </a:ext>
            </a:extLst>
          </p:cNvPr>
          <p:cNvPicPr>
            <a:picLocks noGrp="1" noChangeAspect="1"/>
          </p:cNvPicPr>
          <p:nvPr>
            <p:ph idx="1"/>
          </p:nvPr>
        </p:nvPicPr>
        <p:blipFill>
          <a:blip r:embed="rId2"/>
          <a:stretch>
            <a:fillRect/>
          </a:stretch>
        </p:blipFill>
        <p:spPr>
          <a:xfrm>
            <a:off x="1651967" y="2277028"/>
            <a:ext cx="8888065" cy="3448531"/>
          </a:xfrm>
          <a:prstGeom prst="rect">
            <a:avLst/>
          </a:prstGeom>
        </p:spPr>
      </p:pic>
    </p:spTree>
    <p:extLst>
      <p:ext uri="{BB962C8B-B14F-4D97-AF65-F5344CB8AC3E}">
        <p14:creationId xmlns:p14="http://schemas.microsoft.com/office/powerpoint/2010/main" val="2675124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045C7-AE4E-1C15-6F57-1D2684BA02DA}"/>
              </a:ext>
            </a:extLst>
          </p:cNvPr>
          <p:cNvSpPr>
            <a:spLocks noGrp="1"/>
          </p:cNvSpPr>
          <p:nvPr>
            <p:ph type="title"/>
          </p:nvPr>
        </p:nvSpPr>
        <p:spPr/>
        <p:txBody>
          <a:bodyPr/>
          <a:lstStyle/>
          <a:p>
            <a:r>
              <a:rPr lang="en-US" b="1" dirty="0"/>
              <a:t>Assumptions of the Linear Regression</a:t>
            </a:r>
            <a:endParaRPr lang="en-IN" dirty="0"/>
          </a:p>
        </p:txBody>
      </p:sp>
      <p:pic>
        <p:nvPicPr>
          <p:cNvPr id="5" name="Content Placeholder 4">
            <a:extLst>
              <a:ext uri="{FF2B5EF4-FFF2-40B4-BE49-F238E27FC236}">
                <a16:creationId xmlns:a16="http://schemas.microsoft.com/office/drawing/2014/main" id="{7A5D610F-27C1-C5F3-A1A2-DBA2ADE3AD68}"/>
              </a:ext>
            </a:extLst>
          </p:cNvPr>
          <p:cNvPicPr>
            <a:picLocks noGrp="1" noChangeAspect="1"/>
          </p:cNvPicPr>
          <p:nvPr>
            <p:ph idx="1"/>
          </p:nvPr>
        </p:nvPicPr>
        <p:blipFill>
          <a:blip r:embed="rId2"/>
          <a:stretch>
            <a:fillRect/>
          </a:stretch>
        </p:blipFill>
        <p:spPr>
          <a:xfrm>
            <a:off x="1942520" y="2091265"/>
            <a:ext cx="8306959" cy="3820058"/>
          </a:xfrm>
          <a:prstGeom prst="rect">
            <a:avLst/>
          </a:prstGeom>
        </p:spPr>
      </p:pic>
    </p:spTree>
    <p:extLst>
      <p:ext uri="{BB962C8B-B14F-4D97-AF65-F5344CB8AC3E}">
        <p14:creationId xmlns:p14="http://schemas.microsoft.com/office/powerpoint/2010/main" val="2389724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BD666-6BDA-AC7C-FFA2-17ADBE71AA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8563422-5FA4-EE56-A0C4-15F01FE954F7}"/>
              </a:ext>
            </a:extLst>
          </p:cNvPr>
          <p:cNvSpPr/>
          <p:nvPr/>
        </p:nvSpPr>
        <p:spPr>
          <a:xfrm>
            <a:off x="812800" y="1666241"/>
            <a:ext cx="10566400" cy="2037080"/>
          </a:xfrm>
          <a:prstGeom prst="rect">
            <a:avLst/>
          </a:prstGeom>
          <a:solidFill>
            <a:srgbClr val="F1F5F9"/>
          </a:solidFill>
          <a:ln/>
          <a:effectLst>
            <a:outerShdw blurRad="152400" dist="76200" dir="5400000" algn="bl" rotWithShape="0">
              <a:srgbClr val="000000">
                <a:alpha val="10000"/>
              </a:srgbClr>
            </a:outerShdw>
          </a:effectLst>
        </p:spPr>
        <p:txBody>
          <a:bodyPr wrap="none" lIns="0" tIns="0" rIns="0" bIns="0" rtlCol="0" anchor="ctr">
            <a:normAutofit/>
          </a:bodyPr>
          <a:lstStyle/>
          <a:p>
            <a:endParaRPr lang="en-US" sz="2400" dirty="0"/>
          </a:p>
        </p:txBody>
      </p:sp>
      <p:sp>
        <p:nvSpPr>
          <p:cNvPr id="3" name="Text 1">
            <a:extLst>
              <a:ext uri="{FF2B5EF4-FFF2-40B4-BE49-F238E27FC236}">
                <a16:creationId xmlns:a16="http://schemas.microsoft.com/office/drawing/2014/main" id="{156A8E3B-4319-7188-8C28-087611BE84E7}"/>
              </a:ext>
            </a:extLst>
          </p:cNvPr>
          <p:cNvSpPr/>
          <p:nvPr/>
        </p:nvSpPr>
        <p:spPr>
          <a:xfrm>
            <a:off x="812800" y="4008120"/>
            <a:ext cx="10566400" cy="2037080"/>
          </a:xfrm>
          <a:prstGeom prst="rect">
            <a:avLst/>
          </a:prstGeom>
          <a:solidFill>
            <a:srgbClr val="F1F5F9"/>
          </a:solidFill>
          <a:ln/>
          <a:effectLst>
            <a:outerShdw blurRad="152400" dist="76200" dir="5400000" algn="bl" rotWithShape="0">
              <a:srgbClr val="000000">
                <a:alpha val="10000"/>
              </a:srgbClr>
            </a:outerShdw>
          </a:effectLst>
        </p:spPr>
        <p:txBody>
          <a:bodyPr wrap="none" lIns="0" tIns="0" rIns="0" bIns="0" rtlCol="0" anchor="ctr">
            <a:normAutofit/>
          </a:bodyPr>
          <a:lstStyle/>
          <a:p>
            <a:endParaRPr lang="en-US" sz="2400" dirty="0"/>
          </a:p>
        </p:txBody>
      </p:sp>
      <p:sp>
        <p:nvSpPr>
          <p:cNvPr id="4" name="Text 2">
            <a:extLst>
              <a:ext uri="{FF2B5EF4-FFF2-40B4-BE49-F238E27FC236}">
                <a16:creationId xmlns:a16="http://schemas.microsoft.com/office/drawing/2014/main" id="{4F0288C4-1FE7-1728-F026-E034CCAC84D5}"/>
              </a:ext>
            </a:extLst>
          </p:cNvPr>
          <p:cNvSpPr/>
          <p:nvPr/>
        </p:nvSpPr>
        <p:spPr>
          <a:xfrm>
            <a:off x="812800" y="812800"/>
            <a:ext cx="10777728" cy="548640"/>
          </a:xfrm>
          <a:prstGeom prst="rect">
            <a:avLst/>
          </a:prstGeom>
          <a:noFill/>
          <a:ln/>
        </p:spPr>
        <p:txBody>
          <a:bodyPr wrap="square" lIns="0" tIns="0" rIns="0" bIns="0" rtlCol="0" anchor="t"/>
          <a:lstStyle/>
          <a:p>
            <a:pPr>
              <a:lnSpc>
                <a:spcPts val="4320"/>
              </a:lnSpc>
            </a:pPr>
            <a:r>
              <a:rPr lang="en-US" sz="3600" b="1" dirty="0">
                <a:latin typeface="Arial" pitchFamily="34" charset="0"/>
                <a:ea typeface="Arial" pitchFamily="34" charset="-122"/>
                <a:cs typeface="Arial" pitchFamily="34" charset="-120"/>
              </a:rPr>
              <a:t>Types of Linear Regression</a:t>
            </a:r>
            <a:endParaRPr lang="en-US" sz="3600" dirty="0"/>
          </a:p>
        </p:txBody>
      </p:sp>
      <p:sp>
        <p:nvSpPr>
          <p:cNvPr id="5" name="Text 3">
            <a:extLst>
              <a:ext uri="{FF2B5EF4-FFF2-40B4-BE49-F238E27FC236}">
                <a16:creationId xmlns:a16="http://schemas.microsoft.com/office/drawing/2014/main" id="{499ABA89-D545-F1B3-94D9-7A7609E5F574}"/>
              </a:ext>
            </a:extLst>
          </p:cNvPr>
          <p:cNvSpPr/>
          <p:nvPr/>
        </p:nvSpPr>
        <p:spPr>
          <a:xfrm>
            <a:off x="1219200" y="2072641"/>
            <a:ext cx="9948672" cy="365760"/>
          </a:xfrm>
          <a:prstGeom prst="rect">
            <a:avLst/>
          </a:prstGeom>
          <a:noFill/>
          <a:ln/>
        </p:spPr>
        <p:txBody>
          <a:bodyPr wrap="square" lIns="0" tIns="0" rIns="0" bIns="0" rtlCol="0" anchor="t"/>
          <a:lstStyle/>
          <a:p>
            <a:pPr>
              <a:lnSpc>
                <a:spcPts val="2880"/>
              </a:lnSpc>
            </a:pPr>
            <a:r>
              <a:rPr lang="en-US" sz="2400" b="1" dirty="0">
                <a:latin typeface="Arial" pitchFamily="34" charset="0"/>
                <a:ea typeface="Arial" pitchFamily="34" charset="-122"/>
                <a:cs typeface="Arial" pitchFamily="34" charset="-120"/>
              </a:rPr>
              <a:t>Simple Linear Regression</a:t>
            </a:r>
            <a:endParaRPr lang="en-US" sz="2400" dirty="0"/>
          </a:p>
        </p:txBody>
      </p:sp>
      <p:sp>
        <p:nvSpPr>
          <p:cNvPr id="6" name="Text 4">
            <a:extLst>
              <a:ext uri="{FF2B5EF4-FFF2-40B4-BE49-F238E27FC236}">
                <a16:creationId xmlns:a16="http://schemas.microsoft.com/office/drawing/2014/main" id="{A602FB47-765D-7CB6-3629-A37FDEB5F4AA}"/>
              </a:ext>
            </a:extLst>
          </p:cNvPr>
          <p:cNvSpPr/>
          <p:nvPr/>
        </p:nvSpPr>
        <p:spPr>
          <a:xfrm>
            <a:off x="1219200" y="2641600"/>
            <a:ext cx="9948672" cy="284480"/>
          </a:xfrm>
          <a:prstGeom prst="rect">
            <a:avLst/>
          </a:prstGeom>
          <a:noFill/>
          <a:ln/>
        </p:spPr>
        <p:txBody>
          <a:bodyPr wrap="square" lIns="0" tIns="0" rIns="0" bIns="0" rtlCol="0" anchor="t"/>
          <a:lstStyle/>
          <a:p>
            <a:pPr>
              <a:lnSpc>
                <a:spcPts val="2240"/>
              </a:lnSpc>
            </a:pPr>
            <a:r>
              <a:rPr lang="en-US" sz="1600" dirty="0">
                <a:solidFill>
                  <a:srgbClr val="475569"/>
                </a:solidFill>
                <a:latin typeface="Arial" pitchFamily="34" charset="0"/>
                <a:ea typeface="Arial" pitchFamily="34" charset="-122"/>
                <a:cs typeface="Arial" pitchFamily="34" charset="-120"/>
              </a:rPr>
              <a:t>One independent variable (X) predicting one dependent variable (Y)</a:t>
            </a:r>
            <a:endParaRPr lang="en-US" sz="1600" dirty="0"/>
          </a:p>
        </p:txBody>
      </p:sp>
      <p:sp>
        <p:nvSpPr>
          <p:cNvPr id="7" name="Text 5">
            <a:extLst>
              <a:ext uri="{FF2B5EF4-FFF2-40B4-BE49-F238E27FC236}">
                <a16:creationId xmlns:a16="http://schemas.microsoft.com/office/drawing/2014/main" id="{8EBD4D2E-2EAF-DBAA-B595-A6ADC34CD4ED}"/>
              </a:ext>
            </a:extLst>
          </p:cNvPr>
          <p:cNvSpPr/>
          <p:nvPr/>
        </p:nvSpPr>
        <p:spPr>
          <a:xfrm>
            <a:off x="1219200" y="4414520"/>
            <a:ext cx="9948672" cy="365760"/>
          </a:xfrm>
          <a:prstGeom prst="rect">
            <a:avLst/>
          </a:prstGeom>
          <a:noFill/>
          <a:ln/>
        </p:spPr>
        <p:txBody>
          <a:bodyPr wrap="square" lIns="0" tIns="0" rIns="0" bIns="0" rtlCol="0" anchor="t"/>
          <a:lstStyle/>
          <a:p>
            <a:pPr>
              <a:lnSpc>
                <a:spcPts val="2880"/>
              </a:lnSpc>
            </a:pPr>
            <a:r>
              <a:rPr lang="en-US" sz="2400" b="1" dirty="0">
                <a:latin typeface="Arial" pitchFamily="34" charset="0"/>
                <a:ea typeface="Arial" pitchFamily="34" charset="-122"/>
                <a:cs typeface="Arial" pitchFamily="34" charset="-120"/>
              </a:rPr>
              <a:t>Multiple Linear Regression</a:t>
            </a:r>
            <a:endParaRPr lang="en-US" sz="2400" dirty="0"/>
          </a:p>
        </p:txBody>
      </p:sp>
      <p:sp>
        <p:nvSpPr>
          <p:cNvPr id="8" name="Text 6">
            <a:extLst>
              <a:ext uri="{FF2B5EF4-FFF2-40B4-BE49-F238E27FC236}">
                <a16:creationId xmlns:a16="http://schemas.microsoft.com/office/drawing/2014/main" id="{F1152EFA-EAD8-95A4-3E71-8F9D1B5094BA}"/>
              </a:ext>
            </a:extLst>
          </p:cNvPr>
          <p:cNvSpPr/>
          <p:nvPr/>
        </p:nvSpPr>
        <p:spPr>
          <a:xfrm>
            <a:off x="1219200" y="4983481"/>
            <a:ext cx="9948672" cy="284480"/>
          </a:xfrm>
          <a:prstGeom prst="rect">
            <a:avLst/>
          </a:prstGeom>
          <a:noFill/>
          <a:ln/>
        </p:spPr>
        <p:txBody>
          <a:bodyPr wrap="square" lIns="0" tIns="0" rIns="0" bIns="0" rtlCol="0" anchor="t"/>
          <a:lstStyle/>
          <a:p>
            <a:pPr>
              <a:lnSpc>
                <a:spcPts val="2240"/>
              </a:lnSpc>
            </a:pPr>
            <a:r>
              <a:rPr lang="en-US" sz="1600" dirty="0">
                <a:solidFill>
                  <a:srgbClr val="475569"/>
                </a:solidFill>
                <a:latin typeface="Arial" pitchFamily="34" charset="0"/>
                <a:ea typeface="Arial" pitchFamily="34" charset="-122"/>
                <a:cs typeface="Arial" pitchFamily="34" charset="-120"/>
              </a:rPr>
              <a:t>Multiple independent variables predicting one dependent variable</a:t>
            </a:r>
            <a:endParaRPr lang="en-US" sz="1600" dirty="0"/>
          </a:p>
        </p:txBody>
      </p:sp>
    </p:spTree>
    <p:extLst>
      <p:ext uri="{BB962C8B-B14F-4D97-AF65-F5344CB8AC3E}">
        <p14:creationId xmlns:p14="http://schemas.microsoft.com/office/powerpoint/2010/main" val="2690049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81233-E0EC-37DA-9AF0-023B38F732B7}"/>
              </a:ext>
            </a:extLst>
          </p:cNvPr>
          <p:cNvSpPr>
            <a:spLocks noGrp="1"/>
          </p:cNvSpPr>
          <p:nvPr>
            <p:ph type="title"/>
          </p:nvPr>
        </p:nvSpPr>
        <p:spPr/>
        <p:txBody>
          <a:bodyPr/>
          <a:lstStyle/>
          <a:p>
            <a:r>
              <a:rPr lang="en-US" dirty="0"/>
              <a:t>Type of </a:t>
            </a:r>
            <a:r>
              <a:rPr lang="en-US" dirty="0">
                <a:ea typeface="Arial" pitchFamily="34" charset="-122"/>
                <a:cs typeface="Arial" pitchFamily="34" charset="-120"/>
              </a:rPr>
              <a:t>Linear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37DF51-40EF-AC17-7B7F-10D269A0E9AF}"/>
                  </a:ext>
                </a:extLst>
              </p:cNvPr>
              <p:cNvSpPr>
                <a:spLocks noGrp="1"/>
              </p:cNvSpPr>
              <p:nvPr>
                <p:ph idx="1"/>
              </p:nvPr>
            </p:nvSpPr>
            <p:spPr>
              <a:xfrm>
                <a:off x="838199" y="1825625"/>
                <a:ext cx="10790583" cy="4351338"/>
              </a:xfrm>
            </p:spPr>
            <p:txBody>
              <a:bodyPr>
                <a:normAutofit/>
              </a:bodyPr>
              <a:lstStyle/>
              <a:p>
                <a:pPr marL="514350" indent="-514350">
                  <a:buFont typeface="+mj-lt"/>
                  <a:buAutoNum type="arabicPeriod"/>
                </a:pPr>
                <a:r>
                  <a:rPr lang="en-IN" b="1" dirty="0"/>
                  <a:t>Simple Linear Regression</a:t>
                </a:r>
              </a:p>
              <a:p>
                <a:pPr lvl="1" fontAlgn="base"/>
                <a:r>
                  <a:rPr lang="en-IN" dirty="0"/>
                  <a:t>Simple linear regression is used when we want to predict a target value (dependent variable) using only one input feature (independent variable). </a:t>
                </a:r>
              </a:p>
              <a:p>
                <a:pPr lvl="1" fontAlgn="base"/>
                <a:r>
                  <a:rPr lang="en-IN" dirty="0"/>
                  <a:t>It assumes a straight-line relationship between the two.</a:t>
                </a:r>
              </a:p>
              <a:p>
                <a:pPr lvl="1" fontAlgn="base"/>
                <a:r>
                  <a:rPr lang="en-IN" b="1" dirty="0"/>
                  <a:t>Formula : </a:t>
                </a:r>
                <a14:m>
                  <m:oMath xmlns:m="http://schemas.openxmlformats.org/officeDocument/2006/math">
                    <m:r>
                      <a:rPr lang="en-IN" b="1" i="0" smtClean="0">
                        <a:latin typeface="Cambria Math" panose="02040503050406030204" pitchFamily="18" charset="0"/>
                      </a:rPr>
                      <m:t>  </m:t>
                    </m:r>
                    <m:acc>
                      <m:accPr>
                        <m:chr m:val="̂"/>
                        <m:ctrlPr>
                          <a:rPr lang="ar-AE" i="1">
                            <a:latin typeface="Cambria Math" panose="02040503050406030204" pitchFamily="18" charset="0"/>
                          </a:rPr>
                        </m:ctrlPr>
                      </m:accPr>
                      <m:e>
                        <m:r>
                          <a:rPr lang="ar-AE" i="1">
                            <a:latin typeface="Cambria Math" panose="02040503050406030204" pitchFamily="18" charset="0"/>
                          </a:rPr>
                          <m:t>𝑦</m:t>
                        </m:r>
                      </m:e>
                    </m:acc>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en-US" b="0" i="0" smtClean="0">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𝜃</m:t>
                        </m:r>
                      </m:e>
                      <m:sub>
                        <m:r>
                          <a:rPr lang="en-US" b="0" i="1" smtClean="0">
                            <a:latin typeface="Cambria Math" panose="02040503050406030204" pitchFamily="18" charset="0"/>
                          </a:rPr>
                          <m:t>2</m:t>
                        </m:r>
                      </m:sub>
                    </m:sSub>
                    <m:r>
                      <a:rPr lang="ar-AE" i="1">
                        <a:latin typeface="Cambria Math" panose="02040503050406030204" pitchFamily="18" charset="0"/>
                      </a:rPr>
                      <m:t>𝑥</m:t>
                    </m:r>
                  </m:oMath>
                </a14:m>
                <a:endParaRPr lang="ar-AE" i="1" dirty="0"/>
              </a:p>
              <a:p>
                <a:pPr lvl="1" fontAlgn="base"/>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oMath>
                </a14:m>
                <a:r>
                  <a:rPr lang="ar-AE" dirty="0"/>
                  <a:t>​ </a:t>
                </a:r>
                <a:r>
                  <a:rPr lang="en-IN" dirty="0"/>
                  <a:t>is the predicted value</a:t>
                </a:r>
              </a:p>
              <a:p>
                <a:pPr lvl="1" fontAlgn="base"/>
                <a14:m>
                  <m:oMath xmlns:m="http://schemas.openxmlformats.org/officeDocument/2006/math">
                    <m:r>
                      <a:rPr lang="en-IN" i="1">
                        <a:latin typeface="Cambria Math" panose="02040503050406030204" pitchFamily="18" charset="0"/>
                      </a:rPr>
                      <m:t>𝑥</m:t>
                    </m:r>
                  </m:oMath>
                </a14:m>
                <a:r>
                  <a:rPr lang="en-IN" dirty="0"/>
                  <a:t> is the input (independent variable)</a:t>
                </a:r>
              </a:p>
              <a:p>
                <a:pPr lvl="1"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en-US" b="0" i="0" smtClean="0">
                            <a:latin typeface="Cambria Math" panose="02040503050406030204" pitchFamily="18" charset="0"/>
                          </a:rPr>
                          <m:t>1</m:t>
                        </m:r>
                      </m:sub>
                    </m:sSub>
                  </m:oMath>
                </a14:m>
                <a:r>
                  <a:rPr lang="ar-AE" dirty="0"/>
                  <a:t> </a:t>
                </a:r>
                <a:r>
                  <a:rPr lang="en-IN" dirty="0"/>
                  <a:t>is the intercept (value of </a:t>
                </a: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r>
                      <m:rPr>
                        <m:nor/>
                      </m:rPr>
                      <a:rPr lang="ar-AE" i="1"/>
                      <m:t>​</m:t>
                    </m:r>
                  </m:oMath>
                </a14:m>
                <a:r>
                  <a:rPr lang="ar-AE" dirty="0"/>
                  <a:t> </a:t>
                </a:r>
                <a:r>
                  <a:rPr lang="en-IN" dirty="0"/>
                  <a:t>when x=0)</a:t>
                </a:r>
              </a:p>
              <a:p>
                <a:pPr lvl="1"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𝜃</m:t>
                        </m:r>
                      </m:e>
                      <m:sub>
                        <m:r>
                          <a:rPr lang="en-US" b="0" i="0" smtClean="0">
                            <a:latin typeface="Cambria Math" panose="02040503050406030204" pitchFamily="18" charset="0"/>
                          </a:rPr>
                          <m:t>2</m:t>
                        </m:r>
                      </m:sub>
                    </m:sSub>
                  </m:oMath>
                </a14:m>
                <a:r>
                  <a:rPr lang="ar-AE" dirty="0"/>
                  <a:t>​ </a:t>
                </a:r>
                <a:r>
                  <a:rPr lang="en-IN" dirty="0"/>
                  <a:t>is the slope or coefficient (how much </a:t>
                </a: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oMath>
                </a14:m>
                <a:r>
                  <a:rPr lang="ar-AE" dirty="0"/>
                  <a:t>​ </a:t>
                </a:r>
                <a:r>
                  <a:rPr lang="en-IN" dirty="0"/>
                  <a:t>changes with one unit of x)</a:t>
                </a:r>
              </a:p>
              <a:p>
                <a:pPr lvl="1" fontAlgn="base"/>
                <a:r>
                  <a:rPr lang="en-IN" b="1" dirty="0"/>
                  <a:t>Example: </a:t>
                </a:r>
                <a:r>
                  <a:rPr lang="en-IN" dirty="0"/>
                  <a:t>Predicting a person’s salary (y) based on their years of experience (x).</a:t>
                </a:r>
              </a:p>
              <a:p>
                <a:pPr marL="514350" indent="-514350">
                  <a:buFont typeface="+mj-lt"/>
                  <a:buAutoNum type="arabicPeriod"/>
                </a:pPr>
                <a:endParaRPr lang="en-IN" b="1" dirty="0"/>
              </a:p>
              <a:p>
                <a:endParaRPr lang="en-IN" dirty="0"/>
              </a:p>
            </p:txBody>
          </p:sp>
        </mc:Choice>
        <mc:Fallback xmlns="">
          <p:sp>
            <p:nvSpPr>
              <p:cNvPr id="3" name="Content Placeholder 2">
                <a:extLst>
                  <a:ext uri="{FF2B5EF4-FFF2-40B4-BE49-F238E27FC236}">
                    <a16:creationId xmlns:a16="http://schemas.microsoft.com/office/drawing/2014/main" id="{2D37DF51-40EF-AC17-7B7F-10D269A0E9AF}"/>
                  </a:ext>
                </a:extLst>
              </p:cNvPr>
              <p:cNvSpPr>
                <a:spLocks noGrp="1" noRot="1" noChangeAspect="1" noMove="1" noResize="1" noEditPoints="1" noAdjustHandles="1" noChangeArrowheads="1" noChangeShapeType="1" noTextEdit="1"/>
              </p:cNvSpPr>
              <p:nvPr>
                <p:ph idx="1"/>
              </p:nvPr>
            </p:nvSpPr>
            <p:spPr>
              <a:xfrm>
                <a:off x="838199" y="1825625"/>
                <a:ext cx="10790583" cy="4351338"/>
              </a:xfrm>
              <a:blipFill>
                <a:blip r:embed="rId2"/>
                <a:stretch>
                  <a:fillRect l="-1129" t="-2381"/>
                </a:stretch>
              </a:blipFill>
            </p:spPr>
            <p:txBody>
              <a:bodyPr/>
              <a:lstStyle/>
              <a:p>
                <a:r>
                  <a:rPr lang="en-IN">
                    <a:noFill/>
                  </a:rPr>
                  <a:t> </a:t>
                </a:r>
              </a:p>
            </p:txBody>
          </p:sp>
        </mc:Fallback>
      </mc:AlternateContent>
    </p:spTree>
    <p:extLst>
      <p:ext uri="{BB962C8B-B14F-4D97-AF65-F5344CB8AC3E}">
        <p14:creationId xmlns:p14="http://schemas.microsoft.com/office/powerpoint/2010/main" val="3521410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35BB3-E9EC-CA8D-DEB5-C77A59154672}"/>
              </a:ext>
            </a:extLst>
          </p:cNvPr>
          <p:cNvSpPr>
            <a:spLocks noGrp="1"/>
          </p:cNvSpPr>
          <p:nvPr>
            <p:ph type="title"/>
          </p:nvPr>
        </p:nvSpPr>
        <p:spPr/>
        <p:txBody>
          <a:bodyPr/>
          <a:lstStyle/>
          <a:p>
            <a:r>
              <a:rPr lang="en-US" dirty="0"/>
              <a:t>Type of </a:t>
            </a:r>
            <a:r>
              <a:rPr lang="en-US" dirty="0">
                <a:ea typeface="Arial" pitchFamily="34" charset="-122"/>
                <a:cs typeface="Arial" pitchFamily="34" charset="-120"/>
              </a:rPr>
              <a:t>Linear Regression</a:t>
            </a:r>
            <a:endParaRPr lang="en-IN" dirty="0"/>
          </a:p>
        </p:txBody>
      </p:sp>
      <p:sp>
        <p:nvSpPr>
          <p:cNvPr id="3" name="Content Placeholder 2">
            <a:extLst>
              <a:ext uri="{FF2B5EF4-FFF2-40B4-BE49-F238E27FC236}">
                <a16:creationId xmlns:a16="http://schemas.microsoft.com/office/drawing/2014/main" id="{B7253BBE-A483-76DD-0607-8C207EAF5BEC}"/>
              </a:ext>
            </a:extLst>
          </p:cNvPr>
          <p:cNvSpPr>
            <a:spLocks noGrp="1"/>
          </p:cNvSpPr>
          <p:nvPr>
            <p:ph idx="1"/>
          </p:nvPr>
        </p:nvSpPr>
        <p:spPr>
          <a:xfrm>
            <a:off x="838200" y="1690688"/>
            <a:ext cx="10515600" cy="4908895"/>
          </a:xfrm>
        </p:spPr>
        <p:txBody>
          <a:bodyPr>
            <a:normAutofit/>
          </a:bodyPr>
          <a:lstStyle/>
          <a:p>
            <a:pPr marL="0" indent="0" fontAlgn="base">
              <a:buNone/>
            </a:pPr>
            <a:r>
              <a:rPr lang="en-IN" b="1" dirty="0"/>
              <a:t>2. Multiple Linear Regression</a:t>
            </a:r>
          </a:p>
          <a:p>
            <a:pPr lvl="1" fontAlgn="base"/>
            <a:r>
              <a:rPr lang="en-IN" dirty="0"/>
              <a:t>Multiple linear regression involves more than one independent variable and one dependent variable. </a:t>
            </a:r>
          </a:p>
          <a:p>
            <a:pPr lvl="1" fontAlgn="base"/>
            <a:r>
              <a:rPr lang="en-US" dirty="0"/>
              <a:t>A linear model makes a prediction by simply computing a weighted sum of the input features, plus a constant called the </a:t>
            </a:r>
            <a:r>
              <a:rPr lang="en-US" i="1" dirty="0"/>
              <a:t>bias term </a:t>
            </a:r>
            <a:r>
              <a:rPr lang="en-US" dirty="0"/>
              <a:t>(also called the </a:t>
            </a:r>
            <a:r>
              <a:rPr lang="en-US" i="1" dirty="0"/>
              <a:t>intercept </a:t>
            </a:r>
            <a:r>
              <a:rPr lang="en-IN" i="1" dirty="0"/>
              <a:t>term</a:t>
            </a:r>
            <a:r>
              <a:rPr lang="en-IN" dirty="0"/>
              <a:t>)</a:t>
            </a:r>
          </a:p>
          <a:p>
            <a:pPr lvl="1"/>
            <a:r>
              <a:rPr lang="en-IN" dirty="0"/>
              <a:t>Example : </a:t>
            </a:r>
            <a:r>
              <a:rPr lang="en-US" b="1" dirty="0"/>
              <a:t>Real Estate:</a:t>
            </a:r>
            <a:r>
              <a:rPr lang="en-US" dirty="0"/>
              <a:t> Predict property prices using location, size and other factors.</a:t>
            </a:r>
          </a:p>
        </p:txBody>
      </p:sp>
    </p:spTree>
    <p:extLst>
      <p:ext uri="{BB962C8B-B14F-4D97-AF65-F5344CB8AC3E}">
        <p14:creationId xmlns:p14="http://schemas.microsoft.com/office/powerpoint/2010/main" val="2084107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9E9F6-F567-FE30-2D81-C907E3AB6ABC}"/>
              </a:ext>
            </a:extLst>
          </p:cNvPr>
          <p:cNvSpPr>
            <a:spLocks noGrp="1"/>
          </p:cNvSpPr>
          <p:nvPr>
            <p:ph type="title"/>
          </p:nvPr>
        </p:nvSpPr>
        <p:spPr/>
        <p:txBody>
          <a:bodyPr/>
          <a:lstStyle/>
          <a:p>
            <a:r>
              <a:rPr lang="en-IN" b="1" dirty="0"/>
              <a:t>Multiple Linear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57C6C6-1E28-6CC8-30AD-7F5E1E0E8EEC}"/>
                  </a:ext>
                </a:extLst>
              </p:cNvPr>
              <p:cNvSpPr>
                <a:spLocks noGrp="1"/>
              </p:cNvSpPr>
              <p:nvPr>
                <p:ph idx="1"/>
              </p:nvPr>
            </p:nvSpPr>
            <p:spPr>
              <a:xfrm>
                <a:off x="139148" y="1530626"/>
                <a:ext cx="11767930" cy="5128591"/>
              </a:xfrm>
            </p:spPr>
            <p:txBody>
              <a:bodyPr>
                <a:normAutofit/>
              </a:bodyPr>
              <a:lstStyle/>
              <a:p>
                <a:pPr fontAlgn="base"/>
                <a:r>
                  <a:rPr lang="en-IN" dirty="0"/>
                  <a:t>The equation for multiple linear regression is:</a:t>
                </a:r>
              </a:p>
              <a:p>
                <a:pPr marL="457200" lvl="1" indent="0" fontAlgn="base">
                  <a:buNone/>
                </a:pPr>
                <a14:m>
                  <m:oMathPara xmlns:m="http://schemas.openxmlformats.org/officeDocument/2006/math">
                    <m:oMathParaPr>
                      <m:jc m:val="centerGroup"/>
                    </m:oMathParaPr>
                    <m:oMath xmlns:m="http://schemas.openxmlformats.org/officeDocument/2006/math">
                      <m:acc>
                        <m:accPr>
                          <m:chr m:val="̂"/>
                          <m:ctrlPr>
                            <a:rPr lang="ar-AE" sz="2800" i="1">
                              <a:latin typeface="Cambria Math" panose="02040503050406030204" pitchFamily="18" charset="0"/>
                            </a:rPr>
                          </m:ctrlPr>
                        </m:accPr>
                        <m:e>
                          <m:r>
                            <a:rPr lang="ar-AE" sz="2800" i="1">
                              <a:latin typeface="Cambria Math" panose="02040503050406030204" pitchFamily="18" charset="0"/>
                            </a:rPr>
                            <m:t>𝑦</m:t>
                          </m:r>
                        </m:e>
                      </m:acc>
                      <m:r>
                        <a:rPr lang="ar-AE" sz="2800">
                          <a:latin typeface="Cambria Math" panose="02040503050406030204" pitchFamily="18" charset="0"/>
                        </a:rPr>
                        <m:t>=</m:t>
                      </m:r>
                      <m:sSub>
                        <m:sSubPr>
                          <m:ctrlPr>
                            <a:rPr lang="ar-AE" sz="2800" i="1">
                              <a:latin typeface="Cambria Math" panose="02040503050406030204" pitchFamily="18" charset="0"/>
                            </a:rPr>
                          </m:ctrlPr>
                        </m:sSubPr>
                        <m:e>
                          <m:r>
                            <a:rPr lang="ar-AE" sz="2800" i="1">
                              <a:latin typeface="Cambria Math" panose="02040503050406030204" pitchFamily="18" charset="0"/>
                            </a:rPr>
                            <m:t>𝜃</m:t>
                          </m:r>
                        </m:e>
                        <m:sub>
                          <m:r>
                            <a:rPr lang="ar-AE" sz="2800">
                              <a:latin typeface="Cambria Math" panose="02040503050406030204" pitchFamily="18" charset="0"/>
                            </a:rPr>
                            <m:t>0</m:t>
                          </m:r>
                        </m:sub>
                      </m:sSub>
                      <m:r>
                        <a:rPr lang="ar-AE" sz="2800">
                          <a:latin typeface="Cambria Math" panose="02040503050406030204" pitchFamily="18" charset="0"/>
                        </a:rPr>
                        <m:t>+</m:t>
                      </m:r>
                      <m:sSub>
                        <m:sSubPr>
                          <m:ctrlPr>
                            <a:rPr lang="ar-AE" sz="2800" i="1">
                              <a:latin typeface="Cambria Math" panose="02040503050406030204" pitchFamily="18" charset="0"/>
                            </a:rPr>
                          </m:ctrlPr>
                        </m:sSubPr>
                        <m:e>
                          <m:r>
                            <a:rPr lang="ar-AE" sz="2800" i="1">
                              <a:latin typeface="Cambria Math" panose="02040503050406030204" pitchFamily="18" charset="0"/>
                            </a:rPr>
                            <m:t>𝜃</m:t>
                          </m:r>
                        </m:e>
                        <m:sub>
                          <m:r>
                            <a:rPr lang="ar-AE" sz="2800">
                              <a:latin typeface="Cambria Math" panose="02040503050406030204" pitchFamily="18" charset="0"/>
                            </a:rPr>
                            <m:t>1</m:t>
                          </m:r>
                        </m:sub>
                      </m:sSub>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a:latin typeface="Cambria Math" panose="02040503050406030204" pitchFamily="18" charset="0"/>
                            </a:rPr>
                            <m:t>1</m:t>
                          </m:r>
                        </m:sub>
                      </m:sSub>
                      <m:r>
                        <a:rPr lang="ar-AE" sz="2800">
                          <a:latin typeface="Cambria Math" panose="02040503050406030204" pitchFamily="18" charset="0"/>
                        </a:rPr>
                        <m:t>+</m:t>
                      </m:r>
                      <m:sSub>
                        <m:sSubPr>
                          <m:ctrlPr>
                            <a:rPr lang="ar-AE" sz="2800" i="1">
                              <a:latin typeface="Cambria Math" panose="02040503050406030204" pitchFamily="18" charset="0"/>
                            </a:rPr>
                          </m:ctrlPr>
                        </m:sSubPr>
                        <m:e>
                          <m:r>
                            <a:rPr lang="ar-AE" sz="2800" i="1">
                              <a:latin typeface="Cambria Math" panose="02040503050406030204" pitchFamily="18" charset="0"/>
                            </a:rPr>
                            <m:t>𝜃</m:t>
                          </m:r>
                        </m:e>
                        <m:sub>
                          <m:r>
                            <a:rPr lang="ar-AE" sz="2800">
                              <a:latin typeface="Cambria Math" panose="02040503050406030204" pitchFamily="18" charset="0"/>
                            </a:rPr>
                            <m:t>2</m:t>
                          </m:r>
                        </m:sub>
                      </m:sSub>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a:latin typeface="Cambria Math" panose="02040503050406030204" pitchFamily="18" charset="0"/>
                            </a:rPr>
                            <m:t>2</m:t>
                          </m:r>
                        </m:sub>
                      </m:sSub>
                      <m:r>
                        <a:rPr lang="ar-AE" sz="2800">
                          <a:latin typeface="Cambria Math" panose="02040503050406030204" pitchFamily="18" charset="0"/>
                        </a:rPr>
                        <m:t>+⋯+</m:t>
                      </m:r>
                      <m:sSub>
                        <m:sSubPr>
                          <m:ctrlPr>
                            <a:rPr lang="ar-AE" sz="2800" i="1">
                              <a:latin typeface="Cambria Math" panose="02040503050406030204" pitchFamily="18" charset="0"/>
                            </a:rPr>
                          </m:ctrlPr>
                        </m:sSubPr>
                        <m:e>
                          <m:r>
                            <a:rPr lang="ar-AE" sz="2800" i="1">
                              <a:latin typeface="Cambria Math" panose="02040503050406030204" pitchFamily="18" charset="0"/>
                            </a:rPr>
                            <m:t>𝜃</m:t>
                          </m:r>
                        </m:e>
                        <m:sub>
                          <m:r>
                            <a:rPr lang="ar-AE" sz="2800" i="1">
                              <a:latin typeface="Cambria Math" panose="02040503050406030204" pitchFamily="18" charset="0"/>
                            </a:rPr>
                            <m:t>𝑛</m:t>
                          </m:r>
                        </m:sub>
                      </m:sSub>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i="1">
                              <a:latin typeface="Cambria Math" panose="02040503050406030204" pitchFamily="18" charset="0"/>
                            </a:rPr>
                            <m:t>𝑛</m:t>
                          </m:r>
                        </m:sub>
                      </m:sSub>
                    </m:oMath>
                  </m:oMathPara>
                </a14:m>
                <a:endParaRPr lang="en-IN" sz="2800" i="1" dirty="0"/>
              </a:p>
              <a:p>
                <a:pPr marL="457200" lvl="1" indent="0" fontAlgn="base">
                  <a:buNone/>
                </a:pPr>
                <a:endParaRPr lang="ar-AE" sz="2800" i="1" dirty="0"/>
              </a:p>
              <a:p>
                <a:pPr lvl="1" fontAlgn="base"/>
                <a14:m>
                  <m:oMath xmlns:m="http://schemas.openxmlformats.org/officeDocument/2006/math">
                    <m:acc>
                      <m:accPr>
                        <m:chr m:val="̂"/>
                        <m:ctrlPr>
                          <a:rPr lang="ar-AE" sz="2800" i="1">
                            <a:latin typeface="Cambria Math" panose="02040503050406030204" pitchFamily="18" charset="0"/>
                          </a:rPr>
                        </m:ctrlPr>
                      </m:accPr>
                      <m:e>
                        <m:r>
                          <a:rPr lang="ar-AE" sz="2800" i="1">
                            <a:latin typeface="Cambria Math" panose="02040503050406030204" pitchFamily="18" charset="0"/>
                          </a:rPr>
                          <m:t>𝑦</m:t>
                        </m:r>
                      </m:e>
                    </m:acc>
                  </m:oMath>
                </a14:m>
                <a:r>
                  <a:rPr lang="ar-AE" sz="2800" dirty="0"/>
                  <a:t>​ </a:t>
                </a:r>
                <a:r>
                  <a:rPr lang="en-IN" sz="2800" dirty="0"/>
                  <a:t>is the predicted value</a:t>
                </a:r>
              </a:p>
              <a:p>
                <a:pPr lvl="1" fontAlgn="base"/>
                <a:r>
                  <a:rPr lang="en-IN" sz="2800" dirty="0"/>
                  <a:t>n is the number of features or independent variable </a:t>
                </a:r>
              </a:p>
              <a:p>
                <a:pPr lvl="1" fontAlgn="base"/>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a:latin typeface="Cambria Math" panose="02040503050406030204" pitchFamily="18" charset="0"/>
                          </a:rPr>
                          <m:t>1</m:t>
                        </m:r>
                      </m:sub>
                    </m:sSub>
                    <m:r>
                      <a:rPr lang="ar-AE" sz="2800">
                        <a:latin typeface="Cambria Math" panose="02040503050406030204" pitchFamily="18" charset="0"/>
                      </a:rPr>
                      <m:t>,</m:t>
                    </m:r>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a:latin typeface="Cambria Math" panose="02040503050406030204" pitchFamily="18" charset="0"/>
                          </a:rPr>
                          <m:t>2</m:t>
                        </m:r>
                      </m:sub>
                    </m:sSub>
                    <m:r>
                      <a:rPr lang="ar-AE" sz="2800">
                        <a:latin typeface="Cambria Math" panose="02040503050406030204" pitchFamily="18" charset="0"/>
                      </a:rPr>
                      <m:t>,…,</m:t>
                    </m:r>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i="1">
                            <a:latin typeface="Cambria Math" panose="02040503050406030204" pitchFamily="18" charset="0"/>
                          </a:rPr>
                          <m:t>𝑛</m:t>
                        </m:r>
                      </m:sub>
                    </m:sSub>
                    <m:r>
                      <a:rPr lang="ar-AE" sz="2800">
                        <a:latin typeface="Cambria Math" panose="02040503050406030204" pitchFamily="18" charset="0"/>
                      </a:rPr>
                      <m:t> </m:t>
                    </m:r>
                  </m:oMath>
                </a14:m>
                <a:r>
                  <a:rPr lang="ar-AE" sz="2800" dirty="0"/>
                  <a:t> </a:t>
                </a:r>
                <a:r>
                  <a:rPr lang="en-IN" sz="2800" dirty="0"/>
                  <a:t>are the independent variables or feature values</a:t>
                </a:r>
              </a:p>
              <a:p>
                <a:pPr lvl="1" fontAlgn="base"/>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𝜃</m:t>
                        </m:r>
                      </m:e>
                      <m:sub>
                        <m:r>
                          <a:rPr lang="ar-AE" sz="2800">
                            <a:latin typeface="Cambria Math" panose="02040503050406030204" pitchFamily="18" charset="0"/>
                          </a:rPr>
                          <m:t>1</m:t>
                        </m:r>
                      </m:sub>
                    </m:sSub>
                    <m:r>
                      <a:rPr lang="ar-AE" sz="2800">
                        <a:latin typeface="Cambria Math" panose="02040503050406030204" pitchFamily="18" charset="0"/>
                      </a:rPr>
                      <m:t>,</m:t>
                    </m:r>
                    <m:sSub>
                      <m:sSubPr>
                        <m:ctrlPr>
                          <a:rPr lang="ar-AE" sz="2800" i="1">
                            <a:latin typeface="Cambria Math" panose="02040503050406030204" pitchFamily="18" charset="0"/>
                          </a:rPr>
                        </m:ctrlPr>
                      </m:sSubPr>
                      <m:e>
                        <m:r>
                          <a:rPr lang="ar-AE" sz="2800" i="1">
                            <a:latin typeface="Cambria Math" panose="02040503050406030204" pitchFamily="18" charset="0"/>
                          </a:rPr>
                          <m:t>𝜃</m:t>
                        </m:r>
                      </m:e>
                      <m:sub>
                        <m:r>
                          <a:rPr lang="ar-AE" sz="2800">
                            <a:latin typeface="Cambria Math" panose="02040503050406030204" pitchFamily="18" charset="0"/>
                          </a:rPr>
                          <m:t>2</m:t>
                        </m:r>
                      </m:sub>
                    </m:sSub>
                    <m:r>
                      <a:rPr lang="ar-AE" sz="2800">
                        <a:latin typeface="Cambria Math" panose="02040503050406030204" pitchFamily="18" charset="0"/>
                      </a:rPr>
                      <m:t>,…,</m:t>
                    </m:r>
                    <m:sSub>
                      <m:sSubPr>
                        <m:ctrlPr>
                          <a:rPr lang="ar-AE" sz="2800" i="1">
                            <a:latin typeface="Cambria Math" panose="02040503050406030204" pitchFamily="18" charset="0"/>
                          </a:rPr>
                        </m:ctrlPr>
                      </m:sSubPr>
                      <m:e>
                        <m:r>
                          <a:rPr lang="ar-AE" sz="2800" i="1">
                            <a:latin typeface="Cambria Math" panose="02040503050406030204" pitchFamily="18" charset="0"/>
                          </a:rPr>
                          <m:t>𝜃</m:t>
                        </m:r>
                      </m:e>
                      <m:sub>
                        <m:r>
                          <a:rPr lang="ar-AE" sz="2800" i="1">
                            <a:latin typeface="Cambria Math" panose="02040503050406030204" pitchFamily="18" charset="0"/>
                          </a:rPr>
                          <m:t>𝑛</m:t>
                        </m:r>
                      </m:sub>
                    </m:sSub>
                    <m:r>
                      <a:rPr lang="ar-AE" sz="2800">
                        <a:latin typeface="Cambria Math" panose="02040503050406030204" pitchFamily="18" charset="0"/>
                      </a:rPr>
                      <m:t> </m:t>
                    </m:r>
                  </m:oMath>
                </a14:m>
                <a:r>
                  <a:rPr lang="ar-AE" sz="2800" dirty="0"/>
                  <a:t> </a:t>
                </a:r>
                <a:r>
                  <a:rPr lang="en-IN" sz="2800" dirty="0"/>
                  <a:t>are the coefficients (feature weights) corresponding to each predictor.</a:t>
                </a:r>
              </a:p>
              <a:p>
                <a:pPr lvl="1" fontAlgn="base"/>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𝜃</m:t>
                        </m:r>
                      </m:e>
                      <m:sub>
                        <m:r>
                          <a:rPr lang="ar-AE" sz="2800">
                            <a:latin typeface="Cambria Math" panose="02040503050406030204" pitchFamily="18" charset="0"/>
                          </a:rPr>
                          <m:t>0</m:t>
                        </m:r>
                      </m:sub>
                    </m:sSub>
                    <m:r>
                      <a:rPr lang="ar-AE" sz="2800">
                        <a:latin typeface="Cambria Math" panose="02040503050406030204" pitchFamily="18" charset="0"/>
                      </a:rPr>
                      <m:t> </m:t>
                    </m:r>
                  </m:oMath>
                </a14:m>
                <a:r>
                  <a:rPr lang="ar-AE" sz="2800" dirty="0"/>
                  <a:t> </a:t>
                </a:r>
                <a:r>
                  <a:rPr lang="en-IN" sz="2800" dirty="0"/>
                  <a:t>is the intercept or bias.</a:t>
                </a:r>
              </a:p>
              <a:p>
                <a:pPr lvl="1" fontAlgn="base"/>
                <a:r>
                  <a:rPr lang="en-IN" sz="2800" dirty="0"/>
                  <a:t>The goal is to find the best-fit line that predicts Y accurately for given inputs X.</a:t>
                </a:r>
              </a:p>
            </p:txBody>
          </p:sp>
        </mc:Choice>
        <mc:Fallback xmlns="">
          <p:sp>
            <p:nvSpPr>
              <p:cNvPr id="3" name="Content Placeholder 2">
                <a:extLst>
                  <a:ext uri="{FF2B5EF4-FFF2-40B4-BE49-F238E27FC236}">
                    <a16:creationId xmlns:a16="http://schemas.microsoft.com/office/drawing/2014/main" id="{C457C6C6-1E28-6CC8-30AD-7F5E1E0E8EEC}"/>
                  </a:ext>
                </a:extLst>
              </p:cNvPr>
              <p:cNvSpPr>
                <a:spLocks noGrp="1" noRot="1" noChangeAspect="1" noMove="1" noResize="1" noEditPoints="1" noAdjustHandles="1" noChangeArrowheads="1" noChangeShapeType="1" noTextEdit="1"/>
              </p:cNvSpPr>
              <p:nvPr>
                <p:ph idx="1"/>
              </p:nvPr>
            </p:nvSpPr>
            <p:spPr>
              <a:xfrm>
                <a:off x="139148" y="1530626"/>
                <a:ext cx="11767930" cy="5128591"/>
              </a:xfrm>
              <a:blipFill>
                <a:blip r:embed="rId2"/>
                <a:stretch>
                  <a:fillRect l="-933" t="-1902" r="-1658"/>
                </a:stretch>
              </a:blipFill>
            </p:spPr>
            <p:txBody>
              <a:bodyPr/>
              <a:lstStyle/>
              <a:p>
                <a:r>
                  <a:rPr lang="en-IN">
                    <a:noFill/>
                  </a:rPr>
                  <a:t> </a:t>
                </a:r>
              </a:p>
            </p:txBody>
          </p:sp>
        </mc:Fallback>
      </mc:AlternateContent>
    </p:spTree>
    <p:extLst>
      <p:ext uri="{BB962C8B-B14F-4D97-AF65-F5344CB8AC3E}">
        <p14:creationId xmlns:p14="http://schemas.microsoft.com/office/powerpoint/2010/main" val="1947007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8A8F-24E8-1D17-768F-1A361867789C}"/>
              </a:ext>
            </a:extLst>
          </p:cNvPr>
          <p:cNvSpPr>
            <a:spLocks noGrp="1"/>
          </p:cNvSpPr>
          <p:nvPr>
            <p:ph type="title"/>
          </p:nvPr>
        </p:nvSpPr>
        <p:spPr>
          <a:xfrm>
            <a:off x="838200" y="365125"/>
            <a:ext cx="10959548" cy="1325563"/>
          </a:xfrm>
        </p:spPr>
        <p:txBody>
          <a:bodyPr/>
          <a:lstStyle/>
          <a:p>
            <a:r>
              <a:rPr lang="en-US" dirty="0"/>
              <a:t>Linear Regression model prediction (vectorized form)</a:t>
            </a:r>
            <a:endParaRPr lang="en-IN" dirty="0"/>
          </a:p>
        </p:txBody>
      </p:sp>
      <p:pic>
        <p:nvPicPr>
          <p:cNvPr id="5" name="Content Placeholder 4">
            <a:extLst>
              <a:ext uri="{FF2B5EF4-FFF2-40B4-BE49-F238E27FC236}">
                <a16:creationId xmlns:a16="http://schemas.microsoft.com/office/drawing/2014/main" id="{5C348530-E252-8690-59BE-9876B719C5C8}"/>
              </a:ext>
            </a:extLst>
          </p:cNvPr>
          <p:cNvPicPr>
            <a:picLocks noGrp="1" noChangeAspect="1"/>
          </p:cNvPicPr>
          <p:nvPr>
            <p:ph idx="1"/>
          </p:nvPr>
        </p:nvPicPr>
        <p:blipFill>
          <a:blip r:embed="rId2"/>
          <a:stretch>
            <a:fillRect/>
          </a:stretch>
        </p:blipFill>
        <p:spPr>
          <a:xfrm>
            <a:off x="838200" y="1917084"/>
            <a:ext cx="10515600" cy="4168420"/>
          </a:xfrm>
          <a:prstGeom prst="rect">
            <a:avLst/>
          </a:prstGeom>
        </p:spPr>
      </p:pic>
    </p:spTree>
    <p:extLst>
      <p:ext uri="{BB962C8B-B14F-4D97-AF65-F5344CB8AC3E}">
        <p14:creationId xmlns:p14="http://schemas.microsoft.com/office/powerpoint/2010/main" val="781248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B5567-0802-ADD0-3E74-C66B5D711FD9}"/>
              </a:ext>
            </a:extLst>
          </p:cNvPr>
          <p:cNvSpPr>
            <a:spLocks noGrp="1"/>
          </p:cNvSpPr>
          <p:nvPr>
            <p:ph type="title"/>
          </p:nvPr>
        </p:nvSpPr>
        <p:spPr>
          <a:xfrm>
            <a:off x="838200" y="365126"/>
            <a:ext cx="10515600" cy="1066110"/>
          </a:xfrm>
        </p:spPr>
        <p:txBody>
          <a:bodyPr>
            <a:normAutofit/>
          </a:bodyPr>
          <a:lstStyle/>
          <a:p>
            <a:r>
              <a:rPr lang="en-IN" sz="4000" b="1" dirty="0"/>
              <a:t>Minimizing the Error: The Least Squares Method</a:t>
            </a:r>
            <a:endParaRPr lang="en-IN"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E9B9FF-D121-61D5-3524-2A278E853016}"/>
                  </a:ext>
                </a:extLst>
              </p:cNvPr>
              <p:cNvSpPr>
                <a:spLocks noGrp="1"/>
              </p:cNvSpPr>
              <p:nvPr>
                <p:ph idx="1"/>
              </p:nvPr>
            </p:nvSpPr>
            <p:spPr>
              <a:xfrm>
                <a:off x="838200" y="1709530"/>
                <a:ext cx="10681252" cy="4691269"/>
              </a:xfrm>
            </p:spPr>
            <p:txBody>
              <a:bodyPr>
                <a:normAutofit fontScale="92500" lnSpcReduction="10000"/>
              </a:bodyPr>
              <a:lstStyle/>
              <a:p>
                <a:pPr fontAlgn="base"/>
                <a:r>
                  <a:rPr lang="en-IN" dirty="0"/>
                  <a:t>To find the best-fit line, we use a method called </a:t>
                </a:r>
                <a:r>
                  <a:rPr lang="en-IN" u="sng" dirty="0"/>
                  <a:t>Least Squares</a:t>
                </a:r>
                <a:r>
                  <a:rPr lang="en-IN" dirty="0"/>
                  <a:t>. </a:t>
                </a:r>
              </a:p>
              <a:p>
                <a:pPr fontAlgn="base"/>
                <a:r>
                  <a:rPr lang="en-IN" dirty="0"/>
                  <a:t>The idea behind this method is to minimize the sum of squared differences between the actual values (data points) and the predicted values from the line. These differences are called residuals or </a:t>
                </a:r>
                <a:r>
                  <a:rPr lang="en-US" dirty="0"/>
                  <a:t>Error functions</a:t>
                </a:r>
                <a:r>
                  <a:rPr lang="en-IN" dirty="0"/>
                  <a:t>.</a:t>
                </a:r>
              </a:p>
              <a:p>
                <a:pPr fontAlgn="base"/>
                <a:r>
                  <a:rPr lang="en-IN" dirty="0"/>
                  <a:t>The formula for residuals is:	 </a:t>
                </a:r>
                <a14:m>
                  <m:oMath xmlns:m="http://schemas.openxmlformats.org/officeDocument/2006/math">
                    <m:r>
                      <a:rPr lang="en-IN" b="0" i="0" smtClean="0">
                        <a:latin typeface="Cambria Math" panose="02040503050406030204" pitchFamily="18" charset="0"/>
                      </a:rPr>
                      <m:t>        </m:t>
                    </m:r>
                    <m:r>
                      <a:rPr lang="en-IN" b="1" i="1">
                        <a:latin typeface="Cambria Math" panose="02040503050406030204" pitchFamily="18" charset="0"/>
                      </a:rPr>
                      <m:t>𝑹𝒆𝒔𝒊𝒅𝒖𝒂𝒍</m:t>
                    </m:r>
                    <m:r>
                      <a:rPr lang="en-IN" b="1">
                        <a:latin typeface="Cambria Math" panose="02040503050406030204" pitchFamily="18" charset="0"/>
                      </a:rPr>
                      <m:t>=</m:t>
                    </m:r>
                    <m:r>
                      <a:rPr lang="en-IN" b="1" i="1">
                        <a:latin typeface="Cambria Math" panose="02040503050406030204" pitchFamily="18" charset="0"/>
                      </a:rPr>
                      <m:t>𝒚</m:t>
                    </m:r>
                    <m:r>
                      <m:rPr>
                        <m:nor/>
                      </m:rPr>
                      <a:rPr lang="en-IN" b="1" i="1"/>
                      <m:t>ᵢ</m:t>
                    </m:r>
                    <m:r>
                      <a:rPr lang="en-IN" b="1">
                        <a:latin typeface="Cambria Math" panose="02040503050406030204" pitchFamily="18" charset="0"/>
                      </a:rPr>
                      <m:t>−</m:t>
                    </m:r>
                    <m:acc>
                      <m:accPr>
                        <m:chr m:val="̂"/>
                        <m:ctrlPr>
                          <a:rPr lang="ar-AE" b="1" i="1">
                            <a:latin typeface="Cambria Math" panose="02040503050406030204" pitchFamily="18" charset="0"/>
                          </a:rPr>
                        </m:ctrlPr>
                      </m:accPr>
                      <m:e>
                        <m:r>
                          <a:rPr lang="ar-AE" b="1" i="1">
                            <a:latin typeface="Cambria Math" panose="02040503050406030204" pitchFamily="18" charset="0"/>
                          </a:rPr>
                          <m:t>𝒚</m:t>
                        </m:r>
                      </m:e>
                    </m:acc>
                    <m:r>
                      <m:rPr>
                        <m:nor/>
                      </m:rPr>
                      <a:rPr lang="en-IN" b="1" i="1"/>
                      <m:t>ᵢ</m:t>
                    </m:r>
                  </m:oMath>
                </a14:m>
                <a:endParaRPr lang="en-IN" b="1" i="1" dirty="0"/>
              </a:p>
              <a:p>
                <a:pPr lvl="1" fontAlgn="base"/>
                <a14:m>
                  <m:oMath xmlns:m="http://schemas.openxmlformats.org/officeDocument/2006/math">
                    <m:r>
                      <a:rPr lang="en-IN" i="1">
                        <a:latin typeface="Cambria Math" panose="02040503050406030204" pitchFamily="18" charset="0"/>
                      </a:rPr>
                      <m:t>𝑦</m:t>
                    </m:r>
                    <m:r>
                      <m:rPr>
                        <m:nor/>
                      </m:rPr>
                      <a:rPr lang="en-IN" i="1"/>
                      <m:t>ᵢ</m:t>
                    </m:r>
                  </m:oMath>
                </a14:m>
                <a:r>
                  <a:rPr lang="en-IN" dirty="0"/>
                  <a:t> is the actual observed value</a:t>
                </a:r>
              </a:p>
              <a:p>
                <a:pPr lvl="1" fontAlgn="base"/>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r>
                      <m:rPr>
                        <m:nor/>
                      </m:rPr>
                      <a:rPr lang="en-IN" i="1"/>
                      <m:t>ᵢ</m:t>
                    </m:r>
                  </m:oMath>
                </a14:m>
                <a:r>
                  <a:rPr lang="en-IN" dirty="0"/>
                  <a:t> is the predicted value from the line for that </a:t>
                </a:r>
                <a14:m>
                  <m:oMath xmlns:m="http://schemas.openxmlformats.org/officeDocument/2006/math">
                    <m:r>
                      <a:rPr lang="en-IN" i="1">
                        <a:latin typeface="Cambria Math" panose="02040503050406030204" pitchFamily="18" charset="0"/>
                      </a:rPr>
                      <m:t>𝑥</m:t>
                    </m:r>
                    <m:r>
                      <m:rPr>
                        <m:nor/>
                      </m:rPr>
                      <a:rPr lang="en-IN" i="1"/>
                      <m:t>ᵢ</m:t>
                    </m:r>
                  </m:oMath>
                </a14:m>
                <a:endParaRPr lang="en-IN" dirty="0"/>
              </a:p>
              <a:p>
                <a:pPr fontAlgn="base"/>
                <a:r>
                  <a:rPr lang="en-IN" dirty="0"/>
                  <a:t>The least squares method minimizes the sum of the squared residuals:</a:t>
                </a:r>
              </a:p>
              <a:p>
                <a:pPr marL="457200" lvl="1" indent="0" fontAlgn="base">
                  <a:buNone/>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𝑺𝒖𝒎𝒐𝒇𝒔𝒒𝒖𝒂𝒓𝒆𝒅</m:t>
                      </m:r>
                      <m:r>
                        <a:rPr lang="en-IN" b="1" i="1" smtClean="0">
                          <a:latin typeface="Cambria Math" panose="02040503050406030204" pitchFamily="18" charset="0"/>
                        </a:rPr>
                        <m:t> </m:t>
                      </m:r>
                      <m:r>
                        <a:rPr lang="en-IN" b="1" i="1" smtClean="0">
                          <a:latin typeface="Cambria Math" panose="02040503050406030204" pitchFamily="18" charset="0"/>
                        </a:rPr>
                        <m:t>𝒆𝒓𝒓𝒐𝒓𝒔</m:t>
                      </m:r>
                      <m:d>
                        <m:dPr>
                          <m:ctrlPr>
                            <a:rPr lang="ar-AE" b="1" i="1">
                              <a:latin typeface="Cambria Math" panose="02040503050406030204" pitchFamily="18" charset="0"/>
                            </a:rPr>
                          </m:ctrlPr>
                        </m:dPr>
                        <m:e>
                          <m:r>
                            <a:rPr lang="ar-AE" b="1" i="1">
                              <a:latin typeface="Cambria Math" panose="02040503050406030204" pitchFamily="18" charset="0"/>
                            </a:rPr>
                            <m:t>𝑺𝑺𝑬</m:t>
                          </m:r>
                        </m:e>
                      </m:d>
                      <m:r>
                        <a:rPr lang="ar-AE" b="1">
                          <a:latin typeface="Cambria Math" panose="02040503050406030204" pitchFamily="18" charset="0"/>
                        </a:rPr>
                        <m:t>=</m:t>
                      </m:r>
                      <m:r>
                        <a:rPr lang="el-GR" b="1" i="1">
                          <a:latin typeface="Cambria Math" panose="02040503050406030204" pitchFamily="18" charset="0"/>
                        </a:rPr>
                        <m:t>𝚺</m:t>
                      </m:r>
                      <m:d>
                        <m:dPr>
                          <m:ctrlPr>
                            <a:rPr lang="ar-AE" b="1" i="1">
                              <a:latin typeface="Cambria Math" panose="02040503050406030204" pitchFamily="18" charset="0"/>
                            </a:rPr>
                          </m:ctrlPr>
                        </m:dPr>
                        <m:e>
                          <m:r>
                            <a:rPr lang="ar-AE" b="1" i="1">
                              <a:latin typeface="Cambria Math" panose="02040503050406030204" pitchFamily="18" charset="0"/>
                            </a:rPr>
                            <m:t>𝒚</m:t>
                          </m:r>
                          <m:r>
                            <m:rPr>
                              <m:nor/>
                            </m:rPr>
                            <a:rPr lang="en-IN" b="1" i="1"/>
                            <m:t>ᵢ</m:t>
                          </m:r>
                          <m:r>
                            <a:rPr lang="en-IN" b="1">
                              <a:latin typeface="Cambria Math" panose="02040503050406030204" pitchFamily="18" charset="0"/>
                            </a:rPr>
                            <m:t>−</m:t>
                          </m:r>
                          <m:acc>
                            <m:accPr>
                              <m:chr m:val="̂"/>
                              <m:ctrlPr>
                                <a:rPr lang="ar-AE" b="1" i="1">
                                  <a:latin typeface="Cambria Math" panose="02040503050406030204" pitchFamily="18" charset="0"/>
                                </a:rPr>
                              </m:ctrlPr>
                            </m:accPr>
                            <m:e>
                              <m:r>
                                <a:rPr lang="ar-AE" b="1" i="1">
                                  <a:latin typeface="Cambria Math" panose="02040503050406030204" pitchFamily="18" charset="0"/>
                                </a:rPr>
                                <m:t>𝒚</m:t>
                              </m:r>
                            </m:e>
                          </m:acc>
                          <m:r>
                            <m:rPr>
                              <m:nor/>
                            </m:rPr>
                            <a:rPr lang="en-IN" b="1" i="1"/>
                            <m:t>ᵢ</m:t>
                          </m:r>
                        </m:e>
                      </m:d>
                      <m:r>
                        <m:rPr>
                          <m:nor/>
                        </m:rPr>
                        <a:rPr lang="ar-AE" b="1" i="1"/>
                        <m:t>²</m:t>
                      </m:r>
                    </m:oMath>
                  </m:oMathPara>
                </a14:m>
                <a:endParaRPr lang="ar-AE" b="1" i="1" dirty="0"/>
              </a:p>
              <a:p>
                <a:pPr fontAlgn="base"/>
                <a:r>
                  <a:rPr lang="en-IN" dirty="0"/>
                  <a:t>This method ensures that the line best represents the data where the sum of the squared differences between the predicted values and actual values is as small as possible.</a:t>
                </a:r>
              </a:p>
              <a:p>
                <a:endParaRPr lang="en-IN" dirty="0"/>
              </a:p>
            </p:txBody>
          </p:sp>
        </mc:Choice>
        <mc:Fallback xmlns="">
          <p:sp>
            <p:nvSpPr>
              <p:cNvPr id="3" name="Content Placeholder 2">
                <a:extLst>
                  <a:ext uri="{FF2B5EF4-FFF2-40B4-BE49-F238E27FC236}">
                    <a16:creationId xmlns:a16="http://schemas.microsoft.com/office/drawing/2014/main" id="{3AE9B9FF-D121-61D5-3524-2A278E853016}"/>
                  </a:ext>
                </a:extLst>
              </p:cNvPr>
              <p:cNvSpPr>
                <a:spLocks noGrp="1" noRot="1" noChangeAspect="1" noMove="1" noResize="1" noEditPoints="1" noAdjustHandles="1" noChangeArrowheads="1" noChangeShapeType="1" noTextEdit="1"/>
              </p:cNvSpPr>
              <p:nvPr>
                <p:ph idx="1"/>
              </p:nvPr>
            </p:nvSpPr>
            <p:spPr>
              <a:xfrm>
                <a:off x="838200" y="1709530"/>
                <a:ext cx="10681252" cy="4691269"/>
              </a:xfrm>
              <a:blipFill>
                <a:blip r:embed="rId2"/>
                <a:stretch>
                  <a:fillRect l="-913" t="-2597" r="-1313"/>
                </a:stretch>
              </a:blipFill>
            </p:spPr>
            <p:txBody>
              <a:bodyPr/>
              <a:lstStyle/>
              <a:p>
                <a:r>
                  <a:rPr lang="en-IN">
                    <a:noFill/>
                  </a:rPr>
                  <a:t> </a:t>
                </a:r>
              </a:p>
            </p:txBody>
          </p:sp>
        </mc:Fallback>
      </mc:AlternateContent>
    </p:spTree>
    <p:extLst>
      <p:ext uri="{BB962C8B-B14F-4D97-AF65-F5344CB8AC3E}">
        <p14:creationId xmlns:p14="http://schemas.microsoft.com/office/powerpoint/2010/main" val="4063095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69EE8-3AFD-D215-651F-355E4457F126}"/>
              </a:ext>
            </a:extLst>
          </p:cNvPr>
          <p:cNvSpPr>
            <a:spLocks noGrp="1"/>
          </p:cNvSpPr>
          <p:nvPr>
            <p:ph type="title"/>
          </p:nvPr>
        </p:nvSpPr>
        <p:spPr/>
        <p:txBody>
          <a:bodyPr/>
          <a:lstStyle/>
          <a:p>
            <a:r>
              <a:rPr lang="en-IN" b="1" dirty="0"/>
              <a:t>Cost function for Linear Regression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C892AB-FAE0-C941-88FA-55E79665B250}"/>
                  </a:ext>
                </a:extLst>
              </p:cNvPr>
              <p:cNvSpPr>
                <a:spLocks noGrp="1"/>
              </p:cNvSpPr>
              <p:nvPr>
                <p:ph idx="1"/>
              </p:nvPr>
            </p:nvSpPr>
            <p:spPr/>
            <p:txBody>
              <a:bodyPr>
                <a:noAutofit/>
              </a:bodyPr>
              <a:lstStyle/>
              <a:p>
                <a:pPr fontAlgn="base"/>
                <a:r>
                  <a:rPr lang="en-IN" sz="2400" dirty="0"/>
                  <a:t>In Linear Regression, the cost function measures how far the predicted values (</a:t>
                </a:r>
                <a14:m>
                  <m:oMath xmlns:m="http://schemas.openxmlformats.org/officeDocument/2006/math">
                    <m:acc>
                      <m:accPr>
                        <m:chr m:val="̂"/>
                        <m:ctrlPr>
                          <a:rPr lang="ar-AE" sz="2400" i="1">
                            <a:latin typeface="Cambria Math" panose="02040503050406030204" pitchFamily="18" charset="0"/>
                          </a:rPr>
                        </m:ctrlPr>
                      </m:accPr>
                      <m:e>
                        <m:r>
                          <a:rPr lang="ar-AE" sz="2400" i="1">
                            <a:latin typeface="Cambria Math" panose="02040503050406030204" pitchFamily="18" charset="0"/>
                          </a:rPr>
                          <m:t>𝑌</m:t>
                        </m:r>
                      </m:e>
                    </m:acc>
                    <m:r>
                      <a:rPr lang="en-IN" sz="2400" b="0" i="1" smtClean="0">
                        <a:latin typeface="Cambria Math" panose="02040503050406030204" pitchFamily="18" charset="0"/>
                      </a:rPr>
                      <m:t>)</m:t>
                    </m:r>
                  </m:oMath>
                </a14:m>
                <a:r>
                  <a:rPr lang="ar-AE" sz="2400" dirty="0"/>
                  <a:t> </a:t>
                </a:r>
                <a:r>
                  <a:rPr lang="en-IN" sz="2400" dirty="0"/>
                  <a:t>are from the actual values (Y). It helps identify and reduce errors to find the best-fit line. </a:t>
                </a:r>
              </a:p>
              <a:p>
                <a:pPr fontAlgn="base"/>
                <a:r>
                  <a:rPr lang="en-IN" sz="2400" dirty="0"/>
                  <a:t>The most common cost function used is Mean Squared Error (MSE), which calculates the average of squared differences between actual and predicted values:</a:t>
                </a:r>
              </a:p>
              <a:p>
                <a:pPr marL="0" indent="0" algn="ctr" fontAlgn="base">
                  <a:buNone/>
                </a:pPr>
                <a:r>
                  <a:rPr lang="en-US" sz="2400" dirty="0"/>
                  <a:t>Cost function(</a:t>
                </a:r>
                <a:r>
                  <a:rPr lang="en-US" sz="2400" i="1" dirty="0"/>
                  <a:t>J</a:t>
                </a:r>
                <a:r>
                  <a:rPr lang="en-US" sz="2400" dirty="0"/>
                  <a:t>) = </a:t>
                </a:r>
                <a14:m>
                  <m:oMath xmlns:m="http://schemas.openxmlformats.org/officeDocument/2006/math">
                    <m:f>
                      <m:fPr>
                        <m:ctrlPr>
                          <a:rPr lang="pt-BR" sz="2400" i="1" smtClean="0">
                            <a:latin typeface="Cambria Math" panose="02040503050406030204" pitchFamily="18" charset="0"/>
                          </a:rPr>
                        </m:ctrlPr>
                      </m:fPr>
                      <m:num>
                        <m:r>
                          <a:rPr lang="en-IN" sz="2400" b="0" i="1" smtClean="0">
                            <a:latin typeface="Cambria Math" panose="02040503050406030204" pitchFamily="18" charset="0"/>
                          </a:rPr>
                          <m:t>1</m:t>
                        </m:r>
                      </m:num>
                      <m:den>
                        <m:r>
                          <a:rPr lang="en-IN" sz="2400" b="0" i="1" smtClean="0">
                            <a:latin typeface="Cambria Math" panose="02040503050406030204" pitchFamily="18" charset="0"/>
                          </a:rPr>
                          <m:t>𝑛</m:t>
                        </m:r>
                      </m:den>
                    </m:f>
                    <m:nary>
                      <m:naryPr>
                        <m:chr m:val="∑"/>
                        <m:ctrlPr>
                          <a:rPr lang="pt-BR" sz="2400" i="1" smtClean="0">
                            <a:latin typeface="Cambria Math" panose="02040503050406030204" pitchFamily="18" charset="0"/>
                          </a:rPr>
                        </m:ctrlPr>
                      </m:naryPr>
                      <m:sub>
                        <m:r>
                          <a:rPr lang="en-IN" sz="2400" b="0" i="1" smtClean="0">
                            <a:latin typeface="Cambria Math" panose="02040503050406030204" pitchFamily="18" charset="0"/>
                          </a:rPr>
                          <m:t>𝑖</m:t>
                        </m:r>
                        <m:r>
                          <a:rPr lang="en-IN" sz="2400" b="0" i="1" smtClean="0">
                            <a:latin typeface="Cambria Math" panose="02040503050406030204" pitchFamily="18" charset="0"/>
                          </a:rPr>
                          <m:t>=</m:t>
                        </m:r>
                        <m:r>
                          <a:rPr lang="en-IN" sz="2400" b="0" i="1" smtClean="0">
                            <a:latin typeface="Cambria Math" panose="02040503050406030204" pitchFamily="18" charset="0"/>
                          </a:rPr>
                          <m:t>0</m:t>
                        </m:r>
                      </m:sub>
                      <m:sup>
                        <m:r>
                          <a:rPr lang="en-IN" sz="2400" b="0" i="1" smtClean="0">
                            <a:latin typeface="Cambria Math" panose="02040503050406030204" pitchFamily="18" charset="0"/>
                          </a:rPr>
                          <m:t>𝑛</m:t>
                        </m:r>
                      </m:sup>
                      <m:e>
                        <m:d>
                          <m:dPr>
                            <m:ctrlPr>
                              <a:rPr lang="pt-BR" sz="2400" i="1" smtClean="0">
                                <a:latin typeface="Cambria Math" panose="02040503050406030204" pitchFamily="18" charset="0"/>
                              </a:rPr>
                            </m:ctrlPr>
                          </m:dPr>
                          <m:e>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e>
                            </m:acc>
                            <m:r>
                              <a:rPr lang="en-IN" sz="2400" b="0" i="1" smtClean="0">
                                <a:latin typeface="Cambria Math" panose="02040503050406030204" pitchFamily="18" charset="0"/>
                              </a:rPr>
                              <m:t> −</m:t>
                            </m:r>
                            <m:sSub>
                              <m:sSubPr>
                                <m:ctrlPr>
                                  <a:rPr lang="ar-AE" sz="2400" i="1">
                                    <a:latin typeface="Cambria Math" panose="02040503050406030204" pitchFamily="18" charset="0"/>
                                  </a:rPr>
                                </m:ctrlPr>
                              </m:sSubPr>
                              <m:e>
                                <m:r>
                                  <a:rPr lang="en-IN" sz="2400" b="0" i="1" smtClean="0">
                                    <a:latin typeface="Cambria Math" panose="02040503050406030204" pitchFamily="18" charset="0"/>
                                  </a:rPr>
                                  <m:t>𝑦</m:t>
                                </m:r>
                              </m:e>
                              <m:sub>
                                <m:r>
                                  <a:rPr lang="ar-AE" sz="2400" i="1">
                                    <a:latin typeface="Cambria Math" panose="02040503050406030204" pitchFamily="18" charset="0"/>
                                  </a:rPr>
                                  <m:t>𝑖</m:t>
                                </m:r>
                              </m:sub>
                            </m:sSub>
                          </m:e>
                        </m:d>
                      </m:e>
                    </m:nary>
                    <m:r>
                      <a:rPr lang="en-IN" sz="2400" b="0" i="1" baseline="30000" smtClean="0">
                        <a:latin typeface="Cambria Math" panose="02040503050406030204" pitchFamily="18" charset="0"/>
                      </a:rPr>
                      <m:t>2</m:t>
                    </m:r>
                  </m:oMath>
                </a14:m>
                <a:endParaRPr lang="en-IN" sz="2400" baseline="30000" dirty="0"/>
              </a:p>
              <a:p>
                <a:pPr fontAlgn="base"/>
                <a14:m>
                  <m:oMath xmlns:m="http://schemas.openxmlformats.org/officeDocument/2006/math">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e>
                    </m:acc>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𝜃</m:t>
                        </m:r>
                      </m:e>
                      <m:sub>
                        <m:r>
                          <a:rPr lang="en-IN" sz="2400" b="0" i="0" smtClean="0">
                            <a:latin typeface="Cambria Math" panose="02040503050406030204" pitchFamily="18" charset="0"/>
                          </a:rPr>
                          <m:t>0</m:t>
                        </m:r>
                      </m:sub>
                    </m:sSub>
                    <m:r>
                      <a:rPr lang="ar-AE" sz="2400">
                        <a:latin typeface="Cambria Math" panose="02040503050406030204" pitchFamily="18" charset="0"/>
                      </a:rPr>
                      <m:t>+</m:t>
                    </m:r>
                    <m:sSub>
                      <m:sSubPr>
                        <m:ctrlPr>
                          <a:rPr lang="ar-AE" sz="2400" i="1" smtClean="0">
                            <a:latin typeface="Cambria Math" panose="02040503050406030204" pitchFamily="18" charset="0"/>
                          </a:rPr>
                        </m:ctrlPr>
                      </m:sSubPr>
                      <m:e>
                        <m:r>
                          <a:rPr lang="ar-AE" sz="2400" i="1">
                            <a:latin typeface="Cambria Math" panose="02040503050406030204" pitchFamily="18" charset="0"/>
                          </a:rPr>
                          <m:t>𝜃</m:t>
                        </m:r>
                      </m:e>
                      <m:sub>
                        <m:r>
                          <a:rPr lang="en-IN" sz="2400" b="0" i="1" smtClean="0">
                            <a:latin typeface="Cambria Math" panose="02040503050406030204" pitchFamily="18" charset="0"/>
                          </a:rPr>
                          <m:t>𝑖</m:t>
                        </m:r>
                      </m:sub>
                    </m:sSub>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sub>
                    </m:sSub>
                  </m:oMath>
                </a14:m>
                <a:endParaRPr lang="ar-AE" sz="2400" dirty="0"/>
              </a:p>
              <a:p>
                <a:pPr fontAlgn="base"/>
                <a:r>
                  <a:rPr lang="en-IN" sz="2400" dirty="0"/>
                  <a:t>To minimize this cost, we use Gradient Descent, which iteratively updates </a:t>
                </a:r>
                <a:r>
                  <a:rPr lang="el-GR" sz="2400" dirty="0"/>
                  <a:t>θ</a:t>
                </a:r>
                <a:r>
                  <a:rPr lang="en-IN" sz="2400" baseline="-25000" dirty="0"/>
                  <a:t>0</a:t>
                </a:r>
                <a:r>
                  <a:rPr lang="el-GR" sz="2400" baseline="-25000" dirty="0"/>
                  <a:t> </a:t>
                </a:r>
                <a:r>
                  <a:rPr lang="en-IN" sz="2400" dirty="0"/>
                  <a:t>and </a:t>
                </a:r>
                <a:r>
                  <a:rPr lang="el-GR" sz="2400" dirty="0"/>
                  <a:t>θ</a:t>
                </a:r>
                <a:r>
                  <a:rPr lang="en-IN" sz="2400" baseline="-25000" dirty="0"/>
                  <a:t>1</a:t>
                </a:r>
                <a:r>
                  <a:rPr lang="el-GR" sz="2400" dirty="0"/>
                  <a:t> </a:t>
                </a:r>
                <a:r>
                  <a:rPr lang="en-IN" sz="2400" dirty="0"/>
                  <a:t>until the MSE reaches its lowest value. This ensures the line fits the data as accurately as possible.</a:t>
                </a:r>
              </a:p>
            </p:txBody>
          </p:sp>
        </mc:Choice>
        <mc:Fallback xmlns="">
          <p:sp>
            <p:nvSpPr>
              <p:cNvPr id="3" name="Content Placeholder 2">
                <a:extLst>
                  <a:ext uri="{FF2B5EF4-FFF2-40B4-BE49-F238E27FC236}">
                    <a16:creationId xmlns:a16="http://schemas.microsoft.com/office/drawing/2014/main" id="{E1C892AB-FAE0-C941-88FA-55E79665B250}"/>
                  </a:ext>
                </a:extLst>
              </p:cNvPr>
              <p:cNvSpPr>
                <a:spLocks noGrp="1" noRot="1" noChangeAspect="1" noMove="1" noResize="1" noEditPoints="1" noAdjustHandles="1" noChangeArrowheads="1" noChangeShapeType="1" noTextEdit="1"/>
              </p:cNvSpPr>
              <p:nvPr>
                <p:ph idx="1"/>
              </p:nvPr>
            </p:nvSpPr>
            <p:spPr>
              <a:blipFill>
                <a:blip r:embed="rId2"/>
                <a:stretch>
                  <a:fillRect l="-812" t="-1961" b="-3501"/>
                </a:stretch>
              </a:blipFill>
            </p:spPr>
            <p:txBody>
              <a:bodyPr/>
              <a:lstStyle/>
              <a:p>
                <a:r>
                  <a:rPr lang="en-IN">
                    <a:noFill/>
                  </a:rPr>
                  <a:t> </a:t>
                </a:r>
              </a:p>
            </p:txBody>
          </p:sp>
        </mc:Fallback>
      </mc:AlternateContent>
    </p:spTree>
    <p:extLst>
      <p:ext uri="{BB962C8B-B14F-4D97-AF65-F5344CB8AC3E}">
        <p14:creationId xmlns:p14="http://schemas.microsoft.com/office/powerpoint/2010/main" val="1312927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05F91-9902-9418-9E98-F720EE3DBDD3}"/>
              </a:ext>
            </a:extLst>
          </p:cNvPr>
          <p:cNvSpPr>
            <a:spLocks noGrp="1"/>
          </p:cNvSpPr>
          <p:nvPr>
            <p:ph type="title"/>
          </p:nvPr>
        </p:nvSpPr>
        <p:spPr/>
        <p:txBody>
          <a:bodyPr/>
          <a:lstStyle/>
          <a:p>
            <a:r>
              <a:rPr lang="en-US" b="1" dirty="0"/>
              <a:t>Evaluation Metrics for Linear Regression</a:t>
            </a:r>
            <a:endParaRPr lang="en-IN" dirty="0"/>
          </a:p>
        </p:txBody>
      </p:sp>
      <p:sp>
        <p:nvSpPr>
          <p:cNvPr id="3" name="Content Placeholder 2">
            <a:extLst>
              <a:ext uri="{FF2B5EF4-FFF2-40B4-BE49-F238E27FC236}">
                <a16:creationId xmlns:a16="http://schemas.microsoft.com/office/drawing/2014/main" id="{BBEF2926-3A47-1DF1-FDC8-9228E8DEEA95}"/>
              </a:ext>
            </a:extLst>
          </p:cNvPr>
          <p:cNvSpPr>
            <a:spLocks noGrp="1"/>
          </p:cNvSpPr>
          <p:nvPr>
            <p:ph idx="1"/>
          </p:nvPr>
        </p:nvSpPr>
        <p:spPr/>
        <p:txBody>
          <a:bodyPr>
            <a:normAutofit/>
          </a:bodyPr>
          <a:lstStyle/>
          <a:p>
            <a:pPr fontAlgn="base"/>
            <a:r>
              <a:rPr lang="en-US" sz="2400" dirty="0"/>
              <a:t>A variety of evaluation measures can be used to determine the strength of any linear regression model. These assessment metrics often give an indication of how well the model is producing the observed outputs.</a:t>
            </a:r>
          </a:p>
          <a:p>
            <a:pPr fontAlgn="base"/>
            <a:r>
              <a:rPr lang="en-US" sz="2400" dirty="0"/>
              <a:t>The most common measurements are:</a:t>
            </a:r>
          </a:p>
          <a:p>
            <a:pPr marL="457200" indent="-457200" fontAlgn="base">
              <a:buAutoNum type="arabicPeriod"/>
            </a:pPr>
            <a:r>
              <a:rPr lang="en-US" sz="2400" b="1" dirty="0"/>
              <a:t>Mean Square Error (MSE)</a:t>
            </a:r>
          </a:p>
          <a:p>
            <a:pPr marL="457200" indent="-457200" fontAlgn="base">
              <a:buFont typeface="Arial" panose="020B0604020202020204" pitchFamily="34" charset="0"/>
              <a:buAutoNum type="arabicPeriod"/>
            </a:pPr>
            <a:r>
              <a:rPr lang="es-ES" sz="2400" b="1" dirty="0"/>
              <a:t>Mean Absolute Error (MAE)</a:t>
            </a:r>
          </a:p>
          <a:p>
            <a:pPr marL="457200" indent="-457200" fontAlgn="base">
              <a:buFont typeface="Arial" panose="020B0604020202020204" pitchFamily="34" charset="0"/>
              <a:buAutoNum type="arabicPeriod"/>
            </a:pPr>
            <a:r>
              <a:rPr lang="en-US" sz="2400" b="1" dirty="0"/>
              <a:t>Root Mean Squared Error (RMSE)</a:t>
            </a:r>
          </a:p>
          <a:p>
            <a:pPr marL="457200" indent="-457200" fontAlgn="base">
              <a:buFont typeface="Arial" panose="020B0604020202020204" pitchFamily="34" charset="0"/>
              <a:buAutoNum type="arabicPeriod"/>
            </a:pPr>
            <a:endParaRPr lang="es-ES" b="1" dirty="0"/>
          </a:p>
          <a:p>
            <a:pPr marL="457200" indent="-457200" fontAlgn="base">
              <a:buAutoNum type="arabicPeriod"/>
            </a:pPr>
            <a:endParaRPr lang="en-US" sz="2400" b="1" dirty="0"/>
          </a:p>
          <a:p>
            <a:pPr marL="457200" indent="-457200" fontAlgn="base">
              <a:buAutoNum type="arabicPeriod"/>
            </a:pPr>
            <a:endParaRPr lang="en-US" sz="2400" b="1" dirty="0"/>
          </a:p>
          <a:p>
            <a:endParaRPr lang="en-IN" sz="2400" dirty="0"/>
          </a:p>
        </p:txBody>
      </p:sp>
    </p:spTree>
    <p:extLst>
      <p:ext uri="{BB962C8B-B14F-4D97-AF65-F5344CB8AC3E}">
        <p14:creationId xmlns:p14="http://schemas.microsoft.com/office/powerpoint/2010/main" val="3672859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87568-2DE9-1D16-E56D-69A0F0871470}"/>
              </a:ext>
            </a:extLst>
          </p:cNvPr>
          <p:cNvSpPr>
            <a:spLocks noGrp="1"/>
          </p:cNvSpPr>
          <p:nvPr>
            <p:ph type="title"/>
          </p:nvPr>
        </p:nvSpPr>
        <p:spPr/>
        <p:txBody>
          <a:bodyPr/>
          <a:lstStyle/>
          <a:p>
            <a:r>
              <a:rPr lang="en-US" b="1" dirty="0"/>
              <a:t>1. Mean Square Error (MSE)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DB10E2-6C45-4904-3F8C-83852336D93B}"/>
                  </a:ext>
                </a:extLst>
              </p:cNvPr>
              <p:cNvSpPr>
                <a:spLocks noGrp="1"/>
              </p:cNvSpPr>
              <p:nvPr>
                <p:ph idx="1"/>
              </p:nvPr>
            </p:nvSpPr>
            <p:spPr>
              <a:xfrm>
                <a:off x="838200" y="1690688"/>
                <a:ext cx="10515600" cy="4802187"/>
              </a:xfrm>
            </p:spPr>
            <p:txBody>
              <a:bodyPr>
                <a:normAutofit/>
              </a:bodyPr>
              <a:lstStyle/>
              <a:p>
                <a:r>
                  <a:rPr lang="en-US" sz="2400" dirty="0"/>
                  <a:t>Mean Squared Error (MSE) is an evaluation metric that calculates the average of the squared differences between the actual and predicted values for all the data points. The difference is squared to ensure that negative and positive differences don't cancel each other out.</a:t>
                </a:r>
              </a:p>
              <a:p>
                <a:pPr marL="0" indent="0" algn="ctr" fontAlgn="base">
                  <a:buNone/>
                </a:pPr>
                <a:r>
                  <a:rPr lang="en-IN" b="1" i="1" dirty="0"/>
                  <a:t>MSE</a:t>
                </a:r>
                <a:r>
                  <a:rPr lang="en-US" b="1" dirty="0"/>
                  <a:t>= </a:t>
                </a:r>
                <a14:m>
                  <m:oMath xmlns:m="http://schemas.openxmlformats.org/officeDocument/2006/math">
                    <m:f>
                      <m:fPr>
                        <m:ctrlPr>
                          <a:rPr lang="pt-BR" b="1" i="1">
                            <a:latin typeface="Cambria Math" panose="02040503050406030204" pitchFamily="18" charset="0"/>
                          </a:rPr>
                        </m:ctrlPr>
                      </m:fPr>
                      <m:num>
                        <m:r>
                          <a:rPr lang="en-IN" b="1" i="1">
                            <a:latin typeface="Cambria Math" panose="02040503050406030204" pitchFamily="18" charset="0"/>
                          </a:rPr>
                          <m:t>𝟏</m:t>
                        </m:r>
                      </m:num>
                      <m:den>
                        <m:r>
                          <a:rPr lang="en-IN" b="1" i="1">
                            <a:latin typeface="Cambria Math" panose="02040503050406030204" pitchFamily="18" charset="0"/>
                          </a:rPr>
                          <m:t>𝒏</m:t>
                        </m:r>
                      </m:den>
                    </m:f>
                    <m:nary>
                      <m:naryPr>
                        <m:chr m:val="∑"/>
                        <m:ctrlPr>
                          <a:rPr lang="pt-BR" b="1" i="1">
                            <a:latin typeface="Cambria Math" panose="02040503050406030204" pitchFamily="18" charset="0"/>
                          </a:rPr>
                        </m:ctrlPr>
                      </m:naryPr>
                      <m:sub>
                        <m:r>
                          <a:rPr lang="en-IN" b="1" i="1">
                            <a:latin typeface="Cambria Math" panose="02040503050406030204" pitchFamily="18" charset="0"/>
                          </a:rPr>
                          <m:t>𝒊</m:t>
                        </m:r>
                        <m:r>
                          <a:rPr lang="en-IN" b="1" i="1">
                            <a:latin typeface="Cambria Math" panose="02040503050406030204" pitchFamily="18" charset="0"/>
                          </a:rPr>
                          <m:t>=</m:t>
                        </m:r>
                        <m:r>
                          <a:rPr lang="en-IN" b="1" i="1">
                            <a:latin typeface="Cambria Math" panose="02040503050406030204" pitchFamily="18" charset="0"/>
                          </a:rPr>
                          <m:t>𝟎</m:t>
                        </m:r>
                      </m:sub>
                      <m:sup>
                        <m:r>
                          <a:rPr lang="en-IN" b="1" i="1">
                            <a:latin typeface="Cambria Math" panose="02040503050406030204" pitchFamily="18" charset="0"/>
                          </a:rPr>
                          <m:t>𝒏</m:t>
                        </m:r>
                      </m:sup>
                      <m:e>
                        <m:d>
                          <m:dPr>
                            <m:ctrlPr>
                              <a:rPr lang="pt-BR" b="1" i="1">
                                <a:latin typeface="Cambria Math" panose="02040503050406030204" pitchFamily="18" charset="0"/>
                              </a:rPr>
                            </m:ctrlPr>
                          </m:dPr>
                          <m:e>
                            <m:acc>
                              <m:accPr>
                                <m:chr m:val="̂"/>
                                <m:ctrlPr>
                                  <a:rPr lang="ar-AE" b="1" i="1">
                                    <a:latin typeface="Cambria Math" panose="02040503050406030204" pitchFamily="18" charset="0"/>
                                  </a:rPr>
                                </m:ctrlPr>
                              </m:accPr>
                              <m:e>
                                <m:sSub>
                                  <m:sSubPr>
                                    <m:ctrlPr>
                                      <a:rPr lang="ar-AE" b="1" i="1">
                                        <a:latin typeface="Cambria Math" panose="02040503050406030204" pitchFamily="18" charset="0"/>
                                      </a:rPr>
                                    </m:ctrlPr>
                                  </m:sSubPr>
                                  <m:e>
                                    <m:r>
                                      <a:rPr lang="ar-AE" b="1" i="1">
                                        <a:latin typeface="Cambria Math" panose="02040503050406030204" pitchFamily="18" charset="0"/>
                                      </a:rPr>
                                      <m:t>𝒚</m:t>
                                    </m:r>
                                  </m:e>
                                  <m:sub>
                                    <m:r>
                                      <a:rPr lang="ar-AE" b="1" i="1">
                                        <a:latin typeface="Cambria Math" panose="02040503050406030204" pitchFamily="18" charset="0"/>
                                      </a:rPr>
                                      <m:t>𝒊</m:t>
                                    </m:r>
                                  </m:sub>
                                </m:sSub>
                              </m:e>
                            </m:acc>
                            <m:r>
                              <a:rPr lang="en-IN" b="1" i="1">
                                <a:latin typeface="Cambria Math" panose="02040503050406030204" pitchFamily="18" charset="0"/>
                              </a:rPr>
                              <m:t> −</m:t>
                            </m:r>
                            <m:sSub>
                              <m:sSubPr>
                                <m:ctrlPr>
                                  <a:rPr lang="ar-AE" b="1" i="1">
                                    <a:latin typeface="Cambria Math" panose="02040503050406030204" pitchFamily="18" charset="0"/>
                                  </a:rPr>
                                </m:ctrlPr>
                              </m:sSubPr>
                              <m:e>
                                <m:r>
                                  <a:rPr lang="en-IN" b="1" i="1">
                                    <a:latin typeface="Cambria Math" panose="02040503050406030204" pitchFamily="18" charset="0"/>
                                  </a:rPr>
                                  <m:t>𝒚</m:t>
                                </m:r>
                              </m:e>
                              <m:sub>
                                <m:r>
                                  <a:rPr lang="ar-AE" b="1" i="1">
                                    <a:latin typeface="Cambria Math" panose="02040503050406030204" pitchFamily="18" charset="0"/>
                                  </a:rPr>
                                  <m:t>𝒊</m:t>
                                </m:r>
                              </m:sub>
                            </m:sSub>
                          </m:e>
                        </m:d>
                      </m:e>
                    </m:nary>
                    <m:r>
                      <a:rPr lang="en-IN" b="1" i="1" baseline="30000">
                        <a:latin typeface="Cambria Math" panose="02040503050406030204" pitchFamily="18" charset="0"/>
                      </a:rPr>
                      <m:t>𝟐</m:t>
                    </m:r>
                  </m:oMath>
                </a14:m>
                <a:endParaRPr lang="en-IN" b="1" baseline="30000" dirty="0"/>
              </a:p>
              <a:p>
                <a:pPr fontAlgn="base"/>
                <a14:m>
                  <m:oMath xmlns:m="http://schemas.openxmlformats.org/officeDocument/2006/math">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e>
                    </m:acc>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𝜃</m:t>
                        </m:r>
                      </m:e>
                      <m:sub>
                        <m:r>
                          <a:rPr lang="en-IN" sz="2400">
                            <a:latin typeface="Cambria Math" panose="02040503050406030204" pitchFamily="18" charset="0"/>
                          </a:rPr>
                          <m:t>0</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𝜃</m:t>
                        </m:r>
                      </m:e>
                      <m:sub>
                        <m:r>
                          <a:rPr lang="en-IN" sz="2400" i="1">
                            <a:latin typeface="Cambria Math" panose="02040503050406030204" pitchFamily="18" charset="0"/>
                          </a:rPr>
                          <m:t>𝑖</m:t>
                        </m:r>
                      </m:sub>
                    </m:sSub>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sub>
                    </m:sSub>
                  </m:oMath>
                </a14:m>
                <a:endParaRPr lang="ar-AE" sz="2400" dirty="0"/>
              </a:p>
              <a:p>
                <a:pPr fontAlgn="base"/>
                <a14:m>
                  <m:oMath xmlns:m="http://schemas.openxmlformats.org/officeDocument/2006/math">
                    <m:r>
                      <a:rPr lang="en-IN" sz="2400" i="1">
                        <a:latin typeface="Cambria Math" panose="02040503050406030204" pitchFamily="18" charset="0"/>
                      </a:rPr>
                      <m:t>𝑛</m:t>
                    </m:r>
                  </m:oMath>
                </a14:m>
                <a:r>
                  <a:rPr lang="en-IN" sz="2400" dirty="0"/>
                  <a:t>is the number of data points.</a:t>
                </a:r>
              </a:p>
              <a:p>
                <a:pPr fontAlgn="base"/>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oMath>
                </a14:m>
                <a:r>
                  <a:rPr lang="en-IN" sz="2400" dirty="0"/>
                  <a:t>is the actual or observed value for the</a:t>
                </a:r>
                <a14:m>
                  <m:oMath xmlns:m="http://schemas.openxmlformats.org/officeDocument/2006/math">
                    <m:sSup>
                      <m:sSupPr>
                        <m:ctrlPr>
                          <a:rPr lang="ar-AE" sz="2400" i="1">
                            <a:latin typeface="Cambria Math" panose="02040503050406030204" pitchFamily="18" charset="0"/>
                          </a:rPr>
                        </m:ctrlPr>
                      </m:sSupPr>
                      <m:e>
                        <m:r>
                          <a:rPr lang="ar-AE" sz="2400" i="1">
                            <a:latin typeface="Cambria Math" panose="02040503050406030204" pitchFamily="18" charset="0"/>
                          </a:rPr>
                          <m:t>𝑖</m:t>
                        </m:r>
                      </m:e>
                      <m:sup>
                        <m:r>
                          <a:rPr lang="ar-AE" sz="2400" i="1">
                            <a:latin typeface="Cambria Math" panose="02040503050406030204" pitchFamily="18" charset="0"/>
                          </a:rPr>
                          <m:t>𝑡</m:t>
                        </m:r>
                        <m:r>
                          <a:rPr lang="ar-AE" sz="2400" i="1">
                            <a:latin typeface="Cambria Math" panose="02040503050406030204" pitchFamily="18" charset="0"/>
                          </a:rPr>
                          <m:t>h</m:t>
                        </m:r>
                      </m:sup>
                    </m:sSup>
                  </m:oMath>
                </a14:m>
                <a:r>
                  <a:rPr lang="en-IN" sz="2400" dirty="0"/>
                  <a:t>data point.</a:t>
                </a:r>
              </a:p>
              <a:p>
                <a:pPr fontAlgn="base"/>
                <a14:m>
                  <m:oMath xmlns:m="http://schemas.openxmlformats.org/officeDocument/2006/math">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e>
                    </m:acc>
                  </m:oMath>
                </a14:m>
                <a:r>
                  <a:rPr lang="ar-AE" sz="2400" dirty="0"/>
                  <a:t> </a:t>
                </a:r>
                <a:r>
                  <a:rPr lang="en-IN" sz="2400" dirty="0"/>
                  <a:t>is the predicted value for the </a:t>
                </a:r>
                <a14:m>
                  <m:oMath xmlns:m="http://schemas.openxmlformats.org/officeDocument/2006/math">
                    <m:sSup>
                      <m:sSupPr>
                        <m:ctrlPr>
                          <a:rPr lang="ar-AE" sz="2400" i="1">
                            <a:latin typeface="Cambria Math" panose="02040503050406030204" pitchFamily="18" charset="0"/>
                          </a:rPr>
                        </m:ctrlPr>
                      </m:sSupPr>
                      <m:e>
                        <m:r>
                          <a:rPr lang="ar-AE" sz="2400" i="1">
                            <a:latin typeface="Cambria Math" panose="02040503050406030204" pitchFamily="18" charset="0"/>
                          </a:rPr>
                          <m:t>𝑖</m:t>
                        </m:r>
                      </m:e>
                      <m:sup>
                        <m:r>
                          <a:rPr lang="ar-AE" sz="2400" i="1">
                            <a:latin typeface="Cambria Math" panose="02040503050406030204" pitchFamily="18" charset="0"/>
                          </a:rPr>
                          <m:t>𝑡</m:t>
                        </m:r>
                        <m:r>
                          <a:rPr lang="ar-AE" sz="2400" i="1">
                            <a:latin typeface="Cambria Math" panose="02040503050406030204" pitchFamily="18" charset="0"/>
                          </a:rPr>
                          <m:t>h</m:t>
                        </m:r>
                      </m:sup>
                    </m:sSup>
                  </m:oMath>
                </a14:m>
                <a:r>
                  <a:rPr lang="en-IN" sz="2400" dirty="0"/>
                  <a:t>data point.</a:t>
                </a:r>
              </a:p>
              <a:p>
                <a:pPr fontAlgn="base"/>
                <a:r>
                  <a:rPr lang="en-IN" sz="2400" dirty="0"/>
                  <a:t>MSE is a way to quantify the accuracy of a model's predictions. MSE is sensitive to outliers as large errors contribute significantly to the overall score.</a:t>
                </a:r>
              </a:p>
            </p:txBody>
          </p:sp>
        </mc:Choice>
        <mc:Fallback xmlns="">
          <p:sp>
            <p:nvSpPr>
              <p:cNvPr id="3" name="Content Placeholder 2">
                <a:extLst>
                  <a:ext uri="{FF2B5EF4-FFF2-40B4-BE49-F238E27FC236}">
                    <a16:creationId xmlns:a16="http://schemas.microsoft.com/office/drawing/2014/main" id="{2BDB10E2-6C45-4904-3F8C-83852336D93B}"/>
                  </a:ext>
                </a:extLst>
              </p:cNvPr>
              <p:cNvSpPr>
                <a:spLocks noGrp="1" noRot="1" noChangeAspect="1" noMove="1" noResize="1" noEditPoints="1" noAdjustHandles="1" noChangeArrowheads="1" noChangeShapeType="1" noTextEdit="1"/>
              </p:cNvSpPr>
              <p:nvPr>
                <p:ph idx="1"/>
              </p:nvPr>
            </p:nvSpPr>
            <p:spPr>
              <a:xfrm>
                <a:off x="838200" y="1690688"/>
                <a:ext cx="10515600" cy="4802187"/>
              </a:xfrm>
              <a:blipFill>
                <a:blip r:embed="rId2"/>
                <a:stretch>
                  <a:fillRect l="-812" t="-1777" r="-1391" b="-1396"/>
                </a:stretch>
              </a:blipFill>
            </p:spPr>
            <p:txBody>
              <a:bodyPr/>
              <a:lstStyle/>
              <a:p>
                <a:r>
                  <a:rPr lang="en-IN">
                    <a:noFill/>
                  </a:rPr>
                  <a:t> </a:t>
                </a:r>
              </a:p>
            </p:txBody>
          </p:sp>
        </mc:Fallback>
      </mc:AlternateContent>
    </p:spTree>
    <p:extLst>
      <p:ext uri="{BB962C8B-B14F-4D97-AF65-F5344CB8AC3E}">
        <p14:creationId xmlns:p14="http://schemas.microsoft.com/office/powerpoint/2010/main" val="2594709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B8C62-B893-2289-56EE-63B15D5BB35A}"/>
              </a:ext>
            </a:extLst>
          </p:cNvPr>
          <p:cNvSpPr>
            <a:spLocks noGrp="1"/>
          </p:cNvSpPr>
          <p:nvPr>
            <p:ph type="title"/>
          </p:nvPr>
        </p:nvSpPr>
        <p:spPr/>
        <p:txBody>
          <a:bodyPr/>
          <a:lstStyle/>
          <a:p>
            <a:r>
              <a:rPr lang="es-ES" b="1" dirty="0"/>
              <a:t>2. Mean Absolute Error (MAE)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6375AB-D9CB-98D1-1482-0DB3F0FABE70}"/>
                  </a:ext>
                </a:extLst>
              </p:cNvPr>
              <p:cNvSpPr>
                <a:spLocks noGrp="1"/>
              </p:cNvSpPr>
              <p:nvPr>
                <p:ph idx="1"/>
              </p:nvPr>
            </p:nvSpPr>
            <p:spPr>
              <a:xfrm>
                <a:off x="838200" y="1825625"/>
                <a:ext cx="10515600" cy="4667250"/>
              </a:xfrm>
            </p:spPr>
            <p:txBody>
              <a:bodyPr>
                <a:normAutofit/>
              </a:bodyPr>
              <a:lstStyle/>
              <a:p>
                <a:pPr fontAlgn="base"/>
                <a:r>
                  <a:rPr lang="en-IN" sz="2400" dirty="0"/>
                  <a:t>Mean Absolute Error is an evaluation metric used to calculate the accuracy of a regression model. MAE measures the average absolute difference between the predicted values and actual values.</a:t>
                </a:r>
              </a:p>
              <a:p>
                <a:pPr fontAlgn="base"/>
                <a:r>
                  <a:rPr lang="en-IN" sz="2400" dirty="0"/>
                  <a:t>Mathematically MAE is expressed as: </a:t>
                </a:r>
                <a:endParaRPr lang="en-IN" sz="2400" i="1" dirty="0"/>
              </a:p>
              <a:p>
                <a:pPr marL="0" indent="0" algn="r" fontAlgn="base">
                  <a:buNone/>
                </a:pPr>
                <a:r>
                  <a:rPr lang="en-IN" sz="2400" dirty="0"/>
                  <a:t>  </a:t>
                </a:r>
                <a14:m>
                  <m:oMath xmlns:m="http://schemas.openxmlformats.org/officeDocument/2006/math">
                    <m:r>
                      <a:rPr lang="en-IN" b="1" i="1">
                        <a:latin typeface="Cambria Math" panose="02040503050406030204" pitchFamily="18" charset="0"/>
                      </a:rPr>
                      <m:t>𝑴𝑨𝑬</m:t>
                    </m:r>
                    <m:r>
                      <a:rPr lang="en-IN" b="1">
                        <a:latin typeface="Cambria Math" panose="02040503050406030204" pitchFamily="18" charset="0"/>
                      </a:rPr>
                      <m:t>=</m:t>
                    </m:r>
                    <m:f>
                      <m:fPr>
                        <m:ctrlPr>
                          <a:rPr lang="ar-AE" b="1" i="1">
                            <a:latin typeface="Cambria Math" panose="02040503050406030204" pitchFamily="18" charset="0"/>
                          </a:rPr>
                        </m:ctrlPr>
                      </m:fPr>
                      <m:num>
                        <m:r>
                          <a:rPr lang="ar-AE" b="1" i="1">
                            <a:latin typeface="Cambria Math" panose="02040503050406030204" pitchFamily="18" charset="0"/>
                          </a:rPr>
                          <m:t>𝟏</m:t>
                        </m:r>
                      </m:num>
                      <m:den>
                        <m:r>
                          <a:rPr lang="ar-AE" b="1" i="1">
                            <a:latin typeface="Cambria Math" panose="02040503050406030204" pitchFamily="18" charset="0"/>
                          </a:rPr>
                          <m:t>𝒏</m:t>
                        </m:r>
                      </m:den>
                    </m:f>
                    <m:nary>
                      <m:naryPr>
                        <m:chr m:val="∑"/>
                        <m:limLoc m:val="subSup"/>
                        <m:grow m:val="on"/>
                        <m:ctrlPr>
                          <a:rPr lang="ar-AE" b="1" i="1">
                            <a:latin typeface="Cambria Math" panose="02040503050406030204" pitchFamily="18" charset="0"/>
                          </a:rPr>
                        </m:ctrlPr>
                      </m:naryPr>
                      <m:sub>
                        <m:r>
                          <a:rPr lang="ar-AE" b="1" i="1">
                            <a:latin typeface="Cambria Math" panose="02040503050406030204" pitchFamily="18" charset="0"/>
                          </a:rPr>
                          <m:t>𝒊</m:t>
                        </m:r>
                        <m:r>
                          <a:rPr lang="ar-AE" b="1">
                            <a:latin typeface="Cambria Math" panose="02040503050406030204" pitchFamily="18" charset="0"/>
                          </a:rPr>
                          <m:t>=</m:t>
                        </m:r>
                        <m:r>
                          <a:rPr lang="ar-AE" b="1" i="1">
                            <a:latin typeface="Cambria Math" panose="02040503050406030204" pitchFamily="18" charset="0"/>
                          </a:rPr>
                          <m:t>𝟏</m:t>
                        </m:r>
                      </m:sub>
                      <m:sup>
                        <m:r>
                          <a:rPr lang="ar-AE" b="1" i="1">
                            <a:latin typeface="Cambria Math" panose="02040503050406030204" pitchFamily="18" charset="0"/>
                          </a:rPr>
                          <m:t>𝒏</m:t>
                        </m:r>
                      </m:sup>
                      <m:e>
                        <m:r>
                          <a:rPr lang="ar-AE" b="1">
                            <a:latin typeface="Cambria Math" panose="02040503050406030204" pitchFamily="18" charset="0"/>
                          </a:rPr>
                          <m:t>∣</m:t>
                        </m:r>
                      </m:e>
                    </m:nary>
                    <m:sSub>
                      <m:sSubPr>
                        <m:ctrlPr>
                          <a:rPr lang="ar-AE" b="1" i="1">
                            <a:latin typeface="Cambria Math" panose="02040503050406030204" pitchFamily="18" charset="0"/>
                          </a:rPr>
                        </m:ctrlPr>
                      </m:sSubPr>
                      <m:e>
                        <m:r>
                          <a:rPr lang="ar-AE" b="1" i="1">
                            <a:latin typeface="Cambria Math" panose="02040503050406030204" pitchFamily="18" charset="0"/>
                          </a:rPr>
                          <m:t>𝒀</m:t>
                        </m:r>
                      </m:e>
                      <m:sub>
                        <m:r>
                          <a:rPr lang="ar-AE" b="1" i="1">
                            <a:latin typeface="Cambria Math" panose="02040503050406030204" pitchFamily="18" charset="0"/>
                          </a:rPr>
                          <m:t>𝒊</m:t>
                        </m:r>
                      </m:sub>
                    </m:sSub>
                    <m:r>
                      <a:rPr lang="ar-AE" b="1">
                        <a:latin typeface="Cambria Math" panose="02040503050406030204" pitchFamily="18" charset="0"/>
                      </a:rPr>
                      <m:t>−</m:t>
                    </m:r>
                    <m:acc>
                      <m:accPr>
                        <m:chr m:val="̂"/>
                        <m:ctrlPr>
                          <a:rPr lang="ar-AE" b="1" i="1">
                            <a:latin typeface="Cambria Math" panose="02040503050406030204" pitchFamily="18" charset="0"/>
                          </a:rPr>
                        </m:ctrlPr>
                      </m:accPr>
                      <m:e>
                        <m:sSub>
                          <m:sSubPr>
                            <m:ctrlPr>
                              <a:rPr lang="ar-AE" b="1" i="1">
                                <a:latin typeface="Cambria Math" panose="02040503050406030204" pitchFamily="18" charset="0"/>
                              </a:rPr>
                            </m:ctrlPr>
                          </m:sSubPr>
                          <m:e>
                            <m:r>
                              <a:rPr lang="ar-AE" b="1" i="1">
                                <a:latin typeface="Cambria Math" panose="02040503050406030204" pitchFamily="18" charset="0"/>
                              </a:rPr>
                              <m:t>𝒀</m:t>
                            </m:r>
                          </m:e>
                          <m:sub>
                            <m:r>
                              <a:rPr lang="ar-AE" b="1" i="1">
                                <a:latin typeface="Cambria Math" panose="02040503050406030204" pitchFamily="18" charset="0"/>
                              </a:rPr>
                              <m:t>𝒊</m:t>
                            </m:r>
                          </m:sub>
                        </m:sSub>
                      </m:e>
                    </m:acc>
                    <m:r>
                      <a:rPr lang="ar-AE" b="1">
                        <a:latin typeface="Cambria Math" panose="02040503050406030204" pitchFamily="18" charset="0"/>
                      </a:rPr>
                      <m:t>∣</m:t>
                    </m:r>
                    <m:r>
                      <a:rPr lang="en-IN" b="0" i="0" smtClean="0">
                        <a:latin typeface="Cambria Math" panose="02040503050406030204" pitchFamily="18" charset="0"/>
                      </a:rPr>
                      <m:t>                       </m:t>
                    </m:r>
                  </m:oMath>
                </a14:m>
                <a:endParaRPr lang="ar-AE" sz="2400" i="1" dirty="0"/>
              </a:p>
              <a:p>
                <a:pPr fontAlgn="base"/>
                <a:r>
                  <a:rPr lang="en-IN" sz="2400" dirty="0"/>
                  <a:t>n is the number of observations</a:t>
                </a:r>
              </a:p>
              <a:p>
                <a:pPr fontAlgn="base"/>
                <a:r>
                  <a:rPr lang="en-IN" sz="2400" dirty="0"/>
                  <a:t>Y</a:t>
                </a:r>
                <a:r>
                  <a:rPr lang="en-IN" sz="2400" baseline="-25000" dirty="0"/>
                  <a:t>i</a:t>
                </a:r>
                <a:r>
                  <a:rPr lang="en-IN" sz="2400" dirty="0"/>
                  <a:t> represents the actual values.</a:t>
                </a:r>
              </a:p>
              <a:p>
                <a:pPr fontAlgn="base"/>
                <a14:m>
                  <m:oMath xmlns:m="http://schemas.openxmlformats.org/officeDocument/2006/math">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𝑌</m:t>
                            </m:r>
                          </m:e>
                          <m:sub>
                            <m:r>
                              <a:rPr lang="ar-AE" sz="2400" i="1">
                                <a:latin typeface="Cambria Math" panose="02040503050406030204" pitchFamily="18" charset="0"/>
                              </a:rPr>
                              <m:t>𝑖</m:t>
                            </m:r>
                          </m:sub>
                        </m:sSub>
                      </m:e>
                    </m:acc>
                  </m:oMath>
                </a14:m>
                <a:r>
                  <a:rPr lang="ar-AE" sz="2400" dirty="0"/>
                  <a:t> </a:t>
                </a:r>
                <a:r>
                  <a:rPr lang="en-IN" sz="2400" dirty="0"/>
                  <a:t>represents the predicted values</a:t>
                </a:r>
              </a:p>
              <a:p>
                <a:pPr fontAlgn="base"/>
                <a:r>
                  <a:rPr lang="en-IN" sz="2400" dirty="0"/>
                  <a:t>Lower MAE value indicates better model performance. It is not sensitive to the outliers as we consider absolute differences.</a:t>
                </a:r>
              </a:p>
            </p:txBody>
          </p:sp>
        </mc:Choice>
        <mc:Fallback xmlns="">
          <p:sp>
            <p:nvSpPr>
              <p:cNvPr id="3" name="Content Placeholder 2">
                <a:extLst>
                  <a:ext uri="{FF2B5EF4-FFF2-40B4-BE49-F238E27FC236}">
                    <a16:creationId xmlns:a16="http://schemas.microsoft.com/office/drawing/2014/main" id="{9C6375AB-D9CB-98D1-1482-0DB3F0FABE70}"/>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812" t="-1828"/>
                </a:stretch>
              </a:blipFill>
            </p:spPr>
            <p:txBody>
              <a:bodyPr/>
              <a:lstStyle/>
              <a:p>
                <a:r>
                  <a:rPr lang="en-IN">
                    <a:noFill/>
                  </a:rPr>
                  <a:t> </a:t>
                </a:r>
              </a:p>
            </p:txBody>
          </p:sp>
        </mc:Fallback>
      </mc:AlternateContent>
    </p:spTree>
    <p:extLst>
      <p:ext uri="{BB962C8B-B14F-4D97-AF65-F5344CB8AC3E}">
        <p14:creationId xmlns:p14="http://schemas.microsoft.com/office/powerpoint/2010/main" val="2430122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B71F0-31CF-0D62-D46F-66A40AA1CB6B}"/>
              </a:ext>
            </a:extLst>
          </p:cNvPr>
          <p:cNvSpPr>
            <a:spLocks noGrp="1"/>
          </p:cNvSpPr>
          <p:nvPr>
            <p:ph type="title"/>
          </p:nvPr>
        </p:nvSpPr>
        <p:spPr/>
        <p:txBody>
          <a:bodyPr/>
          <a:lstStyle/>
          <a:p>
            <a:r>
              <a:rPr lang="en-IN" b="1" dirty="0"/>
              <a:t>3.</a:t>
            </a:r>
            <a:r>
              <a:rPr lang="en-US" b="1" dirty="0"/>
              <a:t>Root Mean Squared Error (RMSE)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9DB4A9-6584-2B4F-66F2-B03834F16AEB}"/>
                  </a:ext>
                </a:extLst>
              </p:cNvPr>
              <p:cNvSpPr>
                <a:spLocks noGrp="1"/>
              </p:cNvSpPr>
              <p:nvPr>
                <p:ph idx="1"/>
              </p:nvPr>
            </p:nvSpPr>
            <p:spPr/>
            <p:txBody>
              <a:bodyPr>
                <a:normAutofit fontScale="92500" lnSpcReduction="10000"/>
              </a:bodyPr>
              <a:lstStyle/>
              <a:p>
                <a:pPr fontAlgn="base"/>
                <a:r>
                  <a:rPr lang="en-IN" dirty="0"/>
                  <a:t>The square root of the residuals' variance is the Root Mean Squared Error. </a:t>
                </a:r>
              </a:p>
              <a:p>
                <a:pPr fontAlgn="base"/>
                <a:r>
                  <a:rPr lang="en-IN" dirty="0"/>
                  <a:t>It describes how well the observed data points match the expected values or the model's absolute fit to the data. In mathematical notation, it can be expressed as:</a:t>
                </a:r>
              </a:p>
              <a:p>
                <a:pPr fontAlgn="base"/>
                <a:endParaRPr lang="en-IN" i="1" dirty="0"/>
              </a:p>
              <a:p>
                <a:pPr fontAlgn="base"/>
                <a14:m>
                  <m:oMath xmlns:m="http://schemas.openxmlformats.org/officeDocument/2006/math">
                    <m:r>
                      <a:rPr lang="en-IN" i="1">
                        <a:latin typeface="Cambria Math" panose="02040503050406030204" pitchFamily="18" charset="0"/>
                      </a:rPr>
                      <m:t>𝑛</m:t>
                    </m:r>
                  </m:oMath>
                </a14:m>
                <a:r>
                  <a:rPr lang="en-IN" dirty="0"/>
                  <a:t> : Number of observations</a:t>
                </a:r>
              </a:p>
              <a:p>
                <a:pPr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oMath>
                </a14:m>
                <a:r>
                  <a:rPr lang="ar-AE" dirty="0"/>
                  <a:t> : </a:t>
                </a:r>
                <a:r>
                  <a:rPr lang="en-IN" dirty="0"/>
                  <a:t>Actual value</a:t>
                </a:r>
              </a:p>
              <a:p>
                <a:pPr fontAlgn="base"/>
                <a14:m>
                  <m:oMath xmlns:m="http://schemas.openxmlformats.org/officeDocument/2006/math">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e>
                    </m:acc>
                  </m:oMath>
                </a14:m>
                <a:r>
                  <a:rPr lang="ar-AE" dirty="0"/>
                  <a:t>​ : </a:t>
                </a:r>
                <a:r>
                  <a:rPr lang="en-IN" dirty="0"/>
                  <a:t>Predicted value</a:t>
                </a:r>
              </a:p>
              <a:p>
                <a:pPr fontAlgn="base"/>
                <a:r>
                  <a:rPr lang="en-IN" dirty="0"/>
                  <a:t>RMSE is in the same unit as the target variable and highlights larger errors more clearly.</a:t>
                </a:r>
              </a:p>
              <a:p>
                <a:endParaRPr lang="en-IN" dirty="0"/>
              </a:p>
            </p:txBody>
          </p:sp>
        </mc:Choice>
        <mc:Fallback xmlns="">
          <p:sp>
            <p:nvSpPr>
              <p:cNvPr id="3" name="Content Placeholder 2">
                <a:extLst>
                  <a:ext uri="{FF2B5EF4-FFF2-40B4-BE49-F238E27FC236}">
                    <a16:creationId xmlns:a16="http://schemas.microsoft.com/office/drawing/2014/main" id="{599DB4A9-6584-2B4F-66F2-B03834F16AEB}"/>
                  </a:ext>
                </a:extLst>
              </p:cNvPr>
              <p:cNvSpPr>
                <a:spLocks noGrp="1" noRot="1" noChangeAspect="1" noMove="1" noResize="1" noEditPoints="1" noAdjustHandles="1" noChangeArrowheads="1" noChangeShapeType="1" noTextEdit="1"/>
              </p:cNvSpPr>
              <p:nvPr>
                <p:ph idx="1"/>
              </p:nvPr>
            </p:nvSpPr>
            <p:spPr>
              <a:blipFill>
                <a:blip r:embed="rId2"/>
                <a:stretch>
                  <a:fillRect l="-928" t="-2801" r="-116"/>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F4541063-E7F8-3950-B9E3-C5FCD7699832}"/>
              </a:ext>
            </a:extLst>
          </p:cNvPr>
          <p:cNvPicPr>
            <a:picLocks noChangeAspect="1"/>
          </p:cNvPicPr>
          <p:nvPr/>
        </p:nvPicPr>
        <p:blipFill>
          <a:blip r:embed="rId3"/>
          <a:stretch>
            <a:fillRect/>
          </a:stretch>
        </p:blipFill>
        <p:spPr>
          <a:xfrm>
            <a:off x="5461322" y="3180585"/>
            <a:ext cx="5133790" cy="1695635"/>
          </a:xfrm>
          <a:prstGeom prst="rect">
            <a:avLst/>
          </a:prstGeom>
        </p:spPr>
      </p:pic>
    </p:spTree>
    <p:extLst>
      <p:ext uri="{BB962C8B-B14F-4D97-AF65-F5344CB8AC3E}">
        <p14:creationId xmlns:p14="http://schemas.microsoft.com/office/powerpoint/2010/main" val="3445948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50AD7-E27F-30C1-274E-3A7C5BAA3242}"/>
              </a:ext>
            </a:extLst>
          </p:cNvPr>
          <p:cNvSpPr>
            <a:spLocks noGrp="1"/>
          </p:cNvSpPr>
          <p:nvPr>
            <p:ph type="title"/>
          </p:nvPr>
        </p:nvSpPr>
        <p:spPr/>
        <p:txBody>
          <a:bodyPr/>
          <a:lstStyle/>
          <a:p>
            <a:r>
              <a:rPr lang="en-US" b="1" dirty="0"/>
              <a:t>Why Linear Regression is Important</a:t>
            </a:r>
            <a:endParaRPr lang="en-IN" dirty="0"/>
          </a:p>
        </p:txBody>
      </p:sp>
      <p:sp>
        <p:nvSpPr>
          <p:cNvPr id="3" name="Content Placeholder 2">
            <a:extLst>
              <a:ext uri="{FF2B5EF4-FFF2-40B4-BE49-F238E27FC236}">
                <a16:creationId xmlns:a16="http://schemas.microsoft.com/office/drawing/2014/main" id="{9CD95793-BBA4-ABF6-DACA-D86CBABC2169}"/>
              </a:ext>
            </a:extLst>
          </p:cNvPr>
          <p:cNvSpPr>
            <a:spLocks noGrp="1"/>
          </p:cNvSpPr>
          <p:nvPr>
            <p:ph idx="1"/>
          </p:nvPr>
        </p:nvSpPr>
        <p:spPr/>
        <p:txBody>
          <a:bodyPr>
            <a:normAutofit fontScale="92500" lnSpcReduction="10000"/>
          </a:bodyPr>
          <a:lstStyle/>
          <a:p>
            <a:pPr fontAlgn="base"/>
            <a:r>
              <a:rPr lang="en-US" dirty="0"/>
              <a:t>Here’s why linear regression is important:</a:t>
            </a:r>
          </a:p>
          <a:p>
            <a:pPr marL="914400" lvl="1" indent="-457200" fontAlgn="base">
              <a:buFont typeface="+mj-lt"/>
              <a:buAutoNum type="arabicPeriod"/>
            </a:pPr>
            <a:r>
              <a:rPr lang="en-US" b="1" dirty="0"/>
              <a:t>Simplicity and Interpretability:</a:t>
            </a:r>
            <a:r>
              <a:rPr lang="en-US" dirty="0"/>
              <a:t> It’s easy to understand and interpret, making it a starting point for learning about machine learning.</a:t>
            </a:r>
          </a:p>
          <a:p>
            <a:pPr marL="914400" lvl="1" indent="-457200" fontAlgn="base">
              <a:buFont typeface="+mj-lt"/>
              <a:buAutoNum type="arabicPeriod"/>
            </a:pPr>
            <a:r>
              <a:rPr lang="en-US" b="1" dirty="0"/>
              <a:t>Predictive Ability</a:t>
            </a:r>
            <a:r>
              <a:rPr lang="en-US" dirty="0"/>
              <a:t>: Helps predict future outcomes based on past data, making it useful in various fields like finance, healthcare and marketing.</a:t>
            </a:r>
          </a:p>
          <a:p>
            <a:pPr marL="914400" lvl="1" indent="-457200" fontAlgn="base">
              <a:buFont typeface="+mj-lt"/>
              <a:buAutoNum type="arabicPeriod"/>
            </a:pPr>
            <a:r>
              <a:rPr lang="en-US" b="1" dirty="0"/>
              <a:t>Basis for Other Models:</a:t>
            </a:r>
            <a:r>
              <a:rPr lang="en-US" dirty="0"/>
              <a:t> Many advanced algorithms, like logistic regression or neural networks, build on the concepts of linear regression.</a:t>
            </a:r>
          </a:p>
          <a:p>
            <a:pPr marL="914400" lvl="1" indent="-457200" fontAlgn="base">
              <a:buFont typeface="+mj-lt"/>
              <a:buAutoNum type="arabicPeriod"/>
            </a:pPr>
            <a:r>
              <a:rPr lang="en-US" b="1" dirty="0"/>
              <a:t>Efficiency: </a:t>
            </a:r>
            <a:r>
              <a:rPr lang="en-US" dirty="0"/>
              <a:t>It’s computationally efficient and works well for problems with a linear relationship.</a:t>
            </a:r>
          </a:p>
          <a:p>
            <a:pPr marL="914400" lvl="1" indent="-457200" fontAlgn="base">
              <a:buFont typeface="+mj-lt"/>
              <a:buAutoNum type="arabicPeriod"/>
            </a:pPr>
            <a:r>
              <a:rPr lang="en-US" b="1" dirty="0"/>
              <a:t>Widely Used:</a:t>
            </a:r>
            <a:r>
              <a:rPr lang="en-US" dirty="0"/>
              <a:t> It’s one of the most widely used techniques in both statistics and machine learning for regression tasks.</a:t>
            </a:r>
          </a:p>
          <a:p>
            <a:pPr marL="914400" lvl="1" indent="-457200" fontAlgn="base">
              <a:buFont typeface="+mj-lt"/>
              <a:buAutoNum type="arabicPeriod"/>
            </a:pPr>
            <a:r>
              <a:rPr lang="en-US" b="1" dirty="0"/>
              <a:t>Analysis:</a:t>
            </a:r>
            <a:r>
              <a:rPr lang="en-US" dirty="0"/>
              <a:t> It provides insights into relationships between variables (e.g., how much one variable influences another).</a:t>
            </a:r>
          </a:p>
          <a:p>
            <a:endParaRPr lang="en-IN" dirty="0"/>
          </a:p>
        </p:txBody>
      </p:sp>
    </p:spTree>
    <p:extLst>
      <p:ext uri="{BB962C8B-B14F-4D97-AF65-F5344CB8AC3E}">
        <p14:creationId xmlns:p14="http://schemas.microsoft.com/office/powerpoint/2010/main" val="1355586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82AD-EB1E-5C11-8772-090A576440F7}"/>
              </a:ext>
            </a:extLst>
          </p:cNvPr>
          <p:cNvSpPr>
            <a:spLocks noGrp="1"/>
          </p:cNvSpPr>
          <p:nvPr>
            <p:ph type="title"/>
          </p:nvPr>
        </p:nvSpPr>
        <p:spPr/>
        <p:txBody>
          <a:bodyPr/>
          <a:lstStyle/>
          <a:p>
            <a:r>
              <a:rPr lang="en-IN" b="1" dirty="0"/>
              <a:t>Advantages of Linear Regression</a:t>
            </a:r>
            <a:endParaRPr lang="en-IN" dirty="0"/>
          </a:p>
        </p:txBody>
      </p:sp>
      <p:sp>
        <p:nvSpPr>
          <p:cNvPr id="3" name="Content Placeholder 2">
            <a:extLst>
              <a:ext uri="{FF2B5EF4-FFF2-40B4-BE49-F238E27FC236}">
                <a16:creationId xmlns:a16="http://schemas.microsoft.com/office/drawing/2014/main" id="{2F419DD9-15FC-2768-DD37-3C9152143CA7}"/>
              </a:ext>
            </a:extLst>
          </p:cNvPr>
          <p:cNvSpPr>
            <a:spLocks noGrp="1"/>
          </p:cNvSpPr>
          <p:nvPr>
            <p:ph idx="1"/>
          </p:nvPr>
        </p:nvSpPr>
        <p:spPr>
          <a:xfrm>
            <a:off x="838200" y="1690688"/>
            <a:ext cx="10515600" cy="4720051"/>
          </a:xfrm>
        </p:spPr>
        <p:txBody>
          <a:bodyPr>
            <a:normAutofit fontScale="85000" lnSpcReduction="10000"/>
          </a:bodyPr>
          <a:lstStyle/>
          <a:p>
            <a:pPr fontAlgn="base"/>
            <a:r>
              <a:rPr lang="en-US" dirty="0"/>
              <a:t>Linear regression is a </a:t>
            </a:r>
            <a:r>
              <a:rPr lang="en-US" b="1" dirty="0"/>
              <a:t>relatively simple algorithm</a:t>
            </a:r>
            <a:r>
              <a:rPr lang="en-US" dirty="0"/>
              <a:t>, making it easy to understand and implement. The coefficients of the linear regression model can be interpreted as the change in the dependent variable for a one-unit change in the independent variable, providing insights into the relationships between variables.</a:t>
            </a:r>
          </a:p>
          <a:p>
            <a:pPr fontAlgn="base"/>
            <a:r>
              <a:rPr lang="en-US" dirty="0"/>
              <a:t>Linear regression is </a:t>
            </a:r>
            <a:r>
              <a:rPr lang="en-US" b="1" dirty="0"/>
              <a:t>computationally efficient and can handle large datasets effectively</a:t>
            </a:r>
            <a:r>
              <a:rPr lang="en-US" dirty="0"/>
              <a:t>. It can be trained quickly on large datasets, making it suitable for real-time applications.</a:t>
            </a:r>
          </a:p>
          <a:p>
            <a:pPr fontAlgn="base"/>
            <a:r>
              <a:rPr lang="en-US" dirty="0"/>
              <a:t>Linear regression is </a:t>
            </a:r>
            <a:r>
              <a:rPr lang="en-US" b="1" dirty="0"/>
              <a:t>relatively robust to outliers </a:t>
            </a:r>
            <a:r>
              <a:rPr lang="en-US" dirty="0"/>
              <a:t>compared to other machine learning algorithms. Outliers may have a smaller impact on the overall model performance.</a:t>
            </a:r>
          </a:p>
          <a:p>
            <a:pPr fontAlgn="base"/>
            <a:r>
              <a:rPr lang="en-US" dirty="0"/>
              <a:t>Linear regression often </a:t>
            </a:r>
            <a:r>
              <a:rPr lang="en-US" b="1" dirty="0"/>
              <a:t>serves as a good baseline model</a:t>
            </a:r>
            <a:r>
              <a:rPr lang="en-US" dirty="0"/>
              <a:t> for comparison with more complex machine learning algorithms.</a:t>
            </a:r>
          </a:p>
          <a:p>
            <a:pPr fontAlgn="base"/>
            <a:r>
              <a:rPr lang="en-US" dirty="0"/>
              <a:t>Linear regression is a </a:t>
            </a:r>
            <a:r>
              <a:rPr lang="en-US" b="1" dirty="0"/>
              <a:t>well-established algorithm with a rich history </a:t>
            </a:r>
            <a:r>
              <a:rPr lang="en-US" dirty="0"/>
              <a:t>and is widely available in various machine learning libraries and software packages.</a:t>
            </a:r>
          </a:p>
        </p:txBody>
      </p:sp>
    </p:spTree>
    <p:extLst>
      <p:ext uri="{BB962C8B-B14F-4D97-AF65-F5344CB8AC3E}">
        <p14:creationId xmlns:p14="http://schemas.microsoft.com/office/powerpoint/2010/main" val="1119972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3BD56-4353-D94F-BF57-60DFAA5F1BDE}"/>
              </a:ext>
            </a:extLst>
          </p:cNvPr>
          <p:cNvSpPr>
            <a:spLocks noGrp="1"/>
          </p:cNvSpPr>
          <p:nvPr>
            <p:ph type="title"/>
          </p:nvPr>
        </p:nvSpPr>
        <p:spPr/>
        <p:txBody>
          <a:bodyPr/>
          <a:lstStyle/>
          <a:p>
            <a:r>
              <a:rPr lang="en-US" b="1" dirty="0"/>
              <a:t>Limitations </a:t>
            </a:r>
            <a:r>
              <a:rPr lang="en-IN" b="1" dirty="0"/>
              <a:t>of Linear Regression</a:t>
            </a:r>
            <a:endParaRPr lang="en-IN" dirty="0"/>
          </a:p>
        </p:txBody>
      </p:sp>
      <p:sp>
        <p:nvSpPr>
          <p:cNvPr id="3" name="Content Placeholder 2">
            <a:extLst>
              <a:ext uri="{FF2B5EF4-FFF2-40B4-BE49-F238E27FC236}">
                <a16:creationId xmlns:a16="http://schemas.microsoft.com/office/drawing/2014/main" id="{881DEEB2-4AC2-2634-B626-9A12534847E3}"/>
              </a:ext>
            </a:extLst>
          </p:cNvPr>
          <p:cNvSpPr>
            <a:spLocks noGrp="1"/>
          </p:cNvSpPr>
          <p:nvPr>
            <p:ph idx="1"/>
          </p:nvPr>
        </p:nvSpPr>
        <p:spPr>
          <a:xfrm>
            <a:off x="838200" y="1690688"/>
            <a:ext cx="10515600" cy="4580903"/>
          </a:xfrm>
        </p:spPr>
        <p:txBody>
          <a:bodyPr>
            <a:normAutofit fontScale="77500" lnSpcReduction="20000"/>
          </a:bodyPr>
          <a:lstStyle/>
          <a:p>
            <a:pPr fontAlgn="base"/>
            <a:r>
              <a:rPr lang="en-US" dirty="0"/>
              <a:t>Linear regression assumes a </a:t>
            </a:r>
            <a:r>
              <a:rPr lang="en-US" b="1" dirty="0"/>
              <a:t>linear relationship between the dependent and independent variables</a:t>
            </a:r>
            <a:r>
              <a:rPr lang="en-US" dirty="0"/>
              <a:t>. If the relationship is not linear, the model may not perform well.</a:t>
            </a:r>
          </a:p>
          <a:p>
            <a:pPr fontAlgn="base"/>
            <a:r>
              <a:rPr lang="en-US" dirty="0"/>
              <a:t>Linear regression is </a:t>
            </a:r>
            <a:r>
              <a:rPr lang="en-US" b="1" dirty="0"/>
              <a:t>sensitive to multicollinearity</a:t>
            </a:r>
            <a:r>
              <a:rPr lang="en-US" dirty="0"/>
              <a:t>, which occurs when there is a high correlation between independent variables. Multicollinearity can inflate the variance of the coefficients and lead to unstable model predictions.</a:t>
            </a:r>
          </a:p>
          <a:p>
            <a:pPr fontAlgn="base"/>
            <a:r>
              <a:rPr lang="en-US" dirty="0"/>
              <a:t>Linear regression </a:t>
            </a:r>
            <a:r>
              <a:rPr lang="en-US" b="1" dirty="0"/>
              <a:t>assumes that the features are already in a suitable form for the model</a:t>
            </a:r>
            <a:r>
              <a:rPr lang="en-US" dirty="0"/>
              <a:t>. Feature engineering may be required to transform features into a format that can be effectively used by the model.</a:t>
            </a:r>
          </a:p>
          <a:p>
            <a:pPr fontAlgn="base"/>
            <a:r>
              <a:rPr lang="en-US" dirty="0"/>
              <a:t>Linear regression is </a:t>
            </a:r>
            <a:r>
              <a:rPr lang="en-US" b="1" dirty="0"/>
              <a:t>susceptible to both overfitting and underfitting</a:t>
            </a:r>
            <a:r>
              <a:rPr lang="en-US" dirty="0"/>
              <a:t>. Overfitting occurs when the model learns the training data too well and fails to generalize to unseen data. Underfitting occurs when the model is too simple to capture the underlying relationships in the data.</a:t>
            </a:r>
          </a:p>
          <a:p>
            <a:pPr fontAlgn="base"/>
            <a:r>
              <a:rPr lang="en-US" dirty="0"/>
              <a:t>Linear regression provides </a:t>
            </a:r>
            <a:r>
              <a:rPr lang="en-US" b="1" dirty="0"/>
              <a:t>limited explanatory power for complex relationships between variables</a:t>
            </a:r>
            <a:r>
              <a:rPr lang="en-US" dirty="0"/>
              <a:t>. More advanced machine learning techniques may be necessary for deeper insights.</a:t>
            </a:r>
          </a:p>
        </p:txBody>
      </p:sp>
    </p:spTree>
    <p:extLst>
      <p:ext uri="{BB962C8B-B14F-4D97-AF65-F5344CB8AC3E}">
        <p14:creationId xmlns:p14="http://schemas.microsoft.com/office/powerpoint/2010/main" val="2132915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548640"/>
          </a:xfrm>
          <a:prstGeom prst="rect">
            <a:avLst/>
          </a:prstGeom>
          <a:noFill/>
          <a:ln/>
        </p:spPr>
        <p:txBody>
          <a:bodyPr wrap="square" lIns="0" tIns="0" rIns="0" bIns="0" rtlCol="0" anchor="t"/>
          <a:lstStyle/>
          <a:p>
            <a:pPr>
              <a:lnSpc>
                <a:spcPts val="4320"/>
              </a:lnSpc>
            </a:pPr>
            <a:r>
              <a:rPr lang="en-US" sz="3600" b="1" dirty="0">
                <a:ea typeface="Arial" pitchFamily="34" charset="-122"/>
                <a:cs typeface="Arial" pitchFamily="34" charset="-120"/>
              </a:rPr>
              <a:t>Applications &amp; Use Cases</a:t>
            </a:r>
            <a:endParaRPr lang="en-US" sz="3600" dirty="0"/>
          </a:p>
        </p:txBody>
      </p:sp>
      <p:sp>
        <p:nvSpPr>
          <p:cNvPr id="3" name="Text 1"/>
          <p:cNvSpPr/>
          <p:nvPr/>
        </p:nvSpPr>
        <p:spPr>
          <a:xfrm>
            <a:off x="1219200" y="1666243"/>
            <a:ext cx="10160000" cy="2103120"/>
          </a:xfrm>
          <a:prstGeom prst="rect">
            <a:avLst/>
          </a:prstGeom>
          <a:noFill/>
          <a:ln/>
        </p:spPr>
        <p:txBody>
          <a:bodyPr wrap="square" lIns="0" tIns="0" rIns="0" bIns="0" rtlCol="0" anchor="t"/>
          <a:lstStyle/>
          <a:p>
            <a:pPr marL="457189" indent="-457189">
              <a:lnSpc>
                <a:spcPts val="3240"/>
              </a:lnSpc>
              <a:buSzPct val="100000"/>
              <a:buChar char="•"/>
            </a:pPr>
            <a:r>
              <a:rPr lang="en-US" sz="2400" dirty="0">
                <a:ea typeface="Arial" pitchFamily="34" charset="-122"/>
                <a:cs typeface="Arial" pitchFamily="34" charset="-120"/>
              </a:rPr>
              <a:t>Predictive modeling (sales forecasting, price prediction)</a:t>
            </a:r>
            <a:endParaRPr lang="en-US" sz="2400" dirty="0"/>
          </a:p>
          <a:p>
            <a:pPr marL="457189" indent="-457189">
              <a:lnSpc>
                <a:spcPts val="3240"/>
              </a:lnSpc>
              <a:buSzPct val="100000"/>
              <a:buChar char="•"/>
            </a:pPr>
            <a:r>
              <a:rPr lang="en-US" sz="2400" dirty="0">
                <a:ea typeface="Arial" pitchFamily="34" charset="-122"/>
                <a:cs typeface="Arial" pitchFamily="34" charset="-120"/>
              </a:rPr>
              <a:t>Risk assessment and factor analysis in finance</a:t>
            </a:r>
            <a:endParaRPr lang="en-US" sz="2400" dirty="0"/>
          </a:p>
          <a:p>
            <a:pPr marL="457189" indent="-457189">
              <a:lnSpc>
                <a:spcPts val="3240"/>
              </a:lnSpc>
              <a:buSzPct val="100000"/>
              <a:buChar char="•"/>
            </a:pPr>
            <a:r>
              <a:rPr lang="en-US" sz="2400" dirty="0">
                <a:ea typeface="Arial" pitchFamily="34" charset="-122"/>
                <a:cs typeface="Arial" pitchFamily="34" charset="-120"/>
              </a:rPr>
              <a:t>Trend analysis and time-series forecasting</a:t>
            </a:r>
            <a:endParaRPr lang="en-US" sz="2400" dirty="0"/>
          </a:p>
          <a:p>
            <a:pPr marL="457189" indent="-457189">
              <a:lnSpc>
                <a:spcPts val="3240"/>
              </a:lnSpc>
              <a:buSzPct val="100000"/>
              <a:buChar char="•"/>
            </a:pPr>
            <a:r>
              <a:rPr lang="en-US" sz="2400" dirty="0">
                <a:ea typeface="Arial" pitchFamily="34" charset="-122"/>
                <a:cs typeface="Arial" pitchFamily="34" charset="-120"/>
              </a:rPr>
              <a:t>Feature importance and relationship analysis</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B8A50-73B4-F58F-6CAA-420C82E8D7F4}"/>
              </a:ext>
            </a:extLst>
          </p:cNvPr>
          <p:cNvSpPr>
            <a:spLocks noGrp="1"/>
          </p:cNvSpPr>
          <p:nvPr>
            <p:ph type="title"/>
          </p:nvPr>
        </p:nvSpPr>
        <p:spPr/>
        <p:txBody>
          <a:bodyPr/>
          <a:lstStyle/>
          <a:p>
            <a:r>
              <a:rPr lang="en-IN" dirty="0"/>
              <a:t>Linear Regression Problem</a:t>
            </a:r>
          </a:p>
        </p:txBody>
      </p:sp>
      <p:pic>
        <p:nvPicPr>
          <p:cNvPr id="5" name="Content Placeholder 4">
            <a:extLst>
              <a:ext uri="{FF2B5EF4-FFF2-40B4-BE49-F238E27FC236}">
                <a16:creationId xmlns:a16="http://schemas.microsoft.com/office/drawing/2014/main" id="{9A1A5868-E615-1763-BA19-AC9D87928738}"/>
              </a:ext>
            </a:extLst>
          </p:cNvPr>
          <p:cNvPicPr>
            <a:picLocks noGrp="1" noChangeAspect="1"/>
          </p:cNvPicPr>
          <p:nvPr>
            <p:ph idx="1"/>
          </p:nvPr>
        </p:nvPicPr>
        <p:blipFill>
          <a:blip r:embed="rId2"/>
          <a:stretch>
            <a:fillRect/>
          </a:stretch>
        </p:blipFill>
        <p:spPr>
          <a:xfrm>
            <a:off x="78060" y="119982"/>
            <a:ext cx="12081498" cy="6738018"/>
          </a:xfrm>
          <a:prstGeom prst="rect">
            <a:avLst/>
          </a:prstGeom>
        </p:spPr>
      </p:pic>
    </p:spTree>
    <p:extLst>
      <p:ext uri="{BB962C8B-B14F-4D97-AF65-F5344CB8AC3E}">
        <p14:creationId xmlns:p14="http://schemas.microsoft.com/office/powerpoint/2010/main" val="3595423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3D5D-B2C1-F8CD-ADA9-A877B8FF28CE}"/>
              </a:ext>
            </a:extLst>
          </p:cNvPr>
          <p:cNvSpPr>
            <a:spLocks noGrp="1"/>
          </p:cNvSpPr>
          <p:nvPr>
            <p:ph type="title"/>
          </p:nvPr>
        </p:nvSpPr>
        <p:spPr/>
        <p:txBody>
          <a:bodyPr/>
          <a:lstStyle/>
          <a:p>
            <a:r>
              <a:rPr lang="en-IN" dirty="0"/>
              <a:t>Linear Regression Problem</a:t>
            </a:r>
          </a:p>
        </p:txBody>
      </p:sp>
      <p:pic>
        <p:nvPicPr>
          <p:cNvPr id="5" name="Content Placeholder 4">
            <a:extLst>
              <a:ext uri="{FF2B5EF4-FFF2-40B4-BE49-F238E27FC236}">
                <a16:creationId xmlns:a16="http://schemas.microsoft.com/office/drawing/2014/main" id="{FE54EDF4-DB16-6DCB-2620-BD7BBDD7A97F}"/>
              </a:ext>
            </a:extLst>
          </p:cNvPr>
          <p:cNvPicPr>
            <a:picLocks noGrp="1" noChangeAspect="1"/>
          </p:cNvPicPr>
          <p:nvPr>
            <p:ph idx="1"/>
          </p:nvPr>
        </p:nvPicPr>
        <p:blipFill>
          <a:blip r:embed="rId2"/>
          <a:stretch>
            <a:fillRect/>
          </a:stretch>
        </p:blipFill>
        <p:spPr>
          <a:xfrm>
            <a:off x="152399" y="747101"/>
            <a:ext cx="12127455" cy="3387577"/>
          </a:xfrm>
          <a:prstGeom prst="rect">
            <a:avLst/>
          </a:prstGeom>
        </p:spPr>
      </p:pic>
    </p:spTree>
    <p:extLst>
      <p:ext uri="{BB962C8B-B14F-4D97-AF65-F5344CB8AC3E}">
        <p14:creationId xmlns:p14="http://schemas.microsoft.com/office/powerpoint/2010/main" val="14457064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50801C-0F9C-991A-8335-FF2FF3592B89}"/>
              </a:ext>
            </a:extLst>
          </p:cNvPr>
          <p:cNvPicPr>
            <a:picLocks noGrp="1" noChangeAspect="1"/>
          </p:cNvPicPr>
          <p:nvPr>
            <p:ph idx="1"/>
          </p:nvPr>
        </p:nvPicPr>
        <p:blipFill>
          <a:blip r:embed="rId2"/>
          <a:stretch>
            <a:fillRect/>
          </a:stretch>
        </p:blipFill>
        <p:spPr>
          <a:xfrm>
            <a:off x="311800" y="245303"/>
            <a:ext cx="10889600" cy="6224440"/>
          </a:xfrm>
          <a:prstGeom prst="rect">
            <a:avLst/>
          </a:prstGeom>
        </p:spPr>
      </p:pic>
    </p:spTree>
    <p:extLst>
      <p:ext uri="{BB962C8B-B14F-4D97-AF65-F5344CB8AC3E}">
        <p14:creationId xmlns:p14="http://schemas.microsoft.com/office/powerpoint/2010/main" val="2026082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067E1-E2F5-E9FD-F475-9E03E6A7DECD}"/>
              </a:ext>
            </a:extLst>
          </p:cNvPr>
          <p:cNvPicPr>
            <a:picLocks noChangeAspect="1"/>
          </p:cNvPicPr>
          <p:nvPr/>
        </p:nvPicPr>
        <p:blipFill>
          <a:blip r:embed="rId2"/>
          <a:stretch>
            <a:fillRect/>
          </a:stretch>
        </p:blipFill>
        <p:spPr>
          <a:xfrm>
            <a:off x="550338" y="1178659"/>
            <a:ext cx="10932032" cy="3204498"/>
          </a:xfrm>
          <a:prstGeom prst="rect">
            <a:avLst/>
          </a:prstGeom>
        </p:spPr>
      </p:pic>
    </p:spTree>
    <p:extLst>
      <p:ext uri="{BB962C8B-B14F-4D97-AF65-F5344CB8AC3E}">
        <p14:creationId xmlns:p14="http://schemas.microsoft.com/office/powerpoint/2010/main" val="2467140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F94F2-0C60-1335-F461-9DB189418484}"/>
              </a:ext>
            </a:extLst>
          </p:cNvPr>
          <p:cNvSpPr>
            <a:spLocks noGrp="1"/>
          </p:cNvSpPr>
          <p:nvPr>
            <p:ph type="title"/>
          </p:nvPr>
        </p:nvSpPr>
        <p:spPr/>
        <p:txBody>
          <a:bodyPr/>
          <a:lstStyle/>
          <a:p>
            <a:r>
              <a:rPr lang="en-IN" b="1" dirty="0"/>
              <a:t>Polynomial Regression</a:t>
            </a:r>
          </a:p>
        </p:txBody>
      </p:sp>
      <p:sp>
        <p:nvSpPr>
          <p:cNvPr id="3" name="Content Placeholder 2">
            <a:extLst>
              <a:ext uri="{FF2B5EF4-FFF2-40B4-BE49-F238E27FC236}">
                <a16:creationId xmlns:a16="http://schemas.microsoft.com/office/drawing/2014/main" id="{662DD5FF-2258-0895-1F90-FB04BB0D8F9C}"/>
              </a:ext>
            </a:extLst>
          </p:cNvPr>
          <p:cNvSpPr>
            <a:spLocks noGrp="1"/>
          </p:cNvSpPr>
          <p:nvPr>
            <p:ph idx="1"/>
          </p:nvPr>
        </p:nvSpPr>
        <p:spPr>
          <a:xfrm>
            <a:off x="838200" y="1690688"/>
            <a:ext cx="10515600" cy="4486275"/>
          </a:xfrm>
        </p:spPr>
        <p:txBody>
          <a:bodyPr>
            <a:normAutofit/>
          </a:bodyPr>
          <a:lstStyle/>
          <a:p>
            <a:r>
              <a:rPr lang="en-US" sz="2400" dirty="0"/>
              <a:t>Polynomial Regression is a type of regression model that captures a </a:t>
            </a:r>
            <a:r>
              <a:rPr lang="en-US" sz="2400" b="1" dirty="0"/>
              <a:t>non-linear relationship</a:t>
            </a:r>
            <a:r>
              <a:rPr lang="en-US" sz="2400" dirty="0"/>
              <a:t> between the independent variable(s) and the dependent variable by fitting a polynomial equation to the data.</a:t>
            </a:r>
            <a:endParaRPr lang="en-IN" sz="2400" dirty="0"/>
          </a:p>
        </p:txBody>
      </p:sp>
      <p:pic>
        <p:nvPicPr>
          <p:cNvPr id="5" name="Picture 4">
            <a:extLst>
              <a:ext uri="{FF2B5EF4-FFF2-40B4-BE49-F238E27FC236}">
                <a16:creationId xmlns:a16="http://schemas.microsoft.com/office/drawing/2014/main" id="{215C5A3A-66C0-567C-0FAF-1E4380840132}"/>
              </a:ext>
            </a:extLst>
          </p:cNvPr>
          <p:cNvPicPr>
            <a:picLocks noChangeAspect="1"/>
          </p:cNvPicPr>
          <p:nvPr/>
        </p:nvPicPr>
        <p:blipFill>
          <a:blip r:embed="rId2"/>
          <a:stretch>
            <a:fillRect/>
          </a:stretch>
        </p:blipFill>
        <p:spPr>
          <a:xfrm>
            <a:off x="912724" y="2792896"/>
            <a:ext cx="10515600" cy="3995529"/>
          </a:xfrm>
          <a:prstGeom prst="rect">
            <a:avLst/>
          </a:prstGeom>
        </p:spPr>
      </p:pic>
    </p:spTree>
    <p:extLst>
      <p:ext uri="{BB962C8B-B14F-4D97-AF65-F5344CB8AC3E}">
        <p14:creationId xmlns:p14="http://schemas.microsoft.com/office/powerpoint/2010/main" val="2164700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6981A-25DE-8F8D-C1DF-815400A3826E}"/>
              </a:ext>
            </a:extLst>
          </p:cNvPr>
          <p:cNvSpPr>
            <a:spLocks noGrp="1"/>
          </p:cNvSpPr>
          <p:nvPr>
            <p:ph type="title"/>
          </p:nvPr>
        </p:nvSpPr>
        <p:spPr/>
        <p:txBody>
          <a:bodyPr/>
          <a:lstStyle/>
          <a:p>
            <a:r>
              <a:rPr lang="en-IN" b="1" dirty="0"/>
              <a:t>Polynomial Regression</a:t>
            </a:r>
            <a:endParaRPr lang="en-IN" dirty="0"/>
          </a:p>
        </p:txBody>
      </p:sp>
      <p:pic>
        <p:nvPicPr>
          <p:cNvPr id="9" name="Content Placeholder 8">
            <a:extLst>
              <a:ext uri="{FF2B5EF4-FFF2-40B4-BE49-F238E27FC236}">
                <a16:creationId xmlns:a16="http://schemas.microsoft.com/office/drawing/2014/main" id="{473DF10B-463F-A3A5-B289-A30369F6850E}"/>
              </a:ext>
            </a:extLst>
          </p:cNvPr>
          <p:cNvPicPr>
            <a:picLocks noGrp="1" noChangeAspect="1"/>
          </p:cNvPicPr>
          <p:nvPr>
            <p:ph idx="1"/>
          </p:nvPr>
        </p:nvPicPr>
        <p:blipFill>
          <a:blip r:embed="rId2"/>
          <a:stretch>
            <a:fillRect/>
          </a:stretch>
        </p:blipFill>
        <p:spPr>
          <a:xfrm>
            <a:off x="2517689" y="1825625"/>
            <a:ext cx="7156621" cy="4351338"/>
          </a:xfrm>
          <a:prstGeom prst="rect">
            <a:avLst/>
          </a:prstGeom>
        </p:spPr>
      </p:pic>
    </p:spTree>
    <p:extLst>
      <p:ext uri="{BB962C8B-B14F-4D97-AF65-F5344CB8AC3E}">
        <p14:creationId xmlns:p14="http://schemas.microsoft.com/office/powerpoint/2010/main" val="1903162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3F46-7FD0-8AA8-F183-DC0D594CA9C0}"/>
              </a:ext>
            </a:extLst>
          </p:cNvPr>
          <p:cNvSpPr>
            <a:spLocks noGrp="1"/>
          </p:cNvSpPr>
          <p:nvPr>
            <p:ph type="title"/>
          </p:nvPr>
        </p:nvSpPr>
        <p:spPr/>
        <p:txBody>
          <a:bodyPr/>
          <a:lstStyle/>
          <a:p>
            <a:r>
              <a:rPr lang="en-IN" b="1" dirty="0"/>
              <a:t>Polynomial Regression</a:t>
            </a:r>
            <a:endParaRPr lang="en-IN" dirty="0"/>
          </a:p>
        </p:txBody>
      </p:sp>
      <p:sp>
        <p:nvSpPr>
          <p:cNvPr id="3" name="Content Placeholder 2">
            <a:extLst>
              <a:ext uri="{FF2B5EF4-FFF2-40B4-BE49-F238E27FC236}">
                <a16:creationId xmlns:a16="http://schemas.microsoft.com/office/drawing/2014/main" id="{2F80B693-AF30-7D4F-2897-0A3C9D434DA2}"/>
              </a:ext>
            </a:extLst>
          </p:cNvPr>
          <p:cNvSpPr>
            <a:spLocks noGrp="1"/>
          </p:cNvSpPr>
          <p:nvPr>
            <p:ph idx="1"/>
          </p:nvPr>
        </p:nvSpPr>
        <p:spPr/>
        <p:txBody>
          <a:bodyPr/>
          <a:lstStyle/>
          <a:p>
            <a:pPr marL="357188" lvl="0" indent="-268288" eaLnBrk="0" fontAlgn="base" hangingPunct="0">
              <a:lnSpc>
                <a:spcPct val="100000"/>
              </a:lnSpc>
              <a:spcBef>
                <a:spcPct val="0"/>
              </a:spcBef>
              <a:spcAft>
                <a:spcPct val="0"/>
              </a:spcAft>
              <a:buFontTx/>
              <a:buChar char="•"/>
            </a:pPr>
            <a:r>
              <a:rPr lang="en-US" altLang="en-US" b="1" dirty="0"/>
              <a:t>Advantages:</a:t>
            </a:r>
            <a:endParaRPr lang="en-US" altLang="en-US" dirty="0"/>
          </a:p>
          <a:p>
            <a:pPr marL="814388" lvl="2" indent="-268288" eaLnBrk="0" fontAlgn="base" hangingPunct="0">
              <a:lnSpc>
                <a:spcPct val="100000"/>
              </a:lnSpc>
              <a:spcBef>
                <a:spcPct val="0"/>
              </a:spcBef>
              <a:spcAft>
                <a:spcPct val="0"/>
              </a:spcAft>
              <a:buFontTx/>
              <a:buChar char="•"/>
            </a:pPr>
            <a:r>
              <a:rPr lang="en-US" altLang="en-US" sz="2400" dirty="0"/>
              <a:t>Models complex, curved trends in data.</a:t>
            </a:r>
          </a:p>
          <a:p>
            <a:pPr marL="814388" lvl="2" indent="-268288" eaLnBrk="0" fontAlgn="base" hangingPunct="0">
              <a:lnSpc>
                <a:spcPct val="100000"/>
              </a:lnSpc>
              <a:spcBef>
                <a:spcPct val="0"/>
              </a:spcBef>
              <a:spcAft>
                <a:spcPct val="0"/>
              </a:spcAft>
              <a:buFontTx/>
              <a:buChar char="•"/>
            </a:pPr>
            <a:r>
              <a:rPr lang="en-US" altLang="en-US" sz="2400" dirty="0"/>
              <a:t>More flexible than simple linear regression.</a:t>
            </a:r>
          </a:p>
          <a:p>
            <a:pPr marL="814388" lvl="2" indent="-268288" eaLnBrk="0" fontAlgn="base" hangingPunct="0">
              <a:lnSpc>
                <a:spcPct val="100000"/>
              </a:lnSpc>
              <a:spcBef>
                <a:spcPct val="0"/>
              </a:spcBef>
              <a:spcAft>
                <a:spcPct val="0"/>
              </a:spcAft>
              <a:buFontTx/>
              <a:buChar char="•"/>
            </a:pPr>
            <a:r>
              <a:rPr lang="en-US" altLang="en-US" sz="2400" dirty="0"/>
              <a:t>Easy to implement.</a:t>
            </a:r>
          </a:p>
          <a:p>
            <a:pPr marL="357188" lvl="0" indent="-268288" eaLnBrk="0" fontAlgn="base" hangingPunct="0">
              <a:lnSpc>
                <a:spcPct val="100000"/>
              </a:lnSpc>
              <a:spcBef>
                <a:spcPct val="0"/>
              </a:spcBef>
              <a:spcAft>
                <a:spcPct val="0"/>
              </a:spcAft>
              <a:buFontTx/>
              <a:buChar char="•"/>
            </a:pPr>
            <a:r>
              <a:rPr lang="en-US" altLang="en-US" b="1" dirty="0"/>
              <a:t>Disadvantages:</a:t>
            </a:r>
            <a:endParaRPr lang="en-US" altLang="en-US" dirty="0"/>
          </a:p>
          <a:p>
            <a:pPr marL="814388" lvl="2" indent="-268288" eaLnBrk="0" fontAlgn="base" hangingPunct="0">
              <a:lnSpc>
                <a:spcPct val="100000"/>
              </a:lnSpc>
              <a:spcBef>
                <a:spcPct val="0"/>
              </a:spcBef>
              <a:spcAft>
                <a:spcPct val="0"/>
              </a:spcAft>
              <a:buFontTx/>
              <a:buChar char="•"/>
            </a:pPr>
            <a:r>
              <a:rPr lang="en-US" altLang="en-US" sz="2400" dirty="0"/>
              <a:t>High-degree polynomials can cause </a:t>
            </a:r>
            <a:r>
              <a:rPr lang="en-US" altLang="en-US" sz="2400" b="1" dirty="0"/>
              <a:t>overfitting</a:t>
            </a:r>
            <a:r>
              <a:rPr lang="en-US" altLang="en-US" sz="2400" dirty="0"/>
              <a:t>.</a:t>
            </a:r>
          </a:p>
          <a:p>
            <a:pPr marL="814388" lvl="2" indent="-268288" eaLnBrk="0" fontAlgn="base" hangingPunct="0">
              <a:lnSpc>
                <a:spcPct val="100000"/>
              </a:lnSpc>
              <a:spcBef>
                <a:spcPct val="0"/>
              </a:spcBef>
              <a:spcAft>
                <a:spcPct val="0"/>
              </a:spcAft>
              <a:buFontTx/>
              <a:buChar char="•"/>
            </a:pPr>
            <a:r>
              <a:rPr lang="en-US" altLang="en-US" sz="2400" dirty="0"/>
              <a:t>Poor extrapolation outside the data range.</a:t>
            </a:r>
          </a:p>
          <a:p>
            <a:pPr marL="814388" lvl="2" indent="-268288" eaLnBrk="0" fontAlgn="base" hangingPunct="0">
              <a:lnSpc>
                <a:spcPct val="100000"/>
              </a:lnSpc>
              <a:spcBef>
                <a:spcPct val="0"/>
              </a:spcBef>
              <a:spcAft>
                <a:spcPct val="0"/>
              </a:spcAft>
              <a:buFontTx/>
              <a:buChar char="•"/>
            </a:pPr>
            <a:r>
              <a:rPr lang="en-US" altLang="en-US" sz="2400" dirty="0"/>
              <a:t>Sensitive to outliers.</a:t>
            </a:r>
          </a:p>
          <a:p>
            <a:pPr marL="814388" lvl="2" indent="-268288" eaLnBrk="0" fontAlgn="base" hangingPunct="0">
              <a:lnSpc>
                <a:spcPct val="100000"/>
              </a:lnSpc>
              <a:spcBef>
                <a:spcPct val="0"/>
              </a:spcBef>
              <a:spcAft>
                <a:spcPct val="0"/>
              </a:spcAft>
            </a:pPr>
            <a:endParaRPr lang="en-US" altLang="en-US" sz="2400" dirty="0"/>
          </a:p>
          <a:p>
            <a:pPr marL="357188" indent="-268288"/>
            <a:endParaRPr lang="en-IN" dirty="0"/>
          </a:p>
        </p:txBody>
      </p:sp>
    </p:spTree>
    <p:extLst>
      <p:ext uri="{BB962C8B-B14F-4D97-AF65-F5344CB8AC3E}">
        <p14:creationId xmlns:p14="http://schemas.microsoft.com/office/powerpoint/2010/main" val="1976306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FD5F6-2AB7-5BCF-49D8-142090535B31}"/>
              </a:ext>
            </a:extLst>
          </p:cNvPr>
          <p:cNvSpPr>
            <a:spLocks noGrp="1"/>
          </p:cNvSpPr>
          <p:nvPr>
            <p:ph type="title"/>
          </p:nvPr>
        </p:nvSpPr>
        <p:spPr/>
        <p:txBody>
          <a:bodyPr/>
          <a:lstStyle/>
          <a:p>
            <a:r>
              <a:rPr lang="en-US" b="1" dirty="0"/>
              <a:t>Decision Tree Regression</a:t>
            </a:r>
            <a:br>
              <a:rPr lang="en-IN" b="1" dirty="0"/>
            </a:br>
            <a:endParaRPr lang="en-IN" dirty="0"/>
          </a:p>
        </p:txBody>
      </p:sp>
      <p:sp>
        <p:nvSpPr>
          <p:cNvPr id="4" name="Content Placeholder 3">
            <a:extLst>
              <a:ext uri="{FF2B5EF4-FFF2-40B4-BE49-F238E27FC236}">
                <a16:creationId xmlns:a16="http://schemas.microsoft.com/office/drawing/2014/main" id="{8DA59C41-F1ED-26F6-1C74-24D636E0EE11}"/>
              </a:ext>
            </a:extLst>
          </p:cNvPr>
          <p:cNvSpPr>
            <a:spLocks noGrp="1"/>
          </p:cNvSpPr>
          <p:nvPr>
            <p:ph sz="half" idx="4294967295"/>
          </p:nvPr>
        </p:nvSpPr>
        <p:spPr>
          <a:xfrm>
            <a:off x="407503" y="1586705"/>
            <a:ext cx="5178287" cy="4827461"/>
          </a:xfrm>
        </p:spPr>
        <p:txBody>
          <a:bodyPr>
            <a:normAutofit lnSpcReduction="10000"/>
          </a:bodyPr>
          <a:lstStyle/>
          <a:p>
            <a:r>
              <a:rPr lang="en-US" sz="2400" dirty="0"/>
              <a:t>Breaks data into </a:t>
            </a:r>
            <a:r>
              <a:rPr lang="en-US" sz="2400" b="1" dirty="0"/>
              <a:t>branches based on feature conditions </a:t>
            </a:r>
            <a:r>
              <a:rPr lang="en-US" sz="2400" dirty="0"/>
              <a:t>(like a flowchart). Each branch leads to a </a:t>
            </a:r>
            <a:r>
              <a:rPr lang="en-US" sz="2400" b="1" dirty="0"/>
              <a:t>predicted output value</a:t>
            </a:r>
            <a:r>
              <a:rPr lang="en-US" sz="2400" dirty="0"/>
              <a:t>.</a:t>
            </a:r>
            <a:endParaRPr lang="en-IN" sz="2400" dirty="0"/>
          </a:p>
          <a:p>
            <a:pPr lvl="0"/>
            <a:r>
              <a:rPr lang="en-US" sz="2400" dirty="0"/>
              <a:t>When to Use:</a:t>
            </a:r>
            <a:endParaRPr lang="en-IN" sz="2400" dirty="0"/>
          </a:p>
          <a:p>
            <a:r>
              <a:rPr lang="en-US" sz="2400" dirty="0"/>
              <a:t>When the data has </a:t>
            </a:r>
            <a:r>
              <a:rPr lang="en-US" sz="2400" b="1" dirty="0"/>
              <a:t>sudden jumps or clear thresholds</a:t>
            </a:r>
            <a:r>
              <a:rPr lang="en-US" sz="2400" dirty="0"/>
              <a:t>. Handles both </a:t>
            </a:r>
            <a:r>
              <a:rPr lang="en-US" sz="2400" b="1" dirty="0"/>
              <a:t>linear and non-linear </a:t>
            </a:r>
            <a:r>
              <a:rPr lang="en-US" sz="2400" dirty="0"/>
              <a:t>data.</a:t>
            </a:r>
            <a:endParaRPr lang="en-IN" sz="2400" dirty="0"/>
          </a:p>
          <a:p>
            <a:pPr lvl="0"/>
            <a:r>
              <a:rPr lang="en-US" sz="2400" dirty="0"/>
              <a:t>Example:</a:t>
            </a:r>
            <a:endParaRPr lang="en-IN" sz="2400" dirty="0"/>
          </a:p>
          <a:p>
            <a:r>
              <a:rPr lang="en-US" sz="2400" dirty="0"/>
              <a:t>Predicting electricity usage:</a:t>
            </a:r>
            <a:endParaRPr lang="en-IN" sz="2400" dirty="0"/>
          </a:p>
          <a:p>
            <a:r>
              <a:rPr lang="en-US" sz="2400" dirty="0"/>
              <a:t>If temperature &lt; 20°C → Low usage If 20–30°C → Medium usage</a:t>
            </a:r>
            <a:endParaRPr lang="en-IN" sz="2400" dirty="0"/>
          </a:p>
          <a:p>
            <a:r>
              <a:rPr lang="en-US" sz="2400" dirty="0"/>
              <a:t>If &gt;30°C → High usage</a:t>
            </a:r>
            <a:endParaRPr lang="en-IN" sz="2400" dirty="0"/>
          </a:p>
        </p:txBody>
      </p:sp>
      <p:grpSp>
        <p:nvGrpSpPr>
          <p:cNvPr id="7" name="Group 6">
            <a:extLst>
              <a:ext uri="{FF2B5EF4-FFF2-40B4-BE49-F238E27FC236}">
                <a16:creationId xmlns:a16="http://schemas.microsoft.com/office/drawing/2014/main" id="{57352556-BA0F-F0D4-4158-66AA675002F2}"/>
              </a:ext>
            </a:extLst>
          </p:cNvPr>
          <p:cNvGrpSpPr>
            <a:grpSpLocks/>
          </p:cNvGrpSpPr>
          <p:nvPr/>
        </p:nvGrpSpPr>
        <p:grpSpPr>
          <a:xfrm>
            <a:off x="5906192" y="1690688"/>
            <a:ext cx="5990947" cy="4802187"/>
            <a:chOff x="0" y="0"/>
            <a:chExt cx="5733415" cy="3350895"/>
          </a:xfrm>
        </p:grpSpPr>
        <p:sp>
          <p:nvSpPr>
            <p:cNvPr id="8" name="Graphic 123">
              <a:extLst>
                <a:ext uri="{FF2B5EF4-FFF2-40B4-BE49-F238E27FC236}">
                  <a16:creationId xmlns:a16="http://schemas.microsoft.com/office/drawing/2014/main" id="{6978A7B4-FA44-6944-840E-4300CAFEEEEC}"/>
                </a:ext>
              </a:extLst>
            </p:cNvPr>
            <p:cNvSpPr/>
            <p:nvPr/>
          </p:nvSpPr>
          <p:spPr>
            <a:xfrm>
              <a:off x="0" y="0"/>
              <a:ext cx="5733415" cy="3350895"/>
            </a:xfrm>
            <a:custGeom>
              <a:avLst/>
              <a:gdLst/>
              <a:ahLst/>
              <a:cxnLst/>
              <a:rect l="l" t="t" r="r" b="b"/>
              <a:pathLst>
                <a:path w="5733415" h="3350895">
                  <a:moveTo>
                    <a:pt x="5732970" y="0"/>
                  </a:moveTo>
                  <a:lnTo>
                    <a:pt x="5726925" y="0"/>
                  </a:lnTo>
                  <a:lnTo>
                    <a:pt x="6096" y="0"/>
                  </a:lnTo>
                  <a:lnTo>
                    <a:pt x="0" y="0"/>
                  </a:lnTo>
                  <a:lnTo>
                    <a:pt x="0" y="6096"/>
                  </a:lnTo>
                  <a:lnTo>
                    <a:pt x="0" y="3350387"/>
                  </a:lnTo>
                  <a:lnTo>
                    <a:pt x="6096" y="3350387"/>
                  </a:lnTo>
                  <a:lnTo>
                    <a:pt x="6096" y="6096"/>
                  </a:lnTo>
                  <a:lnTo>
                    <a:pt x="5726887" y="6096"/>
                  </a:lnTo>
                  <a:lnTo>
                    <a:pt x="5726887" y="3350387"/>
                  </a:lnTo>
                  <a:lnTo>
                    <a:pt x="5732970" y="3350387"/>
                  </a:lnTo>
                  <a:lnTo>
                    <a:pt x="5732970" y="6096"/>
                  </a:lnTo>
                  <a:lnTo>
                    <a:pt x="5732970" y="0"/>
                  </a:lnTo>
                  <a:close/>
                </a:path>
              </a:pathLst>
            </a:custGeom>
            <a:solidFill>
              <a:srgbClr val="000000"/>
            </a:solidFill>
            <a:ln>
              <a:noFill/>
            </a:ln>
          </p:spPr>
          <p:txBody>
            <a:bodyPr wrap="square" lIns="0" tIns="0" rIns="0" bIns="0" rtlCol="0">
              <a:prstTxWarp prst="textNoShape">
                <a:avLst/>
              </a:prstTxWarp>
              <a:noAutofit/>
            </a:bodyPr>
            <a:lstStyle/>
            <a:p>
              <a:endParaRPr lang="en-IN"/>
            </a:p>
          </p:txBody>
        </p:sp>
        <p:pic>
          <p:nvPicPr>
            <p:cNvPr id="9" name="Image 124">
              <a:extLst>
                <a:ext uri="{FF2B5EF4-FFF2-40B4-BE49-F238E27FC236}">
                  <a16:creationId xmlns:a16="http://schemas.microsoft.com/office/drawing/2014/main" id="{C0C8BBB5-17CA-C8A3-CE37-130CD55BA2BE}"/>
                </a:ext>
              </a:extLst>
            </p:cNvPr>
            <p:cNvPicPr/>
            <p:nvPr/>
          </p:nvPicPr>
          <p:blipFill>
            <a:blip r:embed="rId2" cstate="print"/>
            <a:stretch>
              <a:fillRect/>
            </a:stretch>
          </p:blipFill>
          <p:spPr>
            <a:xfrm>
              <a:off x="949053" y="120479"/>
              <a:ext cx="3800244" cy="3175494"/>
            </a:xfrm>
            <a:prstGeom prst="rect">
              <a:avLst/>
            </a:prstGeom>
            <a:ln>
              <a:noFill/>
            </a:ln>
          </p:spPr>
        </p:pic>
      </p:grpSp>
    </p:spTree>
    <p:extLst>
      <p:ext uri="{BB962C8B-B14F-4D97-AF65-F5344CB8AC3E}">
        <p14:creationId xmlns:p14="http://schemas.microsoft.com/office/powerpoint/2010/main" val="27863917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5EF5B736-3679-ABCC-2F37-81040348B982}"/>
              </a:ext>
            </a:extLst>
          </p:cNvPr>
          <p:cNvGraphicFramePr>
            <a:graphicFrameLocks noGrp="1"/>
          </p:cNvGraphicFramePr>
          <p:nvPr>
            <p:ph idx="4294967295"/>
          </p:nvPr>
        </p:nvGraphicFramePr>
        <p:xfrm>
          <a:off x="685799" y="440842"/>
          <a:ext cx="10823714" cy="3368040"/>
        </p:xfrm>
        <a:graphic>
          <a:graphicData uri="http://schemas.openxmlformats.org/drawingml/2006/table">
            <a:tbl>
              <a:tblPr firstRow="1" firstCol="1" lastRow="1" lastCol="1" bandRow="1" bandCol="1"/>
              <a:tblGrid>
                <a:gridCol w="3150419">
                  <a:extLst>
                    <a:ext uri="{9D8B030D-6E8A-4147-A177-3AD203B41FA5}">
                      <a16:colId xmlns:a16="http://schemas.microsoft.com/office/drawing/2014/main" val="1245149033"/>
                    </a:ext>
                  </a:extLst>
                </a:gridCol>
                <a:gridCol w="2079484">
                  <a:extLst>
                    <a:ext uri="{9D8B030D-6E8A-4147-A177-3AD203B41FA5}">
                      <a16:colId xmlns:a16="http://schemas.microsoft.com/office/drawing/2014/main" val="2716045989"/>
                    </a:ext>
                  </a:extLst>
                </a:gridCol>
                <a:gridCol w="2505777">
                  <a:extLst>
                    <a:ext uri="{9D8B030D-6E8A-4147-A177-3AD203B41FA5}">
                      <a16:colId xmlns:a16="http://schemas.microsoft.com/office/drawing/2014/main" val="3607380570"/>
                    </a:ext>
                  </a:extLst>
                </a:gridCol>
                <a:gridCol w="3088034">
                  <a:extLst>
                    <a:ext uri="{9D8B030D-6E8A-4147-A177-3AD203B41FA5}">
                      <a16:colId xmlns:a16="http://schemas.microsoft.com/office/drawing/2014/main" val="1163640740"/>
                    </a:ext>
                  </a:extLst>
                </a:gridCol>
              </a:tblGrid>
              <a:tr h="368300">
                <a:tc>
                  <a:txBody>
                    <a:bodyPr/>
                    <a:lstStyle/>
                    <a:p>
                      <a:pPr marL="243205" marR="0">
                        <a:spcBef>
                          <a:spcPts val="5"/>
                        </a:spcBef>
                        <a:buNone/>
                      </a:pPr>
                      <a:r>
                        <a:rPr lang="en-US" sz="2400" spc="-10" dirty="0">
                          <a:effectLst/>
                        </a:rPr>
                        <a:t>Regression</a:t>
                      </a:r>
                      <a:r>
                        <a:rPr lang="en-US" sz="2400" spc="20" dirty="0">
                          <a:effectLst/>
                        </a:rPr>
                        <a:t> </a:t>
                      </a:r>
                      <a:r>
                        <a:rPr lang="en-US" sz="2400" spc="-20" dirty="0">
                          <a:effectLst/>
                        </a:rPr>
                        <a:t>Type</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15900" marR="0">
                        <a:spcBef>
                          <a:spcPts val="5"/>
                        </a:spcBef>
                        <a:buNone/>
                      </a:pPr>
                      <a:r>
                        <a:rPr lang="en-US" sz="2400" dirty="0">
                          <a:effectLst/>
                        </a:rPr>
                        <a:t>Shape</a:t>
                      </a:r>
                      <a:r>
                        <a:rPr lang="en-US" sz="2400" spc="-10" dirty="0">
                          <a:effectLst/>
                        </a:rPr>
                        <a:t> </a:t>
                      </a:r>
                      <a:r>
                        <a:rPr lang="en-US" sz="2400" spc="-25" dirty="0">
                          <a:effectLst/>
                        </a:rPr>
                        <a:t>of</a:t>
                      </a:r>
                      <a:endParaRPr lang="en-IN" sz="2400" dirty="0">
                        <a:effectLst/>
                      </a:endParaRPr>
                    </a:p>
                    <a:p>
                      <a:pPr marL="284480" marR="0">
                        <a:spcBef>
                          <a:spcPts val="185"/>
                        </a:spcBef>
                        <a:buNone/>
                      </a:pPr>
                      <a:r>
                        <a:rPr lang="en-US" sz="2400" spc="-10" dirty="0">
                          <a:effectLst/>
                        </a:rPr>
                        <a:t>Model</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8255" marR="2540" algn="ctr">
                        <a:spcBef>
                          <a:spcPts val="5"/>
                        </a:spcBef>
                        <a:buNone/>
                      </a:pPr>
                      <a:r>
                        <a:rPr lang="en-US" sz="2400">
                          <a:effectLst/>
                        </a:rPr>
                        <a:t>Handles</a:t>
                      </a:r>
                      <a:r>
                        <a:rPr lang="en-US" sz="2400" spc="-40">
                          <a:effectLst/>
                        </a:rPr>
                        <a:t> </a:t>
                      </a:r>
                      <a:r>
                        <a:rPr lang="en-US" sz="2400" spc="-10">
                          <a:effectLst/>
                        </a:rPr>
                        <a:t>Multiple</a:t>
                      </a:r>
                      <a:endParaRPr lang="en-IN" sz="2400">
                        <a:effectLst/>
                      </a:endParaRPr>
                    </a:p>
                    <a:p>
                      <a:pPr marL="8255" marR="0" algn="ctr">
                        <a:spcBef>
                          <a:spcPts val="185"/>
                        </a:spcBef>
                        <a:buNone/>
                      </a:pPr>
                      <a:r>
                        <a:rPr lang="en-US" sz="2400" spc="-10">
                          <a:effectLst/>
                        </a:rPr>
                        <a:t>Inputs?</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4675" marR="0">
                        <a:spcBef>
                          <a:spcPts val="5"/>
                        </a:spcBef>
                        <a:buNone/>
                      </a:pPr>
                      <a:r>
                        <a:rPr lang="en-US" sz="2400">
                          <a:effectLst/>
                        </a:rPr>
                        <a:t>Suitable</a:t>
                      </a:r>
                      <a:r>
                        <a:rPr lang="en-US" sz="2400" spc="-40">
                          <a:effectLst/>
                        </a:rPr>
                        <a:t> </a:t>
                      </a:r>
                      <a:r>
                        <a:rPr lang="en-US" sz="2400" spc="-25">
                          <a:effectLst/>
                        </a:rPr>
                        <a:t>For</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261291509"/>
                  </a:ext>
                </a:extLst>
              </a:tr>
              <a:tr h="213995">
                <a:tc>
                  <a:txBody>
                    <a:bodyPr/>
                    <a:lstStyle/>
                    <a:p>
                      <a:pPr marL="67945" marR="0">
                        <a:spcBef>
                          <a:spcPts val="15"/>
                        </a:spcBef>
                        <a:buNone/>
                      </a:pPr>
                      <a:r>
                        <a:rPr lang="en-US" sz="2400">
                          <a:effectLst/>
                        </a:rPr>
                        <a:t>Linear</a:t>
                      </a:r>
                      <a:r>
                        <a:rPr lang="en-US" sz="2400" spc="-10">
                          <a:effectLst/>
                        </a:rPr>
                        <a:t> Regression</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spcBef>
                          <a:spcPts val="15"/>
                        </a:spcBef>
                        <a:buNone/>
                      </a:pPr>
                      <a:r>
                        <a:rPr lang="en-US" sz="2400">
                          <a:effectLst/>
                        </a:rPr>
                        <a:t>Straight</a:t>
                      </a:r>
                      <a:r>
                        <a:rPr lang="en-US" sz="2400" spc="-15">
                          <a:effectLst/>
                        </a:rPr>
                        <a:t> </a:t>
                      </a:r>
                      <a:r>
                        <a:rPr lang="en-US" sz="2400" spc="-20">
                          <a:effectLst/>
                        </a:rPr>
                        <a:t>Line</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marR="0">
                        <a:spcBef>
                          <a:spcPts val="10"/>
                        </a:spcBef>
                        <a:buNone/>
                      </a:pPr>
                      <a:r>
                        <a:rPr lang="en-US" sz="2400">
                          <a:effectLst/>
                        </a:rPr>
                        <a:t>+</a:t>
                      </a:r>
                      <a:r>
                        <a:rPr lang="en-US" sz="2400" spc="-115">
                          <a:effectLst/>
                        </a:rPr>
                        <a:t> </a:t>
                      </a:r>
                      <a:r>
                        <a:rPr lang="en-US" sz="2400" spc="-25">
                          <a:effectLst/>
                        </a:rPr>
                        <a:t>No</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marR="0">
                        <a:spcBef>
                          <a:spcPts val="15"/>
                        </a:spcBef>
                        <a:buNone/>
                      </a:pPr>
                      <a:r>
                        <a:rPr lang="en-US" sz="2400">
                          <a:effectLst/>
                        </a:rPr>
                        <a:t>Simple</a:t>
                      </a:r>
                      <a:r>
                        <a:rPr lang="en-US" sz="2400" spc="-25">
                          <a:effectLst/>
                        </a:rPr>
                        <a:t> </a:t>
                      </a:r>
                      <a:r>
                        <a:rPr lang="en-US" sz="2400">
                          <a:effectLst/>
                        </a:rPr>
                        <a:t>linear</a:t>
                      </a:r>
                      <a:r>
                        <a:rPr lang="en-US" sz="2400" spc="-15">
                          <a:effectLst/>
                        </a:rPr>
                        <a:t> </a:t>
                      </a:r>
                      <a:r>
                        <a:rPr lang="en-US" sz="2400" spc="-10">
                          <a:effectLst/>
                        </a:rPr>
                        <a:t>trends</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120973786"/>
                  </a:ext>
                </a:extLst>
              </a:tr>
              <a:tr h="368300">
                <a:tc>
                  <a:txBody>
                    <a:bodyPr/>
                    <a:lstStyle/>
                    <a:p>
                      <a:pPr marL="67945" marR="0">
                        <a:spcBef>
                          <a:spcPts val="5"/>
                        </a:spcBef>
                        <a:buNone/>
                      </a:pPr>
                      <a:r>
                        <a:rPr lang="en-US" sz="2400">
                          <a:effectLst/>
                        </a:rPr>
                        <a:t>Multiple</a:t>
                      </a:r>
                      <a:r>
                        <a:rPr lang="en-US" sz="2400" spc="-20">
                          <a:effectLst/>
                        </a:rPr>
                        <a:t> </a:t>
                      </a:r>
                      <a:r>
                        <a:rPr lang="en-US" sz="2400" spc="-10">
                          <a:effectLst/>
                        </a:rPr>
                        <a:t>Linear</a:t>
                      </a:r>
                      <a:endParaRPr lang="en-IN" sz="2400">
                        <a:effectLst/>
                      </a:endParaRPr>
                    </a:p>
                    <a:p>
                      <a:pPr marL="67945" marR="0">
                        <a:spcBef>
                          <a:spcPts val="185"/>
                        </a:spcBef>
                        <a:buNone/>
                      </a:pPr>
                      <a:r>
                        <a:rPr lang="en-US" sz="2400" spc="-10">
                          <a:effectLst/>
                        </a:rPr>
                        <a:t>Regression</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spcBef>
                          <a:spcPts val="5"/>
                        </a:spcBef>
                        <a:buNone/>
                      </a:pPr>
                      <a:r>
                        <a:rPr lang="en-US" sz="2400">
                          <a:effectLst/>
                        </a:rPr>
                        <a:t>Straight</a:t>
                      </a:r>
                      <a:r>
                        <a:rPr lang="en-US" sz="2400" spc="-25">
                          <a:effectLst/>
                        </a:rPr>
                        <a:t> </a:t>
                      </a:r>
                      <a:r>
                        <a:rPr lang="en-US" sz="2400" spc="-20">
                          <a:effectLst/>
                        </a:rPr>
                        <a:t>Plane</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marR="0">
                        <a:buNone/>
                      </a:pPr>
                      <a:r>
                        <a:rPr lang="en-US" sz="2400" spc="-1520">
                          <a:effectLst/>
                        </a:rPr>
                        <a:t>⬛</a:t>
                      </a:r>
                      <a:r>
                        <a:rPr lang="en-US" sz="2400" spc="235">
                          <a:effectLst/>
                        </a:rPr>
                        <a:t>   </a:t>
                      </a:r>
                      <a:r>
                        <a:rPr lang="en-US" sz="2400" spc="-25">
                          <a:effectLst/>
                        </a:rPr>
                        <a:t>Yes</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marR="0">
                        <a:spcBef>
                          <a:spcPts val="5"/>
                        </a:spcBef>
                        <a:buNone/>
                      </a:pPr>
                      <a:r>
                        <a:rPr lang="en-US" sz="2400">
                          <a:effectLst/>
                        </a:rPr>
                        <a:t>Multi-factor</a:t>
                      </a:r>
                      <a:r>
                        <a:rPr lang="en-US" sz="2400" spc="-35">
                          <a:effectLst/>
                        </a:rPr>
                        <a:t> </a:t>
                      </a:r>
                      <a:r>
                        <a:rPr lang="en-US" sz="2400" spc="-10">
                          <a:effectLst/>
                        </a:rPr>
                        <a:t>predictions</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421527811"/>
                  </a:ext>
                </a:extLst>
              </a:tr>
              <a:tr h="214630">
                <a:tc>
                  <a:txBody>
                    <a:bodyPr/>
                    <a:lstStyle/>
                    <a:p>
                      <a:pPr marL="67945" marR="0">
                        <a:spcBef>
                          <a:spcPts val="15"/>
                        </a:spcBef>
                        <a:buNone/>
                      </a:pPr>
                      <a:r>
                        <a:rPr lang="en-US" sz="2400">
                          <a:effectLst/>
                        </a:rPr>
                        <a:t>Polynomial</a:t>
                      </a:r>
                      <a:r>
                        <a:rPr lang="en-US" sz="2400" spc="-15">
                          <a:effectLst/>
                        </a:rPr>
                        <a:t> </a:t>
                      </a:r>
                      <a:r>
                        <a:rPr lang="en-US" sz="2400" spc="-10">
                          <a:effectLst/>
                        </a:rPr>
                        <a:t>Regression</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spcBef>
                          <a:spcPts val="15"/>
                        </a:spcBef>
                        <a:buNone/>
                      </a:pPr>
                      <a:r>
                        <a:rPr lang="en-US" sz="2400">
                          <a:effectLst/>
                        </a:rPr>
                        <a:t>Curved</a:t>
                      </a:r>
                      <a:r>
                        <a:rPr lang="en-US" sz="2400" spc="-15">
                          <a:effectLst/>
                        </a:rPr>
                        <a:t> </a:t>
                      </a:r>
                      <a:r>
                        <a:rPr lang="en-US" sz="2400" spc="-20">
                          <a:effectLst/>
                        </a:rPr>
                        <a:t>Line</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marR="0">
                        <a:spcBef>
                          <a:spcPts val="10"/>
                        </a:spcBef>
                        <a:buNone/>
                      </a:pPr>
                      <a:r>
                        <a:rPr lang="en-US" sz="2400" spc="-365">
                          <a:effectLst/>
                        </a:rPr>
                        <a:t> </a:t>
                      </a:r>
                      <a:r>
                        <a:rPr lang="en-US" sz="2400">
                          <a:effectLst/>
                        </a:rPr>
                        <a:t>⬛</a:t>
                      </a:r>
                      <a:r>
                        <a:rPr lang="en-US" sz="2400" spc="25">
                          <a:effectLst/>
                        </a:rPr>
                        <a:t> </a:t>
                      </a:r>
                      <a:r>
                        <a:rPr lang="en-US" sz="2400" spc="-25">
                          <a:effectLst/>
                        </a:rPr>
                        <a:t>Yes</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marR="0">
                        <a:spcBef>
                          <a:spcPts val="15"/>
                        </a:spcBef>
                        <a:buNone/>
                      </a:pPr>
                      <a:r>
                        <a:rPr lang="en-US" sz="2400">
                          <a:effectLst/>
                        </a:rPr>
                        <a:t>Non-linear</a:t>
                      </a:r>
                      <a:r>
                        <a:rPr lang="en-US" sz="2400" spc="-40">
                          <a:effectLst/>
                        </a:rPr>
                        <a:t> </a:t>
                      </a:r>
                      <a:r>
                        <a:rPr lang="en-US" sz="2400" spc="-10">
                          <a:effectLst/>
                        </a:rPr>
                        <a:t>trends</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432737046"/>
                  </a:ext>
                </a:extLst>
              </a:tr>
              <a:tr h="369570">
                <a:tc>
                  <a:txBody>
                    <a:bodyPr/>
                    <a:lstStyle/>
                    <a:p>
                      <a:pPr marL="67945" marR="0">
                        <a:spcBef>
                          <a:spcPts val="5"/>
                        </a:spcBef>
                        <a:buNone/>
                      </a:pPr>
                      <a:r>
                        <a:rPr lang="en-US" sz="2400">
                          <a:effectLst/>
                        </a:rPr>
                        <a:t>Decision</a:t>
                      </a:r>
                      <a:r>
                        <a:rPr lang="en-US" sz="2400" spc="-60">
                          <a:effectLst/>
                        </a:rPr>
                        <a:t> </a:t>
                      </a:r>
                      <a:r>
                        <a:rPr lang="en-US" sz="2400" spc="-20">
                          <a:effectLst/>
                        </a:rPr>
                        <a:t>Tree</a:t>
                      </a:r>
                      <a:endParaRPr lang="en-IN" sz="2400">
                        <a:effectLst/>
                      </a:endParaRPr>
                    </a:p>
                    <a:p>
                      <a:pPr marL="67945" marR="0">
                        <a:spcBef>
                          <a:spcPts val="185"/>
                        </a:spcBef>
                        <a:buNone/>
                      </a:pPr>
                      <a:r>
                        <a:rPr lang="en-US" sz="2400" spc="-10">
                          <a:effectLst/>
                        </a:rPr>
                        <a:t>Regression</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spcBef>
                          <a:spcPts val="5"/>
                        </a:spcBef>
                        <a:buNone/>
                      </a:pPr>
                      <a:r>
                        <a:rPr lang="en-US" sz="2400">
                          <a:effectLst/>
                        </a:rPr>
                        <a:t>Step-</a:t>
                      </a:r>
                      <a:r>
                        <a:rPr lang="en-US" sz="2400" spc="-20">
                          <a:effectLst/>
                        </a:rPr>
                        <a:t>wise</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marR="0">
                        <a:buNone/>
                      </a:pPr>
                      <a:r>
                        <a:rPr lang="en-US" sz="2400" spc="-1520">
                          <a:effectLst/>
                        </a:rPr>
                        <a:t>⬛</a:t>
                      </a:r>
                      <a:r>
                        <a:rPr lang="en-US" sz="2400" spc="235">
                          <a:effectLst/>
                        </a:rPr>
                        <a:t>   </a:t>
                      </a:r>
                      <a:r>
                        <a:rPr lang="en-US" sz="2400" spc="-25">
                          <a:effectLst/>
                        </a:rPr>
                        <a:t>Yes</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marR="0">
                        <a:spcBef>
                          <a:spcPts val="5"/>
                        </a:spcBef>
                        <a:buNone/>
                      </a:pPr>
                      <a:r>
                        <a:rPr lang="en-US" sz="2400" dirty="0">
                          <a:effectLst/>
                        </a:rPr>
                        <a:t>Rule-based</a:t>
                      </a:r>
                      <a:r>
                        <a:rPr lang="en-US" sz="2400" spc="-35" dirty="0">
                          <a:effectLst/>
                        </a:rPr>
                        <a:t> </a:t>
                      </a:r>
                      <a:r>
                        <a:rPr lang="en-US" sz="2400" dirty="0">
                          <a:effectLst/>
                        </a:rPr>
                        <a:t>or</a:t>
                      </a:r>
                      <a:r>
                        <a:rPr lang="en-US" sz="2400" spc="-30" dirty="0">
                          <a:effectLst/>
                        </a:rPr>
                        <a:t> </a:t>
                      </a:r>
                      <a:r>
                        <a:rPr lang="en-US" sz="2400" dirty="0">
                          <a:effectLst/>
                        </a:rPr>
                        <a:t>piecewise</a:t>
                      </a:r>
                      <a:r>
                        <a:rPr lang="en-US" sz="2400" spc="-20" dirty="0">
                          <a:effectLst/>
                        </a:rPr>
                        <a:t> data</a:t>
                      </a:r>
                      <a:endParaRPr lang="en-IN" sz="2400" dirty="0">
                        <a:effectLst/>
                      </a:endParaRPr>
                    </a:p>
                    <a:p>
                      <a:pPr marL="68580" marR="0">
                        <a:spcBef>
                          <a:spcPts val="185"/>
                        </a:spcBef>
                        <a:buNone/>
                      </a:pPr>
                      <a:r>
                        <a:rPr lang="en-US" sz="2400" spc="-10" dirty="0">
                          <a:effectLst/>
                        </a:rPr>
                        <a:t>patterns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20123822"/>
                  </a:ext>
                </a:extLst>
              </a:tr>
            </a:tbl>
          </a:graphicData>
        </a:graphic>
      </p:graphicFrame>
    </p:spTree>
    <p:extLst>
      <p:ext uri="{BB962C8B-B14F-4D97-AF65-F5344CB8AC3E}">
        <p14:creationId xmlns:p14="http://schemas.microsoft.com/office/powerpoint/2010/main" val="1139070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2547</Words>
  <Application>Microsoft Office PowerPoint</Application>
  <PresentationFormat>Widescreen</PresentationFormat>
  <Paragraphs>212</Paragraphs>
  <Slides>35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Cambria Math</vt:lpstr>
      <vt:lpstr>Times New Roman</vt:lpstr>
      <vt:lpstr>Office Theme</vt:lpstr>
      <vt:lpstr>Linear Regression</vt:lpstr>
      <vt:lpstr>Linear Regression</vt:lpstr>
      <vt:lpstr>Best Fit Line in Linear Regression</vt:lpstr>
      <vt:lpstr>Best Fit Line in Linear Regression</vt:lpstr>
      <vt:lpstr>Best Fit Line in Linear Regression</vt:lpstr>
      <vt:lpstr>Best Fit Line in Linear Regression</vt:lpstr>
      <vt:lpstr>Best Fit Line in Linear Regression</vt:lpstr>
      <vt:lpstr>Equation of the Best-Fit Line</vt:lpstr>
      <vt:lpstr>Assumptions of the Linear Regression</vt:lpstr>
      <vt:lpstr>Assumptions of the Linear Regression</vt:lpstr>
      <vt:lpstr>Assumptions of the Linear Regression</vt:lpstr>
      <vt:lpstr>PowerPoint Presentation</vt:lpstr>
      <vt:lpstr>Type of Linear Regression</vt:lpstr>
      <vt:lpstr>Type of Linear Regression</vt:lpstr>
      <vt:lpstr>Multiple Linear Regression</vt:lpstr>
      <vt:lpstr>Linear Regression model prediction (vectorized form)</vt:lpstr>
      <vt:lpstr>Minimizing the Error: The Least Squares Method</vt:lpstr>
      <vt:lpstr>Cost function for Linear Regression</vt:lpstr>
      <vt:lpstr>Evaluation Metrics for Linear Regression</vt:lpstr>
      <vt:lpstr>1. Mean Square Error (MSE)</vt:lpstr>
      <vt:lpstr>2. Mean Absolute Error (MAE)</vt:lpstr>
      <vt:lpstr>3.Root Mean Squared Error (RMSE)</vt:lpstr>
      <vt:lpstr>Why Linear Regression is Important</vt:lpstr>
      <vt:lpstr>Advantages of Linear Regression</vt:lpstr>
      <vt:lpstr>Limitations of Linear Regression</vt:lpstr>
      <vt:lpstr>PowerPoint Presentation</vt:lpstr>
      <vt:lpstr>Linear Regression Problem</vt:lpstr>
      <vt:lpstr>Linear Regression Problem</vt:lpstr>
      <vt:lpstr>PowerPoint Presentation</vt:lpstr>
      <vt:lpstr>PowerPoint Presentation</vt:lpstr>
      <vt:lpstr>Polynomial Regression</vt:lpstr>
      <vt:lpstr>Polynomial Regression</vt:lpstr>
      <vt:lpstr>Polynomial Regression</vt:lpstr>
      <vt:lpstr>Decision Tree Regression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2</cp:revision>
  <dcterms:created xsi:type="dcterms:W3CDTF">2026-07-07T08:11:28Z</dcterms:created>
  <dcterms:modified xsi:type="dcterms:W3CDTF">2026-07-07T09:38:11Z</dcterms:modified>
</cp:coreProperties>
</file>