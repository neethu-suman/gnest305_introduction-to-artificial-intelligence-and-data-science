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64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92" r:id="rId28"/>
    <p:sldId id="291" r:id="rId29"/>
    <p:sldId id="289" r:id="rId30"/>
    <p:sldId id="299" r:id="rId31"/>
    <p:sldId id="293" r:id="rId32"/>
    <p:sldId id="300" r:id="rId33"/>
    <p:sldId id="301" r:id="rId34"/>
    <p:sldId id="302" r:id="rId35"/>
    <p:sldId id="314" r:id="rId36"/>
    <p:sldId id="31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7:00:20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659F1-9ACB-4DB2-A043-2F2E89C9899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49549-2289-4C54-9664-DBA746BC3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9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E09B-9FCA-E460-3E8B-BF3D51AD3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D8D8C-627E-676B-205D-DDAB24E48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F4EA0-21D7-D289-FD60-6D773C71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16D20-E14C-0712-D1EA-5AC3F984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DBA9B-6B66-2182-C282-5A8CF4FB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55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E90F-D240-569D-0F3D-C09832C77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998F-0815-6DAF-55F3-4D548F800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2B0D-6DF6-A78F-2519-E11C26DC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3A382-8747-664B-09BF-0BEB0B300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1BF45-7405-84B3-33A4-3AF398A9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06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B4C8-37A2-6AB5-7440-69223E7F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2DC7F-6338-7638-9526-07647F71D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C1F1-41DD-0B23-B597-CBD5A46B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3D2D3-47D9-1E3B-39E0-1399B853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F17C3-5B80-8C2B-F103-17003078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16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7AEC-F3C6-0EA2-06F5-8A784C99E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266AC-F054-C575-1C29-0F458A72A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3CCC5-EFF2-1363-43F1-8295E5642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2DC2-0824-C8D7-E78A-82A67D18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41C30-98AB-4CCD-9A67-1C1A6F9EB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07D28-A550-AA3A-B84A-C5821CE4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29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E101-830B-89E9-CD66-5F81F2A5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4E07B-15C9-6639-A77F-8FBF59E79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802E0-D998-0037-165C-355FC9B08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5C1A2-B302-7E50-B4EE-BB5E9E332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8E7DF-5CBF-863A-9305-74C17D01A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653FF-5851-6FCA-F796-650ADE23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8D113-6C46-92DA-40B6-C5E03C53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597EE-7E16-6F7A-E759-07BBC92F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4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9266-B7DD-C838-7F3F-AB92F3F6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828EC-73E7-7C7D-3F0D-0F9394BB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9AE18-EA95-5095-B76B-3A7DD193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6EBDF-79EE-7578-0D33-F681D878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08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772-A3FF-B424-50F2-EC614B669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916D5-E866-BE2A-A9F5-A7107438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39F8B-D2C3-1B29-DB66-00984C1C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13E1-F389-337D-E5E4-BDE5659D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52458-ED94-8021-FCF7-703014360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EDB01-4418-F164-F84B-AE34AA920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2A10B-3C8A-FF8D-9241-94791A16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68B41-2D41-EEB6-6DFE-555AA996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7ADA7-A511-20B7-5DB7-E70EC4E9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4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C700-F6E0-C8D5-F70B-E5ED26FA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DDA47-7898-49CB-F3D4-9E8441A5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F8464-4BE1-3B2E-FD6D-FA74DFD0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B840F-69B4-12BF-EA0D-EA013744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158A8-3C12-B948-0975-396AB453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DD69B-FEE5-3CCE-B938-E8C22924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06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2055-36DD-DBA5-10A6-61BA0E2B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DE0E3-4CB9-5BD5-F0A2-B71D0050A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2A671-A578-086E-78DD-F7998A5D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26F44-0790-110B-D9BA-9C3160B7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6C728-056D-8595-5248-C11559C6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86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5AF36-CBE5-D00B-3F13-EAB032C83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99093-D0D5-D86C-F3B4-3B20B7C75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55F43-38B5-0AB9-1135-99DCA6EE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5E81A-DFC0-4EC4-FE91-917723FB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B5B8E-4526-FED6-6CCE-78063A4E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47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11ADB-FBC3-3708-34AA-7A0EFE54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D32C-1756-2BCD-6D56-61E03E418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F7C44-0CEF-8110-3207-1D09C23A5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0C658-E50C-4052-9FB7-A879EDA3F3F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940AF-442C-4F23-37C9-572DB09F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B3B7C-EA83-6E9D-6C7E-F65EF20B3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18599-DFE1-4832-917D-7D7705639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2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5C310-6AC5-06C8-C51E-F6F00921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2: </a:t>
            </a:r>
            <a:r>
              <a:rPr lang="en-US" dirty="0"/>
              <a:t>Mathematical Foundations of AI and Data science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37B1F-A750-EE78-873B-CDE8B6CD2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 of linear algebra in Data representation and analysis </a:t>
            </a:r>
          </a:p>
          <a:p>
            <a:r>
              <a:rPr lang="en-US" dirty="0"/>
              <a:t>Matrix decomposition</a:t>
            </a:r>
          </a:p>
          <a:p>
            <a:r>
              <a:rPr lang="en-US" dirty="0"/>
              <a:t>Singular Value </a:t>
            </a:r>
            <a:r>
              <a:rPr lang="en-IN" dirty="0"/>
              <a:t>Decomposition (SVD)</a:t>
            </a:r>
          </a:p>
          <a:p>
            <a:r>
              <a:rPr lang="en-IN" dirty="0"/>
              <a:t>Spectral decomposition</a:t>
            </a:r>
          </a:p>
          <a:p>
            <a:r>
              <a:rPr lang="en-IN" dirty="0"/>
              <a:t>Dimensionality reduction </a:t>
            </a:r>
            <a:r>
              <a:rPr lang="fr-FR" dirty="0"/>
              <a:t>technique</a:t>
            </a:r>
          </a:p>
          <a:p>
            <a:r>
              <a:rPr lang="fr-FR" dirty="0"/>
              <a:t>Principal Component </a:t>
            </a:r>
            <a:r>
              <a:rPr lang="fr-FR" dirty="0" err="1"/>
              <a:t>Analysis</a:t>
            </a:r>
            <a:r>
              <a:rPr lang="fr-FR" dirty="0"/>
              <a:t> (PCA)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55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83E8-25D2-6FF6-690B-85F2F1F9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linear algebra in Data representation and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A5F21-4945-E2A4-C299-6AE482B7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dk1"/>
                </a:solidFill>
              </a:rPr>
              <a:t>The mathematical foundations needed for Artificial Intelligence and Machine Learning (AI/ML)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dirty="0"/>
          </a:p>
          <a:p>
            <a:pPr marL="971550" lvl="1" indent="-514350" algn="just">
              <a:spcBef>
                <a:spcPts val="0"/>
              </a:spcBef>
              <a:buClr>
                <a:srgbClr val="404040"/>
              </a:buClr>
              <a:buSzPct val="100000"/>
              <a:buFont typeface="Calibri"/>
              <a:buAutoNum type="arabicPeriod"/>
            </a:pPr>
            <a:r>
              <a:rPr lang="en-US" dirty="0"/>
              <a:t>Linear algebra</a:t>
            </a:r>
          </a:p>
          <a:p>
            <a:pPr marL="971550" lvl="1" indent="-514350" algn="just">
              <a:spcBef>
                <a:spcPts val="0"/>
              </a:spcBef>
              <a:buClr>
                <a:srgbClr val="404040"/>
              </a:buClr>
              <a:buSzPct val="100000"/>
              <a:buFont typeface="Calibri"/>
              <a:buAutoNum type="arabicPeriod"/>
            </a:pPr>
            <a:r>
              <a:rPr lang="en-US" dirty="0"/>
              <a:t>Calculus </a:t>
            </a:r>
          </a:p>
          <a:p>
            <a:pPr marL="971550" lvl="1" indent="-514350" algn="just">
              <a:spcBef>
                <a:spcPts val="0"/>
              </a:spcBef>
              <a:buClr>
                <a:srgbClr val="404040"/>
              </a:buClr>
              <a:buSzPct val="100000"/>
              <a:buFont typeface="Calibri"/>
              <a:buAutoNum type="arabicPeriod"/>
            </a:pPr>
            <a:r>
              <a:rPr lang="en-US" dirty="0"/>
              <a:t>Probability and statistics</a:t>
            </a:r>
          </a:p>
          <a:p>
            <a:pPr marL="971550" lvl="1" indent="-514350" algn="just">
              <a:spcBef>
                <a:spcPts val="0"/>
              </a:spcBef>
              <a:buClr>
                <a:srgbClr val="404040"/>
              </a:buClr>
              <a:buSzPct val="100000"/>
              <a:buFont typeface="Calibri"/>
              <a:buAutoNum type="arabicPeriod"/>
            </a:pPr>
            <a:r>
              <a:rPr lang="en-US" dirty="0"/>
              <a:t>Optimization</a:t>
            </a:r>
          </a:p>
          <a:p>
            <a:pPr marL="457200" lvl="1" indent="0" algn="just">
              <a:spcBef>
                <a:spcPts val="0"/>
              </a:spcBef>
              <a:buClr>
                <a:srgbClr val="404040"/>
              </a:buClr>
              <a:buSzPct val="100000"/>
              <a:buNone/>
            </a:pPr>
            <a:endParaRPr lang="en-US" dirty="0"/>
          </a:p>
          <a:p>
            <a:pPr marL="457200" lvl="0" indent="-457200" algn="just">
              <a:spcBef>
                <a:spcPts val="0"/>
              </a:spcBef>
              <a:buClr>
                <a:srgbClr val="404040"/>
              </a:buClr>
              <a:buSzPts val="3200"/>
              <a:buFont typeface="Arial"/>
              <a:buChar char="•"/>
            </a:pPr>
            <a:r>
              <a:rPr lang="en-US" dirty="0"/>
              <a:t>Linear algebra provides the tools to represent and manipulate data using vectors and matrices, which form the backbone of data processing in machine learning algorithms.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26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3DB0-603D-0E81-E91A-E2411508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Role of linear algebra in Data representation and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F947-F017-9B93-1918-6CB98271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 algn="just">
              <a:lnSpc>
                <a:spcPct val="100000"/>
              </a:lnSpc>
              <a:spcBef>
                <a:spcPts val="0"/>
              </a:spcBef>
              <a:buClr>
                <a:srgbClr val="404040"/>
              </a:buClr>
              <a:buSzPts val="3200"/>
              <a:buFont typeface="Arial"/>
              <a:buChar char="•"/>
            </a:pPr>
            <a:r>
              <a:rPr lang="en-US" sz="2400" dirty="0"/>
              <a:t>Calculus, particularly differential calculus, is essential for understanding how models learn, especially during gradient-based optimization used in training neural networks.</a:t>
            </a:r>
          </a:p>
          <a:p>
            <a:pPr marL="457200" lvl="0" indent="-457200" algn="just">
              <a:lnSpc>
                <a:spcPct val="100000"/>
              </a:lnSpc>
              <a:spcBef>
                <a:spcPts val="0"/>
              </a:spcBef>
              <a:buClr>
                <a:srgbClr val="404040"/>
              </a:buClr>
              <a:buSzPts val="3200"/>
              <a:buFont typeface="Arial"/>
              <a:buChar char="•"/>
            </a:pPr>
            <a:r>
              <a:rPr lang="en-US" sz="2400" dirty="0"/>
              <a:t>Probability and statistics help in modeling uncertainty, making predictions, and analyzing patterns within data.</a:t>
            </a:r>
          </a:p>
          <a:p>
            <a:pPr marL="457200" lvl="0" indent="-457200" algn="just">
              <a:lnSpc>
                <a:spcPct val="100000"/>
              </a:lnSpc>
              <a:spcBef>
                <a:spcPts val="0"/>
              </a:spcBef>
              <a:buClr>
                <a:srgbClr val="404040"/>
              </a:buClr>
              <a:buSzPts val="3200"/>
              <a:buFont typeface="Arial"/>
              <a:buChar char="•"/>
            </a:pPr>
            <a:r>
              <a:rPr lang="en-US" sz="2400" dirty="0"/>
              <a:t>Optimization techniques are critical for improving model performance by minimizing errors or loss functions. </a:t>
            </a:r>
          </a:p>
          <a:p>
            <a:pPr>
              <a:lnSpc>
                <a:spcPct val="1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9170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023" y="422148"/>
            <a:ext cx="11838432" cy="4735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723" y="5430011"/>
            <a:ext cx="99060" cy="99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7" y="117347"/>
            <a:ext cx="10680192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4684-3831-EDE8-5AD2-1118B73E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Understanding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97F4-6EAB-5366-C5BE-916825D5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20051"/>
          </a:xfrm>
        </p:spPr>
        <p:txBody>
          <a:bodyPr>
            <a:normAutofit/>
          </a:bodyPr>
          <a:lstStyle/>
          <a:p>
            <a:r>
              <a:rPr lang="en-US" dirty="0"/>
              <a:t>Datasets that store the units of observation and their properties can be imagined as collections of data consisting of the following:</a:t>
            </a:r>
          </a:p>
          <a:p>
            <a:r>
              <a:rPr lang="en-IN" b="1" dirty="0"/>
              <a:t>Examples</a:t>
            </a:r>
          </a:p>
          <a:p>
            <a:pPr lvl="1"/>
            <a:r>
              <a:rPr lang="en-US" dirty="0"/>
              <a:t>An “example” is an instance of the unit of observation for which properties have been </a:t>
            </a:r>
            <a:r>
              <a:rPr lang="en-IN" dirty="0"/>
              <a:t>recorded.</a:t>
            </a:r>
          </a:p>
          <a:p>
            <a:pPr lvl="1"/>
            <a:r>
              <a:rPr lang="en-US" dirty="0"/>
              <a:t>An “example” is also referred to as an “instance”, or “case” or “record.” (It may be noted that the word “example” has been used here in a technical sense.)</a:t>
            </a:r>
          </a:p>
          <a:p>
            <a:r>
              <a:rPr lang="en-IN" b="1" dirty="0"/>
              <a:t>Features</a:t>
            </a:r>
          </a:p>
          <a:p>
            <a:pPr lvl="1"/>
            <a:r>
              <a:rPr lang="en-US" dirty="0"/>
              <a:t>◦ A “feature” is a recorded property or a characteristic of examples. It is also referred to as “attribute”, or “variable” or “feature.”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71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5DCA-D3B5-8F7C-5848-FB081764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for “examples” and “features”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3BB6-BC7F-1A4B-27C4-E768BCEA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Cancer detection</a:t>
            </a:r>
          </a:p>
          <a:p>
            <a:pPr lvl="1"/>
            <a:r>
              <a:rPr lang="en-US" dirty="0"/>
              <a:t>Consider the problem of developing an algorithm for detecting cancer. In this study </a:t>
            </a:r>
            <a:r>
              <a:rPr lang="en-IN" dirty="0"/>
              <a:t>we note the following.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 units of observation are the patients.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 examples are members of a sample of cancer patients.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 following attributes of the patients may be chosen as the features:</a:t>
            </a:r>
          </a:p>
          <a:p>
            <a:pPr lvl="2"/>
            <a:r>
              <a:rPr lang="en-IN" sz="2400" dirty="0"/>
              <a:t>Gender</a:t>
            </a:r>
          </a:p>
          <a:p>
            <a:pPr lvl="2"/>
            <a:r>
              <a:rPr lang="en-IN" sz="2400" dirty="0"/>
              <a:t>Age</a:t>
            </a:r>
          </a:p>
          <a:p>
            <a:pPr lvl="2"/>
            <a:r>
              <a:rPr lang="en-IN" sz="2400" dirty="0"/>
              <a:t>Blood pressure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02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ACB8-3B35-35B4-8C38-FF9188E7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Table 1: Example for “examples” and “features” collected in a matrix format (data relates to automobiles and their features)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A40FB2-4C54-AE5F-E599-59E6B4AF7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3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6DAC-8FA5-CA4C-2879-5EC412BA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0A4A-01F3-1C43-8939-2DE63074A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Numerical Data (Quantitative)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Discrete Data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Continuous Data 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Categorical Data (Qualitative)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Nominal Data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Ordinal Data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Text Data (e.g., documents, reviews) </a:t>
            </a:r>
            <a:br>
              <a:rPr lang="en-US" dirty="0"/>
            </a:br>
            <a:endParaRPr lang="en-US" dirty="0"/>
          </a:p>
          <a:p>
            <a:r>
              <a:rPr lang="en-US" dirty="0"/>
              <a:t>Multimodal Data (e.g., image -F text) +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606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6F50-C8AA-3EFF-3257-040FEABC2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023"/>
          </a:xfrm>
        </p:spPr>
        <p:txBody>
          <a:bodyPr/>
          <a:lstStyle/>
          <a:p>
            <a:r>
              <a:rPr lang="en-US" dirty="0"/>
              <a:t>Types of Data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0D620-EA80-3E23-8205-9756C89B0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114"/>
            <a:ext cx="10929730" cy="5168348"/>
          </a:xfrm>
        </p:spPr>
        <p:txBody>
          <a:bodyPr>
            <a:normAutofit/>
          </a:bodyPr>
          <a:lstStyle/>
          <a:p>
            <a:r>
              <a:rPr lang="en-US" sz="2400" b="1" dirty="0"/>
              <a:t>Numerical Data </a:t>
            </a:r>
            <a:r>
              <a:rPr lang="en-US" sz="2400" dirty="0"/>
              <a:t>consists of real or integer values that represent measurable quantities.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Discrete data </a:t>
            </a:r>
            <a:r>
              <a:rPr lang="en-US" sz="2400" dirty="0"/>
              <a:t>consists of distinct, separate values. It arises from counting things and does not include fractional or decimal parts.</a:t>
            </a:r>
          </a:p>
          <a:p>
            <a:pPr lvl="1"/>
            <a:r>
              <a:rPr lang="en-US" sz="2000" dirty="0"/>
              <a:t>Number of students in a class (e.g., 60, 65 — not 60 4) </a:t>
            </a:r>
          </a:p>
          <a:p>
            <a:pPr lvl="1"/>
            <a:r>
              <a:rPr lang="en-US" sz="2000" dirty="0"/>
              <a:t>Number of books on a shelf (e g. , 10, 11, 12) </a:t>
            </a:r>
          </a:p>
          <a:p>
            <a:pPr lvl="1"/>
            <a:r>
              <a:rPr lang="en-US" sz="2000" dirty="0"/>
              <a:t>Number of goals scored in a match (e g , 2, 3)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Continuous data </a:t>
            </a:r>
            <a:r>
              <a:rPr lang="en-US" sz="2400" dirty="0"/>
              <a:t>can assume an infinite number of values within a given interval. It can include whole numbers, decimals, and fractions, and typically results from measurements. </a:t>
            </a:r>
          </a:p>
          <a:p>
            <a:pPr lvl="1"/>
            <a:r>
              <a:rPr lang="en-US" sz="2000" dirty="0"/>
              <a:t>Temperature (e.g., 36.6</a:t>
            </a:r>
            <a:r>
              <a:rPr lang="en-US" sz="2000" baseline="30000" dirty="0"/>
              <a:t>0</a:t>
            </a:r>
            <a:r>
              <a:rPr lang="en-US" sz="2000" dirty="0"/>
              <a:t>C, 29.5</a:t>
            </a:r>
            <a:r>
              <a:rPr lang="en-US" sz="2000" baseline="30000" dirty="0"/>
              <a:t>0</a:t>
            </a:r>
            <a:r>
              <a:rPr lang="en-US" sz="2000" dirty="0"/>
              <a:t>C) </a:t>
            </a:r>
          </a:p>
          <a:p>
            <a:pPr lvl="1"/>
            <a:r>
              <a:rPr lang="en-US" sz="2000" dirty="0"/>
              <a:t>Speed (e.g., 45.7 km/h, 60.3 km/h) </a:t>
            </a:r>
          </a:p>
          <a:p>
            <a:pPr lvl="1"/>
            <a:r>
              <a:rPr lang="en-US" sz="2000" dirty="0"/>
              <a:t>Height (e g., 160.4 cm, 172.8 cm)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2676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BEF718-6259-5C5D-9A46-D6021FA46BC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47261" y="467346"/>
            <a:ext cx="10743918" cy="577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20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F5D0-9E91-A5BD-7C87-DA82B545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Data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CDE54-DEDA-E3AD-A96F-9C28D1813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58589"/>
          </a:xfrm>
        </p:spPr>
        <p:txBody>
          <a:bodyPr>
            <a:normAutofit/>
          </a:bodyPr>
          <a:lstStyle/>
          <a:p>
            <a:r>
              <a:rPr lang="en-US" sz="2400" b="1" dirty="0"/>
              <a:t>Categorical data </a:t>
            </a:r>
            <a:r>
              <a:rPr lang="en-US" sz="2400" dirty="0"/>
              <a:t>consists of labels or names used to identify categories or classifications. 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Nominal Data: </a:t>
            </a:r>
            <a:r>
              <a:rPr lang="en-US" sz="2400" dirty="0"/>
              <a:t>Categories without any natural order. These are just labels for groups. </a:t>
            </a:r>
          </a:p>
          <a:p>
            <a:pPr lvl="1"/>
            <a:r>
              <a:rPr lang="en-US" sz="2000" dirty="0"/>
              <a:t>Examples: "apple" "banana", "grape", "male" , "female" </a:t>
            </a:r>
          </a:p>
          <a:p>
            <a:pPr lvl="1"/>
            <a:r>
              <a:rPr lang="en-US" sz="2000" dirty="0"/>
              <a:t>There is no ranking: apple is not greater than banana.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Ordinal Data: </a:t>
            </a:r>
            <a:r>
              <a:rPr lang="en-US" sz="2400" dirty="0"/>
              <a:t>Categories with a meaningful order or ranking, but no fixed interval.</a:t>
            </a:r>
          </a:p>
          <a:p>
            <a:pPr lvl="1"/>
            <a:r>
              <a:rPr lang="en-US" sz="2000" dirty="0"/>
              <a:t>Examples: "Excellent" , "Good" , "Poor" (Amazon product ratings) </a:t>
            </a:r>
          </a:p>
          <a:p>
            <a:pPr lvl="1"/>
            <a:r>
              <a:rPr lang="en-US" sz="2000" dirty="0"/>
              <a:t>The order is meaningful, but gaps between levels are not uniform.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99694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958B-49FA-D737-3C35-FDE313F1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whether the following data is categorical or numerical value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2FF2B-DACC-812D-D78A-C412C6FBC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Temperature</a:t>
            </a:r>
          </a:p>
          <a:p>
            <a:pPr marL="0" indent="0">
              <a:buNone/>
            </a:pPr>
            <a:r>
              <a:rPr lang="en-IN" dirty="0"/>
              <a:t>2. Yes or No</a:t>
            </a:r>
          </a:p>
          <a:p>
            <a:pPr marL="0" indent="0">
              <a:buNone/>
            </a:pPr>
            <a:r>
              <a:rPr lang="en-IN" dirty="0"/>
              <a:t>3. True or False</a:t>
            </a:r>
          </a:p>
          <a:p>
            <a:pPr marL="0" indent="0">
              <a:buNone/>
            </a:pPr>
            <a:r>
              <a:rPr lang="en-IN" dirty="0"/>
              <a:t>4. Price</a:t>
            </a:r>
          </a:p>
          <a:p>
            <a:pPr marL="0" indent="0">
              <a:buNone/>
            </a:pPr>
            <a:r>
              <a:rPr lang="en-IN" dirty="0"/>
              <a:t>5. Fit or unfit</a:t>
            </a:r>
          </a:p>
          <a:p>
            <a:pPr marL="0" indent="0">
              <a:buNone/>
            </a:pPr>
            <a:r>
              <a:rPr lang="en-IN" dirty="0"/>
              <a:t>6. Apple or Orange</a:t>
            </a:r>
          </a:p>
          <a:p>
            <a:pPr marL="0" indent="0">
              <a:buNone/>
            </a:pPr>
            <a:r>
              <a:rPr lang="en-IN" dirty="0"/>
              <a:t>7. Humidity</a:t>
            </a:r>
          </a:p>
        </p:txBody>
      </p:sp>
    </p:spTree>
    <p:extLst>
      <p:ext uri="{BB962C8B-B14F-4D97-AF65-F5344CB8AC3E}">
        <p14:creationId xmlns:p14="http://schemas.microsoft.com/office/powerpoint/2010/main" val="3156520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5730-F61C-E89F-4BEB-BC2CCC75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Converting Categorical Data into Vectors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D9302-51E3-ED79-832A-B1F4DAE5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4018"/>
          </a:xfrm>
        </p:spPr>
        <p:txBody>
          <a:bodyPr>
            <a:normAutofit/>
          </a:bodyPr>
          <a:lstStyle/>
          <a:p>
            <a:r>
              <a:rPr lang="en-US" sz="2400" dirty="0"/>
              <a:t>Machine learning models require numerical input. Categorical data must be converted into  vectors using encoding techniques: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Label Encoding: </a:t>
            </a:r>
            <a:r>
              <a:rPr lang="en-US" sz="2400" dirty="0"/>
              <a:t>Assigns each category a unique number. </a:t>
            </a:r>
          </a:p>
          <a:p>
            <a:pPr lvl="1"/>
            <a:r>
              <a:rPr lang="en-US" dirty="0"/>
              <a:t>Example: "apple"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O, "banana"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1, "grape"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2 </a:t>
            </a:r>
          </a:p>
          <a:p>
            <a:pPr lvl="1"/>
            <a:r>
              <a:rPr lang="en-US" dirty="0"/>
              <a:t>May imply order that doesn't exist (bad for nominal data)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One-Hot Encoding: </a:t>
            </a:r>
            <a:r>
              <a:rPr lang="en-US" sz="2400" dirty="0"/>
              <a:t> Creates a binary vector for each category. </a:t>
            </a:r>
          </a:p>
          <a:p>
            <a:pPr lvl="1"/>
            <a:r>
              <a:rPr lang="en-US" dirty="0"/>
              <a:t>Example: "banana"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Y [O, 1, O] </a:t>
            </a:r>
          </a:p>
          <a:p>
            <a:pPr lvl="1"/>
            <a:r>
              <a:rPr lang="en-US" dirty="0"/>
              <a:t>Avoids any assumption of order.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Ordinal Encoding: </a:t>
            </a:r>
            <a:r>
              <a:rPr lang="en-US" sz="2400" dirty="0"/>
              <a:t>Used for ordered categories </a:t>
            </a:r>
          </a:p>
          <a:p>
            <a:pPr lvl="1"/>
            <a:r>
              <a:rPr lang="en-US" dirty="0"/>
              <a:t>Example: "Poor“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0, "Good"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1, "Excellent"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2 </a:t>
            </a:r>
          </a:p>
        </p:txBody>
      </p:sp>
    </p:spTree>
    <p:extLst>
      <p:ext uri="{BB962C8B-B14F-4D97-AF65-F5344CB8AC3E}">
        <p14:creationId xmlns:p14="http://schemas.microsoft.com/office/powerpoint/2010/main" val="2087730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CA8212-737C-14F5-EB53-2A7A9C498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1" y="480508"/>
            <a:ext cx="10565847" cy="584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04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94BC-D28E-ABAF-2143-B106F35D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 of </a:t>
            </a:r>
            <a:r>
              <a:rPr lang="en-US" dirty="0"/>
              <a:t>Label Encoding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8BFD-42BE-5310-FF12-424975BEE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Fruits don't have a ranking there's no 'first place' fruit. </a:t>
            </a:r>
          </a:p>
          <a:p>
            <a:r>
              <a:rPr lang="en-US" dirty="0"/>
              <a:t>But label encoding tricks your model into thinking there's a race going on: </a:t>
            </a:r>
          </a:p>
          <a:p>
            <a:pPr lvl="1"/>
            <a:r>
              <a:rPr lang="en-US" dirty="0"/>
              <a:t>"It assumes Mango &gt; Banana &gt; Apple" </a:t>
            </a:r>
          </a:p>
          <a:p>
            <a:pPr lvl="1"/>
            <a:r>
              <a:rPr lang="en-US" dirty="0"/>
              <a:t>"It thinks Cherry is closer to Mango than to Apple" </a:t>
            </a:r>
          </a:p>
          <a:p>
            <a:pPr lvl="1"/>
            <a:r>
              <a:rPr lang="en-US" dirty="0"/>
              <a:t>"It makes decisions based on fake numbers!"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27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F64E1C-5A39-F5B6-DC18-523A2C0A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82" y="830355"/>
            <a:ext cx="10341236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7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0BC768-12E0-ADF7-8899-60C3751FA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8" y="395977"/>
            <a:ext cx="11591024" cy="60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28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FD2AC-E732-D1EF-7546-DE30BB37C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32" y="620786"/>
            <a:ext cx="11484335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6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E98246-4604-E50B-64A9-E318B05F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99" y="811303"/>
            <a:ext cx="10181202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19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DF9FA7-8E33-6BCA-9362-79EC3570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7625DE-0574-AA25-ED12-C783EAFBF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0096" cy="4351338"/>
          </a:xfrm>
        </p:spPr>
        <p:txBody>
          <a:bodyPr>
            <a:normAutofit/>
          </a:bodyPr>
          <a:lstStyle/>
          <a:p>
            <a:r>
              <a:rPr lang="en-US" dirty="0"/>
              <a:t>Text data is a sequence of characters or words. It is usually unstructured and requires preprocessing to convert into numerical form. </a:t>
            </a:r>
          </a:p>
          <a:p>
            <a:endParaRPr lang="en-US" dirty="0"/>
          </a:p>
          <a:p>
            <a:pPr lvl="1"/>
            <a:r>
              <a:rPr lang="en-US" dirty="0"/>
              <a:t>Example: A product review that says "This phone is excellent!" </a:t>
            </a:r>
          </a:p>
          <a:p>
            <a:pPr lvl="1"/>
            <a:endParaRPr lang="en-US" dirty="0"/>
          </a:p>
          <a:p>
            <a:r>
              <a:rPr lang="en-US" dirty="0"/>
              <a:t>Machine learning models work with numbers — not raw text. Text data is unstructured: words must be converted into numerical features. 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406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5D3FB-94FD-8B1B-71B5-44D7FB26E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99" y="391785"/>
            <a:ext cx="11196924" cy="598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26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815102-F850-88B0-4DE0-9EEC2DAB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36" y="261166"/>
            <a:ext cx="10866316" cy="642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70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C0270-6027-9CA4-CF8A-8338B2C5C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58" y="417726"/>
            <a:ext cx="10943590" cy="626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6ACE5-910F-E30C-FF8C-2CFAB0EFD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7" y="761769"/>
            <a:ext cx="11141405" cy="53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19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D1C125-C3FB-233F-51EC-E6F334A8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Algebra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6EFE50-7751-53A7-4C53-0E325ED2C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in computer systems is structured numerically. </a:t>
            </a:r>
          </a:p>
          <a:p>
            <a:r>
              <a:rPr lang="en-US" dirty="0"/>
              <a:t>Linear algebra offers a compact and efficient framework to represent </a:t>
            </a:r>
            <a:br>
              <a:rPr lang="en-US" dirty="0"/>
            </a:br>
            <a:r>
              <a:rPr lang="en-US" dirty="0"/>
              <a:t>and analyze data </a:t>
            </a:r>
          </a:p>
          <a:p>
            <a:r>
              <a:rPr lang="en-US" dirty="0"/>
              <a:t>Key representations: </a:t>
            </a:r>
          </a:p>
          <a:p>
            <a:pPr lvl="1"/>
            <a:r>
              <a:rPr lang="en-US" dirty="0"/>
              <a:t>Vectors: One-dimensional arrays representing data points or features.</a:t>
            </a:r>
          </a:p>
          <a:p>
            <a:pPr lvl="1"/>
            <a:r>
              <a:rPr lang="en-US" dirty="0"/>
              <a:t>Matrices: Two-dimensional arrays representing datasets. 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BAEF42-B51E-6B69-D3D1-D42660DBB9FB}"/>
                  </a:ext>
                </a:extLst>
              </p14:cNvPr>
              <p14:cNvContentPartPr/>
              <p14:nvPr/>
            </p14:nvContentPartPr>
            <p14:xfrm>
              <a:off x="2693426" y="248453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BAEF42-B51E-6B69-D3D1-D42660DB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7306" y="247841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6177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31B7-C919-4041-EBE5-9EAE9A4B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Linear Algebra in Data 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74CA7-CCF0-456F-9306-DA5203B3D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Data Representation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Transformation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Dimensionality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Machine Learning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Correlation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Distance and Similarity Calculations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741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F4B7-242B-3C83-496C-812ECAD8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1. Data 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F4123-F00B-4F1E-13EF-2F102171D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Datasets are often represented as vectors and matrices, wherein every row corresponds to an observation and every column represents a function. This matrix illustration permits efficient manipulation and data analysis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Datasets are often structured as matrices, where: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Each row = one observation/data point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Each column = one feature/variable/function</a:t>
            </a: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513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/>
        </p:nvSpPr>
        <p:spPr>
          <a:xfrm>
            <a:off x="362392" y="538416"/>
            <a:ext cx="5963979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Example:- Representation of an image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/>
              <a:t>In image processing, a matrix is a fundamental way to represent an image using numerical values. For a grayscale image, each pixel corresponds to an intensity value ranging from 0 (black) to 255 (white), and the image is represented as a 2D matrix where each element holds one of these values. </a:t>
            </a:r>
            <a:endParaRPr/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/>
              <a:t>This matrix-based representation allows the application of various linear algebra operations such as transformations, filtering, and compression. </a:t>
            </a:r>
            <a:endParaRPr sz="2400"/>
          </a:p>
        </p:txBody>
      </p:sp>
      <p:pic>
        <p:nvPicPr>
          <p:cNvPr id="317" name="Google Shape;317;p29" descr="Matrix for certain area of a grayscale image [17]. | Download Scientific  Diagr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9591" y="1163822"/>
            <a:ext cx="5487703" cy="4131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E3DE-FD9B-B667-1AFA-72B9EAEC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2.Data Transformation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DAE23-BD15-C956-D9ED-6A939B6FA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  <a:buClr>
                <a:schemeClr val="tx1"/>
              </a:buClr>
              <a:buSzPts val="2400"/>
            </a:pPr>
            <a:r>
              <a:rPr lang="en-US" dirty="0"/>
              <a:t>Scaling, rotating, translating data is need in many data sets including image datasets</a:t>
            </a:r>
          </a:p>
          <a:p>
            <a:pPr lvl="1" algn="just">
              <a:spcBef>
                <a:spcPts val="0"/>
              </a:spcBef>
              <a:buSzPts val="2400"/>
            </a:pPr>
            <a:r>
              <a:rPr lang="en-US" dirty="0"/>
              <a:t>E.g. in image data: Objects may appear in different positions, sizes, or orientations.</a:t>
            </a:r>
          </a:p>
          <a:p>
            <a:pPr lvl="1" algn="just">
              <a:spcBef>
                <a:spcPts val="0"/>
              </a:spcBef>
              <a:buSzPts val="2400"/>
            </a:pPr>
            <a:r>
              <a:rPr lang="en-US" dirty="0"/>
              <a:t>So, we Scale (resize), Rotate (align) or Translate (center)</a:t>
            </a:r>
          </a:p>
          <a:p>
            <a:pPr marL="0" lvl="0" indent="0" algn="just">
              <a:spcBef>
                <a:spcPts val="0"/>
              </a:spcBef>
              <a:buSzPts val="2400"/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396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E302-AC7D-2734-221E-D7828B62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3. Dimensionality Reduction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67A4-FC47-4C51-3A7F-CBCBBDE57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2400" dirty="0"/>
              <a:t>Dimensionality reduction is mainly the process of reducing the number of features (variables) in a dataset while preserving as much important information as possible. 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400" dirty="0"/>
          </a:p>
          <a:p>
            <a:pPr algn="just">
              <a:spcBef>
                <a:spcPts val="0"/>
              </a:spcBef>
            </a:pPr>
            <a:r>
              <a:rPr lang="en-US" sz="2400" dirty="0"/>
              <a:t>Singular Value Decomposition (SVD) and Principal Component Analysis (PCA) methods rely on principles from linear algebra to decrease the complexity of data while retaining critical information.</a:t>
            </a:r>
          </a:p>
          <a:p>
            <a:pPr marL="0" lvl="0" indent="0" algn="just">
              <a:spcBef>
                <a:spcPts val="0"/>
              </a:spcBef>
              <a:buNone/>
            </a:pPr>
            <a:endParaRPr lang="en-US" sz="2400" dirty="0"/>
          </a:p>
          <a:p>
            <a:pPr algn="just">
              <a:spcBef>
                <a:spcPts val="0"/>
              </a:spcBef>
            </a:pPr>
            <a:r>
              <a:rPr lang="en-US" sz="2400" dirty="0"/>
              <a:t>This helps to:</a:t>
            </a:r>
          </a:p>
          <a:p>
            <a:pPr lvl="1" algn="just">
              <a:spcBef>
                <a:spcPts val="0"/>
              </a:spcBef>
              <a:buSzPts val="2400"/>
            </a:pPr>
            <a:r>
              <a:rPr lang="en-US" dirty="0"/>
              <a:t>Reduce computational complexity</a:t>
            </a:r>
          </a:p>
          <a:p>
            <a:pPr lvl="1" algn="just">
              <a:spcBef>
                <a:spcPts val="0"/>
              </a:spcBef>
              <a:buSzPts val="2400"/>
            </a:pPr>
            <a:r>
              <a:rPr lang="en-US" dirty="0"/>
              <a:t>Remove noise and redundancy</a:t>
            </a:r>
          </a:p>
          <a:p>
            <a:pPr lvl="1" algn="just">
              <a:spcBef>
                <a:spcPts val="0"/>
              </a:spcBef>
              <a:buSzPts val="2400"/>
            </a:pPr>
            <a:r>
              <a:rPr lang="en-US" dirty="0"/>
              <a:t>Visualize high-dimensional data in 2D or 3D</a:t>
            </a:r>
          </a:p>
        </p:txBody>
      </p:sp>
    </p:spTree>
    <p:extLst>
      <p:ext uri="{BB962C8B-B14F-4D97-AF65-F5344CB8AC3E}">
        <p14:creationId xmlns:p14="http://schemas.microsoft.com/office/powerpoint/2010/main" val="980717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51A8-2749-6862-91C8-A06E5DE8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4. Machine Learning Algorithms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D0604-4653-EB0F-9FC0-336C23284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machine learning algorithms use linear algebra operations such as dot products, matrix multiplication, vector projections, and inversions to learn patterns from data and make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413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7A3B-0DF9-C223-2EA6-5D23EC9D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5. Correlation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EC28F-9534-FED0-7233-00050777D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 is a statistical measure that describes the strength and direction of a linear relationship between two variables. </a:t>
            </a:r>
          </a:p>
          <a:p>
            <a:r>
              <a:rPr lang="en-US" dirty="0"/>
              <a:t>Correlation matrices are calculated using dot products and matrix multiplication.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3988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886F-5511-E8E3-649D-343BD3E1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6. Distance and Similarity Calculations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CB40-14A0-7DC0-B65E-778555BD2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measure how similar two vectors are in direction, we use cosine similarity, which is based on the dot product and the norms of vectors in linear algebra.</a:t>
            </a:r>
          </a:p>
          <a:p>
            <a:endParaRPr lang="en-IN" dirty="0"/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95011" y="3429000"/>
            <a:ext cx="3468667" cy="1053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3850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89AF1A-A954-718E-8629-C7EA35D6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4" y="305222"/>
            <a:ext cx="11248063" cy="59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5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C5297-D95A-F51D-226E-EB966B4CD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0" y="228951"/>
            <a:ext cx="11076578" cy="629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9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1430</Words>
  <Application>Microsoft Office PowerPoint</Application>
  <PresentationFormat>Widescreen</PresentationFormat>
  <Paragraphs>140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Noto Sans Symbols</vt:lpstr>
      <vt:lpstr>Wingdings</vt:lpstr>
      <vt:lpstr>Office Theme</vt:lpstr>
      <vt:lpstr>Module 2: Mathematical Foundations of AI and Data science</vt:lpstr>
      <vt:lpstr>Role of linear algebra in Data representation and analysis </vt:lpstr>
      <vt:lpstr>Role of linear algebra in Data representation and analysis </vt:lpstr>
      <vt:lpstr>PowerPoint Presentation</vt:lpstr>
      <vt:lpstr>PowerPoint Presentation</vt:lpstr>
      <vt:lpstr>Understanding data</vt:lpstr>
      <vt:lpstr>Examples for “examples” and “features”</vt:lpstr>
      <vt:lpstr>Table 1: Example for “examples” and “features” collected in a matrix format (data relates to automobiles and their features)</vt:lpstr>
      <vt:lpstr>Types of Data </vt:lpstr>
      <vt:lpstr>Types of Data </vt:lpstr>
      <vt:lpstr>PowerPoint Presentation</vt:lpstr>
      <vt:lpstr>Types of Data </vt:lpstr>
      <vt:lpstr>Identify whether the following data is categorical or numerical value</vt:lpstr>
      <vt:lpstr>Converting Categorical Data into Vectors </vt:lpstr>
      <vt:lpstr>PowerPoint Presentation</vt:lpstr>
      <vt:lpstr>Disadvantages of Label Encoding </vt:lpstr>
      <vt:lpstr>PowerPoint Presentation</vt:lpstr>
      <vt:lpstr>PowerPoint Presentation</vt:lpstr>
      <vt:lpstr>PowerPoint Presentation</vt:lpstr>
      <vt:lpstr>PowerPoint Presentation</vt:lpstr>
      <vt:lpstr>Types of Data </vt:lpstr>
      <vt:lpstr>PowerPoint Presentation</vt:lpstr>
      <vt:lpstr>PowerPoint Presentation</vt:lpstr>
      <vt:lpstr>PowerPoint Presentation</vt:lpstr>
      <vt:lpstr>PowerPoint Presentation</vt:lpstr>
      <vt:lpstr>Linear Algebra</vt:lpstr>
      <vt:lpstr>Role of Linear Algebra in Data Representation</vt:lpstr>
      <vt:lpstr>1. Data Representation</vt:lpstr>
      <vt:lpstr>PowerPoint Presentation</vt:lpstr>
      <vt:lpstr>2.Data Transformation</vt:lpstr>
      <vt:lpstr>3. Dimensionality Reduction</vt:lpstr>
      <vt:lpstr>4. Machine Learning Algorithms</vt:lpstr>
      <vt:lpstr>5. Correlation Analysis</vt:lpstr>
      <vt:lpstr>6. Distance and Similarity Calculations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2026-07-18T06:19:08Z</dcterms:created>
  <dcterms:modified xsi:type="dcterms:W3CDTF">2026-07-18T06:41:53Z</dcterms:modified>
</cp:coreProperties>
</file>